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296" r:id="rId3"/>
    <p:sldId id="297" r:id="rId4"/>
    <p:sldId id="298" r:id="rId5"/>
    <p:sldId id="257" r:id="rId6"/>
    <p:sldId id="258" r:id="rId7"/>
    <p:sldId id="259" r:id="rId8"/>
    <p:sldId id="260" r:id="rId9"/>
    <p:sldId id="261" r:id="rId10"/>
    <p:sldId id="262" r:id="rId11"/>
    <p:sldId id="263" r:id="rId12"/>
    <p:sldId id="290" r:id="rId13"/>
    <p:sldId id="264" r:id="rId14"/>
    <p:sldId id="292" r:id="rId15"/>
    <p:sldId id="265" r:id="rId16"/>
    <p:sldId id="299" r:id="rId17"/>
    <p:sldId id="303" r:id="rId18"/>
    <p:sldId id="304" r:id="rId19"/>
    <p:sldId id="300" r:id="rId20"/>
    <p:sldId id="301" r:id="rId21"/>
    <p:sldId id="266" r:id="rId22"/>
    <p:sldId id="295" r:id="rId23"/>
    <p:sldId id="267" r:id="rId24"/>
    <p:sldId id="268" r:id="rId25"/>
    <p:sldId id="269" r:id="rId26"/>
    <p:sldId id="270" r:id="rId27"/>
    <p:sldId id="271" r:id="rId28"/>
    <p:sldId id="272" r:id="rId29"/>
    <p:sldId id="273" r:id="rId30"/>
    <p:sldId id="274" r:id="rId31"/>
    <p:sldId id="4805" r:id="rId32"/>
    <p:sldId id="4802" r:id="rId33"/>
    <p:sldId id="4807" r:id="rId34"/>
    <p:sldId id="4809" r:id="rId35"/>
    <p:sldId id="4803" r:id="rId36"/>
    <p:sldId id="4808" r:id="rId37"/>
    <p:sldId id="275" r:id="rId38"/>
    <p:sldId id="276" r:id="rId39"/>
    <p:sldId id="4810" r:id="rId40"/>
    <p:sldId id="277" r:id="rId41"/>
    <p:sldId id="4822" r:id="rId42"/>
    <p:sldId id="4823" r:id="rId43"/>
    <p:sldId id="4811" r:id="rId44"/>
    <p:sldId id="279" r:id="rId45"/>
    <p:sldId id="280" r:id="rId46"/>
    <p:sldId id="281" r:id="rId47"/>
    <p:sldId id="282" r:id="rId48"/>
    <p:sldId id="4812" r:id="rId49"/>
    <p:sldId id="4813" r:id="rId50"/>
    <p:sldId id="283" r:id="rId51"/>
    <p:sldId id="284" r:id="rId52"/>
    <p:sldId id="285" r:id="rId53"/>
    <p:sldId id="286" r:id="rId54"/>
    <p:sldId id="287" r:id="rId55"/>
    <p:sldId id="288" r:id="rId56"/>
    <p:sldId id="4814" r:id="rId57"/>
    <p:sldId id="4815" r:id="rId58"/>
    <p:sldId id="4816" r:id="rId59"/>
    <p:sldId id="4817" r:id="rId60"/>
    <p:sldId id="4791" r:id="rId61"/>
    <p:sldId id="4792" r:id="rId62"/>
    <p:sldId id="4793" r:id="rId63"/>
    <p:sldId id="4794" r:id="rId64"/>
    <p:sldId id="4795" r:id="rId65"/>
    <p:sldId id="4796" r:id="rId66"/>
    <p:sldId id="4818" r:id="rId67"/>
    <p:sldId id="4819" r:id="rId68"/>
    <p:sldId id="4820" r:id="rId69"/>
    <p:sldId id="4821" r:id="rId70"/>
    <p:sldId id="4790"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460174-69B7-41C4-94D6-E5AEFBE5470D}" v="35" dt="2026-10-04T10:48:09.836"/>
    <p1510:client id="{518F1DCE-6029-42E4-9EA8-1FF6ADF2599C}" v="41" dt="2026-10-04T19:59:46.143"/>
    <p1510:client id="{67E62DAB-205A-47C2-850A-BE69F59C8AEE}" v="7" dt="2026-10-04T20:12:32.366"/>
    <p1510:client id="{AA1C2BBA-79A0-4A00-A221-8E54DA383644}" v="112" dt="2026-10-05T07:42:24.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405" autoAdjust="0"/>
  </p:normalViewPr>
  <p:slideViewPr>
    <p:cSldViewPr snapToGrid="0">
      <p:cViewPr varScale="1">
        <p:scale>
          <a:sx n="112" d="100"/>
          <a:sy n="112" d="100"/>
        </p:scale>
        <p:origin x="21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rik Eriksen Heen" userId="3e804305-1c07-417a-9ea8-d913585be88f" providerId="ADAL" clId="{AF971845-3530-45F7-BF28-40FF8C36E022}"/>
    <pc:docChg chg="custSel addSld modSld">
      <pc:chgData name="Eirik Eriksen Heen" userId="3e804305-1c07-417a-9ea8-d913585be88f" providerId="ADAL" clId="{AF971845-3530-45F7-BF28-40FF8C36E022}" dt="2026-10-04T10:48:09.836" v="790" actId="113"/>
      <pc:docMkLst>
        <pc:docMk/>
      </pc:docMkLst>
      <pc:sldChg chg="modSp mod">
        <pc:chgData name="Eirik Eriksen Heen" userId="3e804305-1c07-417a-9ea8-d913585be88f" providerId="ADAL" clId="{AF971845-3530-45F7-BF28-40FF8C36E022}" dt="2026-09-30T09:54:40.902" v="515" actId="20577"/>
        <pc:sldMkLst>
          <pc:docMk/>
          <pc:sldMk cId="2901206459" sldId="256"/>
        </pc:sldMkLst>
        <pc:spChg chg="mod">
          <ac:chgData name="Eirik Eriksen Heen" userId="3e804305-1c07-417a-9ea8-d913585be88f" providerId="ADAL" clId="{AF971845-3530-45F7-BF28-40FF8C36E022}" dt="2026-09-30T09:54:40.895" v="514"/>
          <ac:spMkLst>
            <pc:docMk/>
            <pc:sldMk cId="2901206459" sldId="256"/>
            <ac:spMk id="8" creationId="{F466E53D-891E-27DC-F049-0C437CC0E5C9}"/>
          </ac:spMkLst>
        </pc:spChg>
      </pc:sldChg>
      <pc:sldChg chg="modSp mod">
        <pc:chgData name="Eirik Eriksen Heen" userId="3e804305-1c07-417a-9ea8-d913585be88f" providerId="ADAL" clId="{AF971845-3530-45F7-BF28-40FF8C36E022}" dt="2026-09-30T09:54:41.009" v="535" actId="20577"/>
        <pc:sldMkLst>
          <pc:docMk/>
          <pc:sldMk cId="87907990" sldId="257"/>
        </pc:sldMkLst>
        <pc:spChg chg="mod">
          <ac:chgData name="Eirik Eriksen Heen" userId="3e804305-1c07-417a-9ea8-d913585be88f" providerId="ADAL" clId="{AF971845-3530-45F7-BF28-40FF8C36E022}" dt="2026-09-30T09:54:41.004" v="534"/>
          <ac:spMkLst>
            <pc:docMk/>
            <pc:sldMk cId="87907990" sldId="257"/>
            <ac:spMk id="4" creationId="{7CF5E24B-F0F8-F89F-BBAE-239515BF4E32}"/>
          </ac:spMkLst>
        </pc:spChg>
      </pc:sldChg>
      <pc:sldChg chg="modSp mod">
        <pc:chgData name="Eirik Eriksen Heen" userId="3e804305-1c07-417a-9ea8-d913585be88f" providerId="ADAL" clId="{AF971845-3530-45F7-BF28-40FF8C36E022}" dt="2026-09-30T09:54:41.038" v="540" actId="20577"/>
        <pc:sldMkLst>
          <pc:docMk/>
          <pc:sldMk cId="4276525681" sldId="258"/>
        </pc:sldMkLst>
        <pc:spChg chg="mod">
          <ac:chgData name="Eirik Eriksen Heen" userId="3e804305-1c07-417a-9ea8-d913585be88f" providerId="ADAL" clId="{AF971845-3530-45F7-BF28-40FF8C36E022}" dt="2026-09-30T09:54:41.033" v="539"/>
          <ac:spMkLst>
            <pc:docMk/>
            <pc:sldMk cId="4276525681" sldId="258"/>
            <ac:spMk id="4" creationId="{4D196721-8AC4-BF9F-E23D-635CF1DE83AA}"/>
          </ac:spMkLst>
        </pc:spChg>
      </pc:sldChg>
      <pc:sldChg chg="modSp mod">
        <pc:chgData name="Eirik Eriksen Heen" userId="3e804305-1c07-417a-9ea8-d913585be88f" providerId="ADAL" clId="{AF971845-3530-45F7-BF28-40FF8C36E022}" dt="2026-09-30T09:54:41.061" v="545" actId="20577"/>
        <pc:sldMkLst>
          <pc:docMk/>
          <pc:sldMk cId="1461586053" sldId="259"/>
        </pc:sldMkLst>
        <pc:spChg chg="mod">
          <ac:chgData name="Eirik Eriksen Heen" userId="3e804305-1c07-417a-9ea8-d913585be88f" providerId="ADAL" clId="{AF971845-3530-45F7-BF28-40FF8C36E022}" dt="2026-09-30T09:54:41.056" v="544"/>
          <ac:spMkLst>
            <pc:docMk/>
            <pc:sldMk cId="1461586053" sldId="259"/>
            <ac:spMk id="4" creationId="{9243C805-FC05-D3AD-ACF4-0F1B441AD571}"/>
          </ac:spMkLst>
        </pc:spChg>
      </pc:sldChg>
      <pc:sldChg chg="modSp mod">
        <pc:chgData name="Eirik Eriksen Heen" userId="3e804305-1c07-417a-9ea8-d913585be88f" providerId="ADAL" clId="{AF971845-3530-45F7-BF28-40FF8C36E022}" dt="2026-09-30T09:54:41.077" v="550" actId="20577"/>
        <pc:sldMkLst>
          <pc:docMk/>
          <pc:sldMk cId="78835257" sldId="260"/>
        </pc:sldMkLst>
        <pc:spChg chg="mod">
          <ac:chgData name="Eirik Eriksen Heen" userId="3e804305-1c07-417a-9ea8-d913585be88f" providerId="ADAL" clId="{AF971845-3530-45F7-BF28-40FF8C36E022}" dt="2026-09-30T09:54:41.072" v="549"/>
          <ac:spMkLst>
            <pc:docMk/>
            <pc:sldMk cId="78835257" sldId="260"/>
            <ac:spMk id="4" creationId="{813883CC-2E31-0BC7-F430-DD858E9F5E9C}"/>
          </ac:spMkLst>
        </pc:spChg>
      </pc:sldChg>
      <pc:sldChg chg="modSp mod">
        <pc:chgData name="Eirik Eriksen Heen" userId="3e804305-1c07-417a-9ea8-d913585be88f" providerId="ADAL" clId="{AF971845-3530-45F7-BF28-40FF8C36E022}" dt="2026-09-30T09:54:41.147" v="551" actId="20577"/>
        <pc:sldMkLst>
          <pc:docMk/>
          <pc:sldMk cId="782482593" sldId="261"/>
        </pc:sldMkLst>
      </pc:sldChg>
      <pc:sldChg chg="modSp mod">
        <pc:chgData name="Eirik Eriksen Heen" userId="3e804305-1c07-417a-9ea8-d913585be88f" providerId="ADAL" clId="{AF971845-3530-45F7-BF28-40FF8C36E022}" dt="2026-09-30T09:54:41.162" v="556" actId="20577"/>
        <pc:sldMkLst>
          <pc:docMk/>
          <pc:sldMk cId="3138954108" sldId="262"/>
        </pc:sldMkLst>
        <pc:spChg chg="mod">
          <ac:chgData name="Eirik Eriksen Heen" userId="3e804305-1c07-417a-9ea8-d913585be88f" providerId="ADAL" clId="{AF971845-3530-45F7-BF28-40FF8C36E022}" dt="2026-09-30T09:54:41.157" v="555"/>
          <ac:spMkLst>
            <pc:docMk/>
            <pc:sldMk cId="3138954108" sldId="262"/>
            <ac:spMk id="4" creationId="{C89A0994-05C8-0668-C90F-FEB8E5C58C45}"/>
          </ac:spMkLst>
        </pc:spChg>
      </pc:sldChg>
      <pc:sldChg chg="modSp mod">
        <pc:chgData name="Eirik Eriksen Heen" userId="3e804305-1c07-417a-9ea8-d913585be88f" providerId="ADAL" clId="{AF971845-3530-45F7-BF28-40FF8C36E022}" dt="2026-09-30T09:54:41.214" v="561" actId="20577"/>
        <pc:sldMkLst>
          <pc:docMk/>
          <pc:sldMk cId="4011772822" sldId="263"/>
        </pc:sldMkLst>
        <pc:spChg chg="mod">
          <ac:chgData name="Eirik Eriksen Heen" userId="3e804305-1c07-417a-9ea8-d913585be88f" providerId="ADAL" clId="{AF971845-3530-45F7-BF28-40FF8C36E022}" dt="2026-09-30T09:54:41.209" v="560"/>
          <ac:spMkLst>
            <pc:docMk/>
            <pc:sldMk cId="4011772822" sldId="263"/>
            <ac:spMk id="4" creationId="{E4F3EB9C-BCA3-670C-96A2-86FD25B24F1E}"/>
          </ac:spMkLst>
        </pc:spChg>
      </pc:sldChg>
      <pc:sldChg chg="modSp mod">
        <pc:chgData name="Eirik Eriksen Heen" userId="3e804305-1c07-417a-9ea8-d913585be88f" providerId="ADAL" clId="{AF971845-3530-45F7-BF28-40FF8C36E022}" dt="2026-09-30T09:54:41.309" v="571" actId="20577"/>
        <pc:sldMkLst>
          <pc:docMk/>
          <pc:sldMk cId="2254070797" sldId="264"/>
        </pc:sldMkLst>
        <pc:spChg chg="mod">
          <ac:chgData name="Eirik Eriksen Heen" userId="3e804305-1c07-417a-9ea8-d913585be88f" providerId="ADAL" clId="{AF971845-3530-45F7-BF28-40FF8C36E022}" dt="2026-09-30T09:54:41.304" v="570"/>
          <ac:spMkLst>
            <pc:docMk/>
            <pc:sldMk cId="2254070797" sldId="264"/>
            <ac:spMk id="4" creationId="{F9E6C604-187C-EE8B-BD58-06E39FF6FCC5}"/>
          </ac:spMkLst>
        </pc:spChg>
      </pc:sldChg>
      <pc:sldChg chg="modSp mod">
        <pc:chgData name="Eirik Eriksen Heen" userId="3e804305-1c07-417a-9ea8-d913585be88f" providerId="ADAL" clId="{AF971845-3530-45F7-BF28-40FF8C36E022}" dt="2026-09-30T09:54:41.367" v="581" actId="20577"/>
        <pc:sldMkLst>
          <pc:docMk/>
          <pc:sldMk cId="2448976122" sldId="265"/>
        </pc:sldMkLst>
        <pc:spChg chg="mod">
          <ac:chgData name="Eirik Eriksen Heen" userId="3e804305-1c07-417a-9ea8-d913585be88f" providerId="ADAL" clId="{AF971845-3530-45F7-BF28-40FF8C36E022}" dt="2026-09-30T09:54:41.363" v="580"/>
          <ac:spMkLst>
            <pc:docMk/>
            <pc:sldMk cId="2448976122" sldId="265"/>
            <ac:spMk id="4" creationId="{0CF59BD3-C614-0E88-8704-B912CB0DDA1E}"/>
          </ac:spMkLst>
        </pc:spChg>
      </pc:sldChg>
      <pc:sldChg chg="delSp modSp mod">
        <pc:chgData name="Eirik Eriksen Heen" userId="3e804305-1c07-417a-9ea8-d913585be88f" providerId="ADAL" clId="{AF971845-3530-45F7-BF28-40FF8C36E022}" dt="2026-10-02T10:08:54.563" v="723" actId="478"/>
        <pc:sldMkLst>
          <pc:docMk/>
          <pc:sldMk cId="3869658543" sldId="266"/>
        </pc:sldMkLst>
        <pc:spChg chg="mod">
          <ac:chgData name="Eirik Eriksen Heen" userId="3e804305-1c07-417a-9ea8-d913585be88f" providerId="ADAL" clId="{AF971845-3530-45F7-BF28-40FF8C36E022}" dt="2026-09-30T09:54:41.485" v="600"/>
          <ac:spMkLst>
            <pc:docMk/>
            <pc:sldMk cId="3869658543" sldId="266"/>
            <ac:spMk id="26" creationId="{1025D244-6B39-716E-3A4D-40AC3E48964C}"/>
          </ac:spMkLst>
        </pc:spChg>
      </pc:sldChg>
      <pc:sldChg chg="delSp modSp mod">
        <pc:chgData name="Eirik Eriksen Heen" userId="3e804305-1c07-417a-9ea8-d913585be88f" providerId="ADAL" clId="{AF971845-3530-45F7-BF28-40FF8C36E022}" dt="2026-10-02T10:09:07.289" v="727" actId="478"/>
        <pc:sldMkLst>
          <pc:docMk/>
          <pc:sldMk cId="152089444" sldId="267"/>
        </pc:sldMkLst>
        <pc:spChg chg="mod">
          <ac:chgData name="Eirik Eriksen Heen" userId="3e804305-1c07-417a-9ea8-d913585be88f" providerId="ADAL" clId="{AF971845-3530-45F7-BF28-40FF8C36E022}" dt="2026-09-30T09:54:41.578" v="610"/>
          <ac:spMkLst>
            <pc:docMk/>
            <pc:sldMk cId="152089444" sldId="267"/>
            <ac:spMk id="4" creationId="{42056C0B-5AF4-6943-BD34-6EE1C380A589}"/>
          </ac:spMkLst>
        </pc:spChg>
      </pc:sldChg>
      <pc:sldChg chg="delSp modSp mod">
        <pc:chgData name="Eirik Eriksen Heen" userId="3e804305-1c07-417a-9ea8-d913585be88f" providerId="ADAL" clId="{AF971845-3530-45F7-BF28-40FF8C36E022}" dt="2026-10-02T10:09:08.784" v="728" actId="478"/>
        <pc:sldMkLst>
          <pc:docMk/>
          <pc:sldMk cId="2346487556" sldId="268"/>
        </pc:sldMkLst>
        <pc:spChg chg="mod">
          <ac:chgData name="Eirik Eriksen Heen" userId="3e804305-1c07-417a-9ea8-d913585be88f" providerId="ADAL" clId="{AF971845-3530-45F7-BF28-40FF8C36E022}" dt="2026-09-30T09:54:41.596" v="615"/>
          <ac:spMkLst>
            <pc:docMk/>
            <pc:sldMk cId="2346487556" sldId="268"/>
            <ac:spMk id="4" creationId="{F7A91AC8-017F-C82F-A4D3-493AF43360DB}"/>
          </ac:spMkLst>
        </pc:spChg>
      </pc:sldChg>
      <pc:sldChg chg="delSp modSp mod">
        <pc:chgData name="Eirik Eriksen Heen" userId="3e804305-1c07-417a-9ea8-d913585be88f" providerId="ADAL" clId="{AF971845-3530-45F7-BF28-40FF8C36E022}" dt="2026-10-02T10:09:09.911" v="729" actId="478"/>
        <pc:sldMkLst>
          <pc:docMk/>
          <pc:sldMk cId="3723843331" sldId="269"/>
        </pc:sldMkLst>
        <pc:spChg chg="mod">
          <ac:chgData name="Eirik Eriksen Heen" userId="3e804305-1c07-417a-9ea8-d913585be88f" providerId="ADAL" clId="{AF971845-3530-45F7-BF28-40FF8C36E022}" dt="2026-09-30T09:54:41.613" v="620"/>
          <ac:spMkLst>
            <pc:docMk/>
            <pc:sldMk cId="3723843331" sldId="269"/>
            <ac:spMk id="4" creationId="{80197BA9-6C1B-569F-D20D-D9CDF7A6E72B}"/>
          </ac:spMkLst>
        </pc:spChg>
      </pc:sldChg>
      <pc:sldChg chg="delSp modSp mod">
        <pc:chgData name="Eirik Eriksen Heen" userId="3e804305-1c07-417a-9ea8-d913585be88f" providerId="ADAL" clId="{AF971845-3530-45F7-BF28-40FF8C36E022}" dt="2026-10-02T10:09:11.579" v="730" actId="478"/>
        <pc:sldMkLst>
          <pc:docMk/>
          <pc:sldMk cId="1463956442" sldId="270"/>
        </pc:sldMkLst>
        <pc:spChg chg="mod">
          <ac:chgData name="Eirik Eriksen Heen" userId="3e804305-1c07-417a-9ea8-d913585be88f" providerId="ADAL" clId="{AF971845-3530-45F7-BF28-40FF8C36E022}" dt="2026-09-30T09:54:41.639" v="625"/>
          <ac:spMkLst>
            <pc:docMk/>
            <pc:sldMk cId="1463956442" sldId="270"/>
            <ac:spMk id="4" creationId="{F613B30B-7DA4-DA46-E3F6-216034872871}"/>
          </ac:spMkLst>
        </pc:spChg>
      </pc:sldChg>
      <pc:sldChg chg="delSp modSp mod">
        <pc:chgData name="Eirik Eriksen Heen" userId="3e804305-1c07-417a-9ea8-d913585be88f" providerId="ADAL" clId="{AF971845-3530-45F7-BF28-40FF8C36E022}" dt="2026-10-02T10:09:12.684" v="731" actId="478"/>
        <pc:sldMkLst>
          <pc:docMk/>
          <pc:sldMk cId="1443452269" sldId="271"/>
        </pc:sldMkLst>
        <pc:spChg chg="mod">
          <ac:chgData name="Eirik Eriksen Heen" userId="3e804305-1c07-417a-9ea8-d913585be88f" providerId="ADAL" clId="{AF971845-3530-45F7-BF28-40FF8C36E022}" dt="2026-09-30T09:54:41.661" v="630"/>
          <ac:spMkLst>
            <pc:docMk/>
            <pc:sldMk cId="1443452269" sldId="271"/>
            <ac:spMk id="4" creationId="{BA6DC967-E032-B6AF-E9F6-9135FB650B07}"/>
          </ac:spMkLst>
        </pc:spChg>
      </pc:sldChg>
      <pc:sldChg chg="delSp modSp mod">
        <pc:chgData name="Eirik Eriksen Heen" userId="3e804305-1c07-417a-9ea8-d913585be88f" providerId="ADAL" clId="{AF971845-3530-45F7-BF28-40FF8C36E022}" dt="2026-10-02T10:09:13.753" v="732" actId="478"/>
        <pc:sldMkLst>
          <pc:docMk/>
          <pc:sldMk cId="304497790" sldId="272"/>
        </pc:sldMkLst>
        <pc:spChg chg="mod">
          <ac:chgData name="Eirik Eriksen Heen" userId="3e804305-1c07-417a-9ea8-d913585be88f" providerId="ADAL" clId="{AF971845-3530-45F7-BF28-40FF8C36E022}" dt="2026-09-30T09:54:41.676" v="635"/>
          <ac:spMkLst>
            <pc:docMk/>
            <pc:sldMk cId="304497790" sldId="272"/>
            <ac:spMk id="4" creationId="{D20BFBAD-CBD5-068F-65E3-C0E755F2C1ED}"/>
          </ac:spMkLst>
        </pc:spChg>
      </pc:sldChg>
      <pc:sldChg chg="delSp modSp mod">
        <pc:chgData name="Eirik Eriksen Heen" userId="3e804305-1c07-417a-9ea8-d913585be88f" providerId="ADAL" clId="{AF971845-3530-45F7-BF28-40FF8C36E022}" dt="2026-10-02T10:09:14.772" v="733" actId="478"/>
        <pc:sldMkLst>
          <pc:docMk/>
          <pc:sldMk cId="2718992099" sldId="273"/>
        </pc:sldMkLst>
        <pc:spChg chg="mod">
          <ac:chgData name="Eirik Eriksen Heen" userId="3e804305-1c07-417a-9ea8-d913585be88f" providerId="ADAL" clId="{AF971845-3530-45F7-BF28-40FF8C36E022}" dt="2026-09-30T09:54:41.745" v="640"/>
          <ac:spMkLst>
            <pc:docMk/>
            <pc:sldMk cId="2718992099" sldId="273"/>
            <ac:spMk id="4" creationId="{5ADB3F96-EC45-7609-1777-40A88FC697F7}"/>
          </ac:spMkLst>
        </pc:spChg>
      </pc:sldChg>
      <pc:sldChg chg="delSp modSp mod">
        <pc:chgData name="Eirik Eriksen Heen" userId="3e804305-1c07-417a-9ea8-d913585be88f" providerId="ADAL" clId="{AF971845-3530-45F7-BF28-40FF8C36E022}" dt="2026-10-02T10:09:15.781" v="734" actId="478"/>
        <pc:sldMkLst>
          <pc:docMk/>
          <pc:sldMk cId="3737181823" sldId="274"/>
        </pc:sldMkLst>
        <pc:spChg chg="mod">
          <ac:chgData name="Eirik Eriksen Heen" userId="3e804305-1c07-417a-9ea8-d913585be88f" providerId="ADAL" clId="{AF971845-3530-45F7-BF28-40FF8C36E022}" dt="2026-09-30T09:54:41.770" v="645"/>
          <ac:spMkLst>
            <pc:docMk/>
            <pc:sldMk cId="3737181823" sldId="274"/>
            <ac:spMk id="9" creationId="{5C627C70-EEF8-1BF6-18C3-842E4244CDAD}"/>
          </ac:spMkLst>
        </pc:spChg>
      </pc:sldChg>
      <pc:sldChg chg="delSp modSp mod">
        <pc:chgData name="Eirik Eriksen Heen" userId="3e804305-1c07-417a-9ea8-d913585be88f" providerId="ADAL" clId="{AF971845-3530-45F7-BF28-40FF8C36E022}" dt="2026-10-02T10:09:21.016" v="735" actId="478"/>
        <pc:sldMkLst>
          <pc:docMk/>
          <pc:sldMk cId="3216797607" sldId="275"/>
        </pc:sldMkLst>
        <pc:spChg chg="mod">
          <ac:chgData name="Eirik Eriksen Heen" userId="3e804305-1c07-417a-9ea8-d913585be88f" providerId="ADAL" clId="{AF971845-3530-45F7-BF28-40FF8C36E022}" dt="2026-09-30T09:54:41.822" v="650"/>
          <ac:spMkLst>
            <pc:docMk/>
            <pc:sldMk cId="3216797607" sldId="275"/>
            <ac:spMk id="4" creationId="{0640F05A-088F-775A-A2DA-62FB2921D9EE}"/>
          </ac:spMkLst>
        </pc:spChg>
      </pc:sldChg>
      <pc:sldChg chg="delSp modSp mod">
        <pc:chgData name="Eirik Eriksen Heen" userId="3e804305-1c07-417a-9ea8-d913585be88f" providerId="ADAL" clId="{AF971845-3530-45F7-BF28-40FF8C36E022}" dt="2026-10-02T10:10:32.870" v="751" actId="1076"/>
        <pc:sldMkLst>
          <pc:docMk/>
          <pc:sldMk cId="2944245729" sldId="276"/>
        </pc:sldMkLst>
        <pc:spChg chg="mod">
          <ac:chgData name="Eirik Eriksen Heen" userId="3e804305-1c07-417a-9ea8-d913585be88f" providerId="ADAL" clId="{AF971845-3530-45F7-BF28-40FF8C36E022}" dt="2026-09-30T09:54:41.893" v="655"/>
          <ac:spMkLst>
            <pc:docMk/>
            <pc:sldMk cId="2944245729" sldId="276"/>
            <ac:spMk id="4" creationId="{FA94168E-F775-6A35-5662-807118125E93}"/>
          </ac:spMkLst>
        </pc:spChg>
        <pc:spChg chg="mod">
          <ac:chgData name="Eirik Eriksen Heen" userId="3e804305-1c07-417a-9ea8-d913585be88f" providerId="ADAL" clId="{AF971845-3530-45F7-BF28-40FF8C36E022}" dt="2026-10-02T10:10:32.870" v="751" actId="1076"/>
          <ac:spMkLst>
            <pc:docMk/>
            <pc:sldMk cId="2944245729" sldId="276"/>
            <ac:spMk id="6" creationId="{421EDCB0-132C-8EB0-AE94-3F2E93211372}"/>
          </ac:spMkLst>
        </pc:spChg>
        <pc:spChg chg="mod">
          <ac:chgData name="Eirik Eriksen Heen" userId="3e804305-1c07-417a-9ea8-d913585be88f" providerId="ADAL" clId="{AF971845-3530-45F7-BF28-40FF8C36E022}" dt="2026-10-02T10:10:32.870" v="751" actId="1076"/>
          <ac:spMkLst>
            <pc:docMk/>
            <pc:sldMk cId="2944245729" sldId="276"/>
            <ac:spMk id="7" creationId="{29D20677-8D44-F2CB-377F-E9A984AAC6D5}"/>
          </ac:spMkLst>
        </pc:spChg>
        <pc:spChg chg="mod">
          <ac:chgData name="Eirik Eriksen Heen" userId="3e804305-1c07-417a-9ea8-d913585be88f" providerId="ADAL" clId="{AF971845-3530-45F7-BF28-40FF8C36E022}" dt="2026-10-02T10:10:32.870" v="751" actId="1076"/>
          <ac:spMkLst>
            <pc:docMk/>
            <pc:sldMk cId="2944245729" sldId="276"/>
            <ac:spMk id="8" creationId="{C3F4CED8-B3C0-3D07-50AC-DF84C98F10A7}"/>
          </ac:spMkLst>
        </pc:spChg>
        <pc:spChg chg="mod">
          <ac:chgData name="Eirik Eriksen Heen" userId="3e804305-1c07-417a-9ea8-d913585be88f" providerId="ADAL" clId="{AF971845-3530-45F7-BF28-40FF8C36E022}" dt="2026-10-02T10:10:32.870" v="751" actId="1076"/>
          <ac:spMkLst>
            <pc:docMk/>
            <pc:sldMk cId="2944245729" sldId="276"/>
            <ac:spMk id="9" creationId="{86443DF0-092C-3476-27A0-007A44FA9BB7}"/>
          </ac:spMkLst>
        </pc:spChg>
        <pc:spChg chg="mod">
          <ac:chgData name="Eirik Eriksen Heen" userId="3e804305-1c07-417a-9ea8-d913585be88f" providerId="ADAL" clId="{AF971845-3530-45F7-BF28-40FF8C36E022}" dt="2026-10-02T10:10:32.870" v="751" actId="1076"/>
          <ac:spMkLst>
            <pc:docMk/>
            <pc:sldMk cId="2944245729" sldId="276"/>
            <ac:spMk id="10" creationId="{99919C9F-8F3F-A6BF-5646-3D95EB9F7034}"/>
          </ac:spMkLst>
        </pc:spChg>
        <pc:spChg chg="mod">
          <ac:chgData name="Eirik Eriksen Heen" userId="3e804305-1c07-417a-9ea8-d913585be88f" providerId="ADAL" clId="{AF971845-3530-45F7-BF28-40FF8C36E022}" dt="2026-10-02T10:10:32.870" v="751" actId="1076"/>
          <ac:spMkLst>
            <pc:docMk/>
            <pc:sldMk cId="2944245729" sldId="276"/>
            <ac:spMk id="11" creationId="{02F0568B-B95D-EAA3-EF60-4C59EC8F870C}"/>
          </ac:spMkLst>
        </pc:spChg>
        <pc:spChg chg="mod">
          <ac:chgData name="Eirik Eriksen Heen" userId="3e804305-1c07-417a-9ea8-d913585be88f" providerId="ADAL" clId="{AF971845-3530-45F7-BF28-40FF8C36E022}" dt="2026-10-02T10:10:32.870" v="751" actId="1076"/>
          <ac:spMkLst>
            <pc:docMk/>
            <pc:sldMk cId="2944245729" sldId="276"/>
            <ac:spMk id="12" creationId="{6F8913C4-5C93-4A2D-BEF1-1C27B321FD87}"/>
          </ac:spMkLst>
        </pc:spChg>
        <pc:spChg chg="mod">
          <ac:chgData name="Eirik Eriksen Heen" userId="3e804305-1c07-417a-9ea8-d913585be88f" providerId="ADAL" clId="{AF971845-3530-45F7-BF28-40FF8C36E022}" dt="2026-10-02T10:10:32.870" v="751" actId="1076"/>
          <ac:spMkLst>
            <pc:docMk/>
            <pc:sldMk cId="2944245729" sldId="276"/>
            <ac:spMk id="14" creationId="{AD16563B-11CC-89D6-1BCE-9D7EDE02CF0E}"/>
          </ac:spMkLst>
        </pc:spChg>
        <pc:spChg chg="mod">
          <ac:chgData name="Eirik Eriksen Heen" userId="3e804305-1c07-417a-9ea8-d913585be88f" providerId="ADAL" clId="{AF971845-3530-45F7-BF28-40FF8C36E022}" dt="2026-10-02T10:10:16.804" v="750" actId="1076"/>
          <ac:spMkLst>
            <pc:docMk/>
            <pc:sldMk cId="2944245729" sldId="276"/>
            <ac:spMk id="15" creationId="{EDDBD2FB-DA0E-8A35-FF58-916866634E46}"/>
          </ac:spMkLst>
        </pc:spChg>
        <pc:spChg chg="mod">
          <ac:chgData name="Eirik Eriksen Heen" userId="3e804305-1c07-417a-9ea8-d913585be88f" providerId="ADAL" clId="{AF971845-3530-45F7-BF28-40FF8C36E022}" dt="2026-10-02T10:10:32.870" v="751" actId="1076"/>
          <ac:spMkLst>
            <pc:docMk/>
            <pc:sldMk cId="2944245729" sldId="276"/>
            <ac:spMk id="16" creationId="{90BFECE7-6D95-4E21-ABEE-9AFCB42F76D5}"/>
          </ac:spMkLst>
        </pc:spChg>
        <pc:spChg chg="mod">
          <ac:chgData name="Eirik Eriksen Heen" userId="3e804305-1c07-417a-9ea8-d913585be88f" providerId="ADAL" clId="{AF971845-3530-45F7-BF28-40FF8C36E022}" dt="2026-10-02T10:10:32.870" v="751" actId="1076"/>
          <ac:spMkLst>
            <pc:docMk/>
            <pc:sldMk cId="2944245729" sldId="276"/>
            <ac:spMk id="17" creationId="{6FB72CD2-C9E4-3557-0264-F4F959EEF298}"/>
          </ac:spMkLst>
        </pc:spChg>
      </pc:sldChg>
      <pc:sldChg chg="delSp modSp mod">
        <pc:chgData name="Eirik Eriksen Heen" userId="3e804305-1c07-417a-9ea8-d913585be88f" providerId="ADAL" clId="{AF971845-3530-45F7-BF28-40FF8C36E022}" dt="2026-10-02T10:09:23.346" v="737" actId="478"/>
        <pc:sldMkLst>
          <pc:docMk/>
          <pc:sldMk cId="522193453" sldId="277"/>
        </pc:sldMkLst>
      </pc:sldChg>
      <pc:sldChg chg="delSp modSp mod">
        <pc:chgData name="Eirik Eriksen Heen" userId="3e804305-1c07-417a-9ea8-d913585be88f" providerId="ADAL" clId="{AF971845-3530-45F7-BF28-40FF8C36E022}" dt="2026-10-02T10:09:25.690" v="739" actId="478"/>
        <pc:sldMkLst>
          <pc:docMk/>
          <pc:sldMk cId="2732080540" sldId="279"/>
        </pc:sldMkLst>
        <pc:spChg chg="mod">
          <ac:chgData name="Eirik Eriksen Heen" userId="3e804305-1c07-417a-9ea8-d913585be88f" providerId="ADAL" clId="{AF971845-3530-45F7-BF28-40FF8C36E022}" dt="2026-09-30T09:54:41.974" v="666"/>
          <ac:spMkLst>
            <pc:docMk/>
            <pc:sldMk cId="2732080540" sldId="279"/>
            <ac:spMk id="4" creationId="{1DB2AEC8-AC63-3F39-7917-543BCAECCBE8}"/>
          </ac:spMkLst>
        </pc:spChg>
      </pc:sldChg>
      <pc:sldChg chg="delSp modSp mod">
        <pc:chgData name="Eirik Eriksen Heen" userId="3e804305-1c07-417a-9ea8-d913585be88f" providerId="ADAL" clId="{AF971845-3530-45F7-BF28-40FF8C36E022}" dt="2026-10-02T10:09:26.756" v="740" actId="478"/>
        <pc:sldMkLst>
          <pc:docMk/>
          <pc:sldMk cId="3875021174" sldId="280"/>
        </pc:sldMkLst>
        <pc:spChg chg="mod">
          <ac:chgData name="Eirik Eriksen Heen" userId="3e804305-1c07-417a-9ea8-d913585be88f" providerId="ADAL" clId="{AF971845-3530-45F7-BF28-40FF8C36E022}" dt="2026-09-30T09:54:42.033" v="671"/>
          <ac:spMkLst>
            <pc:docMk/>
            <pc:sldMk cId="3875021174" sldId="280"/>
            <ac:spMk id="4" creationId="{B07CFC83-44C2-AB06-1227-39741C232E60}"/>
          </ac:spMkLst>
        </pc:spChg>
      </pc:sldChg>
      <pc:sldChg chg="delSp modSp mod">
        <pc:chgData name="Eirik Eriksen Heen" userId="3e804305-1c07-417a-9ea8-d913585be88f" providerId="ADAL" clId="{AF971845-3530-45F7-BF28-40FF8C36E022}" dt="2026-10-02T10:09:27.791" v="741" actId="478"/>
        <pc:sldMkLst>
          <pc:docMk/>
          <pc:sldMk cId="2351840130" sldId="281"/>
        </pc:sldMkLst>
        <pc:spChg chg="mod">
          <ac:chgData name="Eirik Eriksen Heen" userId="3e804305-1c07-417a-9ea8-d913585be88f" providerId="ADAL" clId="{AF971845-3530-45F7-BF28-40FF8C36E022}" dt="2026-09-30T09:54:42.060" v="676"/>
          <ac:spMkLst>
            <pc:docMk/>
            <pc:sldMk cId="2351840130" sldId="281"/>
            <ac:spMk id="4" creationId="{E5B988F3-30CB-FACB-131F-A1611E7F3734}"/>
          </ac:spMkLst>
        </pc:spChg>
      </pc:sldChg>
      <pc:sldChg chg="delSp modSp mod">
        <pc:chgData name="Eirik Eriksen Heen" userId="3e804305-1c07-417a-9ea8-d913585be88f" providerId="ADAL" clId="{AF971845-3530-45F7-BF28-40FF8C36E022}" dt="2026-10-02T10:09:45.320" v="749" actId="1076"/>
        <pc:sldMkLst>
          <pc:docMk/>
          <pc:sldMk cId="742002787" sldId="282"/>
        </pc:sldMkLst>
        <pc:spChg chg="mod">
          <ac:chgData name="Eirik Eriksen Heen" userId="3e804305-1c07-417a-9ea8-d913585be88f" providerId="ADAL" clId="{AF971845-3530-45F7-BF28-40FF8C36E022}" dt="2026-09-30T09:54:42.123" v="681"/>
          <ac:spMkLst>
            <pc:docMk/>
            <pc:sldMk cId="742002787" sldId="282"/>
            <ac:spMk id="4" creationId="{653D7D84-61AC-4A2E-57CA-C63A00E6CF4C}"/>
          </ac:spMkLst>
        </pc:spChg>
        <pc:spChg chg="mod">
          <ac:chgData name="Eirik Eriksen Heen" userId="3e804305-1c07-417a-9ea8-d913585be88f" providerId="ADAL" clId="{AF971845-3530-45F7-BF28-40FF8C36E022}" dt="2026-10-02T10:09:45.320" v="749" actId="1076"/>
          <ac:spMkLst>
            <pc:docMk/>
            <pc:sldMk cId="742002787" sldId="282"/>
            <ac:spMk id="8" creationId="{03A9741B-DA03-8C40-0637-23678C842596}"/>
          </ac:spMkLst>
        </pc:spChg>
      </pc:sldChg>
      <pc:sldChg chg="delSp modSp mod">
        <pc:chgData name="Eirik Eriksen Heen" userId="3e804305-1c07-417a-9ea8-d913585be88f" providerId="ADAL" clId="{AF971845-3530-45F7-BF28-40FF8C36E022}" dt="2026-10-02T10:09:29.961" v="743" actId="478"/>
        <pc:sldMkLst>
          <pc:docMk/>
          <pc:sldMk cId="77944918" sldId="283"/>
        </pc:sldMkLst>
        <pc:spChg chg="mod">
          <ac:chgData name="Eirik Eriksen Heen" userId="3e804305-1c07-417a-9ea8-d913585be88f" providerId="ADAL" clId="{AF971845-3530-45F7-BF28-40FF8C36E022}" dt="2026-09-30T09:54:42.148" v="686"/>
          <ac:spMkLst>
            <pc:docMk/>
            <pc:sldMk cId="77944918" sldId="283"/>
            <ac:spMk id="4" creationId="{08A067F0-E353-525F-B9B4-07EE1657B018}"/>
          </ac:spMkLst>
        </pc:spChg>
      </pc:sldChg>
      <pc:sldChg chg="delSp modSp mod">
        <pc:chgData name="Eirik Eriksen Heen" userId="3e804305-1c07-417a-9ea8-d913585be88f" providerId="ADAL" clId="{AF971845-3530-45F7-BF28-40FF8C36E022}" dt="2026-10-02T10:09:31.024" v="744" actId="478"/>
        <pc:sldMkLst>
          <pc:docMk/>
          <pc:sldMk cId="869843740" sldId="284"/>
        </pc:sldMkLst>
        <pc:spChg chg="mod">
          <ac:chgData name="Eirik Eriksen Heen" userId="3e804305-1c07-417a-9ea8-d913585be88f" providerId="ADAL" clId="{AF971845-3530-45F7-BF28-40FF8C36E022}" dt="2026-09-30T09:54:42.215" v="691"/>
          <ac:spMkLst>
            <pc:docMk/>
            <pc:sldMk cId="869843740" sldId="284"/>
            <ac:spMk id="4" creationId="{E316326F-086A-E72C-2801-29B10B6E9A02}"/>
          </ac:spMkLst>
        </pc:spChg>
      </pc:sldChg>
      <pc:sldChg chg="delSp modSp mod">
        <pc:chgData name="Eirik Eriksen Heen" userId="3e804305-1c07-417a-9ea8-d913585be88f" providerId="ADAL" clId="{AF971845-3530-45F7-BF28-40FF8C36E022}" dt="2026-10-02T10:09:32.300" v="745" actId="478"/>
        <pc:sldMkLst>
          <pc:docMk/>
          <pc:sldMk cId="1897426038" sldId="285"/>
        </pc:sldMkLst>
        <pc:spChg chg="mod">
          <ac:chgData name="Eirik Eriksen Heen" userId="3e804305-1c07-417a-9ea8-d913585be88f" providerId="ADAL" clId="{AF971845-3530-45F7-BF28-40FF8C36E022}" dt="2026-09-30T09:54:42.241" v="696"/>
          <ac:spMkLst>
            <pc:docMk/>
            <pc:sldMk cId="1897426038" sldId="285"/>
            <ac:spMk id="4" creationId="{8C1F3F32-703B-A822-EEA6-09DBC70DA8BB}"/>
          </ac:spMkLst>
        </pc:spChg>
      </pc:sldChg>
      <pc:sldChg chg="delSp modSp mod">
        <pc:chgData name="Eirik Eriksen Heen" userId="3e804305-1c07-417a-9ea8-d913585be88f" providerId="ADAL" clId="{AF971845-3530-45F7-BF28-40FF8C36E022}" dt="2026-10-02T10:09:33.628" v="746" actId="478"/>
        <pc:sldMkLst>
          <pc:docMk/>
          <pc:sldMk cId="3498230307" sldId="286"/>
        </pc:sldMkLst>
        <pc:spChg chg="mod">
          <ac:chgData name="Eirik Eriksen Heen" userId="3e804305-1c07-417a-9ea8-d913585be88f" providerId="ADAL" clId="{AF971845-3530-45F7-BF28-40FF8C36E022}" dt="2026-09-30T09:54:42.260" v="701"/>
          <ac:spMkLst>
            <pc:docMk/>
            <pc:sldMk cId="3498230307" sldId="286"/>
            <ac:spMk id="4" creationId="{FB15F329-9AA9-22F2-C157-2CB7ACAC1E94}"/>
          </ac:spMkLst>
        </pc:spChg>
      </pc:sldChg>
      <pc:sldChg chg="delSp modSp mod">
        <pc:chgData name="Eirik Eriksen Heen" userId="3e804305-1c07-417a-9ea8-d913585be88f" providerId="ADAL" clId="{AF971845-3530-45F7-BF28-40FF8C36E022}" dt="2026-10-02T10:09:34.733" v="747" actId="478"/>
        <pc:sldMkLst>
          <pc:docMk/>
          <pc:sldMk cId="1925588960" sldId="287"/>
        </pc:sldMkLst>
        <pc:spChg chg="mod">
          <ac:chgData name="Eirik Eriksen Heen" userId="3e804305-1c07-417a-9ea8-d913585be88f" providerId="ADAL" clId="{AF971845-3530-45F7-BF28-40FF8C36E022}" dt="2026-09-30T09:54:42.289" v="706"/>
          <ac:spMkLst>
            <pc:docMk/>
            <pc:sldMk cId="1925588960" sldId="287"/>
            <ac:spMk id="4" creationId="{C2970A93-9BF1-645D-9F17-DDA1B5A7F985}"/>
          </ac:spMkLst>
        </pc:spChg>
      </pc:sldChg>
      <pc:sldChg chg="delSp modSp mod">
        <pc:chgData name="Eirik Eriksen Heen" userId="3e804305-1c07-417a-9ea8-d913585be88f" providerId="ADAL" clId="{AF971845-3530-45F7-BF28-40FF8C36E022}" dt="2026-10-02T10:09:36.206" v="748" actId="478"/>
        <pc:sldMkLst>
          <pc:docMk/>
          <pc:sldMk cId="76325119" sldId="288"/>
        </pc:sldMkLst>
        <pc:spChg chg="mod">
          <ac:chgData name="Eirik Eriksen Heen" userId="3e804305-1c07-417a-9ea8-d913585be88f" providerId="ADAL" clId="{AF971845-3530-45F7-BF28-40FF8C36E022}" dt="2026-09-30T09:54:42.331" v="711"/>
          <ac:spMkLst>
            <pc:docMk/>
            <pc:sldMk cId="76325119" sldId="288"/>
            <ac:spMk id="4" creationId="{C47EBBFB-1275-277F-B5C0-C022E1D9F855}"/>
          </ac:spMkLst>
        </pc:spChg>
      </pc:sldChg>
      <pc:sldChg chg="modSp mod">
        <pc:chgData name="Eirik Eriksen Heen" userId="3e804305-1c07-417a-9ea8-d913585be88f" providerId="ADAL" clId="{AF971845-3530-45F7-BF28-40FF8C36E022}" dt="2026-09-30T09:54:41.248" v="566" actId="20577"/>
        <pc:sldMkLst>
          <pc:docMk/>
          <pc:sldMk cId="510075479" sldId="290"/>
        </pc:sldMkLst>
        <pc:spChg chg="mod">
          <ac:chgData name="Eirik Eriksen Heen" userId="3e804305-1c07-417a-9ea8-d913585be88f" providerId="ADAL" clId="{AF971845-3530-45F7-BF28-40FF8C36E022}" dt="2026-09-30T09:54:41.240" v="565"/>
          <ac:spMkLst>
            <pc:docMk/>
            <pc:sldMk cId="510075479" sldId="290"/>
            <ac:spMk id="4" creationId="{2BAD9BD9-0849-C19F-13ED-923A126B0CEA}"/>
          </ac:spMkLst>
        </pc:spChg>
      </pc:sldChg>
      <pc:sldChg chg="modSp mod">
        <pc:chgData name="Eirik Eriksen Heen" userId="3e804305-1c07-417a-9ea8-d913585be88f" providerId="ADAL" clId="{AF971845-3530-45F7-BF28-40FF8C36E022}" dt="2026-09-30T09:54:41.339" v="576" actId="20577"/>
        <pc:sldMkLst>
          <pc:docMk/>
          <pc:sldMk cId="2818849098" sldId="292"/>
        </pc:sldMkLst>
        <pc:spChg chg="mod">
          <ac:chgData name="Eirik Eriksen Heen" userId="3e804305-1c07-417a-9ea8-d913585be88f" providerId="ADAL" clId="{AF971845-3530-45F7-BF28-40FF8C36E022}" dt="2026-09-30T09:54:41.334" v="575"/>
          <ac:spMkLst>
            <pc:docMk/>
            <pc:sldMk cId="2818849098" sldId="292"/>
            <ac:spMk id="4" creationId="{879C9E80-94AC-0A3F-A6D5-61F4670C8548}"/>
          </ac:spMkLst>
        </pc:spChg>
      </pc:sldChg>
      <pc:sldChg chg="delSp modSp mod">
        <pc:chgData name="Eirik Eriksen Heen" userId="3e804305-1c07-417a-9ea8-d913585be88f" providerId="ADAL" clId="{AF971845-3530-45F7-BF28-40FF8C36E022}" dt="2026-10-02T10:09:03.051" v="725" actId="478"/>
        <pc:sldMkLst>
          <pc:docMk/>
          <pc:sldMk cId="3617690323" sldId="295"/>
        </pc:sldMkLst>
        <pc:spChg chg="mod">
          <ac:chgData name="Eirik Eriksen Heen" userId="3e804305-1c07-417a-9ea8-d913585be88f" providerId="ADAL" clId="{AF971845-3530-45F7-BF28-40FF8C36E022}" dt="2026-09-30T09:54:41.531" v="605"/>
          <ac:spMkLst>
            <pc:docMk/>
            <pc:sldMk cId="3617690323" sldId="295"/>
            <ac:spMk id="23" creationId="{4FDD6354-7B2D-AF2A-8D1D-6FFEACF0DFD5}"/>
          </ac:spMkLst>
        </pc:spChg>
      </pc:sldChg>
      <pc:sldChg chg="modSp mod">
        <pc:chgData name="Eirik Eriksen Heen" userId="3e804305-1c07-417a-9ea8-d913585be88f" providerId="ADAL" clId="{AF971845-3530-45F7-BF28-40FF8C36E022}" dt="2026-09-30T09:54:40.914" v="520" actId="20577"/>
        <pc:sldMkLst>
          <pc:docMk/>
          <pc:sldMk cId="1131212869" sldId="296"/>
        </pc:sldMkLst>
        <pc:spChg chg="mod">
          <ac:chgData name="Eirik Eriksen Heen" userId="3e804305-1c07-417a-9ea8-d913585be88f" providerId="ADAL" clId="{AF971845-3530-45F7-BF28-40FF8C36E022}" dt="2026-09-30T09:54:40.909" v="519"/>
          <ac:spMkLst>
            <pc:docMk/>
            <pc:sldMk cId="1131212869" sldId="296"/>
            <ac:spMk id="4" creationId="{8D595803-6EA1-8DF4-3CDE-EC2B4B7575D4}"/>
          </ac:spMkLst>
        </pc:spChg>
      </pc:sldChg>
      <pc:sldChg chg="modSp mod">
        <pc:chgData name="Eirik Eriksen Heen" userId="3e804305-1c07-417a-9ea8-d913585be88f" providerId="ADAL" clId="{AF971845-3530-45F7-BF28-40FF8C36E022}" dt="2026-09-30T09:54:40.944" v="525" actId="20577"/>
        <pc:sldMkLst>
          <pc:docMk/>
          <pc:sldMk cId="120232931" sldId="297"/>
        </pc:sldMkLst>
        <pc:spChg chg="mod">
          <ac:chgData name="Eirik Eriksen Heen" userId="3e804305-1c07-417a-9ea8-d913585be88f" providerId="ADAL" clId="{AF971845-3530-45F7-BF28-40FF8C36E022}" dt="2026-09-30T09:54:40.940" v="524"/>
          <ac:spMkLst>
            <pc:docMk/>
            <pc:sldMk cId="120232931" sldId="297"/>
            <ac:spMk id="4" creationId="{F3DA5472-E0C8-8A1A-94B2-E30313E919C1}"/>
          </ac:spMkLst>
        </pc:spChg>
      </pc:sldChg>
      <pc:sldChg chg="modSp mod">
        <pc:chgData name="Eirik Eriksen Heen" userId="3e804305-1c07-417a-9ea8-d913585be88f" providerId="ADAL" clId="{AF971845-3530-45F7-BF28-40FF8C36E022}" dt="2026-09-30T09:54:40.974" v="530" actId="20577"/>
        <pc:sldMkLst>
          <pc:docMk/>
          <pc:sldMk cId="3754097947" sldId="298"/>
        </pc:sldMkLst>
        <pc:spChg chg="mod">
          <ac:chgData name="Eirik Eriksen Heen" userId="3e804305-1c07-417a-9ea8-d913585be88f" providerId="ADAL" clId="{AF971845-3530-45F7-BF28-40FF8C36E022}" dt="2026-09-30T09:54:40.969" v="529"/>
          <ac:spMkLst>
            <pc:docMk/>
            <pc:sldMk cId="3754097947" sldId="298"/>
            <ac:spMk id="4" creationId="{1674AB20-8F25-8F47-D8E0-C0DEA92E33D5}"/>
          </ac:spMkLst>
        </pc:spChg>
      </pc:sldChg>
      <pc:sldChg chg="addSp modSp add mod setBg modNotes">
        <pc:chgData name="Eirik Eriksen Heen" userId="3e804305-1c07-417a-9ea8-d913585be88f" providerId="ADAL" clId="{AF971845-3530-45F7-BF28-40FF8C36E022}" dt="2026-10-04T10:45:47.665" v="786" actId="20577"/>
        <pc:sldMkLst>
          <pc:docMk/>
          <pc:sldMk cId="4023558460" sldId="299"/>
        </pc:sldMkLst>
        <pc:spChg chg="add mod">
          <ac:chgData name="Eirik Eriksen Heen" userId="3e804305-1c07-417a-9ea8-d913585be88f" providerId="ADAL" clId="{AF971845-3530-45F7-BF28-40FF8C36E022}" dt="2026-09-30T09:54:39.771" v="16" actId="139"/>
          <ac:spMkLst>
            <pc:docMk/>
            <pc:sldMk cId="4023558460" sldId="299"/>
            <ac:spMk id="2" creationId="{762C6CDB-C548-7E17-E684-6ACF58802465}"/>
          </ac:spMkLst>
        </pc:spChg>
        <pc:spChg chg="add mod">
          <ac:chgData name="Eirik Eriksen Heen" userId="3e804305-1c07-417a-9ea8-d913585be88f" providerId="ADAL" clId="{AF971845-3530-45F7-BF28-40FF8C36E022}" dt="2026-09-30T09:54:39.788" v="19"/>
          <ac:spMkLst>
            <pc:docMk/>
            <pc:sldMk cId="4023558460" sldId="299"/>
            <ac:spMk id="3" creationId="{E19B543A-FE37-4D2B-A7DB-AAC439CDBBE7}"/>
          </ac:spMkLst>
        </pc:spChg>
        <pc:spChg chg="add mod">
          <ac:chgData name="Eirik Eriksen Heen" userId="3e804305-1c07-417a-9ea8-d913585be88f" providerId="ADAL" clId="{AF971845-3530-45F7-BF28-40FF8C36E022}" dt="2026-09-30T09:54:41.390" v="585"/>
          <ac:spMkLst>
            <pc:docMk/>
            <pc:sldMk cId="4023558460" sldId="299"/>
            <ac:spMk id="4" creationId="{57AB8BC7-5796-7603-8BD4-B36D9AC289ED}"/>
          </ac:spMkLst>
        </pc:spChg>
        <pc:spChg chg="add mod">
          <ac:chgData name="Eirik Eriksen Heen" userId="3e804305-1c07-417a-9ea8-d913585be88f" providerId="ADAL" clId="{AF971845-3530-45F7-BF28-40FF8C36E022}" dt="2026-09-30T09:54:39.854" v="61" actId="139"/>
          <ac:spMkLst>
            <pc:docMk/>
            <pc:sldMk cId="4023558460" sldId="299"/>
            <ac:spMk id="6" creationId="{EB13A02F-F4F2-79CB-1FE0-A13C92A1E117}"/>
          </ac:spMkLst>
        </pc:spChg>
        <pc:spChg chg="add mod">
          <ac:chgData name="Eirik Eriksen Heen" userId="3e804305-1c07-417a-9ea8-d913585be88f" providerId="ADAL" clId="{AF971845-3530-45F7-BF28-40FF8C36E022}" dt="2026-09-30T09:54:39.871" v="65" actId="1582"/>
          <ac:spMkLst>
            <pc:docMk/>
            <pc:sldMk cId="4023558460" sldId="299"/>
            <ac:spMk id="7" creationId="{9948FC57-9D6A-9937-1275-16FCBC1E80E7}"/>
          </ac:spMkLst>
        </pc:spChg>
        <pc:spChg chg="add mod">
          <ac:chgData name="Eirik Eriksen Heen" userId="3e804305-1c07-417a-9ea8-d913585be88f" providerId="ADAL" clId="{AF971845-3530-45F7-BF28-40FF8C36E022}" dt="2026-10-04T10:45:47.665" v="786" actId="20577"/>
          <ac:spMkLst>
            <pc:docMk/>
            <pc:sldMk cId="4023558460" sldId="299"/>
            <ac:spMk id="8" creationId="{58EC9D97-4E50-10AB-79B8-91258067E189}"/>
          </ac:spMkLst>
        </pc:spChg>
        <pc:spChg chg="add mod">
          <ac:chgData name="Eirik Eriksen Heen" userId="3e804305-1c07-417a-9ea8-d913585be88f" providerId="ADAL" clId="{AF971845-3530-45F7-BF28-40FF8C36E022}" dt="2026-09-30T09:54:39.924" v="93" actId="139"/>
          <ac:spMkLst>
            <pc:docMk/>
            <pc:sldMk cId="4023558460" sldId="299"/>
            <ac:spMk id="9" creationId="{00E5EE4E-C40A-A4F0-8BF8-ABADF00417D2}"/>
          </ac:spMkLst>
        </pc:spChg>
        <pc:spChg chg="add mod">
          <ac:chgData name="Eirik Eriksen Heen" userId="3e804305-1c07-417a-9ea8-d913585be88f" providerId="ADAL" clId="{AF971845-3530-45F7-BF28-40FF8C36E022}" dt="2026-09-30T09:54:39.937" v="97" actId="1582"/>
          <ac:spMkLst>
            <pc:docMk/>
            <pc:sldMk cId="4023558460" sldId="299"/>
            <ac:spMk id="10" creationId="{E223C9D5-D89F-07C4-33CA-6AFEB8BED33B}"/>
          </ac:spMkLst>
        </pc:spChg>
        <pc:spChg chg="add mod">
          <ac:chgData name="Eirik Eriksen Heen" userId="3e804305-1c07-417a-9ea8-d913585be88f" providerId="ADAL" clId="{AF971845-3530-45F7-BF28-40FF8C36E022}" dt="2026-09-30T09:54:39.983" v="111" actId="139"/>
          <ac:spMkLst>
            <pc:docMk/>
            <pc:sldMk cId="4023558460" sldId="299"/>
            <ac:spMk id="11" creationId="{04A7B585-CD63-95EC-C6B6-ED8D6935AF35}"/>
          </ac:spMkLst>
        </pc:spChg>
        <pc:spChg chg="add mod">
          <ac:chgData name="Eirik Eriksen Heen" userId="3e804305-1c07-417a-9ea8-d913585be88f" providerId="ADAL" clId="{AF971845-3530-45F7-BF28-40FF8C36E022}" dt="2026-09-30T09:54:40.013" v="125" actId="139"/>
          <ac:spMkLst>
            <pc:docMk/>
            <pc:sldMk cId="4023558460" sldId="299"/>
            <ac:spMk id="12" creationId="{362CE67E-1AA2-5B7C-1285-9B6914E79ED5}"/>
          </ac:spMkLst>
        </pc:spChg>
        <pc:spChg chg="add mod">
          <ac:chgData name="Eirik Eriksen Heen" userId="3e804305-1c07-417a-9ea8-d913585be88f" providerId="ADAL" clId="{AF971845-3530-45F7-BF28-40FF8C36E022}" dt="2026-09-30T09:54:40.022" v="129" actId="1582"/>
          <ac:spMkLst>
            <pc:docMk/>
            <pc:sldMk cId="4023558460" sldId="299"/>
            <ac:spMk id="13" creationId="{27DA280A-2279-AB2F-8038-5EE28E10260D}"/>
          </ac:spMkLst>
        </pc:spChg>
        <pc:spChg chg="add mod">
          <ac:chgData name="Eirik Eriksen Heen" userId="3e804305-1c07-417a-9ea8-d913585be88f" providerId="ADAL" clId="{AF971845-3530-45F7-BF28-40FF8C36E022}" dt="2026-09-30T09:54:40.049" v="143" actId="139"/>
          <ac:spMkLst>
            <pc:docMk/>
            <pc:sldMk cId="4023558460" sldId="299"/>
            <ac:spMk id="14" creationId="{9DBE4070-653E-4935-BDF7-0B020CEEBFA0}"/>
          </ac:spMkLst>
        </pc:spChg>
      </pc:sldChg>
      <pc:sldChg chg="addSp modSp add mod setBg modNotes">
        <pc:chgData name="Eirik Eriksen Heen" userId="3e804305-1c07-417a-9ea8-d913585be88f" providerId="ADAL" clId="{AF971845-3530-45F7-BF28-40FF8C36E022}" dt="2026-10-04T10:48:09.836" v="790" actId="113"/>
        <pc:sldMkLst>
          <pc:docMk/>
          <pc:sldMk cId="2433268063" sldId="300"/>
        </pc:sldMkLst>
        <pc:spChg chg="add mod">
          <ac:chgData name="Eirik Eriksen Heen" userId="3e804305-1c07-417a-9ea8-d913585be88f" providerId="ADAL" clId="{AF971845-3530-45F7-BF28-40FF8C36E022}" dt="2026-09-30T09:54:40.131" v="161" actId="139"/>
          <ac:spMkLst>
            <pc:docMk/>
            <pc:sldMk cId="2433268063" sldId="300"/>
            <ac:spMk id="2" creationId="{029B017F-0C91-1F61-97FF-7651853EEB23}"/>
          </ac:spMkLst>
        </pc:spChg>
        <pc:spChg chg="add mod">
          <ac:chgData name="Eirik Eriksen Heen" userId="3e804305-1c07-417a-9ea8-d913585be88f" providerId="ADAL" clId="{AF971845-3530-45F7-BF28-40FF8C36E022}" dt="2026-09-30T09:54:40.139" v="164"/>
          <ac:spMkLst>
            <pc:docMk/>
            <pc:sldMk cId="2433268063" sldId="300"/>
            <ac:spMk id="3" creationId="{C3DD470F-889F-947B-03CA-2268A94B5598}"/>
          </ac:spMkLst>
        </pc:spChg>
        <pc:spChg chg="add mod">
          <ac:chgData name="Eirik Eriksen Heen" userId="3e804305-1c07-417a-9ea8-d913585be88f" providerId="ADAL" clId="{AF971845-3530-45F7-BF28-40FF8C36E022}" dt="2026-09-30T09:54:41.418" v="590"/>
          <ac:spMkLst>
            <pc:docMk/>
            <pc:sldMk cId="2433268063" sldId="300"/>
            <ac:spMk id="4" creationId="{34CD4D1C-22EF-C64E-C446-4B9FAB7B6A17}"/>
          </ac:spMkLst>
        </pc:spChg>
        <pc:spChg chg="add mod">
          <ac:chgData name="Eirik Eriksen Heen" userId="3e804305-1c07-417a-9ea8-d913585be88f" providerId="ADAL" clId="{AF971845-3530-45F7-BF28-40FF8C36E022}" dt="2026-09-30T09:54:40.208" v="196" actId="1582"/>
          <ac:spMkLst>
            <pc:docMk/>
            <pc:sldMk cId="2433268063" sldId="300"/>
            <ac:spMk id="6" creationId="{3EA84921-33BD-7B47-4F7B-42795C9DF5D9}"/>
          </ac:spMkLst>
        </pc:spChg>
        <pc:spChg chg="add mod">
          <ac:chgData name="Eirik Eriksen Heen" userId="3e804305-1c07-417a-9ea8-d913585be88f" providerId="ADAL" clId="{AF971845-3530-45F7-BF28-40FF8C36E022}" dt="2026-09-30T09:54:40.245" v="210" actId="139"/>
          <ac:spMkLst>
            <pc:docMk/>
            <pc:sldMk cId="2433268063" sldId="300"/>
            <ac:spMk id="7" creationId="{F1FC6A11-6740-C443-0A18-756F1C3598E2}"/>
          </ac:spMkLst>
        </pc:spChg>
        <pc:spChg chg="add mod">
          <ac:chgData name="Eirik Eriksen Heen" userId="3e804305-1c07-417a-9ea8-d913585be88f" providerId="ADAL" clId="{AF971845-3530-45F7-BF28-40FF8C36E022}" dt="2026-09-30T09:54:40.278" v="224" actId="139"/>
          <ac:spMkLst>
            <pc:docMk/>
            <pc:sldMk cId="2433268063" sldId="300"/>
            <ac:spMk id="8" creationId="{219ED056-61E5-C0FF-DBFE-05288C1B0876}"/>
          </ac:spMkLst>
        </pc:spChg>
        <pc:spChg chg="add mod">
          <ac:chgData name="Eirik Eriksen Heen" userId="3e804305-1c07-417a-9ea8-d913585be88f" providerId="ADAL" clId="{AF971845-3530-45F7-BF28-40FF8C36E022}" dt="2026-09-30T09:54:40.292" v="228" actId="1582"/>
          <ac:spMkLst>
            <pc:docMk/>
            <pc:sldMk cId="2433268063" sldId="300"/>
            <ac:spMk id="9" creationId="{0E9C8C38-58D7-449A-2550-19691A322272}"/>
          </ac:spMkLst>
        </pc:spChg>
        <pc:spChg chg="add mod">
          <ac:chgData name="Eirik Eriksen Heen" userId="3e804305-1c07-417a-9ea8-d913585be88f" providerId="ADAL" clId="{AF971845-3530-45F7-BF28-40FF8C36E022}" dt="2026-09-30T09:54:40.324" v="242" actId="139"/>
          <ac:spMkLst>
            <pc:docMk/>
            <pc:sldMk cId="2433268063" sldId="300"/>
            <ac:spMk id="10" creationId="{F36380C5-E813-93AB-26FC-89B2ABF1C884}"/>
          </ac:spMkLst>
        </pc:spChg>
        <pc:spChg chg="add mod">
          <ac:chgData name="Eirik Eriksen Heen" userId="3e804305-1c07-417a-9ea8-d913585be88f" providerId="ADAL" clId="{AF971845-3530-45F7-BF28-40FF8C36E022}" dt="2026-09-30T09:54:40.335" v="246" actId="1582"/>
          <ac:spMkLst>
            <pc:docMk/>
            <pc:sldMk cId="2433268063" sldId="300"/>
            <ac:spMk id="11" creationId="{C179F67A-67EF-F49B-0A74-CD8CEB166761}"/>
          </ac:spMkLst>
        </pc:spChg>
        <pc:spChg chg="add mod">
          <ac:chgData name="Eirik Eriksen Heen" userId="3e804305-1c07-417a-9ea8-d913585be88f" providerId="ADAL" clId="{AF971845-3530-45F7-BF28-40FF8C36E022}" dt="2026-09-30T09:54:40.365" v="260" actId="139"/>
          <ac:spMkLst>
            <pc:docMk/>
            <pc:sldMk cId="2433268063" sldId="300"/>
            <ac:spMk id="12" creationId="{D20AEBE3-0E23-919D-82BF-61EF518A0175}"/>
          </ac:spMkLst>
        </pc:spChg>
        <pc:spChg chg="add mod">
          <ac:chgData name="Eirik Eriksen Heen" userId="3e804305-1c07-417a-9ea8-d913585be88f" providerId="ADAL" clId="{AF971845-3530-45F7-BF28-40FF8C36E022}" dt="2026-09-30T09:54:40.376" v="264" actId="1582"/>
          <ac:spMkLst>
            <pc:docMk/>
            <pc:sldMk cId="2433268063" sldId="300"/>
            <ac:spMk id="13" creationId="{453F48FD-2C22-D22E-4928-116251CA044E}"/>
          </ac:spMkLst>
        </pc:spChg>
        <pc:spChg chg="add mod">
          <ac:chgData name="Eirik Eriksen Heen" userId="3e804305-1c07-417a-9ea8-d913585be88f" providerId="ADAL" clId="{AF971845-3530-45F7-BF28-40FF8C36E022}" dt="2026-09-30T09:54:40.411" v="278" actId="139"/>
          <ac:spMkLst>
            <pc:docMk/>
            <pc:sldMk cId="2433268063" sldId="300"/>
            <ac:spMk id="14" creationId="{55C7608E-7C04-5BF1-5DE7-6EA08B5F7347}"/>
          </ac:spMkLst>
        </pc:spChg>
        <pc:spChg chg="add mod">
          <ac:chgData name="Eirik Eriksen Heen" userId="3e804305-1c07-417a-9ea8-d913585be88f" providerId="ADAL" clId="{AF971845-3530-45F7-BF28-40FF8C36E022}" dt="2026-09-30T09:54:40.424" v="281"/>
          <ac:spMkLst>
            <pc:docMk/>
            <pc:sldMk cId="2433268063" sldId="300"/>
            <ac:spMk id="15" creationId="{824C6F81-9019-94F1-8B71-78D939E48B0F}"/>
          </ac:spMkLst>
        </pc:spChg>
        <pc:spChg chg="add mod">
          <ac:chgData name="Eirik Eriksen Heen" userId="3e804305-1c07-417a-9ea8-d913585be88f" providerId="ADAL" clId="{AF971845-3530-45F7-BF28-40FF8C36E022}" dt="2026-09-30T09:54:40.430" v="284"/>
          <ac:spMkLst>
            <pc:docMk/>
            <pc:sldMk cId="2433268063" sldId="300"/>
            <ac:spMk id="16" creationId="{0B5B28D1-8FD5-8C7E-276C-D5217A0184EC}"/>
          </ac:spMkLst>
        </pc:spChg>
        <pc:spChg chg="add mod">
          <ac:chgData name="Eirik Eriksen Heen" userId="3e804305-1c07-417a-9ea8-d913585be88f" providerId="ADAL" clId="{AF971845-3530-45F7-BF28-40FF8C36E022}" dt="2026-10-04T10:48:09.836" v="790" actId="113"/>
          <ac:spMkLst>
            <pc:docMk/>
            <pc:sldMk cId="2433268063" sldId="300"/>
            <ac:spMk id="17" creationId="{CD6E42D5-2D4A-AB78-CB0C-3E8094295604}"/>
          </ac:spMkLst>
        </pc:spChg>
        <pc:spChg chg="add mod">
          <ac:chgData name="Eirik Eriksen Heen" userId="3e804305-1c07-417a-9ea8-d913585be88f" providerId="ADAL" clId="{AF971845-3530-45F7-BF28-40FF8C36E022}" dt="2026-09-30T09:54:40.492" v="312" actId="139"/>
          <ac:spMkLst>
            <pc:docMk/>
            <pc:sldMk cId="2433268063" sldId="300"/>
            <ac:spMk id="18" creationId="{5EAF70F2-AFA6-6AB4-4CA8-F80CA1864F3B}"/>
          </ac:spMkLst>
        </pc:spChg>
      </pc:sldChg>
      <pc:sldChg chg="addSp delSp modSp add mod setBg modNotes">
        <pc:chgData name="Eirik Eriksen Heen" userId="3e804305-1c07-417a-9ea8-d913585be88f" providerId="ADAL" clId="{AF971845-3530-45F7-BF28-40FF8C36E022}" dt="2026-10-02T10:15:13.380" v="780" actId="14100"/>
        <pc:sldMkLst>
          <pc:docMk/>
          <pc:sldMk cId="4254938800" sldId="301"/>
        </pc:sldMkLst>
        <pc:spChg chg="add mod">
          <ac:chgData name="Eirik Eriksen Heen" userId="3e804305-1c07-417a-9ea8-d913585be88f" providerId="ADAL" clId="{AF971845-3530-45F7-BF28-40FF8C36E022}" dt="2026-09-30T09:54:40.529" v="330" actId="139"/>
          <ac:spMkLst>
            <pc:docMk/>
            <pc:sldMk cId="4254938800" sldId="301"/>
            <ac:spMk id="2" creationId="{98D316CD-929C-CCDE-3CCB-83C2EA089AEE}"/>
          </ac:spMkLst>
        </pc:spChg>
        <pc:spChg chg="add mod">
          <ac:chgData name="Eirik Eriksen Heen" userId="3e804305-1c07-417a-9ea8-d913585be88f" providerId="ADAL" clId="{AF971845-3530-45F7-BF28-40FF8C36E022}" dt="2026-09-30T09:54:40.536" v="333"/>
          <ac:spMkLst>
            <pc:docMk/>
            <pc:sldMk cId="4254938800" sldId="301"/>
            <ac:spMk id="3" creationId="{B280776D-BB48-045A-8030-E520A7A83FAA}"/>
          </ac:spMkLst>
        </pc:spChg>
        <pc:spChg chg="add mod">
          <ac:chgData name="Eirik Eriksen Heen" userId="3e804305-1c07-417a-9ea8-d913585be88f" providerId="ADAL" clId="{AF971845-3530-45F7-BF28-40FF8C36E022}" dt="2026-09-30T09:54:41.451" v="595"/>
          <ac:spMkLst>
            <pc:docMk/>
            <pc:sldMk cId="4254938800" sldId="301"/>
            <ac:spMk id="4" creationId="{825F2EE2-98B4-0E62-BD9E-15F707B0AF4E}"/>
          </ac:spMkLst>
        </pc:spChg>
        <pc:spChg chg="add mod">
          <ac:chgData name="Eirik Eriksen Heen" userId="3e804305-1c07-417a-9ea8-d913585be88f" providerId="ADAL" clId="{AF971845-3530-45F7-BF28-40FF8C36E022}" dt="2026-09-30T09:54:40.604" v="375" actId="139"/>
          <ac:spMkLst>
            <pc:docMk/>
            <pc:sldMk cId="4254938800" sldId="301"/>
            <ac:spMk id="6" creationId="{A5B65888-0853-C695-6683-250B4F508DA2}"/>
          </ac:spMkLst>
        </pc:spChg>
        <pc:spChg chg="add mod">
          <ac:chgData name="Eirik Eriksen Heen" userId="3e804305-1c07-417a-9ea8-d913585be88f" providerId="ADAL" clId="{AF971845-3530-45F7-BF28-40FF8C36E022}" dt="2026-09-30T09:54:40.611" v="379" actId="1582"/>
          <ac:spMkLst>
            <pc:docMk/>
            <pc:sldMk cId="4254938800" sldId="301"/>
            <ac:spMk id="7" creationId="{D59CF065-5D85-5827-12AA-B2D6F3FDC879}"/>
          </ac:spMkLst>
        </pc:spChg>
        <pc:spChg chg="add mod">
          <ac:chgData name="Eirik Eriksen Heen" userId="3e804305-1c07-417a-9ea8-d913585be88f" providerId="ADAL" clId="{AF971845-3530-45F7-BF28-40FF8C36E022}" dt="2026-10-02T10:15:01.334" v="777" actId="20577"/>
          <ac:spMkLst>
            <pc:docMk/>
            <pc:sldMk cId="4254938800" sldId="301"/>
            <ac:spMk id="8" creationId="{16391234-F9EE-4E13-8FCE-92475202B13D}"/>
          </ac:spMkLst>
        </pc:spChg>
        <pc:spChg chg="add mod">
          <ac:chgData name="Eirik Eriksen Heen" userId="3e804305-1c07-417a-9ea8-d913585be88f" providerId="ADAL" clId="{AF971845-3530-45F7-BF28-40FF8C36E022}" dt="2026-09-30T09:54:40.688" v="411" actId="1582"/>
          <ac:spMkLst>
            <pc:docMk/>
            <pc:sldMk cId="4254938800" sldId="301"/>
            <ac:spMk id="10" creationId="{B6E53093-4BF6-CED5-91F6-88F1610272D1}"/>
          </ac:spMkLst>
        </pc:spChg>
        <pc:spChg chg="add mod">
          <ac:chgData name="Eirik Eriksen Heen" userId="3e804305-1c07-417a-9ea8-d913585be88f" providerId="ADAL" clId="{AF971845-3530-45F7-BF28-40FF8C36E022}" dt="2026-09-30T09:54:40.712" v="425" actId="139"/>
          <ac:spMkLst>
            <pc:docMk/>
            <pc:sldMk cId="4254938800" sldId="301"/>
            <ac:spMk id="11" creationId="{1F1D65F6-9659-E619-FE42-46A6F8BE7421}"/>
          </ac:spMkLst>
        </pc:spChg>
        <pc:spChg chg="add mod">
          <ac:chgData name="Eirik Eriksen Heen" userId="3e804305-1c07-417a-9ea8-d913585be88f" providerId="ADAL" clId="{AF971845-3530-45F7-BF28-40FF8C36E022}" dt="2026-09-30T09:54:40.736" v="439" actId="139"/>
          <ac:spMkLst>
            <pc:docMk/>
            <pc:sldMk cId="4254938800" sldId="301"/>
            <ac:spMk id="12" creationId="{EFD07E8C-CE34-ACFB-77A9-4277764019F5}"/>
          </ac:spMkLst>
        </pc:spChg>
        <pc:spChg chg="add mod">
          <ac:chgData name="Eirik Eriksen Heen" userId="3e804305-1c07-417a-9ea8-d913585be88f" providerId="ADAL" clId="{AF971845-3530-45F7-BF28-40FF8C36E022}" dt="2026-09-30T09:54:40.744" v="443" actId="1582"/>
          <ac:spMkLst>
            <pc:docMk/>
            <pc:sldMk cId="4254938800" sldId="301"/>
            <ac:spMk id="13" creationId="{B1A09F0E-7C13-2674-179F-5C92D98555A8}"/>
          </ac:spMkLst>
        </pc:spChg>
        <pc:spChg chg="add mod">
          <ac:chgData name="Eirik Eriksen Heen" userId="3e804305-1c07-417a-9ea8-d913585be88f" providerId="ADAL" clId="{AF971845-3530-45F7-BF28-40FF8C36E022}" dt="2026-10-02T10:15:13.380" v="780" actId="14100"/>
          <ac:spMkLst>
            <pc:docMk/>
            <pc:sldMk cId="4254938800" sldId="301"/>
            <ac:spMk id="14" creationId="{CB98565B-9766-3DEC-C3FA-A913F9C03D4B}"/>
          </ac:spMkLst>
        </pc:spChg>
        <pc:spChg chg="add mod">
          <ac:chgData name="Eirik Eriksen Heen" userId="3e804305-1c07-417a-9ea8-d913585be88f" providerId="ADAL" clId="{AF971845-3530-45F7-BF28-40FF8C36E022}" dt="2026-09-30T09:54:40.795" v="475" actId="1582"/>
          <ac:spMkLst>
            <pc:docMk/>
            <pc:sldMk cId="4254938800" sldId="301"/>
            <ac:spMk id="16" creationId="{9CD0E93D-9AD5-B41E-F564-BCD953E9902C}"/>
          </ac:spMkLst>
        </pc:spChg>
        <pc:spChg chg="add mod">
          <ac:chgData name="Eirik Eriksen Heen" userId="3e804305-1c07-417a-9ea8-d913585be88f" providerId="ADAL" clId="{AF971845-3530-45F7-BF28-40FF8C36E022}" dt="2026-09-30T09:54:40.816" v="489" actId="139"/>
          <ac:spMkLst>
            <pc:docMk/>
            <pc:sldMk cId="4254938800" sldId="301"/>
            <ac:spMk id="17" creationId="{BCB975EB-EB6E-6D6A-F430-BB9DD8BD9ECF}"/>
          </ac:spMkLst>
        </pc:spChg>
        <pc:spChg chg="add mod">
          <ac:chgData name="Eirik Eriksen Heen" userId="3e804305-1c07-417a-9ea8-d913585be88f" providerId="ADAL" clId="{AF971845-3530-45F7-BF28-40FF8C36E022}" dt="2026-09-30T09:54:40.822" v="492"/>
          <ac:spMkLst>
            <pc:docMk/>
            <pc:sldMk cId="4254938800" sldId="301"/>
            <ac:spMk id="18" creationId="{F209C84B-1A24-CB23-11DA-0541B2348789}"/>
          </ac:spMkLst>
        </pc:spChg>
        <pc:spChg chg="add mod">
          <ac:chgData name="Eirik Eriksen Heen" userId="3e804305-1c07-417a-9ea8-d913585be88f" providerId="ADAL" clId="{AF971845-3530-45F7-BF28-40FF8C36E022}" dt="2026-09-30T09:54:40.828" v="495"/>
          <ac:spMkLst>
            <pc:docMk/>
            <pc:sldMk cId="4254938800" sldId="301"/>
            <ac:spMk id="19" creationId="{EEBB1A81-1604-A540-0DB9-99F86E818F17}"/>
          </ac:spMkLst>
        </pc:spChg>
        <pc:spChg chg="add mod">
          <ac:chgData name="Eirik Eriksen Heen" userId="3e804305-1c07-417a-9ea8-d913585be88f" providerId="ADAL" clId="{AF971845-3530-45F7-BF28-40FF8C36E022}" dt="2026-09-30T09:54:40.853" v="509" actId="139"/>
          <ac:spMkLst>
            <pc:docMk/>
            <pc:sldMk cId="4254938800" sldId="301"/>
            <ac:spMk id="20" creationId="{ABF1B525-5745-873B-745A-2497B81B6C2E}"/>
          </ac:spMkLst>
        </pc:spChg>
      </pc:sldChg>
      <pc:sldChg chg="modSp">
        <pc:chgData name="Eirik Eriksen Heen" userId="3e804305-1c07-417a-9ea8-d913585be88f" providerId="ADAL" clId="{AF971845-3530-45F7-BF28-40FF8C36E022}" dt="2026-10-02T10:11:45.157" v="754" actId="207"/>
        <pc:sldMkLst>
          <pc:docMk/>
          <pc:sldMk cId="1689788914" sldId="4802"/>
        </pc:sldMkLst>
        <pc:spChg chg="mod">
          <ac:chgData name="Eirik Eriksen Heen" userId="3e804305-1c07-417a-9ea8-d913585be88f" providerId="ADAL" clId="{AF971845-3530-45F7-BF28-40FF8C36E022}" dt="2026-10-02T10:11:45.157" v="754" actId="207"/>
          <ac:spMkLst>
            <pc:docMk/>
            <pc:sldMk cId="1689788914" sldId="4802"/>
            <ac:spMk id="3" creationId="{A6883599-4F75-CB8D-E8C4-E165AB10C404}"/>
          </ac:spMkLst>
        </pc:spChg>
      </pc:sldChg>
    </pc:docChg>
  </pc:docChgLst>
  <pc:docChgLst>
    <pc:chgData name="Eirik Eriksen Heen" userId="3e804305-1c07-417a-9ea8-d913585be88f" providerId="ADAL" clId="{1A8AB375-2C17-4B69-9219-6D6459D5CFE1}"/>
    <pc:docChg chg="undo custSel addSld delSld modSld sldOrd">
      <pc:chgData name="Eirik Eriksen Heen" userId="3e804305-1c07-417a-9ea8-d913585be88f" providerId="ADAL" clId="{1A8AB375-2C17-4B69-9219-6D6459D5CFE1}" dt="2026-10-04T20:12:32.366" v="727" actId="20577"/>
      <pc:docMkLst>
        <pc:docMk/>
      </pc:docMkLst>
      <pc:sldChg chg="delSp modSp mod">
        <pc:chgData name="Eirik Eriksen Heen" userId="3e804305-1c07-417a-9ea8-d913585be88f" providerId="ADAL" clId="{1A8AB375-2C17-4B69-9219-6D6459D5CFE1}" dt="2026-10-01T08:50:52.992" v="424" actId="478"/>
        <pc:sldMkLst>
          <pc:docMk/>
          <pc:sldMk cId="2901206459" sldId="256"/>
        </pc:sldMkLst>
        <pc:spChg chg="mod">
          <ac:chgData name="Eirik Eriksen Heen" userId="3e804305-1c07-417a-9ea8-d913585be88f" providerId="ADAL" clId="{1A8AB375-2C17-4B69-9219-6D6459D5CFE1}" dt="2026-10-01T08:08:53.803" v="0" actId="1076"/>
          <ac:spMkLst>
            <pc:docMk/>
            <pc:sldMk cId="2901206459" sldId="256"/>
            <ac:spMk id="8" creationId="{F466E53D-891E-27DC-F049-0C437CC0E5C9}"/>
          </ac:spMkLst>
        </pc:spChg>
        <pc:spChg chg="mod">
          <ac:chgData name="Eirik Eriksen Heen" userId="3e804305-1c07-417a-9ea8-d913585be88f" providerId="ADAL" clId="{1A8AB375-2C17-4B69-9219-6D6459D5CFE1}" dt="2026-10-01T08:08:56.179" v="1" actId="1076"/>
          <ac:spMkLst>
            <pc:docMk/>
            <pc:sldMk cId="2901206459" sldId="256"/>
            <ac:spMk id="9" creationId="{C6E13384-6B87-107D-7DED-FC9829C179F6}"/>
          </ac:spMkLst>
        </pc:spChg>
      </pc:sldChg>
      <pc:sldChg chg="delSp modSp mod">
        <pc:chgData name="Eirik Eriksen Heen" userId="3e804305-1c07-417a-9ea8-d913585be88f" providerId="ADAL" clId="{1A8AB375-2C17-4B69-9219-6D6459D5CFE1}" dt="2026-10-01T08:51:05.960" v="428" actId="478"/>
        <pc:sldMkLst>
          <pc:docMk/>
          <pc:sldMk cId="87907990" sldId="257"/>
        </pc:sldMkLst>
        <pc:spChg chg="mod">
          <ac:chgData name="Eirik Eriksen Heen" userId="3e804305-1c07-417a-9ea8-d913585be88f" providerId="ADAL" clId="{1A8AB375-2C17-4B69-9219-6D6459D5CFE1}" dt="2026-10-01T08:29:08.492" v="321" actId="14100"/>
          <ac:spMkLst>
            <pc:docMk/>
            <pc:sldMk cId="87907990" sldId="257"/>
            <ac:spMk id="6" creationId="{EBBE8A4C-6909-BAD9-9B96-95644DACB870}"/>
          </ac:spMkLst>
        </pc:spChg>
        <pc:spChg chg="mod">
          <ac:chgData name="Eirik Eriksen Heen" userId="3e804305-1c07-417a-9ea8-d913585be88f" providerId="ADAL" clId="{1A8AB375-2C17-4B69-9219-6D6459D5CFE1}" dt="2026-10-01T08:29:14.642" v="323" actId="14100"/>
          <ac:spMkLst>
            <pc:docMk/>
            <pc:sldMk cId="87907990" sldId="257"/>
            <ac:spMk id="7" creationId="{3E32B7AF-CAD7-A9F1-066E-BB6A1050C5CD}"/>
          </ac:spMkLst>
        </pc:spChg>
        <pc:spChg chg="mod">
          <ac:chgData name="Eirik Eriksen Heen" userId="3e804305-1c07-417a-9ea8-d913585be88f" providerId="ADAL" clId="{1A8AB375-2C17-4B69-9219-6D6459D5CFE1}" dt="2026-10-01T08:28:50.746" v="319" actId="1076"/>
          <ac:spMkLst>
            <pc:docMk/>
            <pc:sldMk cId="87907990" sldId="257"/>
            <ac:spMk id="11" creationId="{C9638EA1-599E-04CB-EF64-0835FEFA38D4}"/>
          </ac:spMkLst>
        </pc:spChg>
        <pc:spChg chg="mod">
          <ac:chgData name="Eirik Eriksen Heen" userId="3e804305-1c07-417a-9ea8-d913585be88f" providerId="ADAL" clId="{1A8AB375-2C17-4B69-9219-6D6459D5CFE1}" dt="2026-10-01T08:28:52.731" v="320" actId="1076"/>
          <ac:spMkLst>
            <pc:docMk/>
            <pc:sldMk cId="87907990" sldId="257"/>
            <ac:spMk id="14" creationId="{DB5E983F-23BD-C411-F535-71BB3526A336}"/>
          </ac:spMkLst>
        </pc:spChg>
      </pc:sldChg>
      <pc:sldChg chg="delSp mod">
        <pc:chgData name="Eirik Eriksen Heen" userId="3e804305-1c07-417a-9ea8-d913585be88f" providerId="ADAL" clId="{1A8AB375-2C17-4B69-9219-6D6459D5CFE1}" dt="2026-10-01T08:51:08.787" v="429" actId="478"/>
        <pc:sldMkLst>
          <pc:docMk/>
          <pc:sldMk cId="4276525681" sldId="258"/>
        </pc:sldMkLst>
      </pc:sldChg>
      <pc:sldChg chg="delSp mod">
        <pc:chgData name="Eirik Eriksen Heen" userId="3e804305-1c07-417a-9ea8-d913585be88f" providerId="ADAL" clId="{1A8AB375-2C17-4B69-9219-6D6459D5CFE1}" dt="2026-10-01T08:51:11.086" v="430" actId="478"/>
        <pc:sldMkLst>
          <pc:docMk/>
          <pc:sldMk cId="1461586053" sldId="259"/>
        </pc:sldMkLst>
      </pc:sldChg>
      <pc:sldChg chg="delSp mod">
        <pc:chgData name="Eirik Eriksen Heen" userId="3e804305-1c07-417a-9ea8-d913585be88f" providerId="ADAL" clId="{1A8AB375-2C17-4B69-9219-6D6459D5CFE1}" dt="2026-10-01T08:51:13.473" v="431" actId="478"/>
        <pc:sldMkLst>
          <pc:docMk/>
          <pc:sldMk cId="78835257" sldId="260"/>
        </pc:sldMkLst>
      </pc:sldChg>
      <pc:sldChg chg="delSp mod">
        <pc:chgData name="Eirik Eriksen Heen" userId="3e804305-1c07-417a-9ea8-d913585be88f" providerId="ADAL" clId="{1A8AB375-2C17-4B69-9219-6D6459D5CFE1}" dt="2026-10-01T08:51:15.903" v="432" actId="478"/>
        <pc:sldMkLst>
          <pc:docMk/>
          <pc:sldMk cId="782482593" sldId="261"/>
        </pc:sldMkLst>
      </pc:sldChg>
      <pc:sldChg chg="delSp modSp mod">
        <pc:chgData name="Eirik Eriksen Heen" userId="3e804305-1c07-417a-9ea8-d913585be88f" providerId="ADAL" clId="{1A8AB375-2C17-4B69-9219-6D6459D5CFE1}" dt="2026-10-01T08:51:20.062" v="433" actId="478"/>
        <pc:sldMkLst>
          <pc:docMk/>
          <pc:sldMk cId="3138954108" sldId="262"/>
        </pc:sldMkLst>
        <pc:spChg chg="mod">
          <ac:chgData name="Eirik Eriksen Heen" userId="3e804305-1c07-417a-9ea8-d913585be88f" providerId="ADAL" clId="{1A8AB375-2C17-4B69-9219-6D6459D5CFE1}" dt="2026-10-01T08:31:56.951" v="325" actId="20577"/>
          <ac:spMkLst>
            <pc:docMk/>
            <pc:sldMk cId="3138954108" sldId="262"/>
            <ac:spMk id="19" creationId="{C09DA41B-FB9B-2FA0-5EB8-668E5F181E63}"/>
          </ac:spMkLst>
        </pc:spChg>
        <pc:spChg chg="mod">
          <ac:chgData name="Eirik Eriksen Heen" userId="3e804305-1c07-417a-9ea8-d913585be88f" providerId="ADAL" clId="{1A8AB375-2C17-4B69-9219-6D6459D5CFE1}" dt="2026-10-01T08:32:06.085" v="326" actId="113"/>
          <ac:spMkLst>
            <pc:docMk/>
            <pc:sldMk cId="3138954108" sldId="262"/>
            <ac:spMk id="21" creationId="{7D7EB64F-ABD3-DAB9-B3AA-145F3745BC31}"/>
          </ac:spMkLst>
        </pc:spChg>
        <pc:spChg chg="mod">
          <ac:chgData name="Eirik Eriksen Heen" userId="3e804305-1c07-417a-9ea8-d913585be88f" providerId="ADAL" clId="{1A8AB375-2C17-4B69-9219-6D6459D5CFE1}" dt="2026-10-01T08:32:55.810" v="346" actId="20577"/>
          <ac:spMkLst>
            <pc:docMk/>
            <pc:sldMk cId="3138954108" sldId="262"/>
            <ac:spMk id="23" creationId="{C138677E-06CB-A38C-A8C1-CAA3935335F8}"/>
          </ac:spMkLst>
        </pc:spChg>
        <pc:spChg chg="mod">
          <ac:chgData name="Eirik Eriksen Heen" userId="3e804305-1c07-417a-9ea8-d913585be88f" providerId="ADAL" clId="{1A8AB375-2C17-4B69-9219-6D6459D5CFE1}" dt="2026-10-01T08:33:02.145" v="347"/>
          <ac:spMkLst>
            <pc:docMk/>
            <pc:sldMk cId="3138954108" sldId="262"/>
            <ac:spMk id="25" creationId="{3A5E5BF1-C548-DAB8-6C8C-57E48F705819}"/>
          </ac:spMkLst>
        </pc:spChg>
      </pc:sldChg>
      <pc:sldChg chg="delSp modSp mod">
        <pc:chgData name="Eirik Eriksen Heen" userId="3e804305-1c07-417a-9ea8-d913585be88f" providerId="ADAL" clId="{1A8AB375-2C17-4B69-9219-6D6459D5CFE1}" dt="2026-10-01T08:51:25.475" v="435" actId="113"/>
        <pc:sldMkLst>
          <pc:docMk/>
          <pc:sldMk cId="4011772822" sldId="263"/>
        </pc:sldMkLst>
        <pc:spChg chg="mod">
          <ac:chgData name="Eirik Eriksen Heen" userId="3e804305-1c07-417a-9ea8-d913585be88f" providerId="ADAL" clId="{1A8AB375-2C17-4B69-9219-6D6459D5CFE1}" dt="2026-10-01T08:51:25.475" v="435" actId="113"/>
          <ac:spMkLst>
            <pc:docMk/>
            <pc:sldMk cId="4011772822" sldId="263"/>
            <ac:spMk id="8" creationId="{3D3D70D3-8D5C-32C3-E390-27B0EAE218D6}"/>
          </ac:spMkLst>
        </pc:spChg>
        <pc:spChg chg="mod">
          <ac:chgData name="Eirik Eriksen Heen" userId="3e804305-1c07-417a-9ea8-d913585be88f" providerId="ADAL" clId="{1A8AB375-2C17-4B69-9219-6D6459D5CFE1}" dt="2026-10-01T08:34:01.199" v="352" actId="1076"/>
          <ac:spMkLst>
            <pc:docMk/>
            <pc:sldMk cId="4011772822" sldId="263"/>
            <ac:spMk id="11" creationId="{D3FDB595-96B6-2904-FB52-181DDB0F236B}"/>
          </ac:spMkLst>
        </pc:spChg>
      </pc:sldChg>
      <pc:sldChg chg="delSp modSp mod">
        <pc:chgData name="Eirik Eriksen Heen" userId="3e804305-1c07-417a-9ea8-d913585be88f" providerId="ADAL" clId="{1A8AB375-2C17-4B69-9219-6D6459D5CFE1}" dt="2026-10-01T08:51:38.771" v="438" actId="113"/>
        <pc:sldMkLst>
          <pc:docMk/>
          <pc:sldMk cId="2254070797" sldId="264"/>
        </pc:sldMkLst>
        <pc:spChg chg="mod">
          <ac:chgData name="Eirik Eriksen Heen" userId="3e804305-1c07-417a-9ea8-d913585be88f" providerId="ADAL" clId="{1A8AB375-2C17-4B69-9219-6D6459D5CFE1}" dt="2026-10-01T08:51:38.771" v="438" actId="113"/>
          <ac:spMkLst>
            <pc:docMk/>
            <pc:sldMk cId="2254070797" sldId="264"/>
            <ac:spMk id="7" creationId="{61DD0AFB-E7BC-3A22-50CB-7313BBB8479D}"/>
          </ac:spMkLst>
        </pc:spChg>
      </pc:sldChg>
      <pc:sldChg chg="delSp modSp mod">
        <pc:chgData name="Eirik Eriksen Heen" userId="3e804305-1c07-417a-9ea8-d913585be88f" providerId="ADAL" clId="{1A8AB375-2C17-4B69-9219-6D6459D5CFE1}" dt="2026-10-01T08:51:49.343" v="440" actId="478"/>
        <pc:sldMkLst>
          <pc:docMk/>
          <pc:sldMk cId="2448976122" sldId="265"/>
        </pc:sldMkLst>
        <pc:spChg chg="mod">
          <ac:chgData name="Eirik Eriksen Heen" userId="3e804305-1c07-417a-9ea8-d913585be88f" providerId="ADAL" clId="{1A8AB375-2C17-4B69-9219-6D6459D5CFE1}" dt="2026-10-01T08:47:03.217" v="390" actId="14100"/>
          <ac:spMkLst>
            <pc:docMk/>
            <pc:sldMk cId="2448976122" sldId="265"/>
            <ac:spMk id="6" creationId="{0ABF4B94-4CF2-A0A9-6877-A934CE5A6D46}"/>
          </ac:spMkLst>
        </pc:spChg>
        <pc:spChg chg="mod">
          <ac:chgData name="Eirik Eriksen Heen" userId="3e804305-1c07-417a-9ea8-d913585be88f" providerId="ADAL" clId="{1A8AB375-2C17-4B69-9219-6D6459D5CFE1}" dt="2026-10-01T08:47:08.111" v="392" actId="1076"/>
          <ac:spMkLst>
            <pc:docMk/>
            <pc:sldMk cId="2448976122" sldId="265"/>
            <ac:spMk id="7" creationId="{ED8E066E-3470-1FB9-5A6C-315A9D29A54B}"/>
          </ac:spMkLst>
        </pc:spChg>
        <pc:spChg chg="mod">
          <ac:chgData name="Eirik Eriksen Heen" userId="3e804305-1c07-417a-9ea8-d913585be88f" providerId="ADAL" clId="{1A8AB375-2C17-4B69-9219-6D6459D5CFE1}" dt="2026-10-01T08:47:14.332" v="393" actId="113"/>
          <ac:spMkLst>
            <pc:docMk/>
            <pc:sldMk cId="2448976122" sldId="265"/>
            <ac:spMk id="10" creationId="{6E68FDD1-19E1-C92E-6A89-D919BA0AEDBD}"/>
          </ac:spMkLst>
        </pc:spChg>
      </pc:sldChg>
      <pc:sldChg chg="addSp modSp mod">
        <pc:chgData name="Eirik Eriksen Heen" userId="3e804305-1c07-417a-9ea8-d913585be88f" providerId="ADAL" clId="{1A8AB375-2C17-4B69-9219-6D6459D5CFE1}" dt="2026-10-04T19:55:53.254" v="687" actId="1076"/>
        <pc:sldMkLst>
          <pc:docMk/>
          <pc:sldMk cId="152089444" sldId="267"/>
        </pc:sldMkLst>
        <pc:spChg chg="mod">
          <ac:chgData name="Eirik Eriksen Heen" userId="3e804305-1c07-417a-9ea8-d913585be88f" providerId="ADAL" clId="{1A8AB375-2C17-4B69-9219-6D6459D5CFE1}" dt="2026-10-04T19:54:58.608" v="675" actId="1076"/>
          <ac:spMkLst>
            <pc:docMk/>
            <pc:sldMk cId="152089444" sldId="267"/>
            <ac:spMk id="6" creationId="{8C57ABD0-F537-4A97-BF0B-721853C0CA05}"/>
          </ac:spMkLst>
        </pc:spChg>
        <pc:spChg chg="mod">
          <ac:chgData name="Eirik Eriksen Heen" userId="3e804305-1c07-417a-9ea8-d913585be88f" providerId="ADAL" clId="{1A8AB375-2C17-4B69-9219-6D6459D5CFE1}" dt="2026-10-04T19:55:48.989" v="686" actId="1076"/>
          <ac:spMkLst>
            <pc:docMk/>
            <pc:sldMk cId="152089444" sldId="267"/>
            <ac:spMk id="8" creationId="{2077FA50-7AAC-3D45-1911-D7C48677C240}"/>
          </ac:spMkLst>
        </pc:spChg>
        <pc:spChg chg="mod">
          <ac:chgData name="Eirik Eriksen Heen" userId="3e804305-1c07-417a-9ea8-d913585be88f" providerId="ADAL" clId="{1A8AB375-2C17-4B69-9219-6D6459D5CFE1}" dt="2026-10-04T19:55:53.254" v="687" actId="1076"/>
          <ac:spMkLst>
            <pc:docMk/>
            <pc:sldMk cId="152089444" sldId="267"/>
            <ac:spMk id="9" creationId="{F3654ABC-0C8C-ED14-0C37-32727C522DFB}"/>
          </ac:spMkLst>
        </pc:spChg>
        <pc:spChg chg="add mod">
          <ac:chgData name="Eirik Eriksen Heen" userId="3e804305-1c07-417a-9ea8-d913585be88f" providerId="ADAL" clId="{1A8AB375-2C17-4B69-9219-6D6459D5CFE1}" dt="2026-10-04T19:55:13.440" v="678" actId="1076"/>
          <ac:spMkLst>
            <pc:docMk/>
            <pc:sldMk cId="152089444" sldId="267"/>
            <ac:spMk id="10" creationId="{C8BF121E-2883-6784-CD2C-6E1EE0B5B0C8}"/>
          </ac:spMkLst>
        </pc:spChg>
        <pc:spChg chg="add mod">
          <ac:chgData name="Eirik Eriksen Heen" userId="3e804305-1c07-417a-9ea8-d913585be88f" providerId="ADAL" clId="{1A8AB375-2C17-4B69-9219-6D6459D5CFE1}" dt="2026-10-04T19:55:36.241" v="683" actId="1076"/>
          <ac:spMkLst>
            <pc:docMk/>
            <pc:sldMk cId="152089444" sldId="267"/>
            <ac:spMk id="12" creationId="{2C286EE9-CE0E-8183-364C-76C27A71BAFE}"/>
          </ac:spMkLst>
        </pc:spChg>
        <pc:spChg chg="add mod">
          <ac:chgData name="Eirik Eriksen Heen" userId="3e804305-1c07-417a-9ea8-d913585be88f" providerId="ADAL" clId="{1A8AB375-2C17-4B69-9219-6D6459D5CFE1}" dt="2026-10-04T19:55:18.680" v="680" actId="1076"/>
          <ac:spMkLst>
            <pc:docMk/>
            <pc:sldMk cId="152089444" sldId="267"/>
            <ac:spMk id="14" creationId="{C48070FC-1FBC-5DF0-EFBE-78B59A7A06B1}"/>
          </ac:spMkLst>
        </pc:spChg>
      </pc:sldChg>
      <pc:sldChg chg="addSp delSp modSp mod">
        <pc:chgData name="Eirik Eriksen Heen" userId="3e804305-1c07-417a-9ea8-d913585be88f" providerId="ADAL" clId="{1A8AB375-2C17-4B69-9219-6D6459D5CFE1}" dt="2026-10-04T19:56:24.444" v="690" actId="1076"/>
        <pc:sldMkLst>
          <pc:docMk/>
          <pc:sldMk cId="1463956442" sldId="270"/>
        </pc:sldMkLst>
        <pc:spChg chg="del mod">
          <ac:chgData name="Eirik Eriksen Heen" userId="3e804305-1c07-417a-9ea8-d913585be88f" providerId="ADAL" clId="{1A8AB375-2C17-4B69-9219-6D6459D5CFE1}" dt="2026-10-04T19:56:19.950" v="689" actId="478"/>
          <ac:spMkLst>
            <pc:docMk/>
            <pc:sldMk cId="1463956442" sldId="270"/>
            <ac:spMk id="8" creationId="{8A3707ED-2069-89F0-1057-09C16963B568}"/>
          </ac:spMkLst>
        </pc:spChg>
        <pc:spChg chg="mod">
          <ac:chgData name="Eirik Eriksen Heen" userId="3e804305-1c07-417a-9ea8-d913585be88f" providerId="ADAL" clId="{1A8AB375-2C17-4B69-9219-6D6459D5CFE1}" dt="2026-10-04T19:56:24.444" v="690" actId="1076"/>
          <ac:spMkLst>
            <pc:docMk/>
            <pc:sldMk cId="1463956442" sldId="270"/>
            <ac:spMk id="9" creationId="{FA22712D-9DAC-39E7-34AE-18E5013FAE70}"/>
          </ac:spMkLst>
        </pc:spChg>
        <pc:spChg chg="add">
          <ac:chgData name="Eirik Eriksen Heen" userId="3e804305-1c07-417a-9ea8-d913585be88f" providerId="ADAL" clId="{1A8AB375-2C17-4B69-9219-6D6459D5CFE1}" dt="2026-10-04T19:56:16.115" v="688" actId="22"/>
          <ac:spMkLst>
            <pc:docMk/>
            <pc:sldMk cId="1463956442" sldId="270"/>
            <ac:spMk id="11" creationId="{116ED4E0-AFC4-A4A6-9809-C4107B9758A9}"/>
          </ac:spMkLst>
        </pc:spChg>
        <pc:spChg chg="add">
          <ac:chgData name="Eirik Eriksen Heen" userId="3e804305-1c07-417a-9ea8-d913585be88f" providerId="ADAL" clId="{1A8AB375-2C17-4B69-9219-6D6459D5CFE1}" dt="2026-10-04T19:56:16.115" v="688" actId="22"/>
          <ac:spMkLst>
            <pc:docMk/>
            <pc:sldMk cId="1463956442" sldId="270"/>
            <ac:spMk id="13" creationId="{E4A1E5D3-2606-83AC-148C-5AC57152E5BE}"/>
          </ac:spMkLst>
        </pc:spChg>
        <pc:spChg chg="add">
          <ac:chgData name="Eirik Eriksen Heen" userId="3e804305-1c07-417a-9ea8-d913585be88f" providerId="ADAL" clId="{1A8AB375-2C17-4B69-9219-6D6459D5CFE1}" dt="2026-10-04T19:56:16.115" v="688" actId="22"/>
          <ac:spMkLst>
            <pc:docMk/>
            <pc:sldMk cId="1463956442" sldId="270"/>
            <ac:spMk id="15" creationId="{77C961D6-8C06-A809-E713-37AA0EB3E398}"/>
          </ac:spMkLst>
        </pc:spChg>
        <pc:spChg chg="add">
          <ac:chgData name="Eirik Eriksen Heen" userId="3e804305-1c07-417a-9ea8-d913585be88f" providerId="ADAL" clId="{1A8AB375-2C17-4B69-9219-6D6459D5CFE1}" dt="2026-10-04T19:56:16.115" v="688" actId="22"/>
          <ac:spMkLst>
            <pc:docMk/>
            <pc:sldMk cId="1463956442" sldId="270"/>
            <ac:spMk id="17" creationId="{4341927E-58AB-396C-3553-D0EA46409A4F}"/>
          </ac:spMkLst>
        </pc:spChg>
      </pc:sldChg>
      <pc:sldChg chg="delSp modSp mod">
        <pc:chgData name="Eirik Eriksen Heen" userId="3e804305-1c07-417a-9ea8-d913585be88f" providerId="ADAL" clId="{1A8AB375-2C17-4B69-9219-6D6459D5CFE1}" dt="2026-10-04T19:56:34.437" v="692" actId="14100"/>
        <pc:sldMkLst>
          <pc:docMk/>
          <pc:sldMk cId="1443452269" sldId="271"/>
        </pc:sldMkLst>
        <pc:spChg chg="del mod">
          <ac:chgData name="Eirik Eriksen Heen" userId="3e804305-1c07-417a-9ea8-d913585be88f" providerId="ADAL" clId="{1A8AB375-2C17-4B69-9219-6D6459D5CFE1}" dt="2026-10-04T19:56:31.764" v="691" actId="478"/>
          <ac:spMkLst>
            <pc:docMk/>
            <pc:sldMk cId="1443452269" sldId="271"/>
            <ac:spMk id="6" creationId="{C49327C9-DE44-C86B-A4E4-F02F7DA02B4B}"/>
          </ac:spMkLst>
        </pc:spChg>
        <pc:spChg chg="mod">
          <ac:chgData name="Eirik Eriksen Heen" userId="3e804305-1c07-417a-9ea8-d913585be88f" providerId="ADAL" clId="{1A8AB375-2C17-4B69-9219-6D6459D5CFE1}" dt="2026-10-04T19:56:34.437" v="692" actId="14100"/>
          <ac:spMkLst>
            <pc:docMk/>
            <pc:sldMk cId="1443452269" sldId="271"/>
            <ac:spMk id="7" creationId="{4AF61783-D06B-A026-A721-903E98470152}"/>
          </ac:spMkLst>
        </pc:spChg>
      </pc:sldChg>
      <pc:sldChg chg="modSp mod">
        <pc:chgData name="Eirik Eriksen Heen" userId="3e804305-1c07-417a-9ea8-d913585be88f" providerId="ADAL" clId="{1A8AB375-2C17-4B69-9219-6D6459D5CFE1}" dt="2026-10-04T19:57:40.305" v="695" actId="1076"/>
        <pc:sldMkLst>
          <pc:docMk/>
          <pc:sldMk cId="2718992099" sldId="273"/>
        </pc:sldMkLst>
        <pc:spChg chg="mod">
          <ac:chgData name="Eirik Eriksen Heen" userId="3e804305-1c07-417a-9ea8-d913585be88f" providerId="ADAL" clId="{1A8AB375-2C17-4B69-9219-6D6459D5CFE1}" dt="2026-10-01T11:06:50.496" v="600" actId="1076"/>
          <ac:spMkLst>
            <pc:docMk/>
            <pc:sldMk cId="2718992099" sldId="273"/>
            <ac:spMk id="10" creationId="{832BFB8F-B727-7398-1E62-1D44829669E0}"/>
          </ac:spMkLst>
        </pc:spChg>
        <pc:spChg chg="mod">
          <ac:chgData name="Eirik Eriksen Heen" userId="3e804305-1c07-417a-9ea8-d913585be88f" providerId="ADAL" clId="{1A8AB375-2C17-4B69-9219-6D6459D5CFE1}" dt="2026-10-04T19:57:29.688" v="693" actId="1076"/>
          <ac:spMkLst>
            <pc:docMk/>
            <pc:sldMk cId="2718992099" sldId="273"/>
            <ac:spMk id="12" creationId="{6ABF34B6-F75A-5E8D-E751-78FEEDDD3A94}"/>
          </ac:spMkLst>
        </pc:spChg>
        <pc:spChg chg="mod">
          <ac:chgData name="Eirik Eriksen Heen" userId="3e804305-1c07-417a-9ea8-d913585be88f" providerId="ADAL" clId="{1A8AB375-2C17-4B69-9219-6D6459D5CFE1}" dt="2026-10-04T19:57:40.305" v="695" actId="1076"/>
          <ac:spMkLst>
            <pc:docMk/>
            <pc:sldMk cId="2718992099" sldId="273"/>
            <ac:spMk id="13" creationId="{57C417D7-C0C4-B058-76CA-572F2256D524}"/>
          </ac:spMkLst>
        </pc:spChg>
      </pc:sldChg>
      <pc:sldChg chg="mod modShow">
        <pc:chgData name="Eirik Eriksen Heen" userId="3e804305-1c07-417a-9ea8-d913585be88f" providerId="ADAL" clId="{1A8AB375-2C17-4B69-9219-6D6459D5CFE1}" dt="2026-10-01T11:07:36.928" v="602" actId="729"/>
        <pc:sldMkLst>
          <pc:docMk/>
          <pc:sldMk cId="3737181823" sldId="274"/>
        </pc:sldMkLst>
      </pc:sldChg>
      <pc:sldChg chg="modSp mod">
        <pc:chgData name="Eirik Eriksen Heen" userId="3e804305-1c07-417a-9ea8-d913585be88f" providerId="ADAL" clId="{1A8AB375-2C17-4B69-9219-6D6459D5CFE1}" dt="2026-10-01T10:52:54.182" v="598" actId="14100"/>
        <pc:sldMkLst>
          <pc:docMk/>
          <pc:sldMk cId="3498230307" sldId="286"/>
        </pc:sldMkLst>
        <pc:spChg chg="mod">
          <ac:chgData name="Eirik Eriksen Heen" userId="3e804305-1c07-417a-9ea8-d913585be88f" providerId="ADAL" clId="{1A8AB375-2C17-4B69-9219-6D6459D5CFE1}" dt="2026-10-01T10:52:54.182" v="598" actId="14100"/>
          <ac:spMkLst>
            <pc:docMk/>
            <pc:sldMk cId="3498230307" sldId="286"/>
            <ac:spMk id="8" creationId="{FE6D31BB-1AE3-592E-B143-AEEBB09EAAA9}"/>
          </ac:spMkLst>
        </pc:spChg>
      </pc:sldChg>
      <pc:sldChg chg="delSp modSp mod">
        <pc:chgData name="Eirik Eriksen Heen" userId="3e804305-1c07-417a-9ea8-d913585be88f" providerId="ADAL" clId="{1A8AB375-2C17-4B69-9219-6D6459D5CFE1}" dt="2026-10-01T11:18:42.493" v="614" actId="1076"/>
        <pc:sldMkLst>
          <pc:docMk/>
          <pc:sldMk cId="510075479" sldId="290"/>
        </pc:sldMkLst>
        <pc:spChg chg="mod">
          <ac:chgData name="Eirik Eriksen Heen" userId="3e804305-1c07-417a-9ea8-d913585be88f" providerId="ADAL" clId="{1A8AB375-2C17-4B69-9219-6D6459D5CFE1}" dt="2026-10-01T11:18:39.322" v="613" actId="14100"/>
          <ac:spMkLst>
            <pc:docMk/>
            <pc:sldMk cId="510075479" sldId="290"/>
            <ac:spMk id="10" creationId="{C34A1745-361F-C74E-D90D-F0F85C1119B1}"/>
          </ac:spMkLst>
        </pc:spChg>
        <pc:spChg chg="mod">
          <ac:chgData name="Eirik Eriksen Heen" userId="3e804305-1c07-417a-9ea8-d913585be88f" providerId="ADAL" clId="{1A8AB375-2C17-4B69-9219-6D6459D5CFE1}" dt="2026-10-01T11:18:42.493" v="614" actId="1076"/>
          <ac:spMkLst>
            <pc:docMk/>
            <pc:sldMk cId="510075479" sldId="290"/>
            <ac:spMk id="11" creationId="{F0264E6D-5066-F0F4-5E12-D13E8E8289F2}"/>
          </ac:spMkLst>
        </pc:spChg>
        <pc:spChg chg="mod">
          <ac:chgData name="Eirik Eriksen Heen" userId="3e804305-1c07-417a-9ea8-d913585be88f" providerId="ADAL" clId="{1A8AB375-2C17-4B69-9219-6D6459D5CFE1}" dt="2026-10-01T08:34:18.096" v="353" actId="1076"/>
          <ac:spMkLst>
            <pc:docMk/>
            <pc:sldMk cId="510075479" sldId="290"/>
            <ac:spMk id="16" creationId="{F2CC0441-CD55-0B47-7220-B90D9122D7FC}"/>
          </ac:spMkLst>
        </pc:spChg>
        <pc:spChg chg="mod">
          <ac:chgData name="Eirik Eriksen Heen" userId="3e804305-1c07-417a-9ea8-d913585be88f" providerId="ADAL" clId="{1A8AB375-2C17-4B69-9219-6D6459D5CFE1}" dt="2026-10-01T08:34:18.096" v="353" actId="1076"/>
          <ac:spMkLst>
            <pc:docMk/>
            <pc:sldMk cId="510075479" sldId="290"/>
            <ac:spMk id="17" creationId="{E9564312-BDF9-D10F-3759-977650A6551E}"/>
          </ac:spMkLst>
        </pc:spChg>
        <pc:spChg chg="mod">
          <ac:chgData name="Eirik Eriksen Heen" userId="3e804305-1c07-417a-9ea8-d913585be88f" providerId="ADAL" clId="{1A8AB375-2C17-4B69-9219-6D6459D5CFE1}" dt="2026-10-01T08:34:25.692" v="354"/>
          <ac:spMkLst>
            <pc:docMk/>
            <pc:sldMk cId="510075479" sldId="290"/>
            <ac:spMk id="18" creationId="{74D1AF4B-1909-9959-9168-A7A98837A54F}"/>
          </ac:spMkLst>
        </pc:spChg>
        <pc:spChg chg="mod">
          <ac:chgData name="Eirik Eriksen Heen" userId="3e804305-1c07-417a-9ea8-d913585be88f" providerId="ADAL" clId="{1A8AB375-2C17-4B69-9219-6D6459D5CFE1}" dt="2026-10-01T08:34:43.070" v="361" actId="20577"/>
          <ac:spMkLst>
            <pc:docMk/>
            <pc:sldMk cId="510075479" sldId="290"/>
            <ac:spMk id="22" creationId="{F14655F4-F9BF-21A3-A7BC-62F3BA866B9F}"/>
          </ac:spMkLst>
        </pc:spChg>
        <pc:spChg chg="mod">
          <ac:chgData name="Eirik Eriksen Heen" userId="3e804305-1c07-417a-9ea8-d913585be88f" providerId="ADAL" clId="{1A8AB375-2C17-4B69-9219-6D6459D5CFE1}" dt="2026-10-01T08:34:18.096" v="353" actId="1076"/>
          <ac:spMkLst>
            <pc:docMk/>
            <pc:sldMk cId="510075479" sldId="290"/>
            <ac:spMk id="23" creationId="{8AE9673C-C609-47AA-D278-0E29870AF4BE}"/>
          </ac:spMkLst>
        </pc:spChg>
        <pc:spChg chg="mod">
          <ac:chgData name="Eirik Eriksen Heen" userId="3e804305-1c07-417a-9ea8-d913585be88f" providerId="ADAL" clId="{1A8AB375-2C17-4B69-9219-6D6459D5CFE1}" dt="2026-10-01T08:34:18.096" v="353" actId="1076"/>
          <ac:spMkLst>
            <pc:docMk/>
            <pc:sldMk cId="510075479" sldId="290"/>
            <ac:spMk id="26" creationId="{E1A327F9-55D7-A430-ACA4-B9FD2967D772}"/>
          </ac:spMkLst>
        </pc:spChg>
        <pc:spChg chg="mod">
          <ac:chgData name="Eirik Eriksen Heen" userId="3e804305-1c07-417a-9ea8-d913585be88f" providerId="ADAL" clId="{1A8AB375-2C17-4B69-9219-6D6459D5CFE1}" dt="2026-10-01T11:18:37.429" v="612" actId="14100"/>
          <ac:spMkLst>
            <pc:docMk/>
            <pc:sldMk cId="510075479" sldId="290"/>
            <ac:spMk id="29" creationId="{F029337F-BACF-2016-DD1D-44A49ECFB857}"/>
          </ac:spMkLst>
        </pc:spChg>
        <pc:spChg chg="mod">
          <ac:chgData name="Eirik Eriksen Heen" userId="3e804305-1c07-417a-9ea8-d913585be88f" providerId="ADAL" clId="{1A8AB375-2C17-4B69-9219-6D6459D5CFE1}" dt="2026-10-01T11:18:33.143" v="610" actId="1076"/>
          <ac:spMkLst>
            <pc:docMk/>
            <pc:sldMk cId="510075479" sldId="290"/>
            <ac:spMk id="33" creationId="{FCF58BCC-E287-28EA-242D-F8237227E263}"/>
          </ac:spMkLst>
        </pc:spChg>
        <pc:spChg chg="mod">
          <ac:chgData name="Eirik Eriksen Heen" userId="3e804305-1c07-417a-9ea8-d913585be88f" providerId="ADAL" clId="{1A8AB375-2C17-4B69-9219-6D6459D5CFE1}" dt="2026-10-01T11:18:35.631" v="611" actId="1076"/>
          <ac:spMkLst>
            <pc:docMk/>
            <pc:sldMk cId="510075479" sldId="290"/>
            <ac:spMk id="35" creationId="{EEE0A16C-8457-EB9E-200C-DB6E10485396}"/>
          </ac:spMkLst>
        </pc:spChg>
      </pc:sldChg>
      <pc:sldChg chg="delSp modSp mod">
        <pc:chgData name="Eirik Eriksen Heen" userId="3e804305-1c07-417a-9ea8-d913585be88f" providerId="ADAL" clId="{1A8AB375-2C17-4B69-9219-6D6459D5CFE1}" dt="2026-10-01T08:51:45.548" v="439" actId="478"/>
        <pc:sldMkLst>
          <pc:docMk/>
          <pc:sldMk cId="2818849098" sldId="292"/>
        </pc:sldMkLst>
        <pc:spChg chg="mod">
          <ac:chgData name="Eirik Eriksen Heen" userId="3e804305-1c07-417a-9ea8-d913585be88f" providerId="ADAL" clId="{1A8AB375-2C17-4B69-9219-6D6459D5CFE1}" dt="2026-10-01T08:43:42.117" v="363" actId="1076"/>
          <ac:spMkLst>
            <pc:docMk/>
            <pc:sldMk cId="2818849098" sldId="292"/>
            <ac:spMk id="10" creationId="{9B068996-0294-F4BB-A89A-C62DD103A876}"/>
          </ac:spMkLst>
        </pc:spChg>
        <pc:spChg chg="mod">
          <ac:chgData name="Eirik Eriksen Heen" userId="3e804305-1c07-417a-9ea8-d913585be88f" providerId="ADAL" clId="{1A8AB375-2C17-4B69-9219-6D6459D5CFE1}" dt="2026-10-01T08:43:49.042" v="365" actId="1076"/>
          <ac:spMkLst>
            <pc:docMk/>
            <pc:sldMk cId="2818849098" sldId="292"/>
            <ac:spMk id="11" creationId="{9D55B247-164F-840F-A8A7-D2CF54AE72E0}"/>
          </ac:spMkLst>
        </pc:spChg>
        <pc:picChg chg="mod">
          <ac:chgData name="Eirik Eriksen Heen" userId="3e804305-1c07-417a-9ea8-d913585be88f" providerId="ADAL" clId="{1A8AB375-2C17-4B69-9219-6D6459D5CFE1}" dt="2026-10-01T08:44:05.322" v="369" actId="14100"/>
          <ac:picMkLst>
            <pc:docMk/>
            <pc:sldMk cId="2818849098" sldId="292"/>
            <ac:picMk id="57" creationId="{BB5AB31C-1892-45C2-A2C1-217F5DB20866}"/>
          </ac:picMkLst>
        </pc:picChg>
      </pc:sldChg>
      <pc:sldChg chg="modSp mod">
        <pc:chgData name="Eirik Eriksen Heen" userId="3e804305-1c07-417a-9ea8-d913585be88f" providerId="ADAL" clId="{1A8AB375-2C17-4B69-9219-6D6459D5CFE1}" dt="2026-10-04T19:54:13.249" v="670" actId="1076"/>
        <pc:sldMkLst>
          <pc:docMk/>
          <pc:sldMk cId="3617690323" sldId="295"/>
        </pc:sldMkLst>
        <pc:spChg chg="mod">
          <ac:chgData name="Eirik Eriksen Heen" userId="3e804305-1c07-417a-9ea8-d913585be88f" providerId="ADAL" clId="{1A8AB375-2C17-4B69-9219-6D6459D5CFE1}" dt="2026-10-04T19:53:02.894" v="668" actId="20577"/>
          <ac:spMkLst>
            <pc:docMk/>
            <pc:sldMk cId="3617690323" sldId="295"/>
            <ac:spMk id="40" creationId="{D5AB01C7-81D5-CD15-02C7-B695E7B0F407}"/>
          </ac:spMkLst>
        </pc:spChg>
        <pc:cxnChg chg="mod">
          <ac:chgData name="Eirik Eriksen Heen" userId="3e804305-1c07-417a-9ea8-d913585be88f" providerId="ADAL" clId="{1A8AB375-2C17-4B69-9219-6D6459D5CFE1}" dt="2026-10-04T19:54:13.249" v="670" actId="1076"/>
          <ac:cxnSpMkLst>
            <pc:docMk/>
            <pc:sldMk cId="3617690323" sldId="295"/>
            <ac:cxnSpMk id="42" creationId="{702DC595-BAF3-4E01-C49A-31F628F2269C}"/>
          </ac:cxnSpMkLst>
        </pc:cxnChg>
      </pc:sldChg>
      <pc:sldChg chg="delSp modSp mod">
        <pc:chgData name="Eirik Eriksen Heen" userId="3e804305-1c07-417a-9ea8-d913585be88f" providerId="ADAL" clId="{1A8AB375-2C17-4B69-9219-6D6459D5CFE1}" dt="2026-10-01T08:50:56.424" v="425" actId="478"/>
        <pc:sldMkLst>
          <pc:docMk/>
          <pc:sldMk cId="1131212869" sldId="296"/>
        </pc:sldMkLst>
        <pc:spChg chg="mod">
          <ac:chgData name="Eirik Eriksen Heen" userId="3e804305-1c07-417a-9ea8-d913585be88f" providerId="ADAL" clId="{1A8AB375-2C17-4B69-9219-6D6459D5CFE1}" dt="2026-10-01T08:11:16.934" v="108" actId="790"/>
          <ac:spMkLst>
            <pc:docMk/>
            <pc:sldMk cId="1131212869" sldId="296"/>
            <ac:spMk id="8" creationId="{2A720FF9-74B1-E2D8-B4CD-D1457649EAA3}"/>
          </ac:spMkLst>
        </pc:spChg>
        <pc:spChg chg="mod">
          <ac:chgData name="Eirik Eriksen Heen" userId="3e804305-1c07-417a-9ea8-d913585be88f" providerId="ADAL" clId="{1A8AB375-2C17-4B69-9219-6D6459D5CFE1}" dt="2026-10-01T08:11:46.782" v="127" actId="20577"/>
          <ac:spMkLst>
            <pc:docMk/>
            <pc:sldMk cId="1131212869" sldId="296"/>
            <ac:spMk id="11" creationId="{23ABDA11-8775-4492-F17D-37E7869008C1}"/>
          </ac:spMkLst>
        </pc:spChg>
        <pc:spChg chg="mod">
          <ac:chgData name="Eirik Eriksen Heen" userId="3e804305-1c07-417a-9ea8-d913585be88f" providerId="ADAL" clId="{1A8AB375-2C17-4B69-9219-6D6459D5CFE1}" dt="2026-10-01T08:09:16.396" v="2" actId="1076"/>
          <ac:spMkLst>
            <pc:docMk/>
            <pc:sldMk cId="1131212869" sldId="296"/>
            <ac:spMk id="14" creationId="{53A12A80-3B19-3D52-1253-2FF0A86C2CA3}"/>
          </ac:spMkLst>
        </pc:spChg>
      </pc:sldChg>
      <pc:sldChg chg="delSp modSp mod">
        <pc:chgData name="Eirik Eriksen Heen" userId="3e804305-1c07-417a-9ea8-d913585be88f" providerId="ADAL" clId="{1A8AB375-2C17-4B69-9219-6D6459D5CFE1}" dt="2026-10-01T08:50:59.579" v="426" actId="478"/>
        <pc:sldMkLst>
          <pc:docMk/>
          <pc:sldMk cId="120232931" sldId="297"/>
        </pc:sldMkLst>
        <pc:spChg chg="mod">
          <ac:chgData name="Eirik Eriksen Heen" userId="3e804305-1c07-417a-9ea8-d913585be88f" providerId="ADAL" clId="{1A8AB375-2C17-4B69-9219-6D6459D5CFE1}" dt="2026-10-01T08:13:34.643" v="146" actId="790"/>
          <ac:spMkLst>
            <pc:docMk/>
            <pc:sldMk cId="120232931" sldId="297"/>
            <ac:spMk id="2" creationId="{DAF879DC-E72D-02C2-3354-D4D0AB327EB7}"/>
          </ac:spMkLst>
        </pc:spChg>
        <pc:spChg chg="mod">
          <ac:chgData name="Eirik Eriksen Heen" userId="3e804305-1c07-417a-9ea8-d913585be88f" providerId="ADAL" clId="{1A8AB375-2C17-4B69-9219-6D6459D5CFE1}" dt="2026-10-01T08:14:35.056" v="172" actId="20577"/>
          <ac:spMkLst>
            <pc:docMk/>
            <pc:sldMk cId="120232931" sldId="297"/>
            <ac:spMk id="7" creationId="{46C6F6D1-B321-A18C-B4B5-FEDB905B7346}"/>
          </ac:spMkLst>
        </pc:spChg>
        <pc:spChg chg="mod">
          <ac:chgData name="Eirik Eriksen Heen" userId="3e804305-1c07-417a-9ea8-d913585be88f" providerId="ADAL" clId="{1A8AB375-2C17-4B69-9219-6D6459D5CFE1}" dt="2026-10-01T08:15:08.518" v="241" actId="20577"/>
          <ac:spMkLst>
            <pc:docMk/>
            <pc:sldMk cId="120232931" sldId="297"/>
            <ac:spMk id="8" creationId="{491B0237-8102-6D15-D0A2-6CF503B6F729}"/>
          </ac:spMkLst>
        </pc:spChg>
        <pc:spChg chg="mod">
          <ac:chgData name="Eirik Eriksen Heen" userId="3e804305-1c07-417a-9ea8-d913585be88f" providerId="ADAL" clId="{1A8AB375-2C17-4B69-9219-6D6459D5CFE1}" dt="2026-10-01T08:14:42.277" v="174" actId="20577"/>
          <ac:spMkLst>
            <pc:docMk/>
            <pc:sldMk cId="120232931" sldId="297"/>
            <ac:spMk id="10" creationId="{56EE82C1-9053-8938-E425-72ECE01DF15E}"/>
          </ac:spMkLst>
        </pc:spChg>
        <pc:spChg chg="mod">
          <ac:chgData name="Eirik Eriksen Heen" userId="3e804305-1c07-417a-9ea8-d913585be88f" providerId="ADAL" clId="{1A8AB375-2C17-4B69-9219-6D6459D5CFE1}" dt="2026-10-01T08:16:03.520" v="317" actId="14100"/>
          <ac:spMkLst>
            <pc:docMk/>
            <pc:sldMk cId="120232931" sldId="297"/>
            <ac:spMk id="11" creationId="{B429A057-2B4C-861B-92E8-85F92CDBBAD6}"/>
          </ac:spMkLst>
        </pc:spChg>
        <pc:spChg chg="mod">
          <ac:chgData name="Eirik Eriksen Heen" userId="3e804305-1c07-417a-9ea8-d913585be88f" providerId="ADAL" clId="{1A8AB375-2C17-4B69-9219-6D6459D5CFE1}" dt="2026-10-01T08:12:27.604" v="130" actId="1076"/>
          <ac:spMkLst>
            <pc:docMk/>
            <pc:sldMk cId="120232931" sldId="297"/>
            <ac:spMk id="12" creationId="{40B861D1-03C9-72E3-79DC-0E409D7BD711}"/>
          </ac:spMkLst>
        </pc:spChg>
        <pc:spChg chg="mod">
          <ac:chgData name="Eirik Eriksen Heen" userId="3e804305-1c07-417a-9ea8-d913585be88f" providerId="ADAL" clId="{1A8AB375-2C17-4B69-9219-6D6459D5CFE1}" dt="2026-10-01T08:15:35.378" v="265" actId="6549"/>
          <ac:spMkLst>
            <pc:docMk/>
            <pc:sldMk cId="120232931" sldId="297"/>
            <ac:spMk id="14" creationId="{A63103B2-5561-18B7-355D-D682A978DF81}"/>
          </ac:spMkLst>
        </pc:spChg>
      </pc:sldChg>
      <pc:sldChg chg="delSp modSp mod">
        <pc:chgData name="Eirik Eriksen Heen" userId="3e804305-1c07-417a-9ea8-d913585be88f" providerId="ADAL" clId="{1A8AB375-2C17-4B69-9219-6D6459D5CFE1}" dt="2026-10-01T08:51:02.065" v="427" actId="478"/>
        <pc:sldMkLst>
          <pc:docMk/>
          <pc:sldMk cId="3754097947" sldId="298"/>
        </pc:sldMkLst>
        <pc:spChg chg="mod">
          <ac:chgData name="Eirik Eriksen Heen" userId="3e804305-1c07-417a-9ea8-d913585be88f" providerId="ADAL" clId="{1A8AB375-2C17-4B69-9219-6D6459D5CFE1}" dt="2026-10-01T08:28:45.632" v="318" actId="790"/>
          <ac:spMkLst>
            <pc:docMk/>
            <pc:sldMk cId="3754097947" sldId="298"/>
            <ac:spMk id="15" creationId="{BC9DB92B-74A6-1CBB-BB00-379DD2E6BA29}"/>
          </ac:spMkLst>
        </pc:spChg>
      </pc:sldChg>
      <pc:sldChg chg="delSp modSp mod">
        <pc:chgData name="Eirik Eriksen Heen" userId="3e804305-1c07-417a-9ea8-d913585be88f" providerId="ADAL" clId="{1A8AB375-2C17-4B69-9219-6D6459D5CFE1}" dt="2026-10-04T18:19:13.030" v="625" actId="1076"/>
        <pc:sldMkLst>
          <pc:docMk/>
          <pc:sldMk cId="4023558460" sldId="299"/>
        </pc:sldMkLst>
        <pc:spChg chg="mod">
          <ac:chgData name="Eirik Eriksen Heen" userId="3e804305-1c07-417a-9ea8-d913585be88f" providerId="ADAL" clId="{1A8AB375-2C17-4B69-9219-6D6459D5CFE1}" dt="2026-10-04T18:18:48.845" v="622" actId="14100"/>
          <ac:spMkLst>
            <pc:docMk/>
            <pc:sldMk cId="4023558460" sldId="299"/>
            <ac:spMk id="3" creationId="{E19B543A-FE37-4D2B-A7DB-AAC439CDBBE7}"/>
          </ac:spMkLst>
        </pc:spChg>
        <pc:spChg chg="mod">
          <ac:chgData name="Eirik Eriksen Heen" userId="3e804305-1c07-417a-9ea8-d913585be88f" providerId="ADAL" clId="{1A8AB375-2C17-4B69-9219-6D6459D5CFE1}" dt="2026-10-04T18:19:13.030" v="625" actId="1076"/>
          <ac:spMkLst>
            <pc:docMk/>
            <pc:sldMk cId="4023558460" sldId="299"/>
            <ac:spMk id="6" creationId="{EB13A02F-F4F2-79CB-1FE0-A13C92A1E117}"/>
          </ac:spMkLst>
        </pc:spChg>
        <pc:spChg chg="mod">
          <ac:chgData name="Eirik Eriksen Heen" userId="3e804305-1c07-417a-9ea8-d913585be88f" providerId="ADAL" clId="{1A8AB375-2C17-4B69-9219-6D6459D5CFE1}" dt="2026-10-04T18:19:13.030" v="625" actId="1076"/>
          <ac:spMkLst>
            <pc:docMk/>
            <pc:sldMk cId="4023558460" sldId="299"/>
            <ac:spMk id="7" creationId="{9948FC57-9D6A-9937-1275-16FCBC1E80E7}"/>
          </ac:spMkLst>
        </pc:spChg>
        <pc:spChg chg="mod">
          <ac:chgData name="Eirik Eriksen Heen" userId="3e804305-1c07-417a-9ea8-d913585be88f" providerId="ADAL" clId="{1A8AB375-2C17-4B69-9219-6D6459D5CFE1}" dt="2026-10-04T18:19:13.030" v="625" actId="1076"/>
          <ac:spMkLst>
            <pc:docMk/>
            <pc:sldMk cId="4023558460" sldId="299"/>
            <ac:spMk id="8" creationId="{58EC9D97-4E50-10AB-79B8-91258067E189}"/>
          </ac:spMkLst>
        </pc:spChg>
        <pc:spChg chg="mod">
          <ac:chgData name="Eirik Eriksen Heen" userId="3e804305-1c07-417a-9ea8-d913585be88f" providerId="ADAL" clId="{1A8AB375-2C17-4B69-9219-6D6459D5CFE1}" dt="2026-10-04T18:19:13.030" v="625" actId="1076"/>
          <ac:spMkLst>
            <pc:docMk/>
            <pc:sldMk cId="4023558460" sldId="299"/>
            <ac:spMk id="9" creationId="{00E5EE4E-C40A-A4F0-8BF8-ABADF00417D2}"/>
          </ac:spMkLst>
        </pc:spChg>
        <pc:spChg chg="mod">
          <ac:chgData name="Eirik Eriksen Heen" userId="3e804305-1c07-417a-9ea8-d913585be88f" providerId="ADAL" clId="{1A8AB375-2C17-4B69-9219-6D6459D5CFE1}" dt="2026-10-04T18:19:13.030" v="625" actId="1076"/>
          <ac:spMkLst>
            <pc:docMk/>
            <pc:sldMk cId="4023558460" sldId="299"/>
            <ac:spMk id="10" creationId="{E223C9D5-D89F-07C4-33CA-6AFEB8BED33B}"/>
          </ac:spMkLst>
        </pc:spChg>
        <pc:spChg chg="mod">
          <ac:chgData name="Eirik Eriksen Heen" userId="3e804305-1c07-417a-9ea8-d913585be88f" providerId="ADAL" clId="{1A8AB375-2C17-4B69-9219-6D6459D5CFE1}" dt="2026-10-04T18:19:13.030" v="625" actId="1076"/>
          <ac:spMkLst>
            <pc:docMk/>
            <pc:sldMk cId="4023558460" sldId="299"/>
            <ac:spMk id="11" creationId="{04A7B585-CD63-95EC-C6B6-ED8D6935AF35}"/>
          </ac:spMkLst>
        </pc:spChg>
        <pc:spChg chg="mod">
          <ac:chgData name="Eirik Eriksen Heen" userId="3e804305-1c07-417a-9ea8-d913585be88f" providerId="ADAL" clId="{1A8AB375-2C17-4B69-9219-6D6459D5CFE1}" dt="2026-10-04T18:19:13.030" v="625" actId="1076"/>
          <ac:spMkLst>
            <pc:docMk/>
            <pc:sldMk cId="4023558460" sldId="299"/>
            <ac:spMk id="12" creationId="{362CE67E-1AA2-5B7C-1285-9B6914E79ED5}"/>
          </ac:spMkLst>
        </pc:spChg>
        <pc:spChg chg="mod">
          <ac:chgData name="Eirik Eriksen Heen" userId="3e804305-1c07-417a-9ea8-d913585be88f" providerId="ADAL" clId="{1A8AB375-2C17-4B69-9219-6D6459D5CFE1}" dt="2026-10-04T18:19:13.030" v="625" actId="1076"/>
          <ac:spMkLst>
            <pc:docMk/>
            <pc:sldMk cId="4023558460" sldId="299"/>
            <ac:spMk id="13" creationId="{27DA280A-2279-AB2F-8038-5EE28E10260D}"/>
          </ac:spMkLst>
        </pc:spChg>
        <pc:spChg chg="mod">
          <ac:chgData name="Eirik Eriksen Heen" userId="3e804305-1c07-417a-9ea8-d913585be88f" providerId="ADAL" clId="{1A8AB375-2C17-4B69-9219-6D6459D5CFE1}" dt="2026-10-04T18:19:13.030" v="625" actId="1076"/>
          <ac:spMkLst>
            <pc:docMk/>
            <pc:sldMk cId="4023558460" sldId="299"/>
            <ac:spMk id="14" creationId="{9DBE4070-653E-4935-BDF7-0B020CEEBFA0}"/>
          </ac:spMkLst>
        </pc:spChg>
      </pc:sldChg>
      <pc:sldChg chg="addSp delSp modSp mod">
        <pc:chgData name="Eirik Eriksen Heen" userId="3e804305-1c07-417a-9ea8-d913585be88f" providerId="ADAL" clId="{1A8AB375-2C17-4B69-9219-6D6459D5CFE1}" dt="2026-10-04T20:12:32.366" v="727" actId="20577"/>
        <pc:sldMkLst>
          <pc:docMk/>
          <pc:sldMk cId="2433268063" sldId="300"/>
        </pc:sldMkLst>
        <pc:spChg chg="mod">
          <ac:chgData name="Eirik Eriksen Heen" userId="3e804305-1c07-417a-9ea8-d913585be88f" providerId="ADAL" clId="{1A8AB375-2C17-4B69-9219-6D6459D5CFE1}" dt="2026-10-04T20:12:32.366" v="727" actId="20577"/>
          <ac:spMkLst>
            <pc:docMk/>
            <pc:sldMk cId="2433268063" sldId="300"/>
            <ac:spMk id="7" creationId="{F1FC6A11-6740-C443-0A18-756F1C3598E2}"/>
          </ac:spMkLst>
        </pc:spChg>
        <pc:spChg chg="mod">
          <ac:chgData name="Eirik Eriksen Heen" userId="3e804305-1c07-417a-9ea8-d913585be88f" providerId="ADAL" clId="{1A8AB375-2C17-4B69-9219-6D6459D5CFE1}" dt="2026-10-04T19:35:20.344" v="627" actId="1076"/>
          <ac:spMkLst>
            <pc:docMk/>
            <pc:sldMk cId="2433268063" sldId="300"/>
            <ac:spMk id="9" creationId="{0E9C8C38-58D7-449A-2550-19691A322272}"/>
          </ac:spMkLst>
        </pc:spChg>
        <pc:spChg chg="mod">
          <ac:chgData name="Eirik Eriksen Heen" userId="3e804305-1c07-417a-9ea8-d913585be88f" providerId="ADAL" clId="{1A8AB375-2C17-4B69-9219-6D6459D5CFE1}" dt="2026-10-04T19:35:20.344" v="627" actId="1076"/>
          <ac:spMkLst>
            <pc:docMk/>
            <pc:sldMk cId="2433268063" sldId="300"/>
            <ac:spMk id="10" creationId="{F36380C5-E813-93AB-26FC-89B2ABF1C884}"/>
          </ac:spMkLst>
        </pc:spChg>
        <pc:spChg chg="mod">
          <ac:chgData name="Eirik Eriksen Heen" userId="3e804305-1c07-417a-9ea8-d913585be88f" providerId="ADAL" clId="{1A8AB375-2C17-4B69-9219-6D6459D5CFE1}" dt="2026-10-04T19:35:29.080" v="629" actId="1076"/>
          <ac:spMkLst>
            <pc:docMk/>
            <pc:sldMk cId="2433268063" sldId="300"/>
            <ac:spMk id="11" creationId="{C179F67A-67EF-F49B-0A74-CD8CEB166761}"/>
          </ac:spMkLst>
        </pc:spChg>
        <pc:spChg chg="mod">
          <ac:chgData name="Eirik Eriksen Heen" userId="3e804305-1c07-417a-9ea8-d913585be88f" providerId="ADAL" clId="{1A8AB375-2C17-4B69-9219-6D6459D5CFE1}" dt="2026-10-04T19:35:29.080" v="629" actId="1076"/>
          <ac:spMkLst>
            <pc:docMk/>
            <pc:sldMk cId="2433268063" sldId="300"/>
            <ac:spMk id="12" creationId="{D20AEBE3-0E23-919D-82BF-61EF518A0175}"/>
          </ac:spMkLst>
        </pc:spChg>
        <pc:spChg chg="add del mod">
          <ac:chgData name="Eirik Eriksen Heen" userId="3e804305-1c07-417a-9ea8-d913585be88f" providerId="ADAL" clId="{1A8AB375-2C17-4B69-9219-6D6459D5CFE1}" dt="2026-10-04T19:36:40.217" v="652" actId="14100"/>
          <ac:spMkLst>
            <pc:docMk/>
            <pc:sldMk cId="2433268063" sldId="300"/>
            <ac:spMk id="13" creationId="{453F48FD-2C22-D22E-4928-116251CA044E}"/>
          </ac:spMkLst>
        </pc:spChg>
        <pc:spChg chg="add del mod">
          <ac:chgData name="Eirik Eriksen Heen" userId="3e804305-1c07-417a-9ea8-d913585be88f" providerId="ADAL" clId="{1A8AB375-2C17-4B69-9219-6D6459D5CFE1}" dt="2026-10-04T19:36:37.609" v="651" actId="14100"/>
          <ac:spMkLst>
            <pc:docMk/>
            <pc:sldMk cId="2433268063" sldId="300"/>
            <ac:spMk id="14" creationId="{55C7608E-7C04-5BF1-5DE7-6EA08B5F7347}"/>
          </ac:spMkLst>
        </pc:spChg>
        <pc:spChg chg="mod">
          <ac:chgData name="Eirik Eriksen Heen" userId="3e804305-1c07-417a-9ea8-d913585be88f" providerId="ADAL" clId="{1A8AB375-2C17-4B69-9219-6D6459D5CFE1}" dt="2026-10-01T09:00:24.361" v="536" actId="14100"/>
          <ac:spMkLst>
            <pc:docMk/>
            <pc:sldMk cId="2433268063" sldId="300"/>
            <ac:spMk id="17" creationId="{CD6E42D5-2D4A-AB78-CB0C-3E8094295604}"/>
          </ac:spMkLst>
        </pc:spChg>
        <pc:spChg chg="add mod">
          <ac:chgData name="Eirik Eriksen Heen" userId="3e804305-1c07-417a-9ea8-d913585be88f" providerId="ADAL" clId="{1A8AB375-2C17-4B69-9219-6D6459D5CFE1}" dt="2026-10-04T19:38:04.709" v="664" actId="1076"/>
          <ac:spMkLst>
            <pc:docMk/>
            <pc:sldMk cId="2433268063" sldId="300"/>
            <ac:spMk id="19" creationId="{80AA8C0C-296B-774B-4636-22AA457CF0BC}"/>
          </ac:spMkLst>
        </pc:spChg>
        <pc:spChg chg="add mod">
          <ac:chgData name="Eirik Eriksen Heen" userId="3e804305-1c07-417a-9ea8-d913585be88f" providerId="ADAL" clId="{1A8AB375-2C17-4B69-9219-6D6459D5CFE1}" dt="2026-10-04T19:38:04.709" v="664" actId="1076"/>
          <ac:spMkLst>
            <pc:docMk/>
            <pc:sldMk cId="2433268063" sldId="300"/>
            <ac:spMk id="21" creationId="{38F8F79A-3141-CF71-3475-D014335A6C5D}"/>
          </ac:spMkLst>
        </pc:spChg>
        <pc:spChg chg="add mod">
          <ac:chgData name="Eirik Eriksen Heen" userId="3e804305-1c07-417a-9ea8-d913585be88f" providerId="ADAL" clId="{1A8AB375-2C17-4B69-9219-6D6459D5CFE1}" dt="2026-10-04T19:37:00.583" v="659" actId="1076"/>
          <ac:spMkLst>
            <pc:docMk/>
            <pc:sldMk cId="2433268063" sldId="300"/>
            <ac:spMk id="23" creationId="{557B789A-8986-46BB-C0D6-7C70A8B98DF8}"/>
          </ac:spMkLst>
        </pc:spChg>
        <pc:spChg chg="add mod">
          <ac:chgData name="Eirik Eriksen Heen" userId="3e804305-1c07-417a-9ea8-d913585be88f" providerId="ADAL" clId="{1A8AB375-2C17-4B69-9219-6D6459D5CFE1}" dt="2026-10-04T19:37:57.427" v="663" actId="20577"/>
          <ac:spMkLst>
            <pc:docMk/>
            <pc:sldMk cId="2433268063" sldId="300"/>
            <ac:spMk id="25" creationId="{EE89509D-1E6A-A9CB-18E4-EA43DB169F92}"/>
          </ac:spMkLst>
        </pc:spChg>
      </pc:sldChg>
      <pc:sldChg chg="delSp modSp mod">
        <pc:chgData name="Eirik Eriksen Heen" userId="3e804305-1c07-417a-9ea8-d913585be88f" providerId="ADAL" clId="{1A8AB375-2C17-4B69-9219-6D6459D5CFE1}" dt="2026-10-04T19:51:25.861" v="667" actId="478"/>
        <pc:sldMkLst>
          <pc:docMk/>
          <pc:sldMk cId="4254938800" sldId="301"/>
        </pc:sldMkLst>
        <pc:spChg chg="mod">
          <ac:chgData name="Eirik Eriksen Heen" userId="3e804305-1c07-417a-9ea8-d913585be88f" providerId="ADAL" clId="{1A8AB375-2C17-4B69-9219-6D6459D5CFE1}" dt="2026-10-01T10:44:20.114" v="554"/>
          <ac:spMkLst>
            <pc:docMk/>
            <pc:sldMk cId="4254938800" sldId="301"/>
            <ac:spMk id="6" creationId="{A5B65888-0853-C695-6683-250B4F508DA2}"/>
          </ac:spMkLst>
        </pc:spChg>
        <pc:spChg chg="mod">
          <ac:chgData name="Eirik Eriksen Heen" userId="3e804305-1c07-417a-9ea8-d913585be88f" providerId="ADAL" clId="{1A8AB375-2C17-4B69-9219-6D6459D5CFE1}" dt="2026-10-01T08:57:43.571" v="456" actId="1076"/>
          <ac:spMkLst>
            <pc:docMk/>
            <pc:sldMk cId="4254938800" sldId="301"/>
            <ac:spMk id="8" creationId="{16391234-F9EE-4E13-8FCE-92475202B13D}"/>
          </ac:spMkLst>
        </pc:spChg>
        <pc:spChg chg="del mod">
          <ac:chgData name="Eirik Eriksen Heen" userId="3e804305-1c07-417a-9ea8-d913585be88f" providerId="ADAL" clId="{1A8AB375-2C17-4B69-9219-6D6459D5CFE1}" dt="2026-10-04T19:51:25.861" v="667" actId="478"/>
          <ac:spMkLst>
            <pc:docMk/>
            <pc:sldMk cId="4254938800" sldId="301"/>
            <ac:spMk id="9" creationId="{5F0FFC28-B42D-493B-BD9A-EBA85DD0D5C1}"/>
          </ac:spMkLst>
        </pc:spChg>
        <pc:spChg chg="mod">
          <ac:chgData name="Eirik Eriksen Heen" userId="3e804305-1c07-417a-9ea8-d913585be88f" providerId="ADAL" clId="{1A8AB375-2C17-4B69-9219-6D6459D5CFE1}" dt="2026-10-01T08:57:26.226" v="453" actId="1076"/>
          <ac:spMkLst>
            <pc:docMk/>
            <pc:sldMk cId="4254938800" sldId="301"/>
            <ac:spMk id="11" creationId="{1F1D65F6-9659-E619-FE42-46A6F8BE7421}"/>
          </ac:spMkLst>
        </pc:spChg>
        <pc:spChg chg="mod">
          <ac:chgData name="Eirik Eriksen Heen" userId="3e804305-1c07-417a-9ea8-d913585be88f" providerId="ADAL" clId="{1A8AB375-2C17-4B69-9219-6D6459D5CFE1}" dt="2026-10-01T10:44:16.269" v="553"/>
          <ac:spMkLst>
            <pc:docMk/>
            <pc:sldMk cId="4254938800" sldId="301"/>
            <ac:spMk id="12" creationId="{EFD07E8C-CE34-ACFB-77A9-4277764019F5}"/>
          </ac:spMkLst>
        </pc:spChg>
        <pc:spChg chg="mod">
          <ac:chgData name="Eirik Eriksen Heen" userId="3e804305-1c07-417a-9ea8-d913585be88f" providerId="ADAL" clId="{1A8AB375-2C17-4B69-9219-6D6459D5CFE1}" dt="2026-10-01T08:55:34.152" v="449"/>
          <ac:spMkLst>
            <pc:docMk/>
            <pc:sldMk cId="4254938800" sldId="301"/>
            <ac:spMk id="14" creationId="{CB98565B-9766-3DEC-C3FA-A913F9C03D4B}"/>
          </ac:spMkLst>
        </pc:spChg>
        <pc:spChg chg="del mod">
          <ac:chgData name="Eirik Eriksen Heen" userId="3e804305-1c07-417a-9ea8-d913585be88f" providerId="ADAL" clId="{1A8AB375-2C17-4B69-9219-6D6459D5CFE1}" dt="2026-10-04T19:51:24.344" v="666" actId="478"/>
          <ac:spMkLst>
            <pc:docMk/>
            <pc:sldMk cId="4254938800" sldId="301"/>
            <ac:spMk id="15" creationId="{AB301992-70EA-89E2-6471-696DC4516BAF}"/>
          </ac:spMkLst>
        </pc:spChg>
        <pc:spChg chg="mod">
          <ac:chgData name="Eirik Eriksen Heen" userId="3e804305-1c07-417a-9ea8-d913585be88f" providerId="ADAL" clId="{1A8AB375-2C17-4B69-9219-6D6459D5CFE1}" dt="2026-10-01T08:57:30.517" v="454" actId="1076"/>
          <ac:spMkLst>
            <pc:docMk/>
            <pc:sldMk cId="4254938800" sldId="301"/>
            <ac:spMk id="17" creationId="{BCB975EB-EB6E-6D6A-F430-BB9DD8BD9ECF}"/>
          </ac:spMkLst>
        </pc:spChg>
        <pc:spChg chg="mod">
          <ac:chgData name="Eirik Eriksen Heen" userId="3e804305-1c07-417a-9ea8-d913585be88f" providerId="ADAL" clId="{1A8AB375-2C17-4B69-9219-6D6459D5CFE1}" dt="2026-10-01T11:28:19.611" v="615" actId="1076"/>
          <ac:spMkLst>
            <pc:docMk/>
            <pc:sldMk cId="4254938800" sldId="301"/>
            <ac:spMk id="20" creationId="{ABF1B525-5745-873B-745A-2497B81B6C2E}"/>
          </ac:spMkLst>
        </pc:spChg>
      </pc:sldChg>
      <pc:sldChg chg="delSp modSp add mod setBg">
        <pc:chgData name="Eirik Eriksen Heen" userId="3e804305-1c07-417a-9ea8-d913585be88f" providerId="ADAL" clId="{1A8AB375-2C17-4B69-9219-6D6459D5CFE1}" dt="2026-10-01T09:00:10.198" v="533" actId="14100"/>
        <pc:sldMkLst>
          <pc:docMk/>
          <pc:sldMk cId="3517877032" sldId="303"/>
        </pc:sldMkLst>
        <pc:spChg chg="mod">
          <ac:chgData name="Eirik Eriksen Heen" userId="3e804305-1c07-417a-9ea8-d913585be88f" providerId="ADAL" clId="{1A8AB375-2C17-4B69-9219-6D6459D5CFE1}" dt="2026-10-01T09:00:01.635" v="530" actId="20577"/>
          <ac:spMkLst>
            <pc:docMk/>
            <pc:sldMk cId="3517877032" sldId="303"/>
            <ac:spMk id="2" creationId="{30B7E9A8-71BB-0F2C-6A71-D3059E73DCAF}"/>
          </ac:spMkLst>
        </pc:spChg>
        <pc:spChg chg="mod">
          <ac:chgData name="Eirik Eriksen Heen" userId="3e804305-1c07-417a-9ea8-d913585be88f" providerId="ADAL" clId="{1A8AB375-2C17-4B69-9219-6D6459D5CFE1}" dt="2026-10-01T09:00:10.198" v="533" actId="14100"/>
          <ac:spMkLst>
            <pc:docMk/>
            <pc:sldMk cId="3517877032" sldId="303"/>
            <ac:spMk id="7" creationId="{B2DC9FAD-EFDA-6253-A0B1-2D6AAB3A4895}"/>
          </ac:spMkLst>
        </pc:spChg>
      </pc:sldChg>
      <pc:sldChg chg="add">
        <pc:chgData name="Eirik Eriksen Heen" userId="3e804305-1c07-417a-9ea8-d913585be88f" providerId="ADAL" clId="{1A8AB375-2C17-4B69-9219-6D6459D5CFE1}" dt="2026-10-01T09:00:16.300" v="534"/>
        <pc:sldMkLst>
          <pc:docMk/>
          <pc:sldMk cId="1402608281" sldId="304"/>
        </pc:sldMkLst>
      </pc:sldChg>
      <pc:sldChg chg="add mod modShow">
        <pc:chgData name="Eirik Eriksen Heen" userId="3e804305-1c07-417a-9ea8-d913585be88f" providerId="ADAL" clId="{1A8AB375-2C17-4B69-9219-6D6459D5CFE1}" dt="2026-10-04T19:58:21.335" v="696" actId="729"/>
        <pc:sldMkLst>
          <pc:docMk/>
          <pc:sldMk cId="1689788914" sldId="4802"/>
        </pc:sldMkLst>
      </pc:sldChg>
      <pc:sldChg chg="add">
        <pc:chgData name="Eirik Eriksen Heen" userId="3e804305-1c07-417a-9ea8-d913585be88f" providerId="ADAL" clId="{1A8AB375-2C17-4B69-9219-6D6459D5CFE1}" dt="2026-10-01T10:50:29.204" v="578"/>
        <pc:sldMkLst>
          <pc:docMk/>
          <pc:sldMk cId="614818335" sldId="4803"/>
        </pc:sldMkLst>
      </pc:sldChg>
      <pc:sldChg chg="add modAnim">
        <pc:chgData name="Eirik Eriksen Heen" userId="3e804305-1c07-417a-9ea8-d913585be88f" providerId="ADAL" clId="{1A8AB375-2C17-4B69-9219-6D6459D5CFE1}" dt="2026-10-01T11:07:15.069" v="601"/>
        <pc:sldMkLst>
          <pc:docMk/>
          <pc:sldMk cId="117038690" sldId="4805"/>
        </pc:sldMkLst>
      </pc:sldChg>
      <pc:sldChg chg="add">
        <pc:chgData name="Eirik Eriksen Heen" userId="3e804305-1c07-417a-9ea8-d913585be88f" providerId="ADAL" clId="{1A8AB375-2C17-4B69-9219-6D6459D5CFE1}" dt="2026-10-01T10:50:29.204" v="578"/>
        <pc:sldMkLst>
          <pc:docMk/>
          <pc:sldMk cId="901084678" sldId="4807"/>
        </pc:sldMkLst>
      </pc:sldChg>
      <pc:sldChg chg="add">
        <pc:chgData name="Eirik Eriksen Heen" userId="3e804305-1c07-417a-9ea8-d913585be88f" providerId="ADAL" clId="{1A8AB375-2C17-4B69-9219-6D6459D5CFE1}" dt="2026-10-01T10:50:29.204" v="578"/>
        <pc:sldMkLst>
          <pc:docMk/>
          <pc:sldMk cId="1077021847" sldId="4808"/>
        </pc:sldMkLst>
      </pc:sldChg>
      <pc:sldChg chg="addSp delSp modSp add mod ord">
        <pc:chgData name="Eirik Eriksen Heen" userId="3e804305-1c07-417a-9ea8-d913585be88f" providerId="ADAL" clId="{1A8AB375-2C17-4B69-9219-6D6459D5CFE1}" dt="2026-10-04T19:59:49.464" v="717" actId="14100"/>
        <pc:sldMkLst>
          <pc:docMk/>
          <pc:sldMk cId="3908028661" sldId="4809"/>
        </pc:sldMkLst>
        <pc:spChg chg="add mod">
          <ac:chgData name="Eirik Eriksen Heen" userId="3e804305-1c07-417a-9ea8-d913585be88f" providerId="ADAL" clId="{1A8AB375-2C17-4B69-9219-6D6459D5CFE1}" dt="2026-10-04T19:59:35.065" v="712" actId="1076"/>
          <ac:spMkLst>
            <pc:docMk/>
            <pc:sldMk cId="3908028661" sldId="4809"/>
            <ac:spMk id="15" creationId="{9D47DB24-1BB6-961B-849B-06FE0D5E7956}"/>
          </ac:spMkLst>
        </pc:spChg>
        <pc:spChg chg="mod">
          <ac:chgData name="Eirik Eriksen Heen" userId="3e804305-1c07-417a-9ea8-d913585be88f" providerId="ADAL" clId="{1A8AB375-2C17-4B69-9219-6D6459D5CFE1}" dt="2026-10-04T19:59:49.464" v="717" actId="14100"/>
          <ac:spMkLst>
            <pc:docMk/>
            <pc:sldMk cId="3908028661" sldId="4809"/>
            <ac:spMk id="25" creationId="{ACDEFE9C-A661-D4A5-3253-EE988BFAE86F}"/>
          </ac:spMkLst>
        </pc:spChg>
        <pc:spChg chg="del">
          <ac:chgData name="Eirik Eriksen Heen" userId="3e804305-1c07-417a-9ea8-d913585be88f" providerId="ADAL" clId="{1A8AB375-2C17-4B69-9219-6D6459D5CFE1}" dt="2026-10-04T19:58:45.487" v="699" actId="478"/>
          <ac:spMkLst>
            <pc:docMk/>
            <pc:sldMk cId="3908028661" sldId="4809"/>
            <ac:spMk id="26" creationId="{900B963B-E60B-9A5C-7C16-B3FA0B7774CD}"/>
          </ac:spMkLst>
        </pc:spChg>
        <pc:spChg chg="del">
          <ac:chgData name="Eirik Eriksen Heen" userId="3e804305-1c07-417a-9ea8-d913585be88f" providerId="ADAL" clId="{1A8AB375-2C17-4B69-9219-6D6459D5CFE1}" dt="2026-10-04T19:58:43.948" v="698" actId="478"/>
          <ac:spMkLst>
            <pc:docMk/>
            <pc:sldMk cId="3908028661" sldId="4809"/>
            <ac:spMk id="27" creationId="{8300FADF-1A5A-F11C-1D64-5BC8BCDBBA63}"/>
          </ac:spMkLst>
        </pc:spChg>
      </pc:sldChg>
    </pc:docChg>
  </pc:docChgLst>
  <pc:docChgLst>
    <pc:chgData name="Eirik Eriksen Heen" userId="3e804305-1c07-417a-9ea8-d913585be88f" providerId="ADAL" clId="{86A7CD6A-BADF-46B5-A0EB-3EAA83991659}"/>
    <pc:docChg chg="undo custSel addSld delSld modSld sldOrd">
      <pc:chgData name="Eirik Eriksen Heen" userId="3e804305-1c07-417a-9ea8-d913585be88f" providerId="ADAL" clId="{86A7CD6A-BADF-46B5-A0EB-3EAA83991659}" dt="2026-10-05T07:45:12.993" v="150" actId="1076"/>
      <pc:docMkLst>
        <pc:docMk/>
      </pc:docMkLst>
      <pc:sldChg chg="del">
        <pc:chgData name="Eirik Eriksen Heen" userId="3e804305-1c07-417a-9ea8-d913585be88f" providerId="ADAL" clId="{86A7CD6A-BADF-46B5-A0EB-3EAA83991659}" dt="2026-10-05T07:39:07.107" v="128" actId="2696"/>
        <pc:sldMkLst>
          <pc:docMk/>
          <pc:sldMk cId="33779180" sldId="278"/>
        </pc:sldMkLst>
      </pc:sldChg>
      <pc:sldChg chg="modSp mod">
        <pc:chgData name="Eirik Eriksen Heen" userId="3e804305-1c07-417a-9ea8-d913585be88f" providerId="ADAL" clId="{86A7CD6A-BADF-46B5-A0EB-3EAA83991659}" dt="2026-10-05T07:42:26.557" v="144" actId="14100"/>
        <pc:sldMkLst>
          <pc:docMk/>
          <pc:sldMk cId="2732080540" sldId="279"/>
        </pc:sldMkLst>
        <pc:spChg chg="mod">
          <ac:chgData name="Eirik Eriksen Heen" userId="3e804305-1c07-417a-9ea8-d913585be88f" providerId="ADAL" clId="{86A7CD6A-BADF-46B5-A0EB-3EAA83991659}" dt="2026-10-05T07:41:38.097" v="136"/>
          <ac:spMkLst>
            <pc:docMk/>
            <pc:sldMk cId="2732080540" sldId="279"/>
            <ac:spMk id="11" creationId="{65B715BA-180F-3E11-8C06-EFE8230B4F38}"/>
          </ac:spMkLst>
        </pc:spChg>
        <pc:spChg chg="mod">
          <ac:chgData name="Eirik Eriksen Heen" userId="3e804305-1c07-417a-9ea8-d913585be88f" providerId="ADAL" clId="{86A7CD6A-BADF-46B5-A0EB-3EAA83991659}" dt="2026-10-05T07:41:50.753" v="138" actId="14100"/>
          <ac:spMkLst>
            <pc:docMk/>
            <pc:sldMk cId="2732080540" sldId="279"/>
            <ac:spMk id="17" creationId="{E32B929C-19BF-F107-3307-B1F5C05158BD}"/>
          </ac:spMkLst>
        </pc:spChg>
        <pc:spChg chg="mod">
          <ac:chgData name="Eirik Eriksen Heen" userId="3e804305-1c07-417a-9ea8-d913585be88f" providerId="ADAL" clId="{86A7CD6A-BADF-46B5-A0EB-3EAA83991659}" dt="2026-10-05T07:42:00.229" v="140" actId="14100"/>
          <ac:spMkLst>
            <pc:docMk/>
            <pc:sldMk cId="2732080540" sldId="279"/>
            <ac:spMk id="23" creationId="{B6EDC60E-F432-CE96-533B-92157FBA624B}"/>
          </ac:spMkLst>
        </pc:spChg>
        <pc:spChg chg="mod">
          <ac:chgData name="Eirik Eriksen Heen" userId="3e804305-1c07-417a-9ea8-d913585be88f" providerId="ADAL" clId="{86A7CD6A-BADF-46B5-A0EB-3EAA83991659}" dt="2026-10-05T07:42:26.557" v="144" actId="14100"/>
          <ac:spMkLst>
            <pc:docMk/>
            <pc:sldMk cId="2732080540" sldId="279"/>
            <ac:spMk id="27" creationId="{E55D16C9-A9B4-E647-EE95-E25B271AA969}"/>
          </ac:spMkLst>
        </pc:spChg>
        <pc:spChg chg="mod">
          <ac:chgData name="Eirik Eriksen Heen" userId="3e804305-1c07-417a-9ea8-d913585be88f" providerId="ADAL" clId="{86A7CD6A-BADF-46B5-A0EB-3EAA83991659}" dt="2026-10-05T07:42:08.325" v="142" actId="14100"/>
          <ac:spMkLst>
            <pc:docMk/>
            <pc:sldMk cId="2732080540" sldId="279"/>
            <ac:spMk id="29" creationId="{1A759FBC-6216-5948-5B3F-BD4FDBDDCAE9}"/>
          </ac:spMkLst>
        </pc:spChg>
      </pc:sldChg>
      <pc:sldChg chg="modSp mod">
        <pc:chgData name="Eirik Eriksen Heen" userId="3e804305-1c07-417a-9ea8-d913585be88f" providerId="ADAL" clId="{86A7CD6A-BADF-46B5-A0EB-3EAA83991659}" dt="2026-10-05T07:43:31.578" v="146" actId="14100"/>
        <pc:sldMkLst>
          <pc:docMk/>
          <pc:sldMk cId="742002787" sldId="282"/>
        </pc:sldMkLst>
        <pc:spChg chg="mod">
          <ac:chgData name="Eirik Eriksen Heen" userId="3e804305-1c07-417a-9ea8-d913585be88f" providerId="ADAL" clId="{86A7CD6A-BADF-46B5-A0EB-3EAA83991659}" dt="2026-10-05T07:43:31.578" v="146" actId="14100"/>
          <ac:spMkLst>
            <pc:docMk/>
            <pc:sldMk cId="742002787" sldId="282"/>
            <ac:spMk id="11" creationId="{24CCCE52-6670-E44F-3842-FA44CB681422}"/>
          </ac:spMkLst>
        </pc:spChg>
      </pc:sldChg>
      <pc:sldChg chg="modSp mod">
        <pc:chgData name="Eirik Eriksen Heen" userId="3e804305-1c07-417a-9ea8-d913585be88f" providerId="ADAL" clId="{86A7CD6A-BADF-46B5-A0EB-3EAA83991659}" dt="2026-10-05T07:45:12.993" v="150" actId="1076"/>
        <pc:sldMkLst>
          <pc:docMk/>
          <pc:sldMk cId="3498230307" sldId="286"/>
        </pc:sldMkLst>
        <pc:spChg chg="mod">
          <ac:chgData name="Eirik Eriksen Heen" userId="3e804305-1c07-417a-9ea8-d913585be88f" providerId="ADAL" clId="{86A7CD6A-BADF-46B5-A0EB-3EAA83991659}" dt="2026-10-05T07:45:12.993" v="150" actId="1076"/>
          <ac:spMkLst>
            <pc:docMk/>
            <pc:sldMk cId="3498230307" sldId="286"/>
            <ac:spMk id="11" creationId="{88027835-42D2-88D5-8B00-A8C86240308D}"/>
          </ac:spMkLst>
        </pc:spChg>
      </pc:sldChg>
      <pc:sldChg chg="add del">
        <pc:chgData name="Eirik Eriksen Heen" userId="3e804305-1c07-417a-9ea8-d913585be88f" providerId="ADAL" clId="{86A7CD6A-BADF-46B5-A0EB-3EAA83991659}" dt="2026-10-05T07:44:14.353" v="147" actId="2696"/>
        <pc:sldMkLst>
          <pc:docMk/>
          <pc:sldMk cId="1618210859" sldId="4788"/>
        </pc:sldMkLst>
      </pc:sldChg>
      <pc:sldChg chg="add">
        <pc:chgData name="Eirik Eriksen Heen" userId="3e804305-1c07-417a-9ea8-d913585be88f" providerId="ADAL" clId="{86A7CD6A-BADF-46B5-A0EB-3EAA83991659}" dt="2026-10-05T06:54:16.202" v="0"/>
        <pc:sldMkLst>
          <pc:docMk/>
          <pc:sldMk cId="3972211345" sldId="4790"/>
        </pc:sldMkLst>
      </pc:sldChg>
      <pc:sldChg chg="add">
        <pc:chgData name="Eirik Eriksen Heen" userId="3e804305-1c07-417a-9ea8-d913585be88f" providerId="ADAL" clId="{86A7CD6A-BADF-46B5-A0EB-3EAA83991659}" dt="2026-10-05T06:54:16.202" v="0"/>
        <pc:sldMkLst>
          <pc:docMk/>
          <pc:sldMk cId="3765088626" sldId="4791"/>
        </pc:sldMkLst>
      </pc:sldChg>
      <pc:sldChg chg="add">
        <pc:chgData name="Eirik Eriksen Heen" userId="3e804305-1c07-417a-9ea8-d913585be88f" providerId="ADAL" clId="{86A7CD6A-BADF-46B5-A0EB-3EAA83991659}" dt="2026-10-05T06:54:16.202" v="0"/>
        <pc:sldMkLst>
          <pc:docMk/>
          <pc:sldMk cId="93738066" sldId="4792"/>
        </pc:sldMkLst>
      </pc:sldChg>
      <pc:sldChg chg="modSp add mod">
        <pc:chgData name="Eirik Eriksen Heen" userId="3e804305-1c07-417a-9ea8-d913585be88f" providerId="ADAL" clId="{86A7CD6A-BADF-46B5-A0EB-3EAA83991659}" dt="2026-10-05T06:54:16.282" v="1" actId="27636"/>
        <pc:sldMkLst>
          <pc:docMk/>
          <pc:sldMk cId="524735858" sldId="4793"/>
        </pc:sldMkLst>
        <pc:spChg chg="mod">
          <ac:chgData name="Eirik Eriksen Heen" userId="3e804305-1c07-417a-9ea8-d913585be88f" providerId="ADAL" clId="{86A7CD6A-BADF-46B5-A0EB-3EAA83991659}" dt="2026-10-05T06:54:16.282" v="1" actId="27636"/>
          <ac:spMkLst>
            <pc:docMk/>
            <pc:sldMk cId="524735858" sldId="4793"/>
            <ac:spMk id="3" creationId="{A1DF7FAD-4E96-6DF5-16D3-EEF83764A947}"/>
          </ac:spMkLst>
        </pc:spChg>
      </pc:sldChg>
      <pc:sldChg chg="modSp add mod">
        <pc:chgData name="Eirik Eriksen Heen" userId="3e804305-1c07-417a-9ea8-d913585be88f" providerId="ADAL" clId="{86A7CD6A-BADF-46B5-A0EB-3EAA83991659}" dt="2026-10-05T06:54:16.291" v="2" actId="27636"/>
        <pc:sldMkLst>
          <pc:docMk/>
          <pc:sldMk cId="1090446415" sldId="4794"/>
        </pc:sldMkLst>
        <pc:spChg chg="mod">
          <ac:chgData name="Eirik Eriksen Heen" userId="3e804305-1c07-417a-9ea8-d913585be88f" providerId="ADAL" clId="{86A7CD6A-BADF-46B5-A0EB-3EAA83991659}" dt="2026-10-05T06:54:16.291" v="2" actId="27636"/>
          <ac:spMkLst>
            <pc:docMk/>
            <pc:sldMk cId="1090446415" sldId="4794"/>
            <ac:spMk id="3" creationId="{F69983B0-81E2-B1A7-EC0D-F6D87BB48D08}"/>
          </ac:spMkLst>
        </pc:spChg>
      </pc:sldChg>
      <pc:sldChg chg="add">
        <pc:chgData name="Eirik Eriksen Heen" userId="3e804305-1c07-417a-9ea8-d913585be88f" providerId="ADAL" clId="{86A7CD6A-BADF-46B5-A0EB-3EAA83991659}" dt="2026-10-05T06:54:16.202" v="0"/>
        <pc:sldMkLst>
          <pc:docMk/>
          <pc:sldMk cId="3837290161" sldId="4795"/>
        </pc:sldMkLst>
      </pc:sldChg>
      <pc:sldChg chg="add">
        <pc:chgData name="Eirik Eriksen Heen" userId="3e804305-1c07-417a-9ea8-d913585be88f" providerId="ADAL" clId="{86A7CD6A-BADF-46B5-A0EB-3EAA83991659}" dt="2026-10-05T06:54:16.202" v="0"/>
        <pc:sldMkLst>
          <pc:docMk/>
          <pc:sldMk cId="3310588199" sldId="4796"/>
        </pc:sldMkLst>
      </pc:sldChg>
      <pc:sldChg chg="addSp delSp modSp mod">
        <pc:chgData name="Eirik Eriksen Heen" userId="3e804305-1c07-417a-9ea8-d913585be88f" providerId="ADAL" clId="{86A7CD6A-BADF-46B5-A0EB-3EAA83991659}" dt="2026-10-05T07:20:53.510" v="114" actId="478"/>
        <pc:sldMkLst>
          <pc:docMk/>
          <pc:sldMk cId="614818335" sldId="4803"/>
        </pc:sldMkLst>
        <pc:spChg chg="add del">
          <ac:chgData name="Eirik Eriksen Heen" userId="3e804305-1c07-417a-9ea8-d913585be88f" providerId="ADAL" clId="{86A7CD6A-BADF-46B5-A0EB-3EAA83991659}" dt="2026-10-05T07:17:36.874" v="82" actId="22"/>
          <ac:spMkLst>
            <pc:docMk/>
            <pc:sldMk cId="614818335" sldId="4803"/>
            <ac:spMk id="15" creationId="{7384FB63-0CFA-C3E3-474F-112477481052}"/>
          </ac:spMkLst>
        </pc:spChg>
        <pc:spChg chg="del">
          <ac:chgData name="Eirik Eriksen Heen" userId="3e804305-1c07-417a-9ea8-d913585be88f" providerId="ADAL" clId="{86A7CD6A-BADF-46B5-A0EB-3EAA83991659}" dt="2026-10-05T07:20:53.510" v="114" actId="478"/>
          <ac:spMkLst>
            <pc:docMk/>
            <pc:sldMk cId="614818335" sldId="4803"/>
            <ac:spMk id="25" creationId="{79A7F758-C5D8-58B9-CE1D-A02ACD10F039}"/>
          </ac:spMkLst>
        </pc:spChg>
        <pc:spChg chg="mod">
          <ac:chgData name="Eirik Eriksen Heen" userId="3e804305-1c07-417a-9ea8-d913585be88f" providerId="ADAL" clId="{86A7CD6A-BADF-46B5-A0EB-3EAA83991659}" dt="2026-10-05T07:20:49.159" v="113" actId="14100"/>
          <ac:spMkLst>
            <pc:docMk/>
            <pc:sldMk cId="614818335" sldId="4803"/>
            <ac:spMk id="28" creationId="{F5367BC1-2D31-4530-8C48-AC16E02EFAEC}"/>
          </ac:spMkLst>
        </pc:spChg>
      </pc:sldChg>
      <pc:sldChg chg="modSp">
        <pc:chgData name="Eirik Eriksen Heen" userId="3e804305-1c07-417a-9ea8-d913585be88f" providerId="ADAL" clId="{86A7CD6A-BADF-46B5-A0EB-3EAA83991659}" dt="2026-10-05T07:21:21.024" v="118"/>
        <pc:sldMkLst>
          <pc:docMk/>
          <pc:sldMk cId="1077021847" sldId="4808"/>
        </pc:sldMkLst>
        <pc:spChg chg="mod">
          <ac:chgData name="Eirik Eriksen Heen" userId="3e804305-1c07-417a-9ea8-d913585be88f" providerId="ADAL" clId="{86A7CD6A-BADF-46B5-A0EB-3EAA83991659}" dt="2026-10-05T07:21:21.024" v="118"/>
          <ac:spMkLst>
            <pc:docMk/>
            <pc:sldMk cId="1077021847" sldId="4808"/>
            <ac:spMk id="45" creationId="{8CD947C0-CF5E-77F7-4231-5E884F3BB827}"/>
          </ac:spMkLst>
        </pc:spChg>
        <pc:spChg chg="mod">
          <ac:chgData name="Eirik Eriksen Heen" userId="3e804305-1c07-417a-9ea8-d913585be88f" providerId="ADAL" clId="{86A7CD6A-BADF-46B5-A0EB-3EAA83991659}" dt="2026-10-05T07:21:11.782" v="116"/>
          <ac:spMkLst>
            <pc:docMk/>
            <pc:sldMk cId="1077021847" sldId="4808"/>
            <ac:spMk id="46" creationId="{E976DBAB-8E9B-4B9F-ADD8-04600C73D73D}"/>
          </ac:spMkLst>
        </pc:spChg>
        <pc:spChg chg="mod">
          <ac:chgData name="Eirik Eriksen Heen" userId="3e804305-1c07-417a-9ea8-d913585be88f" providerId="ADAL" clId="{86A7CD6A-BADF-46B5-A0EB-3EAA83991659}" dt="2026-10-05T07:21:16.936" v="117"/>
          <ac:spMkLst>
            <pc:docMk/>
            <pc:sldMk cId="1077021847" sldId="4808"/>
            <ac:spMk id="47" creationId="{D8AE2ABC-AFE2-4D5D-A19B-096A5B8B82EE}"/>
          </ac:spMkLst>
        </pc:spChg>
      </pc:sldChg>
      <pc:sldChg chg="delSp modSp mod">
        <pc:chgData name="Eirik Eriksen Heen" userId="3e804305-1c07-417a-9ea8-d913585be88f" providerId="ADAL" clId="{86A7CD6A-BADF-46B5-A0EB-3EAA83991659}" dt="2026-10-05T07:20:57.404" v="115" actId="478"/>
        <pc:sldMkLst>
          <pc:docMk/>
          <pc:sldMk cId="3908028661" sldId="4809"/>
        </pc:sldMkLst>
        <pc:spChg chg="del">
          <ac:chgData name="Eirik Eriksen Heen" userId="3e804305-1c07-417a-9ea8-d913585be88f" providerId="ADAL" clId="{86A7CD6A-BADF-46B5-A0EB-3EAA83991659}" dt="2026-10-05T07:13:20.380" v="4" actId="478"/>
          <ac:spMkLst>
            <pc:docMk/>
            <pc:sldMk cId="3908028661" sldId="4809"/>
            <ac:spMk id="15" creationId="{9D47DB24-1BB6-961B-849B-06FE0D5E7956}"/>
          </ac:spMkLst>
        </pc:spChg>
        <pc:spChg chg="del">
          <ac:chgData name="Eirik Eriksen Heen" userId="3e804305-1c07-417a-9ea8-d913585be88f" providerId="ADAL" clId="{86A7CD6A-BADF-46B5-A0EB-3EAA83991659}" dt="2026-10-05T07:20:57.404" v="115" actId="478"/>
          <ac:spMkLst>
            <pc:docMk/>
            <pc:sldMk cId="3908028661" sldId="4809"/>
            <ac:spMk id="25" creationId="{ACDEFE9C-A661-D4A5-3253-EE988BFAE86F}"/>
          </ac:spMkLst>
        </pc:spChg>
        <pc:spChg chg="mod">
          <ac:chgData name="Eirik Eriksen Heen" userId="3e804305-1c07-417a-9ea8-d913585be88f" providerId="ADAL" clId="{86A7CD6A-BADF-46B5-A0EB-3EAA83991659}" dt="2026-10-05T07:17:24.130" v="80" actId="14100"/>
          <ac:spMkLst>
            <pc:docMk/>
            <pc:sldMk cId="3908028661" sldId="4809"/>
            <ac:spMk id="26" creationId="{FFA6C226-4FF6-4474-9F3D-F233BB6048B3}"/>
          </ac:spMkLst>
        </pc:spChg>
      </pc:sldChg>
      <pc:sldChg chg="add ord">
        <pc:chgData name="Eirik Eriksen Heen" userId="3e804305-1c07-417a-9ea8-d913585be88f" providerId="ADAL" clId="{86A7CD6A-BADF-46B5-A0EB-3EAA83991659}" dt="2026-10-05T07:34:51.558" v="120"/>
        <pc:sldMkLst>
          <pc:docMk/>
          <pc:sldMk cId="0" sldId="4810"/>
        </pc:sldMkLst>
      </pc:sldChg>
      <pc:sldChg chg="addSp modSp add mod ord">
        <pc:chgData name="Eirik Eriksen Heen" userId="3e804305-1c07-417a-9ea8-d913585be88f" providerId="ADAL" clId="{86A7CD6A-BADF-46B5-A0EB-3EAA83991659}" dt="2026-10-05T07:41:09.869" v="135" actId="14100"/>
        <pc:sldMkLst>
          <pc:docMk/>
          <pc:sldMk cId="0" sldId="4811"/>
        </pc:sldMkLst>
        <pc:spChg chg="mod">
          <ac:chgData name="Eirik Eriksen Heen" userId="3e804305-1c07-417a-9ea8-d913585be88f" providerId="ADAL" clId="{86A7CD6A-BADF-46B5-A0EB-3EAA83991659}" dt="2026-10-05T07:36:14.803" v="126" actId="20577"/>
          <ac:spMkLst>
            <pc:docMk/>
            <pc:sldMk cId="0" sldId="4811"/>
            <ac:spMk id="2" creationId="{00000000-0000-0000-0000-000000000000}"/>
          </ac:spMkLst>
        </pc:spChg>
        <pc:spChg chg="add mod">
          <ac:chgData name="Eirik Eriksen Heen" userId="3e804305-1c07-417a-9ea8-d913585be88f" providerId="ADAL" clId="{86A7CD6A-BADF-46B5-A0EB-3EAA83991659}" dt="2026-10-05T07:41:09.869" v="135" actId="14100"/>
          <ac:spMkLst>
            <pc:docMk/>
            <pc:sldMk cId="0" sldId="4811"/>
            <ac:spMk id="5" creationId="{81BDBBCC-8FC8-D81E-26D3-FE9C24C5D6A5}"/>
          </ac:spMkLst>
        </pc:spChg>
        <pc:spChg chg="add mod">
          <ac:chgData name="Eirik Eriksen Heen" userId="3e804305-1c07-417a-9ea8-d913585be88f" providerId="ADAL" clId="{86A7CD6A-BADF-46B5-A0EB-3EAA83991659}" dt="2026-10-05T07:41:09.869" v="135" actId="14100"/>
          <ac:spMkLst>
            <pc:docMk/>
            <pc:sldMk cId="0" sldId="4811"/>
            <ac:spMk id="7" creationId="{73B6198C-30CB-5F6F-304E-42A6ABE495C8}"/>
          </ac:spMkLst>
        </pc:spChg>
      </pc:sldChg>
      <pc:sldChg chg="add ord">
        <pc:chgData name="Eirik Eriksen Heen" userId="3e804305-1c07-417a-9ea8-d913585be88f" providerId="ADAL" clId="{86A7CD6A-BADF-46B5-A0EB-3EAA83991659}" dt="2026-10-05T07:44:29.712" v="149"/>
        <pc:sldMkLst>
          <pc:docMk/>
          <pc:sldMk cId="0" sldId="4812"/>
        </pc:sldMkLst>
      </pc:sldChg>
      <pc:sldChg chg="add ord">
        <pc:chgData name="Eirik Eriksen Heen" userId="3e804305-1c07-417a-9ea8-d913585be88f" providerId="ADAL" clId="{86A7CD6A-BADF-46B5-A0EB-3EAA83991659}" dt="2026-10-05T07:44:29.712" v="149"/>
        <pc:sldMkLst>
          <pc:docMk/>
          <pc:sldMk cId="0" sldId="4813"/>
        </pc:sldMkLst>
      </pc:sldChg>
      <pc:sldChg chg="add">
        <pc:chgData name="Eirik Eriksen Heen" userId="3e804305-1c07-417a-9ea8-d913585be88f" providerId="ADAL" clId="{86A7CD6A-BADF-46B5-A0EB-3EAA83991659}" dt="2026-10-05T06:54:16.202" v="0"/>
        <pc:sldMkLst>
          <pc:docMk/>
          <pc:sldMk cId="0" sldId="4814"/>
        </pc:sldMkLst>
      </pc:sldChg>
      <pc:sldChg chg="add">
        <pc:chgData name="Eirik Eriksen Heen" userId="3e804305-1c07-417a-9ea8-d913585be88f" providerId="ADAL" clId="{86A7CD6A-BADF-46B5-A0EB-3EAA83991659}" dt="2026-10-05T06:54:16.202" v="0"/>
        <pc:sldMkLst>
          <pc:docMk/>
          <pc:sldMk cId="0" sldId="4815"/>
        </pc:sldMkLst>
      </pc:sldChg>
      <pc:sldChg chg="add">
        <pc:chgData name="Eirik Eriksen Heen" userId="3e804305-1c07-417a-9ea8-d913585be88f" providerId="ADAL" clId="{86A7CD6A-BADF-46B5-A0EB-3EAA83991659}" dt="2026-10-05T06:54:16.202" v="0"/>
        <pc:sldMkLst>
          <pc:docMk/>
          <pc:sldMk cId="0" sldId="4816"/>
        </pc:sldMkLst>
      </pc:sldChg>
      <pc:sldChg chg="add">
        <pc:chgData name="Eirik Eriksen Heen" userId="3e804305-1c07-417a-9ea8-d913585be88f" providerId="ADAL" clId="{86A7CD6A-BADF-46B5-A0EB-3EAA83991659}" dt="2026-10-05T06:54:16.202" v="0"/>
        <pc:sldMkLst>
          <pc:docMk/>
          <pc:sldMk cId="0" sldId="4817"/>
        </pc:sldMkLst>
      </pc:sldChg>
      <pc:sldChg chg="add">
        <pc:chgData name="Eirik Eriksen Heen" userId="3e804305-1c07-417a-9ea8-d913585be88f" providerId="ADAL" clId="{86A7CD6A-BADF-46B5-A0EB-3EAA83991659}" dt="2026-10-05T06:54:16.202" v="0"/>
        <pc:sldMkLst>
          <pc:docMk/>
          <pc:sldMk cId="0" sldId="4818"/>
        </pc:sldMkLst>
      </pc:sldChg>
      <pc:sldChg chg="add">
        <pc:chgData name="Eirik Eriksen Heen" userId="3e804305-1c07-417a-9ea8-d913585be88f" providerId="ADAL" clId="{86A7CD6A-BADF-46B5-A0EB-3EAA83991659}" dt="2026-10-05T06:54:16.202" v="0"/>
        <pc:sldMkLst>
          <pc:docMk/>
          <pc:sldMk cId="0" sldId="4819"/>
        </pc:sldMkLst>
      </pc:sldChg>
      <pc:sldChg chg="add">
        <pc:chgData name="Eirik Eriksen Heen" userId="3e804305-1c07-417a-9ea8-d913585be88f" providerId="ADAL" clId="{86A7CD6A-BADF-46B5-A0EB-3EAA83991659}" dt="2026-10-05T06:54:16.202" v="0"/>
        <pc:sldMkLst>
          <pc:docMk/>
          <pc:sldMk cId="0" sldId="4820"/>
        </pc:sldMkLst>
      </pc:sldChg>
      <pc:sldChg chg="add">
        <pc:chgData name="Eirik Eriksen Heen" userId="3e804305-1c07-417a-9ea8-d913585be88f" providerId="ADAL" clId="{86A7CD6A-BADF-46B5-A0EB-3EAA83991659}" dt="2026-10-05T06:54:16.202" v="0"/>
        <pc:sldMkLst>
          <pc:docMk/>
          <pc:sldMk cId="0" sldId="4821"/>
        </pc:sldMkLst>
      </pc:sldChg>
      <pc:sldChg chg="add">
        <pc:chgData name="Eirik Eriksen Heen" userId="3e804305-1c07-417a-9ea8-d913585be88f" providerId="ADAL" clId="{86A7CD6A-BADF-46B5-A0EB-3EAA83991659}" dt="2026-10-05T07:39:04.910" v="127"/>
        <pc:sldMkLst>
          <pc:docMk/>
          <pc:sldMk cId="0" sldId="4822"/>
        </pc:sldMkLst>
      </pc:sldChg>
      <pc:sldChg chg="modSp add mod">
        <pc:chgData name="Eirik Eriksen Heen" userId="3e804305-1c07-417a-9ea8-d913585be88f" providerId="ADAL" clId="{86A7CD6A-BADF-46B5-A0EB-3EAA83991659}" dt="2026-10-05T07:39:50.610" v="131" actId="14100"/>
        <pc:sldMkLst>
          <pc:docMk/>
          <pc:sldMk cId="0" sldId="4823"/>
        </pc:sldMkLst>
        <pc:spChg chg="mod">
          <ac:chgData name="Eirik Eriksen Heen" userId="3e804305-1c07-417a-9ea8-d913585be88f" providerId="ADAL" clId="{86A7CD6A-BADF-46B5-A0EB-3EAA83991659}" dt="2026-10-05T07:39:50.610" v="131" actId="14100"/>
          <ac:spMkLst>
            <pc:docMk/>
            <pc:sldMk cId="0" sldId="4823"/>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C9E48-CE4F-448C-B576-219F3CD32911}" type="datetimeFigureOut">
              <a:rPr lang="en-GB" smtClean="0"/>
              <a:t>05/10/2026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AAEA7-5575-47AD-8C69-F7D1B98A0428}" type="slidenum">
              <a:rPr lang="en-GB" smtClean="0"/>
              <a:t>‹#›</a:t>
            </a:fld>
            <a:endParaRPr lang="en-GB"/>
          </a:p>
        </p:txBody>
      </p:sp>
    </p:spTree>
    <p:extLst>
      <p:ext uri="{BB962C8B-B14F-4D97-AF65-F5344CB8AC3E}">
        <p14:creationId xmlns:p14="http://schemas.microsoft.com/office/powerpoint/2010/main" val="2983604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Åpne med den hypotetiske metallforekomsten. Vi antar ingen nye funn, ingen gjenvinning og ingen substitutter. Be studentene velge 15/5, 10/10 eller 5/15 før modellen vises. Maks 4 minutter.</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1</a:t>
            </a:fld>
            <a:endParaRPr lang="en-GB"/>
          </a:p>
        </p:txBody>
      </p:sp>
    </p:spTree>
    <p:extLst>
      <p:ext uri="{BB962C8B-B14F-4D97-AF65-F5344CB8AC3E}">
        <p14:creationId xmlns:p14="http://schemas.microsoft.com/office/powerpoint/2010/main" val="1559093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Bruk lysbildet raskt. Presiser at fornybar ikke betyr at dagens uttak er irrelevant. Hovedskillet her er om ressursen fylles opp før neste periode.</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2</a:t>
            </a:fld>
            <a:endParaRPr lang="en-GB"/>
          </a:p>
        </p:txBody>
      </p:sp>
    </p:spTree>
    <p:extLst>
      <p:ext uri="{BB962C8B-B14F-4D97-AF65-F5344CB8AC3E}">
        <p14:creationId xmlns:p14="http://schemas.microsoft.com/office/powerpoint/2010/main" val="1806803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Fortell matbordhistorien muntlig. Bord A fylles opp før neste dag. Bord B inneholder alt som skal fordeles mellom dagene.</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3</a:t>
            </a:fld>
            <a:endParaRPr lang="en-GB"/>
          </a:p>
        </p:txBody>
      </p:sp>
    </p:spTree>
    <p:extLst>
      <p:ext uri="{BB962C8B-B14F-4D97-AF65-F5344CB8AC3E}">
        <p14:creationId xmlns:p14="http://schemas.microsoft.com/office/powerpoint/2010/main" val="2258731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 studentene svare kort: Ville dere spist alle seks lørdag? Knytt svarene til fallende marginal nytte og framtidig alternativkostnad. Vent med begrepet marginal brukerkostnad.</a:t>
            </a:r>
          </a:p>
        </p:txBody>
      </p:sp>
      <p:sp>
        <p:nvSpPr>
          <p:cNvPr id="4" name="Slide Number Placeholder 3"/>
          <p:cNvSpPr>
            <a:spLocks noGrp="1"/>
          </p:cNvSpPr>
          <p:nvPr>
            <p:ph type="sldNum" sz="quarter" idx="5"/>
          </p:nvPr>
        </p:nvSpPr>
        <p:spPr/>
        <p:txBody>
          <a:bodyPr/>
          <a:lstStyle/>
          <a:p>
            <a:fld id="{BA8AAEA7-5575-47AD-8C69-F7D1B98A0428}" type="slidenum">
              <a:rPr lang="en-GB" smtClean="0"/>
              <a:t>4</a:t>
            </a:fld>
            <a:endParaRPr lang="en-GB"/>
          </a:p>
        </p:txBody>
      </p:sp>
    </p:spTree>
    <p:extLst>
      <p:ext uri="{BB962C8B-B14F-4D97-AF65-F5344CB8AC3E}">
        <p14:creationId xmlns:p14="http://schemas.microsoft.com/office/powerpoint/2010/main" val="1474936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Forslag til tidsstyring. Oppgavene kan kortes inn dersom diskusjonen tar mer tid.</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8</a:t>
            </a:fld>
            <a:endParaRPr lang="en-GB"/>
          </a:p>
        </p:txBody>
      </p:sp>
    </p:spTree>
    <p:extLst>
      <p:ext uri="{BB962C8B-B14F-4D97-AF65-F5344CB8AC3E}">
        <p14:creationId xmlns:p14="http://schemas.microsoft.com/office/powerpoint/2010/main" val="1133319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Kontrollspørsmål: Er alle fornybare ressurser statiske? Nei. Fisk og skog er dynamiske når dagens uttak påvirker framtidig bestand.</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10</a:t>
            </a:fld>
            <a:endParaRPr lang="en-GB"/>
          </a:p>
        </p:txBody>
      </p:sp>
    </p:spTree>
    <p:extLst>
      <p:ext uri="{BB962C8B-B14F-4D97-AF65-F5344CB8AC3E}">
        <p14:creationId xmlns:p14="http://schemas.microsoft.com/office/powerpoint/2010/main" val="710157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Ved 15 enheter i periode 1 er marginal netto nytte null. Ved 5 enheter i periode 2 er den 4. En liten overføring fra periode 1 til periode 2 øker derfor samlet nettonytte.</a:t>
            </a:r>
            <a:endParaRPr lang="en-GB" dirty="0"/>
          </a:p>
        </p:txBody>
      </p:sp>
      <p:sp>
        <p:nvSpPr>
          <p:cNvPr id="4" name="Slide Number Placeholder 3"/>
          <p:cNvSpPr>
            <a:spLocks noGrp="1"/>
          </p:cNvSpPr>
          <p:nvPr>
            <p:ph type="sldNum" sz="quarter" idx="5"/>
          </p:nvPr>
        </p:nvSpPr>
        <p:spPr/>
        <p:txBody>
          <a:bodyPr/>
          <a:lstStyle/>
          <a:p>
            <a:fld id="{BA8AAEA7-5575-47AD-8C69-F7D1B98A0428}" type="slidenum">
              <a:rPr lang="en-GB" smtClean="0"/>
              <a:t>14</a:t>
            </a:fld>
            <a:endParaRPr lang="en-GB"/>
          </a:p>
        </p:txBody>
      </p:sp>
    </p:spTree>
    <p:extLst>
      <p:ext uri="{BB962C8B-B14F-4D97-AF65-F5344CB8AC3E}">
        <p14:creationId xmlns:p14="http://schemas.microsoft.com/office/powerpoint/2010/main" val="1550044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Start med </a:t>
            </a:r>
            <a:r>
              <a:rPr lang="en-GB" dirty="0" err="1"/>
              <a:t>samme</a:t>
            </a:r>
            <a:r>
              <a:rPr lang="en-GB" dirty="0"/>
              <a:t> </a:t>
            </a:r>
            <a:r>
              <a:rPr lang="en-GB" dirty="0" err="1"/>
              <a:t>mikroøkonomiske</a:t>
            </a:r>
            <a:r>
              <a:rPr lang="en-GB" dirty="0"/>
              <a:t> </a:t>
            </a:r>
            <a:r>
              <a:rPr lang="en-GB" dirty="0" err="1"/>
              <a:t>logikk</a:t>
            </a:r>
            <a:r>
              <a:rPr lang="en-GB" dirty="0"/>
              <a:t> </a:t>
            </a:r>
            <a:r>
              <a:rPr lang="en-GB" dirty="0" err="1"/>
              <a:t>som</a:t>
            </a:r>
            <a:r>
              <a:rPr lang="en-GB" dirty="0"/>
              <a:t> </a:t>
            </a:r>
            <a:r>
              <a:rPr lang="en-GB" dirty="0" err="1"/>
              <a:t>i</a:t>
            </a:r>
            <a:r>
              <a:rPr lang="en-GB" dirty="0"/>
              <a:t> </a:t>
            </a:r>
            <a:r>
              <a:rPr lang="en-GB" dirty="0" err="1"/>
              <a:t>én</a:t>
            </a:r>
            <a:r>
              <a:rPr lang="en-GB" dirty="0"/>
              <a:t> </a:t>
            </a:r>
            <a:r>
              <a:rPr lang="en-GB" dirty="0" err="1"/>
              <a:t>periode</a:t>
            </a:r>
            <a:r>
              <a:rPr lang="en-GB" dirty="0"/>
              <a:t>. Marginal </a:t>
            </a:r>
            <a:r>
              <a:rPr lang="en-GB" dirty="0" err="1"/>
              <a:t>netto</a:t>
            </a:r>
            <a:r>
              <a:rPr lang="en-GB" dirty="0"/>
              <a:t> </a:t>
            </a:r>
            <a:r>
              <a:rPr lang="en-GB" dirty="0" err="1"/>
              <a:t>nytte</a:t>
            </a:r>
            <a:r>
              <a:rPr lang="en-GB" dirty="0"/>
              <a:t> er </a:t>
            </a:r>
            <a:r>
              <a:rPr lang="en-GB" dirty="0" err="1"/>
              <a:t>etterspørsel</a:t>
            </a:r>
            <a:r>
              <a:rPr lang="en-GB" dirty="0"/>
              <a:t> minus </a:t>
            </a:r>
            <a:r>
              <a:rPr lang="en-GB" dirty="0" err="1"/>
              <a:t>marginalkostnad</a:t>
            </a:r>
            <a:r>
              <a:rPr lang="en-GB" dirty="0"/>
              <a:t>. </a:t>
            </a:r>
            <a:r>
              <a:rPr lang="en-GB" dirty="0" err="1"/>
              <a:t>Integralet</a:t>
            </a:r>
            <a:r>
              <a:rPr lang="en-GB" dirty="0"/>
              <a:t> </a:t>
            </a:r>
            <a:r>
              <a:rPr lang="en-GB" dirty="0" err="1"/>
              <a:t>gir</a:t>
            </a:r>
            <a:r>
              <a:rPr lang="en-GB" dirty="0"/>
              <a:t> </a:t>
            </a:r>
            <a:r>
              <a:rPr lang="en-GB" dirty="0" err="1"/>
              <a:t>netto</a:t>
            </a:r>
            <a:r>
              <a:rPr lang="en-GB" dirty="0"/>
              <a:t> </a:t>
            </a:r>
            <a:r>
              <a:rPr lang="en-GB" dirty="0" err="1"/>
              <a:t>nytte</a:t>
            </a:r>
            <a:r>
              <a:rPr lang="en-GB" dirty="0"/>
              <a:t>. Den </a:t>
            </a:r>
            <a:r>
              <a:rPr lang="en-GB" dirty="0" err="1"/>
              <a:t>eneste</a:t>
            </a:r>
            <a:r>
              <a:rPr lang="en-GB" dirty="0"/>
              <a:t> nye </a:t>
            </a:r>
            <a:r>
              <a:rPr lang="en-GB" dirty="0" err="1"/>
              <a:t>delen</a:t>
            </a:r>
            <a:r>
              <a:rPr lang="en-GB" dirty="0"/>
              <a:t> er at </a:t>
            </a:r>
            <a:r>
              <a:rPr lang="en-GB" dirty="0" err="1"/>
              <a:t>nytten</a:t>
            </a:r>
            <a:r>
              <a:rPr lang="en-GB" dirty="0"/>
              <a:t> </a:t>
            </a:r>
            <a:r>
              <a:rPr lang="en-GB" dirty="0" err="1"/>
              <a:t>i</a:t>
            </a:r>
            <a:r>
              <a:rPr lang="en-GB" dirty="0"/>
              <a:t> </a:t>
            </a:r>
            <a:r>
              <a:rPr lang="en-GB" dirty="0" err="1"/>
              <a:t>periode</a:t>
            </a:r>
            <a:r>
              <a:rPr lang="en-GB" dirty="0"/>
              <a:t> 2 </a:t>
            </a:r>
            <a:r>
              <a:rPr lang="en-GB" dirty="0" err="1"/>
              <a:t>diskonteres</a:t>
            </a:r>
            <a:r>
              <a:rPr lang="en-GB" dirty="0"/>
              <a:t> </a:t>
            </a:r>
            <a:r>
              <a:rPr lang="en-GB" dirty="0" err="1"/>
              <a:t>og</a:t>
            </a:r>
            <a:r>
              <a:rPr lang="en-GB" dirty="0"/>
              <a:t> at </a:t>
            </a:r>
            <a:r>
              <a:rPr lang="en-GB" dirty="0" err="1"/>
              <a:t>lageret</a:t>
            </a:r>
            <a:r>
              <a:rPr lang="en-GB" dirty="0"/>
              <a:t> binder </a:t>
            </a:r>
            <a:r>
              <a:rPr lang="en-GB" dirty="0" err="1"/>
              <a:t>periodene</a:t>
            </a:r>
            <a:r>
              <a:rPr lang="en-GB" dirty="0"/>
              <a:t> </a:t>
            </a:r>
            <a:r>
              <a:rPr lang="en-GB" dirty="0" err="1"/>
              <a:t>sammen</a:t>
            </a:r>
            <a:r>
              <a:rPr lang="en-GB" dirty="0"/>
              <a:t>.</a:t>
            </a:r>
          </a:p>
        </p:txBody>
      </p:sp>
      <p:sp>
        <p:nvSpPr>
          <p:cNvPr id="4" name="Slide Number Placeholder 3"/>
          <p:cNvSpPr>
            <a:spLocks noGrp="1"/>
          </p:cNvSpPr>
          <p:nvPr>
            <p:ph type="sldNum" sz="quarter" idx="5"/>
          </p:nvPr>
        </p:nvSpPr>
        <p:spPr/>
        <p:txBody>
          <a:bodyPr/>
          <a:lstStyle/>
          <a:p>
            <a:fld id="{BA8AAEA7-5575-47AD-8C69-F7D1B98A0428}" type="slidenum">
              <a:rPr lang="en-GB" smtClean="0"/>
              <a:t>16</a:t>
            </a:fld>
            <a:endParaRPr lang="en-GB"/>
          </a:p>
        </p:txBody>
      </p:sp>
    </p:spTree>
    <p:extLst>
      <p:ext uri="{BB962C8B-B14F-4D97-AF65-F5344CB8AC3E}">
        <p14:creationId xmlns:p14="http://schemas.microsoft.com/office/powerpoint/2010/main" val="3911422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5276-B3CD-DCED-10E3-45F3EBA68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3136D-0C6C-81AD-E1FA-F635792529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A7926-F2BE-8CB8-4A75-42F6B30285A4}"/>
              </a:ext>
            </a:extLst>
          </p:cNvPr>
          <p:cNvSpPr>
            <a:spLocks noGrp="1"/>
          </p:cNvSpPr>
          <p:nvPr>
            <p:ph type="body" idx="1"/>
          </p:nvPr>
        </p:nvSpPr>
        <p:spPr/>
        <p:txBody>
          <a:bodyPr/>
          <a:lstStyle/>
          <a:p>
            <a:r>
              <a:rPr lang="en-GB"/>
              <a:t>Denne siden er bevisst nesten tom. Eksporter til PDF og skriv direkte på siden i tegne-/notatappen på iPad.</a:t>
            </a:r>
          </a:p>
        </p:txBody>
      </p:sp>
      <p:sp>
        <p:nvSpPr>
          <p:cNvPr id="4" name="Slide Number Placeholder 3">
            <a:extLst>
              <a:ext uri="{FF2B5EF4-FFF2-40B4-BE49-F238E27FC236}">
                <a16:creationId xmlns:a16="http://schemas.microsoft.com/office/drawing/2014/main" id="{434710AD-4551-460E-1414-EEE7FB5B5A65}"/>
              </a:ext>
            </a:extLst>
          </p:cNvPr>
          <p:cNvSpPr>
            <a:spLocks noGrp="1"/>
          </p:cNvSpPr>
          <p:nvPr>
            <p:ph type="sldNum" sz="quarter" idx="5"/>
          </p:nvPr>
        </p:nvSpPr>
        <p:spPr/>
        <p:txBody>
          <a:bodyPr/>
          <a:lstStyle/>
          <a:p>
            <a:fld id="{BA8AAEA7-5575-47AD-8C69-F7D1B98A0428}" type="slidenum">
              <a:rPr lang="en-GB" smtClean="0"/>
              <a:t>17</a:t>
            </a:fld>
            <a:endParaRPr lang="en-GB"/>
          </a:p>
        </p:txBody>
      </p:sp>
    </p:spTree>
    <p:extLst>
      <p:ext uri="{BB962C8B-B14F-4D97-AF65-F5344CB8AC3E}">
        <p14:creationId xmlns:p14="http://schemas.microsoft.com/office/powerpoint/2010/main" val="3348095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860FA-9615-31AF-D5A5-354D8696E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61E27-8358-AA73-D01B-54AF06C38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6D48B-6E3E-0DD0-C633-B4E6C3F2CC8E}"/>
              </a:ext>
            </a:extLst>
          </p:cNvPr>
          <p:cNvSpPr>
            <a:spLocks noGrp="1"/>
          </p:cNvSpPr>
          <p:nvPr>
            <p:ph type="body" idx="1"/>
          </p:nvPr>
        </p:nvSpPr>
        <p:spPr/>
        <p:txBody>
          <a:bodyPr/>
          <a:lstStyle/>
          <a:p>
            <a:r>
              <a:rPr lang="en-GB"/>
              <a:t>Denne siden er bevisst nesten tom. Eksporter til PDF og skriv direkte på siden i tegne-/notatappen på iPad.</a:t>
            </a:r>
          </a:p>
        </p:txBody>
      </p:sp>
      <p:sp>
        <p:nvSpPr>
          <p:cNvPr id="4" name="Slide Number Placeholder 3">
            <a:extLst>
              <a:ext uri="{FF2B5EF4-FFF2-40B4-BE49-F238E27FC236}">
                <a16:creationId xmlns:a16="http://schemas.microsoft.com/office/drawing/2014/main" id="{B4F35081-BC59-D2F0-1395-162020477B35}"/>
              </a:ext>
            </a:extLst>
          </p:cNvPr>
          <p:cNvSpPr>
            <a:spLocks noGrp="1"/>
          </p:cNvSpPr>
          <p:nvPr>
            <p:ph type="sldNum" sz="quarter" idx="5"/>
          </p:nvPr>
        </p:nvSpPr>
        <p:spPr/>
        <p:txBody>
          <a:bodyPr/>
          <a:lstStyle/>
          <a:p>
            <a:fld id="{BA8AAEA7-5575-47AD-8C69-F7D1B98A0428}" type="slidenum">
              <a:rPr lang="en-GB" smtClean="0"/>
              <a:t>18</a:t>
            </a:fld>
            <a:endParaRPr lang="en-GB"/>
          </a:p>
        </p:txBody>
      </p:sp>
    </p:spTree>
    <p:extLst>
      <p:ext uri="{BB962C8B-B14F-4D97-AF65-F5344CB8AC3E}">
        <p14:creationId xmlns:p14="http://schemas.microsoft.com/office/powerpoint/2010/main" val="828960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Knytt til standard mikroøkonomi: lambda er skyggeprisen på en restriksjon. Førsteordensbetingelsene sier at marginal netto nytte i periode 1 og diskontert marginal netto nytte i periode 2 begge må være lik skyggeverdien av lageret.</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19</a:t>
            </a:fld>
            <a:endParaRPr lang="en-GB"/>
          </a:p>
        </p:txBody>
      </p:sp>
    </p:spTree>
    <p:extLst>
      <p:ext uri="{BB962C8B-B14F-4D97-AF65-F5344CB8AC3E}">
        <p14:creationId xmlns:p14="http://schemas.microsoft.com/office/powerpoint/2010/main" val="2272631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Ved null rente får periodene lik vekt og løsningen blir 10 og 10. Ved 50 prosent rente teller framtidig netto nytte mindre i nåverdi, slik at uttaket flyttes mot periode 1. Lambda er 1,6 i periode 1-verdi. Knapphetsrenten i periode 2 er 2,4, altså 50 prosent høyere.</a:t>
            </a:r>
          </a:p>
        </p:txBody>
      </p:sp>
      <p:sp>
        <p:nvSpPr>
          <p:cNvPr id="4" name="Slide Number Placeholder 3"/>
          <p:cNvSpPr>
            <a:spLocks noGrp="1"/>
          </p:cNvSpPr>
          <p:nvPr>
            <p:ph type="sldNum" sz="quarter" idx="5"/>
          </p:nvPr>
        </p:nvSpPr>
        <p:spPr/>
        <p:txBody>
          <a:bodyPr/>
          <a:lstStyle/>
          <a:p>
            <a:fld id="{BA8AAEA7-5575-47AD-8C69-F7D1B98A0428}" type="slidenum">
              <a:rPr lang="en-GB" smtClean="0"/>
              <a:t>20</a:t>
            </a:fld>
            <a:endParaRPr lang="en-GB"/>
          </a:p>
        </p:txBody>
      </p:sp>
    </p:spTree>
    <p:extLst>
      <p:ext uri="{BB962C8B-B14F-4D97-AF65-F5344CB8AC3E}">
        <p14:creationId xmlns:p14="http://schemas.microsoft.com/office/powerpoint/2010/main" val="1911326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Periode 2 leses fra høyre. Når renten er null teller periodene likt, og kurvene krysser ved q1=q2=10.</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21</a:t>
            </a:fld>
            <a:endParaRPr lang="en-GB"/>
          </a:p>
        </p:txBody>
      </p:sp>
    </p:spTree>
    <p:extLst>
      <p:ext uri="{BB962C8B-B14F-4D97-AF65-F5344CB8AC3E}">
        <p14:creationId xmlns:p14="http://schemas.microsoft.com/office/powerpoint/2010/main" val="1570024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AFAE0-1A4F-C247-A74B-B9E2F4D82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04268-E527-38E2-8C80-3A9397282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77C11-49AD-FC1D-377B-7DCEC2E2C7AD}"/>
              </a:ext>
            </a:extLst>
          </p:cNvPr>
          <p:cNvSpPr>
            <a:spLocks noGrp="1"/>
          </p:cNvSpPr>
          <p:nvPr>
            <p:ph type="body" idx="1"/>
          </p:nvPr>
        </p:nvSpPr>
        <p:spPr/>
        <p:txBody>
          <a:bodyPr/>
          <a:lstStyle/>
          <a:p>
            <a:r>
              <a:rPr lang="nb-NO"/>
              <a:t>Når renten er 50 prosent, deles framtidig marginal netto nytte på 1,5. Skjæringspunktet flyttes til q1=11 og q2=9. Den grønne kurvens høyre endepunkt er 6/1,5=4.</a:t>
            </a:r>
            <a:endParaRPr lang="en-GB"/>
          </a:p>
        </p:txBody>
      </p:sp>
      <p:sp>
        <p:nvSpPr>
          <p:cNvPr id="4" name="Slide Number Placeholder 3">
            <a:extLst>
              <a:ext uri="{FF2B5EF4-FFF2-40B4-BE49-F238E27FC236}">
                <a16:creationId xmlns:a16="http://schemas.microsoft.com/office/drawing/2014/main" id="{A02377AF-9E28-D680-90C5-B2AA8F83ED02}"/>
              </a:ext>
            </a:extLst>
          </p:cNvPr>
          <p:cNvSpPr>
            <a:spLocks noGrp="1"/>
          </p:cNvSpPr>
          <p:nvPr>
            <p:ph type="sldNum" sz="quarter" idx="5"/>
          </p:nvPr>
        </p:nvSpPr>
        <p:spPr/>
        <p:txBody>
          <a:bodyPr/>
          <a:lstStyle/>
          <a:p>
            <a:fld id="{BA8AAEA7-5575-47AD-8C69-F7D1B98A0428}" type="slidenum">
              <a:rPr lang="en-GB" smtClean="0"/>
              <a:t>22</a:t>
            </a:fld>
            <a:endParaRPr lang="en-GB"/>
          </a:p>
        </p:txBody>
      </p:sp>
    </p:spTree>
    <p:extLst>
      <p:ext uri="{BB962C8B-B14F-4D97-AF65-F5344CB8AC3E}">
        <p14:creationId xmlns:p14="http://schemas.microsoft.com/office/powerpoint/2010/main" val="2846813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Arbeid to og to i 4 minutter. Forventet svar: q₁=q₂=10 og p₁=p₂=4.</a:t>
            </a:r>
          </a:p>
        </p:txBody>
      </p:sp>
      <p:sp>
        <p:nvSpPr>
          <p:cNvPr id="4" name="Slide Number Placeholder 3"/>
          <p:cNvSpPr>
            <a:spLocks noGrp="1"/>
          </p:cNvSpPr>
          <p:nvPr>
            <p:ph type="sldNum" sz="quarter" idx="5"/>
          </p:nvPr>
        </p:nvSpPr>
        <p:spPr/>
        <p:txBody>
          <a:bodyPr/>
          <a:lstStyle/>
          <a:p>
            <a:fld id="{BA8AAEA7-5575-47AD-8C69-F7D1B98A0428}" type="slidenum">
              <a:rPr lang="en-GB" smtClean="0"/>
              <a:t>23</a:t>
            </a:fld>
            <a:endParaRPr lang="en-GB"/>
          </a:p>
        </p:txBody>
      </p:sp>
    </p:spTree>
    <p:extLst>
      <p:ext uri="{BB962C8B-B14F-4D97-AF65-F5344CB8AC3E}">
        <p14:creationId xmlns:p14="http://schemas.microsoft.com/office/powerpoint/2010/main" val="1905171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Denne siden er bevisst nesten tom. Eksporter til PDF og skriv direkte på siden i tegne-/notatappen på iPad.</a:t>
            </a:r>
          </a:p>
        </p:txBody>
      </p:sp>
      <p:sp>
        <p:nvSpPr>
          <p:cNvPr id="4" name="Slide Number Placeholder 3"/>
          <p:cNvSpPr>
            <a:spLocks noGrp="1"/>
          </p:cNvSpPr>
          <p:nvPr>
            <p:ph type="sldNum" sz="quarter" idx="5"/>
          </p:nvPr>
        </p:nvSpPr>
        <p:spPr/>
        <p:txBody>
          <a:bodyPr/>
          <a:lstStyle/>
          <a:p>
            <a:fld id="{BA8AAEA7-5575-47AD-8C69-F7D1B98A0428}" type="slidenum">
              <a:rPr lang="en-GB" smtClean="0"/>
              <a:t>24</a:t>
            </a:fld>
            <a:endParaRPr lang="en-GB"/>
          </a:p>
        </p:txBody>
      </p:sp>
    </p:spTree>
    <p:extLst>
      <p:ext uri="{BB962C8B-B14F-4D97-AF65-F5344CB8AC3E}">
        <p14:creationId xmlns:p14="http://schemas.microsoft.com/office/powerpoint/2010/main" val="4180242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Tidsbruk: 7 minutter. Forventet svar: q₁=10,238, q₂=9,762, p₁=3,905 og p₂=4,095.</a:t>
            </a:r>
          </a:p>
        </p:txBody>
      </p:sp>
      <p:sp>
        <p:nvSpPr>
          <p:cNvPr id="4" name="Slide Number Placeholder 3"/>
          <p:cNvSpPr>
            <a:spLocks noGrp="1"/>
          </p:cNvSpPr>
          <p:nvPr>
            <p:ph type="sldNum" sz="quarter" idx="5"/>
          </p:nvPr>
        </p:nvSpPr>
        <p:spPr/>
        <p:txBody>
          <a:bodyPr/>
          <a:lstStyle/>
          <a:p>
            <a:fld id="{BA8AAEA7-5575-47AD-8C69-F7D1B98A0428}" type="slidenum">
              <a:rPr lang="en-GB" smtClean="0"/>
              <a:t>26</a:t>
            </a:fld>
            <a:endParaRPr lang="en-GB"/>
          </a:p>
        </p:txBody>
      </p:sp>
    </p:spTree>
    <p:extLst>
      <p:ext uri="{BB962C8B-B14F-4D97-AF65-F5344CB8AC3E}">
        <p14:creationId xmlns:p14="http://schemas.microsoft.com/office/powerpoint/2010/main" val="1833270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Denne siden er bevisst nesten tom. Eksporter til PDF og skriv direkte på siden i tegne-/notatappen på iPad.</a:t>
            </a:r>
          </a:p>
        </p:txBody>
      </p:sp>
      <p:sp>
        <p:nvSpPr>
          <p:cNvPr id="4" name="Slide Number Placeholder 3"/>
          <p:cNvSpPr>
            <a:spLocks noGrp="1"/>
          </p:cNvSpPr>
          <p:nvPr>
            <p:ph type="sldNum" sz="quarter" idx="5"/>
          </p:nvPr>
        </p:nvSpPr>
        <p:spPr/>
        <p:txBody>
          <a:bodyPr/>
          <a:lstStyle/>
          <a:p>
            <a:fld id="{BA8AAEA7-5575-47AD-8C69-F7D1B98A0428}" type="slidenum">
              <a:rPr lang="en-GB" smtClean="0"/>
              <a:t>27</a:t>
            </a:fld>
            <a:endParaRPr lang="en-GB"/>
          </a:p>
        </p:txBody>
      </p:sp>
    </p:spTree>
    <p:extLst>
      <p:ext uri="{BB962C8B-B14F-4D97-AF65-F5344CB8AC3E}">
        <p14:creationId xmlns:p14="http://schemas.microsoft.com/office/powerpoint/2010/main" val="1270578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Lambda er skyggeprisen på lagerbegrensningen. Den måler verdien av å ha én ekstra enhet tilgjengelig.</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29</a:t>
            </a:fld>
            <a:endParaRPr lang="en-GB"/>
          </a:p>
        </p:txBody>
      </p:sp>
    </p:spTree>
    <p:extLst>
      <p:ext uri="{BB962C8B-B14F-4D97-AF65-F5344CB8AC3E}">
        <p14:creationId xmlns:p14="http://schemas.microsoft.com/office/powerpoint/2010/main" val="251759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Tegn gjerne markedene opp gradvis. Først etterspørsel og MC. Deretter prisen. Avstanden fra MC til pris er lambda, som er lik marginal brukerkostnad.</a:t>
            </a:r>
            <a:endParaRPr lang="en-GB"/>
          </a:p>
        </p:txBody>
      </p:sp>
      <p:sp>
        <p:nvSpPr>
          <p:cNvPr id="4" name="Slide Number Placeholder 3"/>
          <p:cNvSpPr>
            <a:spLocks noGrp="1"/>
          </p:cNvSpPr>
          <p:nvPr>
            <p:ph type="sldNum" sz="quarter" idx="5"/>
          </p:nvPr>
        </p:nvSpPr>
        <p:spPr/>
        <p:txBody>
          <a:bodyPr/>
          <a:lstStyle/>
          <a:p>
            <a:fld id="{BA8AAEA7-5575-47AD-8C69-F7D1B98A0428}" type="slidenum">
              <a:rPr lang="en-GB" smtClean="0"/>
              <a:t>30</a:t>
            </a:fld>
            <a:endParaRPr lang="en-GB"/>
          </a:p>
        </p:txBody>
      </p:sp>
    </p:spTree>
    <p:extLst>
      <p:ext uri="{BB962C8B-B14F-4D97-AF65-F5344CB8AC3E}">
        <p14:creationId xmlns:p14="http://schemas.microsoft.com/office/powerpoint/2010/main" val="571509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3FD4739E-9C57-4AE7-B15C-C6DCE23E91D8}" type="slidenum">
              <a:rPr lang="nb-NO" smtClean="0"/>
              <a:t>31</a:t>
            </a:fld>
            <a:endParaRPr lang="nb-NO"/>
          </a:p>
        </p:txBody>
      </p:sp>
    </p:spTree>
    <p:extLst>
      <p:ext uri="{BB962C8B-B14F-4D97-AF65-F5344CB8AC3E}">
        <p14:creationId xmlns:p14="http://schemas.microsoft.com/office/powerpoint/2010/main" val="1184344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F95B-F51F-A6D5-CEF8-C55A7D382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38B1A-228B-DC55-9A05-E08D3B69A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20695-9E2B-9AF1-F5F1-3EAC37CD80AC}"/>
              </a:ext>
            </a:extLst>
          </p:cNvPr>
          <p:cNvSpPr>
            <a:spLocks noGrp="1"/>
          </p:cNvSpPr>
          <p:nvPr>
            <p:ph type="body" idx="1"/>
          </p:nvPr>
        </p:nvSpPr>
        <p:spPr/>
        <p:txBody>
          <a:bodyPr/>
          <a:lstStyle/>
          <a:p>
            <a:r>
              <a:rPr lang="nb-NO" dirty="0"/>
              <a:t>Hensikt: Knytt løsningen fra Lagrange-beregningen til pris og kvantum i periode 1.</a:t>
            </a:r>
          </a:p>
          <a:p>
            <a:endParaRPr lang="nb-NO" dirty="0"/>
          </a:p>
          <a:p>
            <a:r>
              <a:rPr lang="nb-NO" dirty="0"/>
              <a:t>Ved r = 0,10 er q₁* = 21,5/2,1 = 10,238095. Prisen leses fra etterspørselskurven: p₁* = MB(q₁*) = 8 − 0,4q₁* = 3,904762, avrundet til 3,905. Bruk den </a:t>
            </a:r>
            <a:r>
              <a:rPr lang="nb-NO" dirty="0" err="1"/>
              <a:t>uavrundede</a:t>
            </a:r>
            <a:r>
              <a:rPr lang="nb-NO" dirty="0"/>
              <a:t> mengden i beregningen av prisen.</a:t>
            </a:r>
          </a:p>
          <a:p>
            <a:endParaRPr lang="nb-NO" dirty="0"/>
          </a:p>
          <a:p>
            <a:r>
              <a:rPr lang="nb-NO" dirty="0"/>
              <a:t>Pek først på q₁* på mengdeaksen, gå opp til MB og deretter bort til p₁* på prisaksen. MC er fortsatt 2. Still spørsmålet: Hvorfor stopper vi før MB = MC, selv om den siste enheten gir en positiv netto gevinst i denne perioden? Forventet svar: Uttak nå reduserer ressursen som kan brukes i periode 2. Mellomrommet mellom p₁* og MC uttrykker denne alternativkostnaden. Neste lysbilde setter navn på den.</a:t>
            </a:r>
          </a:p>
        </p:txBody>
      </p:sp>
      <p:sp>
        <p:nvSpPr>
          <p:cNvPr id="4" name="Slide Number Placeholder 3">
            <a:extLst>
              <a:ext uri="{FF2B5EF4-FFF2-40B4-BE49-F238E27FC236}">
                <a16:creationId xmlns:a16="http://schemas.microsoft.com/office/drawing/2014/main" id="{E2AF84DF-F2DB-A3FA-F964-7D176220B2B5}"/>
              </a:ext>
            </a:extLst>
          </p:cNvPr>
          <p:cNvSpPr>
            <a:spLocks noGrp="1"/>
          </p:cNvSpPr>
          <p:nvPr>
            <p:ph type="sldNum" sz="quarter" idx="5"/>
          </p:nvPr>
        </p:nvSpPr>
        <p:spPr/>
        <p:txBody>
          <a:bodyPr/>
          <a:lstStyle/>
          <a:p>
            <a:fld id="{3FD4739E-9C57-4AE7-B15C-C6DCE23E91D8}" type="slidenum">
              <a:rPr lang="nb-NO" smtClean="0"/>
              <a:t>34</a:t>
            </a:fld>
            <a:endParaRPr lang="nb-NO"/>
          </a:p>
        </p:txBody>
      </p:sp>
    </p:spTree>
    <p:extLst>
      <p:ext uri="{BB962C8B-B14F-4D97-AF65-F5344CB8AC3E}">
        <p14:creationId xmlns:p14="http://schemas.microsoft.com/office/powerpoint/2010/main" val="1690544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Hensikt: Vis hvor λ ligger i figuren og koble den til førsteordensbetingelsen.</a:t>
            </a:r>
          </a:p>
          <a:p>
            <a:endParaRPr lang="nb-NO"/>
          </a:p>
          <a:p>
            <a:r>
              <a:rPr lang="nb-NO"/>
              <a:t>Fra ∂L/∂q₁ = 0 får vi 6 − 0,4q₁* = λ. Venstresiden er marginal netto nytte, MB − MC. Derfor er λ = p₁* − 2 = 1,904762, avrundet til 1,905. Den røde klammen viser dette vertikale avviket. λ er en marginal verdi per ekstra enhet tilgjengelig lager, ikke samlet ressursrente.</a:t>
            </a:r>
          </a:p>
          <a:p>
            <a:endParaRPr lang="nb-NO"/>
          </a:p>
          <a:p>
            <a:r>
              <a:rPr lang="nb-NO"/>
              <a:t>Lagrangefunksjonen måler nytten i periode 1-verdi. λ er derfor skyggeprisen på lagerbegrensningen i denne verdien. En liten økning i lageret øker maksimal samlet nåverdi med omtrent λ per enhet.</a:t>
            </a:r>
          </a:p>
          <a:p>
            <a:endParaRPr lang="nb-NO"/>
          </a:p>
          <a:p>
            <a:r>
              <a:rPr lang="nb-NO"/>
              <a:t>Spør: Er p₁* lik λ? Nei: p₁* = MC + λ. Utvinningen har både en direkte marginal kostnad og en knapphetskostnad. I toperiodemodellen vokser knapphetsrenten med renten, ikke nødvendigvis hele markedsprisen.</a:t>
            </a:r>
          </a:p>
        </p:txBody>
      </p:sp>
      <p:sp>
        <p:nvSpPr>
          <p:cNvPr id="4" name="Slide Number Placeholder 3"/>
          <p:cNvSpPr>
            <a:spLocks noGrp="1"/>
          </p:cNvSpPr>
          <p:nvPr>
            <p:ph type="sldNum" sz="quarter" idx="5"/>
          </p:nvPr>
        </p:nvSpPr>
        <p:spPr/>
        <p:txBody>
          <a:bodyPr/>
          <a:lstStyle/>
          <a:p>
            <a:fld id="{3FD4739E-9C57-4AE7-B15C-C6DCE23E91D8}" type="slidenum">
              <a:rPr lang="nb-NO" smtClean="0"/>
              <a:t>35</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4934-6986-7BBC-87EB-33DD79903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297F0-1778-D73E-5FE5-FE762446B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16A42-6291-99EA-27C0-020A582785C4}"/>
              </a:ext>
            </a:extLst>
          </p:cNvPr>
          <p:cNvSpPr>
            <a:spLocks noGrp="1"/>
          </p:cNvSpPr>
          <p:nvPr>
            <p:ph type="body" idx="1"/>
          </p:nvPr>
        </p:nvSpPr>
        <p:spPr/>
        <p:txBody>
          <a:bodyPr/>
          <a:lstStyle/>
          <a:p>
            <a:r>
              <a:rPr lang="nb-NO"/>
              <a:t>Hensikt: Sammenlign begge periodene med samme notasjon.</a:t>
            </a:r>
          </a:p>
          <a:p>
            <a:endParaRPr lang="nb-NO"/>
          </a:p>
          <a:p>
            <a:r>
              <a:rPr lang="nb-NO"/>
              <a:t>Ved r = 0,10 er q₁* = 10,238095 og q₂* = 9,761905. Kontroller at summen er 20. Etterspørselen gir p₁* = 3,904762 og p₂* = 4,095238. Tallene på lysbildet er avrundet til tre desimaler.</a:t>
            </a:r>
          </a:p>
          <a:p>
            <a:endParaRPr lang="nb-NO"/>
          </a:p>
          <a:p>
            <a:r>
              <a:rPr lang="nb-NO"/>
              <a:t>Førsteordensbetingelsene gir p₁* − MC = λ og (p₂* − MC)/(1 + r) = λ. Dermed er MUC₁ = λ ≈ 1,905 og MUC₂ = (1 + r)λ ≈ 2,095. Samme λ fra Lagrangefunksjonen ligger bak begge periodene. Vi skal ikke sette p₂* = MC + λ uten å føre knapphetsrenten fram én periode.</a:t>
            </a:r>
          </a:p>
          <a:p>
            <a:endParaRPr lang="nb-NO"/>
          </a:p>
          <a:p>
            <a:r>
              <a:rPr lang="nb-NO"/>
              <a:t>Pek på mengdeaksene, prisaksene og de røde klammene i samme rekkefølge. Litt lavere uttak i periode 2 gir litt høyere pris. Under modellens forutsetninger vokser p − MC med 10 prosent. Hele prisen vokser her bare omtrent 4,88 prosent, fordi MC = 2 ikke vokser med renten. Kontroller gjerne muntlig at 2,095238/1,10 = 1,904762.</a:t>
            </a:r>
          </a:p>
        </p:txBody>
      </p:sp>
      <p:sp>
        <p:nvSpPr>
          <p:cNvPr id="4" name="Slide Number Placeholder 3">
            <a:extLst>
              <a:ext uri="{FF2B5EF4-FFF2-40B4-BE49-F238E27FC236}">
                <a16:creationId xmlns:a16="http://schemas.microsoft.com/office/drawing/2014/main" id="{10E72D67-3C0E-5227-0AB3-CACBC9C7F274}"/>
              </a:ext>
            </a:extLst>
          </p:cNvPr>
          <p:cNvSpPr>
            <a:spLocks noGrp="1"/>
          </p:cNvSpPr>
          <p:nvPr>
            <p:ph type="sldNum" sz="quarter" idx="5"/>
          </p:nvPr>
        </p:nvSpPr>
        <p:spPr/>
        <p:txBody>
          <a:bodyPr/>
          <a:lstStyle/>
          <a:p>
            <a:fld id="{3FD4739E-9C57-4AE7-B15C-C6DCE23E91D8}" type="slidenum">
              <a:rPr lang="nb-NO" smtClean="0"/>
              <a:t>36</a:t>
            </a:fld>
            <a:endParaRPr lang="nb-NO"/>
          </a:p>
        </p:txBody>
      </p:sp>
    </p:spTree>
    <p:extLst>
      <p:ext uri="{BB962C8B-B14F-4D97-AF65-F5344CB8AC3E}">
        <p14:creationId xmlns:p14="http://schemas.microsoft.com/office/powerpoint/2010/main" val="1573339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Overgang, omtrent 1 minutt.</a:t>
            </a:r>
          </a:p>
          <a:p>
            <a:endParaRPr lang="nb-NO"/>
          </a:p>
          <a:p>
            <a:r>
              <a:rPr lang="nb-NO"/>
              <a:t>Vi har funnet fordelingen som maksimerer nåverdien, gitt ressurslager, etterspørsel, kostnader og rente. Nå endrer vi spørsmålet: Hvilke muligheter og naturverdier etterlater denne fordelingen til dem som kommer senere?</a:t>
            </a:r>
          </a:p>
          <a:p>
            <a:endParaRPr lang="nb-NO"/>
          </a:p>
          <a:p>
            <a:r>
              <a:rPr lang="nb-NO"/>
              <a:t>Skill mellom tre vurderinger. Effektivitet gjelder samlet diskontert netto nytte. Fordeling gjelder hvem som får gevinster og bærer kostnader. Bærekraft gjelder hva som opprettholdes over tid. En høy nåverdi gir ikke alene svar på de to siste.</a:t>
            </a:r>
          </a:p>
          <a:p>
            <a:endParaRPr lang="nb-NO"/>
          </a:p>
          <a:p>
            <a:r>
              <a:rPr lang="nb-NO"/>
              <a:t>Spør studentene: Hvis all ressursen selges lønnsomt og inntekten forbrukes i dag, har vi da vist at framtidige generasjoner kommer godt ut? Forventet svar: Nei. Vi må også undersøke hva som overføres til framtiden, og om naturens funksjoner kan erstattes.</a:t>
            </a:r>
          </a:p>
        </p:txBody>
      </p:sp>
      <p:sp>
        <p:nvSpPr>
          <p:cNvPr id="4" name="Slide Number Placeholder 3"/>
          <p:cNvSpPr>
            <a:spLocks noGrp="1"/>
          </p:cNvSpPr>
          <p:nvPr>
            <p:ph type="sldNum" sz="quarter" idx="5"/>
          </p:nvPr>
        </p:nvSpPr>
        <p:spPr/>
        <p:txBody>
          <a:bodyPr/>
          <a:lstStyle/>
          <a:p>
            <a:fld id="{3FD4739E-9C57-4AE7-B15C-C6DCE23E91D8}" type="slidenum">
              <a:rPr lang="nb-NO" smtClean="0"/>
              <a:t>40</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Tidsbruk: omtrent 4 minutter.</a:t>
            </a:r>
          </a:p>
          <a:p>
            <a:endParaRPr lang="nb-NO" dirty="0"/>
          </a:p>
          <a:p>
            <a:r>
              <a:rPr lang="nb-NO" dirty="0"/>
              <a:t>Svak bærekraft: Verdien av samlet kapital skal opprettholdes. Naturkapital kan erstattes av annen kapital i den grad den nye kapitalen faktisk opprettholder framtidige muligheter. Eksempel: Ressursrente investeres i produktiv kapital.</a:t>
            </a:r>
          </a:p>
          <a:p>
            <a:endParaRPr lang="nb-NO" dirty="0"/>
          </a:p>
          <a:p>
            <a:r>
              <a:rPr lang="nb-NO" dirty="0"/>
              <a:t>Sterk bærekraft: Naturkapital må ivaretas særskilt. Kritisk natur og funksjoner med begrensede erstatningsmuligheter setter grenser for hvor mye et finansielt overskudd kan kompensere for naturtap.</a:t>
            </a:r>
          </a:p>
          <a:p>
            <a:endParaRPr lang="nb-NO" dirty="0"/>
          </a:p>
          <a:p>
            <a:r>
              <a:rPr lang="nb-NO" dirty="0"/>
              <a:t>Miljømessig bærekraft: Undersøk konkrete fysiske strømmer og økologiske funksjoner, for eksempel grunnvannsuttak i forhold til tilførsel eller bevaring av våtmarkens funksjon.</a:t>
            </a:r>
          </a:p>
          <a:p>
            <a:endParaRPr lang="nb-NO" dirty="0"/>
          </a:p>
          <a:p>
            <a:r>
              <a:rPr lang="nb-NO" dirty="0"/>
              <a:t>Skill særlig mellom samlet kapitalverdi, naturkapital og bestemte fysiske funksjoner. Kriteriene kan overlappe i praksis. Be studentene spørre «hva skal opprettholdes?» og «hva godtas som erstatning?» før de setter en etikett på eksemplet.</a:t>
            </a:r>
          </a:p>
          <a:p>
            <a:endParaRPr lang="nb-NO" dirty="0"/>
          </a:p>
          <a:p>
            <a:r>
              <a:rPr lang="nb-NO" dirty="0"/>
              <a:t>Grunnlag: book/05-dynamic-efficiency-and-sustainable-development.md, Applying </a:t>
            </a:r>
            <a:r>
              <a:rPr lang="nb-NO" dirty="0" err="1"/>
              <a:t>the</a:t>
            </a:r>
            <a:r>
              <a:rPr lang="nb-NO" dirty="0"/>
              <a:t> </a:t>
            </a:r>
            <a:r>
              <a:rPr lang="nb-NO" dirty="0" err="1"/>
              <a:t>Sustainability</a:t>
            </a:r>
            <a:r>
              <a:rPr lang="nb-NO" dirty="0"/>
              <a:t> </a:t>
            </a:r>
            <a:r>
              <a:rPr lang="nb-NO" dirty="0" err="1"/>
              <a:t>Criterion</a:t>
            </a:r>
            <a:r>
              <a:rPr lang="nb-NO" dirty="0"/>
              <a:t>.</a:t>
            </a:r>
          </a:p>
        </p:txBody>
      </p:sp>
      <p:sp>
        <p:nvSpPr>
          <p:cNvPr id="4" name="Slide Number Placeholder 3"/>
          <p:cNvSpPr>
            <a:spLocks noGrp="1"/>
          </p:cNvSpPr>
          <p:nvPr>
            <p:ph type="sldNum" sz="quarter" idx="5"/>
          </p:nvPr>
        </p:nvSpPr>
        <p:spPr/>
        <p:txBody>
          <a:bodyPr/>
          <a:lstStyle/>
          <a:p>
            <a:fld id="{3FD4739E-9C57-4AE7-B15C-C6DCE23E91D8}" type="slidenum">
              <a:rPr lang="nb-NO" smtClean="0"/>
              <a:t>44</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Tidsbruk: 3 minutter i par og 3 minutter i plenum. La parene velge to eksempler, men gjennomgå alle fire kort.</a:t>
            </a:r>
          </a:p>
          <a:p>
            <a:endParaRPr lang="nb-NO" dirty="0"/>
          </a:p>
          <a:p>
            <a:r>
              <a:rPr lang="nb-NO" dirty="0"/>
              <a:t>1. Oljeinntekt investeres i utdanning og fond: Svak bærekraft er det relevante kriteriet fordi naturkapital erstattes med annen kapital. Investering alene beviser ikke at samlet kapitalverdi opprettholdes. Størrelse og kvalitet på investeringene betyr noe.</a:t>
            </a:r>
          </a:p>
          <a:p>
            <a:endParaRPr lang="nb-NO" dirty="0"/>
          </a:p>
          <a:p>
            <a:r>
              <a:rPr lang="nb-NO" dirty="0"/>
              <a:t>2. En uerstattelig våtmark bevares: Sterk bærekraft, fordi naturkapitalens manglende erstatningsmuligheter er begrunnelsen. Dersom svaret begrunnes med en bestemt økologisk funksjon, kan miljømessig bærekraft også være relevant.</a:t>
            </a:r>
          </a:p>
          <a:p>
            <a:endParaRPr lang="nb-NO" dirty="0"/>
          </a:p>
          <a:p>
            <a:r>
              <a:rPr lang="nb-NO" dirty="0"/>
              <a:t>3. Grunnvannsuttak høyst lik langsiktig tilførsel: Miljømessig bærekraft, fordi regelen gjelder en fysisk ressursstrøm. I praksis må også kvalitet, økologiske behov og lokale forhold undersøkes.</a:t>
            </a:r>
          </a:p>
          <a:p>
            <a:endParaRPr lang="nb-NO" dirty="0"/>
          </a:p>
          <a:p>
            <a:r>
              <a:rPr lang="nb-NO" dirty="0"/>
              <a:t>4. Skog erstattes av like stor kapitalverdi: Svak bærekraft, fordi substitusjon mellom kapitaltyper tillates.</a:t>
            </a:r>
          </a:p>
          <a:p>
            <a:endParaRPr lang="nb-NO" dirty="0"/>
          </a:p>
          <a:p>
            <a:r>
              <a:rPr lang="nb-NO" dirty="0"/>
              <a:t>Be om begrunnelsen, ikke bare kategorinavnet.</a:t>
            </a:r>
          </a:p>
        </p:txBody>
      </p:sp>
      <p:sp>
        <p:nvSpPr>
          <p:cNvPr id="4" name="Slide Number Placeholder 3"/>
          <p:cNvSpPr>
            <a:spLocks noGrp="1"/>
          </p:cNvSpPr>
          <p:nvPr>
            <p:ph type="sldNum" sz="quarter" idx="5"/>
          </p:nvPr>
        </p:nvSpPr>
        <p:spPr/>
        <p:txBody>
          <a:bodyPr/>
          <a:lstStyle/>
          <a:p>
            <a:fld id="{BA8AAEA7-5575-47AD-8C69-F7D1B98A0428}" type="slidenum">
              <a:rPr lang="en-GB" smtClean="0"/>
              <a:t>45</a:t>
            </a:fld>
            <a:endParaRPr lang="en-GB"/>
          </a:p>
        </p:txBody>
      </p:sp>
    </p:spTree>
    <p:extLst>
      <p:ext uri="{BB962C8B-B14F-4D97-AF65-F5344CB8AC3E}">
        <p14:creationId xmlns:p14="http://schemas.microsoft.com/office/powerpoint/2010/main" val="3114583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dirty="0"/>
              <a:t>Bruk </a:t>
            </a:r>
            <a:r>
              <a:rPr lang="nb-NO" dirty="0" err="1"/>
              <a:t>skrivesiden</a:t>
            </a:r>
            <a:r>
              <a:rPr lang="nb-NO" dirty="0"/>
              <a:t> til å samle svarene fra oppgave 3. Siden kan eksporteres til PDF og fylles ut på </a:t>
            </a:r>
            <a:r>
              <a:rPr lang="nb-NO" dirty="0" err="1"/>
              <a:t>iPad</a:t>
            </a:r>
            <a:r>
              <a:rPr lang="nb-NO" dirty="0"/>
              <a:t>.</a:t>
            </a:r>
          </a:p>
          <a:p>
            <a:endParaRPr lang="nb-NO" dirty="0"/>
          </a:p>
          <a:p>
            <a:r>
              <a:rPr lang="nb-NO" dirty="0"/>
              <a:t>Forslag til tabell:</a:t>
            </a:r>
          </a:p>
          <a:p>
            <a:r>
              <a:rPr lang="nb-NO" dirty="0"/>
              <a:t>Oljeinntekt investeres i fond: Svak. Naturkapital omformes til finansiell kapital.</a:t>
            </a:r>
          </a:p>
          <a:p>
            <a:r>
              <a:rPr lang="nb-NO" dirty="0"/>
              <a:t>Uerstattelig våtmark bevares: Sterk. Kritisk naturkapital kan ikke erstattes tilfredsstillende med penger eller annen kapital.</a:t>
            </a:r>
          </a:p>
          <a:p>
            <a:r>
              <a:rPr lang="nb-NO" dirty="0"/>
              <a:t>Grunnvannsuttak begrenses: Miljømessig. Uttaket knyttes til fysisk fornyelse og ressursens funksjon.</a:t>
            </a:r>
          </a:p>
          <a:p>
            <a:r>
              <a:rPr lang="nb-NO" dirty="0"/>
              <a:t>Skog erstattes av annen kapital: Svak. Samlet kapitalverdi er kriteriet.</a:t>
            </a:r>
          </a:p>
          <a:p>
            <a:endParaRPr lang="nb-NO" dirty="0"/>
          </a:p>
          <a:p>
            <a:r>
              <a:rPr lang="nb-NO" dirty="0"/>
              <a:t>Spør for hver rad: Hva er det som skal holdes oppe? Aksepter alternative klassifiseringer når studenten gjør forutsetningene tydelige. Særlig vern av våtmark kan begrunnes ut fra både sterk og miljømessig bærekraft. En kategorisering er ikke i seg selv dokumentasjon på at tiltaket oppfyller kriteriet.</a:t>
            </a:r>
          </a:p>
        </p:txBody>
      </p:sp>
      <p:sp>
        <p:nvSpPr>
          <p:cNvPr id="4" name="Slide Number Placeholder 3"/>
          <p:cNvSpPr>
            <a:spLocks noGrp="1"/>
          </p:cNvSpPr>
          <p:nvPr>
            <p:ph type="sldNum" sz="quarter" idx="5"/>
          </p:nvPr>
        </p:nvSpPr>
        <p:spPr/>
        <p:txBody>
          <a:bodyPr/>
          <a:lstStyle/>
          <a:p>
            <a:fld id="{BA8AAEA7-5575-47AD-8C69-F7D1B98A0428}" type="slidenum">
              <a:rPr lang="en-GB" smtClean="0"/>
              <a:t>46</a:t>
            </a:fld>
            <a:endParaRPr lang="en-GB"/>
          </a:p>
        </p:txBody>
      </p:sp>
    </p:spTree>
    <p:extLst>
      <p:ext uri="{BB962C8B-B14F-4D97-AF65-F5344CB8AC3E}">
        <p14:creationId xmlns:p14="http://schemas.microsoft.com/office/powerpoint/2010/main" val="4027273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omtrent 4 minutter.</a:t>
            </a:r>
          </a:p>
          <a:p>
            <a:endParaRPr lang="nb-NO"/>
          </a:p>
          <a:p>
            <a:r>
              <a:rPr lang="nb-NO"/>
              <a:t>Hartwicks regel knytter uttak til sparing: Under bestemte forutsetninger kan konsum opprettholdes når hele knapphetsrenten fra uttømmingen investeres i reproduserbar kapital. Det forutsetter blant annet tilstrekkelige substitusjonsmuligheter og at investeringene gir produktiv kapital. Regelen er derfor ikke en generell garanti for at alle former for naturtap kan oppveies.</a:t>
            </a:r>
          </a:p>
          <a:p>
            <a:endParaRPr lang="nb-NO"/>
          </a:p>
          <a:p>
            <a:r>
              <a:rPr lang="nb-NO"/>
              <a:t>Koble til figuren: I vår modell med konstant enhetskostnad 2 er knapphetsrenten per enhet p − MC. Samlet rentebeløp i en periode er (p − MC)q. Dette er forskjellig fra salgsinntekten pq og fra λ alene. Utenfor denne enkle modellen må øvrige relevante produksjonskostnader og normal avkastning også håndteres.</a:t>
            </a:r>
          </a:p>
          <a:p>
            <a:endParaRPr lang="nb-NO"/>
          </a:p>
          <a:p>
            <a:r>
              <a:rPr lang="nb-NO"/>
              <a:t>Et rent illustrasjonseksempel: Hvis samlet ressursrente er 100, sier regelen at hele 100 skal investeres. Det er ikke tilstrekkelig å spare en liten del. Netto investering betyr at kapitalslit må tas hensyn til.</a:t>
            </a:r>
          </a:p>
          <a:p>
            <a:endParaRPr lang="nb-NO"/>
          </a:p>
          <a:p>
            <a:r>
              <a:rPr lang="nb-NO"/>
              <a:t>Grunnlag: book/05-dynamic-efficiency-and-sustainable-development.md, Applying the Sustainability Criterion.</a:t>
            </a:r>
          </a:p>
        </p:txBody>
      </p:sp>
      <p:sp>
        <p:nvSpPr>
          <p:cNvPr id="4" name="Slide Number Placeholder 3"/>
          <p:cNvSpPr>
            <a:spLocks noGrp="1"/>
          </p:cNvSpPr>
          <p:nvPr>
            <p:ph type="sldNum" sz="quarter" idx="5"/>
          </p:nvPr>
        </p:nvSpPr>
        <p:spPr/>
        <p:txBody>
          <a:bodyPr/>
          <a:lstStyle/>
          <a:p>
            <a:fld id="{3FD4739E-9C57-4AE7-B15C-C6DCE23E91D8}" type="slidenum">
              <a:rPr lang="nb-NO" smtClean="0"/>
              <a:t>47</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omtrent 3 minutter. Bruk eksemplene som illustrasjoner av kapitalomforming, ikke som en rangering av dagens fondsforvaltning.</a:t>
            </a:r>
          </a:p>
          <a:p>
            <a:endParaRPr lang="nb-NO"/>
          </a:p>
          <a:p>
            <a:r>
              <a:rPr lang="nb-NO"/>
              <a:t>Et fond kan gjøre det mulig å overføre verdi fra en uttømmelig ressurs til framtidige generasjoner. Det avgjørende er hvor mye av ressursrenten som spares, hvordan kapitalen forvaltes, og hvor mye som senere tas ut til forbruk.</a:t>
            </a:r>
          </a:p>
          <a:p>
            <a:endParaRPr lang="nb-NO"/>
          </a:p>
          <a:p>
            <a:r>
              <a:rPr lang="nb-NO"/>
              <a:t>Bruk Norge og Alaska til å spørre hvordan regler for innbetalinger og uttak kan beskytte framtidige muligheter. Bruk Nauru som et historisk eksempel på at ressursinntekter ikke automatisk sikrer varig velferd etter uttømming. Unngå å presentere historiske satser fra pensum som dagens regler.</a:t>
            </a:r>
          </a:p>
          <a:p>
            <a:endParaRPr lang="nb-NO"/>
          </a:p>
          <a:p>
            <a:r>
              <a:rPr lang="nb-NO"/>
              <a:t>Spør: Kan et stort fond kompensere for at en uerstattelig naturtype forsvinner? Svaret avhenger av bærekraftskriteriet. Et fond kan være relevant for svak bærekraft, mens kritisk naturkapital krever en egen vurdering.</a:t>
            </a:r>
          </a:p>
          <a:p>
            <a:endParaRPr lang="nb-NO"/>
          </a:p>
          <a:p>
            <a:r>
              <a:rPr lang="nb-NO"/>
              <a:t>Grunnlag: Eksemplene og diskusjonen om fond i book/05-dynamic-efficiency-and-sustainable-development.md.</a:t>
            </a:r>
          </a:p>
        </p:txBody>
      </p:sp>
      <p:sp>
        <p:nvSpPr>
          <p:cNvPr id="4" name="Slide Number Placeholder 3"/>
          <p:cNvSpPr>
            <a:spLocks noGrp="1"/>
          </p:cNvSpPr>
          <p:nvPr>
            <p:ph type="sldNum" sz="quarter" idx="5"/>
          </p:nvPr>
        </p:nvSpPr>
        <p:spPr/>
        <p:txBody>
          <a:bodyPr/>
          <a:lstStyle/>
          <a:p>
            <a:fld id="{3FD4739E-9C57-4AE7-B15C-C6DCE23E91D8}" type="slidenum">
              <a:rPr lang="nb-NO" smtClean="0"/>
              <a:t>50</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3 minutter i par og 3 minutter i plenum.</a:t>
            </a:r>
          </a:p>
          <a:p>
            <a:endParaRPr lang="nb-NO"/>
          </a:p>
          <a:p>
            <a:r>
              <a:rPr lang="nb-NO"/>
              <a:t>Be hver gruppe gi en betinget anbefaling med tre deler: valgt bærekraftskriterium, én nødvendig opplysning og én virkning som en ufullstendig nåverdiberegning kan overse. Det finnes ikke én ubetinget fasit.</a:t>
            </a:r>
          </a:p>
          <a:p>
            <a:endParaRPr lang="nb-NO"/>
          </a:p>
          <a:p>
            <a:r>
              <a:rPr lang="nb-NO"/>
              <a:t>Mulig anbefaling om utvinning: Etter et svakt bærekraftskriterium kan utvinning forsvares dersom samlet relevant netto nytte er positiv og ressursrenten faktisk omformes til kapital som opprettholder framtidige muligheter. Gruppen trenger informasjon om kostnader, naturtap og troverdig investering av renten.</a:t>
            </a:r>
          </a:p>
          <a:p>
            <a:endParaRPr lang="nb-NO"/>
          </a:p>
          <a:p>
            <a:r>
              <a:rPr lang="nb-NO"/>
              <a:t>Mulig anbefaling om vern: Etter et sterkt kriterium kan vern begrunnes med kritisk naturkapital eller irreversible tap som annen kapital ikke kan erstatte. Gruppen trenger informasjon om naturens funksjoner og erstatningsmulighetene.</a:t>
            </a:r>
          </a:p>
          <a:p>
            <a:endParaRPr lang="nb-NO"/>
          </a:p>
          <a:p>
            <a:r>
              <a:rPr lang="nb-NO"/>
              <a:t>Presiser at en nytte–kostnadsanalyse prinsipielt skal inkludere miljøvirkninger. Problemet er mangelfull verdsetting, utelatte virkninger eller at fordeling og naturgrenser krever vurderinger utover totalsummen.</a:t>
            </a:r>
          </a:p>
        </p:txBody>
      </p:sp>
      <p:sp>
        <p:nvSpPr>
          <p:cNvPr id="4" name="Slide Number Placeholder 3"/>
          <p:cNvSpPr>
            <a:spLocks noGrp="1"/>
          </p:cNvSpPr>
          <p:nvPr>
            <p:ph type="sldNum" sz="quarter" idx="5"/>
          </p:nvPr>
        </p:nvSpPr>
        <p:spPr/>
        <p:txBody>
          <a:bodyPr/>
          <a:lstStyle/>
          <a:p>
            <a:fld id="{BA8AAEA7-5575-47AD-8C69-F7D1B98A0428}" type="slidenum">
              <a:rPr lang="en-GB" smtClean="0"/>
              <a:t>51</a:t>
            </a:fld>
            <a:endParaRPr lang="en-GB"/>
          </a:p>
        </p:txBody>
      </p:sp>
    </p:spTree>
    <p:extLst>
      <p:ext uri="{BB962C8B-B14F-4D97-AF65-F5344CB8AC3E}">
        <p14:creationId xmlns:p14="http://schemas.microsoft.com/office/powerpoint/2010/main" val="15309659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Skriveside til oppgave 4. Eksporter gjerne til PDF og fyll inn anbefalingene på iPad.</a:t>
            </a:r>
          </a:p>
          <a:p>
            <a:endParaRPr lang="nb-NO"/>
          </a:p>
          <a:p>
            <a:r>
              <a:rPr lang="nb-NO"/>
              <a:t>Bruk denne disposisjonen når gruppene svarer:</a:t>
            </a:r>
          </a:p>
          <a:p>
            <a:r>
              <a:rPr lang="nb-NO"/>
              <a:t>Anbefaling: Vi anbefaler utvinning eller vern, gitt følgende forutsetning.</a:t>
            </a:r>
          </a:p>
          <a:p>
            <a:r>
              <a:rPr lang="nb-NO"/>
              <a:t>Kriterium: Vi legger svak, sterk eller miljømessig bærekraft til grunn.</a:t>
            </a:r>
          </a:p>
          <a:p>
            <a:r>
              <a:rPr lang="nb-NO"/>
              <a:t>Opplysning: Vi trenger å vite ...</a:t>
            </a:r>
          </a:p>
          <a:p>
            <a:r>
              <a:rPr lang="nb-NO"/>
              <a:t>Virkning: Beregningen må også håndtere ...</a:t>
            </a:r>
          </a:p>
          <a:p>
            <a:endParaRPr lang="nb-NO"/>
          </a:p>
          <a:p>
            <a:r>
              <a:rPr lang="nb-NO"/>
              <a:t>God begrunnelse kobler anbefalingen til kriteriet. «Utvinning gir penger» og «natur er viktig» er startpunkter, men ikke tilstrekkelige argumenter alene. Etterspør hvordan framtidige generasjoner påvirkes og hva som eventuelt ikke kan erstattes.</a:t>
            </a:r>
          </a:p>
          <a:p>
            <a:endParaRPr lang="nb-NO"/>
          </a:p>
          <a:p>
            <a:r>
              <a:rPr lang="nb-NO"/>
              <a:t>Avslutt med å sammenligne to svar som velger forskjellig, men har tydelige og konsistente forutsetninger. Poenget er å vise hvilke premisser uenigheten bygger på.</a:t>
            </a:r>
          </a:p>
        </p:txBody>
      </p:sp>
      <p:sp>
        <p:nvSpPr>
          <p:cNvPr id="4" name="Slide Number Placeholder 3"/>
          <p:cNvSpPr>
            <a:spLocks noGrp="1"/>
          </p:cNvSpPr>
          <p:nvPr>
            <p:ph type="sldNum" sz="quarter" idx="5"/>
          </p:nvPr>
        </p:nvSpPr>
        <p:spPr/>
        <p:txBody>
          <a:bodyPr/>
          <a:lstStyle/>
          <a:p>
            <a:fld id="{BA8AAEA7-5575-47AD-8C69-F7D1B98A0428}" type="slidenum">
              <a:rPr lang="en-GB" smtClean="0"/>
              <a:t>52</a:t>
            </a:fld>
            <a:endParaRPr lang="en-GB"/>
          </a:p>
        </p:txBody>
      </p:sp>
    </p:spTree>
    <p:extLst>
      <p:ext uri="{BB962C8B-B14F-4D97-AF65-F5344CB8AC3E}">
        <p14:creationId xmlns:p14="http://schemas.microsoft.com/office/powerpoint/2010/main" val="1488681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omtrent 2 minutter.</a:t>
            </a:r>
          </a:p>
          <a:p>
            <a:endParaRPr lang="nb-NO"/>
          </a:p>
          <a:p>
            <a:r>
              <a:rPr lang="nb-NO"/>
              <a:t>Knyt bærekraftsdiskusjonen tilbake til toperiodemodellen. q₁* = 10,238 og q₂* = 9,762 maksimerer nåverdien gitt modellen. Mengdene summerer seg til lageret på 20.</a:t>
            </a:r>
          </a:p>
          <a:p>
            <a:endParaRPr lang="nb-NO"/>
          </a:p>
          <a:p>
            <a:r>
              <a:rPr lang="nb-NO"/>
              <a:t>Be studentene fylle ut to setninger: «Vi vet at fordelingen er effektiv fordi ...» og «Vi vet ennå ikke at fordelingen er bærekraftig fordi ...». Forventet svar: De diskonterte marginale nettoverdiene er like, men modellen viser ikke alene hva som investeres og overføres, eller om naturtap kan erstattes.</a:t>
            </a:r>
          </a:p>
          <a:p>
            <a:endParaRPr lang="nb-NO"/>
          </a:p>
          <a:p>
            <a:r>
              <a:rPr lang="nb-NO"/>
              <a:t>Ved r = 10 prosent er p₁* ≈ 3,905 og p₂* ≈ 4,095. Knapphetsrenten er henholdsvis 1,905 og 2,095 per enhet. Dette gir en bro til både Hartwicks regel og kapittel 6, men selve toperiodemodellen beviser ikke Hartwicks resultat om varig konsum.</a:t>
            </a:r>
          </a:p>
        </p:txBody>
      </p:sp>
      <p:sp>
        <p:nvSpPr>
          <p:cNvPr id="4" name="Slide Number Placeholder 3"/>
          <p:cNvSpPr>
            <a:spLocks noGrp="1"/>
          </p:cNvSpPr>
          <p:nvPr>
            <p:ph type="sldNum" sz="quarter" idx="5"/>
          </p:nvPr>
        </p:nvSpPr>
        <p:spPr/>
        <p:txBody>
          <a:bodyPr/>
          <a:lstStyle/>
          <a:p>
            <a:fld id="{3FD4739E-9C57-4AE7-B15C-C6DCE23E91D8}" type="slidenum">
              <a:rPr lang="nb-NO" smtClean="0"/>
              <a:t>53</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omtrent 2 minutter. Bruk punktene som en muntlig sjekk av forståelsen.</a:t>
            </a:r>
          </a:p>
          <a:p>
            <a:endParaRPr lang="nb-NO"/>
          </a:p>
          <a:p>
            <a:r>
              <a:rPr lang="nb-NO"/>
              <a:t>1. Dynamisk effektivitet: Maksimer samlet nåverdi av netto nytte under ressursbegrensningen.</a:t>
            </a:r>
          </a:p>
          <a:p>
            <a:r>
              <a:rPr lang="nb-NO"/>
              <a:t>2. Ekvimarginalprinsippet: For en indre løsning er MB₁ − MC₁ = (MB₂ − MC₂)/(1 + r). Sammenlign verdier på samme tidspunkt.</a:t>
            </a:r>
          </a:p>
          <a:p>
            <a:r>
              <a:rPr lang="nb-NO"/>
              <a:t>3. Marginal brukerkostnad: Uttak nå gir avkall på en framtidig mulighet. λ uttrykker denne knapphetskostnaden i periode 1-verdi.</a:t>
            </a:r>
          </a:p>
          <a:p>
            <a:r>
              <a:rPr lang="nb-NO"/>
              <a:t>4. Bærekraft: Undersøk hva som opprettholdes over tid, og om gevinster faktisk overføres. Effektivitet avgjør ikke fordelingen alene.</a:t>
            </a:r>
          </a:p>
          <a:p>
            <a:endParaRPr lang="nb-NO"/>
          </a:p>
          <a:p>
            <a:r>
              <a:rPr lang="nb-NO"/>
              <a:t>Avslutt med to kontrollspørsmål: Er λ hele prisen? Nei, p = MC + MUC. Vokser hele prisen nødvendigvis med renten? Nei, under standardforutsetningene er det knapphetsrenten p − MC som gjør det.</a:t>
            </a:r>
          </a:p>
        </p:txBody>
      </p:sp>
      <p:sp>
        <p:nvSpPr>
          <p:cNvPr id="4" name="Slide Number Placeholder 3"/>
          <p:cNvSpPr>
            <a:spLocks noGrp="1"/>
          </p:cNvSpPr>
          <p:nvPr>
            <p:ph type="sldNum" sz="quarter" idx="5"/>
          </p:nvPr>
        </p:nvSpPr>
        <p:spPr/>
        <p:txBody>
          <a:bodyPr/>
          <a:lstStyle/>
          <a:p>
            <a:fld id="{3FD4739E-9C57-4AE7-B15C-C6DCE23E91D8}" type="slidenum">
              <a:rPr lang="nb-NO" smtClean="0"/>
              <a:t>54</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a:t>Tidsbruk: omtrent 1 minutt.</a:t>
            </a:r>
          </a:p>
          <a:p>
            <a:endParaRPr lang="nb-NO"/>
          </a:p>
          <a:p>
            <a:r>
              <a:rPr lang="nb-NO"/>
              <a:t>Bro til kapittel 6: I toperiodemodellen hadde vi én beslutning om fordeling mellom nå og senere. Med flere perioder får vi en bane for uttak, pris og knapphetsrente.</a:t>
            </a:r>
          </a:p>
          <a:p>
            <a:endParaRPr lang="nb-NO"/>
          </a:p>
          <a:p>
            <a:r>
              <a:rPr lang="nb-NO"/>
              <a:t>Under de enkle forutsetningene fra modellen gir arbitragebetingelsen MUCₜ₊₁ = (1 + r)MUCₜ. Hvis avkastningen av å la ressursen ligge er høyere enn alternativ avkastning, blir det mer attraktivt å vente. Er den lavere, blir det mer attraktivt å utvinne tidligere.</a:t>
            </a:r>
          </a:p>
          <a:p>
            <a:endParaRPr lang="nb-NO"/>
          </a:p>
          <a:p>
            <a:r>
              <a:rPr lang="nb-NO"/>
              <a:t>Substitutter og en alternativ teknologi påvirker hvor lenge det lønner seg å bruke den uttømmelige ressursen. Nye funn, gjenvinning og endrede kostnader kan endre forløpet. Hovedpoenget studentene skal ta med seg, er at framtidige muligheter påvirker dagens uttak.</a:t>
            </a:r>
          </a:p>
          <a:p>
            <a:endParaRPr lang="nb-NO"/>
          </a:p>
          <a:p>
            <a:r>
              <a:rPr lang="nb-NO"/>
              <a:t>Grunnlag: book/06-depletable-resource-allocation.md.</a:t>
            </a:r>
          </a:p>
        </p:txBody>
      </p:sp>
      <p:sp>
        <p:nvSpPr>
          <p:cNvPr id="4" name="Slide Number Placeholder 3"/>
          <p:cNvSpPr>
            <a:spLocks noGrp="1"/>
          </p:cNvSpPr>
          <p:nvPr>
            <p:ph type="sldNum" sz="quarter" idx="5"/>
          </p:nvPr>
        </p:nvSpPr>
        <p:spPr/>
        <p:txBody>
          <a:bodyPr/>
          <a:lstStyle/>
          <a:p>
            <a:fld id="{3FD4739E-9C57-4AE7-B15C-C6DCE23E91D8}" type="slidenum">
              <a:rPr lang="nb-NO" smtClean="0"/>
              <a:t>55</a:t>
            </a:fld>
            <a:endParaRPr lang="nb-NO"/>
          </a:p>
        </p:txBody>
      </p:sp>
    </p:spTree>
    <p:extLst>
      <p:ext uri="{BB962C8B-B14F-4D97-AF65-F5344CB8AC3E}">
        <p14:creationId xmlns:p14="http://schemas.microsoft.com/office/powerpoint/2010/main" val="1273006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b="1" dirty="0"/>
              <a:t>Notater:</a:t>
            </a:r>
            <a:br>
              <a:rPr lang="nb-NO" dirty="0"/>
            </a:br>
            <a:r>
              <a:rPr lang="nb-NO" dirty="0"/>
              <a:t>Poengter «institusjon først, penger etterpå»: å skape en regelstyrt sparemekanisme før presset om å bruke alt oppstår.</a:t>
            </a:r>
          </a:p>
        </p:txBody>
      </p:sp>
      <p:sp>
        <p:nvSpPr>
          <p:cNvPr id="4" name="Slide Number Placeholder 3"/>
          <p:cNvSpPr>
            <a:spLocks noGrp="1"/>
          </p:cNvSpPr>
          <p:nvPr>
            <p:ph type="sldNum" sz="quarter" idx="5"/>
          </p:nvPr>
        </p:nvSpPr>
        <p:spPr/>
        <p:txBody>
          <a:bodyPr/>
          <a:lstStyle/>
          <a:p>
            <a:fld id="{3FD4739E-9C57-4AE7-B15C-C6DCE23E91D8}" type="slidenum">
              <a:rPr lang="nb-NO" smtClean="0"/>
              <a:t>60</a:t>
            </a:fld>
            <a:endParaRPr lang="nb-NO"/>
          </a:p>
        </p:txBody>
      </p:sp>
    </p:spTree>
    <p:extLst>
      <p:ext uri="{BB962C8B-B14F-4D97-AF65-F5344CB8AC3E}">
        <p14:creationId xmlns:p14="http://schemas.microsoft.com/office/powerpoint/2010/main" val="36370609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b="1" dirty="0"/>
              <a:t>Notater:</a:t>
            </a:r>
            <a:br>
              <a:rPr lang="nb-NO" dirty="0"/>
            </a:br>
            <a:r>
              <a:rPr lang="nb-NO" dirty="0"/>
              <a:t>Fremhev tre pilarer: (1) avsetning, (2) uavhengig forvaltning, (3) regel for uttak. Dette er «institusjonell </a:t>
            </a:r>
            <a:r>
              <a:rPr lang="nb-NO" dirty="0" err="1"/>
              <a:t>Hartwick</a:t>
            </a:r>
            <a:r>
              <a:rPr lang="nb-NO" dirty="0"/>
              <a:t>».</a:t>
            </a:r>
          </a:p>
        </p:txBody>
      </p:sp>
      <p:sp>
        <p:nvSpPr>
          <p:cNvPr id="4" name="Slide Number Placeholder 3"/>
          <p:cNvSpPr>
            <a:spLocks noGrp="1"/>
          </p:cNvSpPr>
          <p:nvPr>
            <p:ph type="sldNum" sz="quarter" idx="5"/>
          </p:nvPr>
        </p:nvSpPr>
        <p:spPr/>
        <p:txBody>
          <a:bodyPr/>
          <a:lstStyle/>
          <a:p>
            <a:fld id="{3FD4739E-9C57-4AE7-B15C-C6DCE23E91D8}" type="slidenum">
              <a:rPr lang="nb-NO" smtClean="0"/>
              <a:t>61</a:t>
            </a:fld>
            <a:endParaRPr lang="nb-NO"/>
          </a:p>
        </p:txBody>
      </p:sp>
    </p:spTree>
    <p:extLst>
      <p:ext uri="{BB962C8B-B14F-4D97-AF65-F5344CB8AC3E}">
        <p14:creationId xmlns:p14="http://schemas.microsoft.com/office/powerpoint/2010/main" val="9447841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b="1" dirty="0"/>
              <a:t>Notater:</a:t>
            </a:r>
            <a:br>
              <a:rPr lang="nb-NO" dirty="0"/>
            </a:br>
            <a:r>
              <a:rPr lang="nb-NO" dirty="0"/>
              <a:t>Diskuter fordelingsprofilen av PFD (universell utbetaling) og hvordan POMV demper politisk «overuttak».</a:t>
            </a:r>
          </a:p>
          <a:p>
            <a:endParaRPr lang="nb-NO" dirty="0"/>
          </a:p>
          <a:p>
            <a:r>
              <a:rPr lang="nb-NO" b="1" dirty="0"/>
              <a:t>Alaska Permanent Fund</a:t>
            </a:r>
            <a:r>
              <a:rPr lang="nb-NO" dirty="0"/>
              <a:t> er et </a:t>
            </a:r>
            <a:r>
              <a:rPr lang="nb-NO" b="1" dirty="0"/>
              <a:t>delstatlig fond</a:t>
            </a:r>
            <a:r>
              <a:rPr lang="nb-NO" dirty="0"/>
              <a:t> (eid av delstaten Alaska), og </a:t>
            </a:r>
            <a:r>
              <a:rPr lang="nb-NO" b="1" dirty="0"/>
              <a:t>utbetalingene går direkte til innbyggerne i Alaska</a:t>
            </a:r>
            <a:r>
              <a:rPr lang="nb-NO" dirty="0"/>
              <a:t>, ikke til den føderale staten i Washington D.C.</a:t>
            </a:r>
          </a:p>
          <a:p>
            <a:r>
              <a:rPr lang="nb-NO" dirty="0"/>
              <a:t>Hvert år siden 1982 har det blitt delt ut et </a:t>
            </a:r>
            <a:r>
              <a:rPr lang="nb-NO" b="1" dirty="0"/>
              <a:t>Permanent Fund Dividend (PFD)</a:t>
            </a:r>
            <a:r>
              <a:rPr lang="nb-NO" dirty="0"/>
              <a:t> til alle som har vært bosatt i Alaska i minst ett år.</a:t>
            </a:r>
          </a:p>
          <a:p>
            <a:r>
              <a:rPr lang="nb-NO" dirty="0"/>
              <a:t>Størrelsen varierer med avkastningen og regelverket, men ligger typisk på </a:t>
            </a:r>
            <a:r>
              <a:rPr lang="nb-NO" b="1" dirty="0"/>
              <a:t>1000–2000 USD per person per år</a:t>
            </a:r>
            <a:r>
              <a:rPr lang="nb-NO" dirty="0"/>
              <a:t>.</a:t>
            </a:r>
          </a:p>
          <a:p>
            <a:r>
              <a:rPr lang="nb-NO" dirty="0"/>
              <a:t>Det betyr at en familie på fire kan få 4000–8000 USD i året – et slags «borgerutbytte» fra naturressursene.</a:t>
            </a:r>
          </a:p>
          <a:p>
            <a:r>
              <a:rPr lang="nb-NO" dirty="0"/>
              <a:t>💡 Dette er unikt fordi:</a:t>
            </a:r>
          </a:p>
          <a:p>
            <a:r>
              <a:rPr lang="nb-NO" dirty="0"/>
              <a:t>Mange land setter inntekter i fond (Norge, Kuwait), men få gir </a:t>
            </a:r>
            <a:r>
              <a:rPr lang="nb-NO" b="1" dirty="0"/>
              <a:t>kontantutbetaling direkte til befolkningen</a:t>
            </a:r>
            <a:r>
              <a:rPr lang="nb-NO" dirty="0"/>
              <a:t>.</a:t>
            </a:r>
          </a:p>
          <a:p>
            <a:r>
              <a:rPr lang="nb-NO" dirty="0"/>
              <a:t>Det gjør fondet </a:t>
            </a:r>
            <a:r>
              <a:rPr lang="nb-NO" b="1" dirty="0"/>
              <a:t>politisk populært</a:t>
            </a:r>
            <a:r>
              <a:rPr lang="nb-NO" dirty="0"/>
              <a:t> (alle innbyggerne får noe tilbake), men har også ført til debatt om hvor mye som bør spares vs. deles ut.</a:t>
            </a:r>
          </a:p>
          <a:p>
            <a:endParaRPr lang="nb-NO" dirty="0"/>
          </a:p>
        </p:txBody>
      </p:sp>
      <p:sp>
        <p:nvSpPr>
          <p:cNvPr id="4" name="Slide Number Placeholder 3"/>
          <p:cNvSpPr>
            <a:spLocks noGrp="1"/>
          </p:cNvSpPr>
          <p:nvPr>
            <p:ph type="sldNum" sz="quarter" idx="5"/>
          </p:nvPr>
        </p:nvSpPr>
        <p:spPr/>
        <p:txBody>
          <a:bodyPr/>
          <a:lstStyle/>
          <a:p>
            <a:fld id="{3FD4739E-9C57-4AE7-B15C-C6DCE23E91D8}" type="slidenum">
              <a:rPr lang="nb-NO" smtClean="0"/>
              <a:t>62</a:t>
            </a:fld>
            <a:endParaRPr lang="nb-NO"/>
          </a:p>
        </p:txBody>
      </p:sp>
    </p:spTree>
    <p:extLst>
      <p:ext uri="{BB962C8B-B14F-4D97-AF65-F5344CB8AC3E}">
        <p14:creationId xmlns:p14="http://schemas.microsoft.com/office/powerpoint/2010/main" val="9592657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b="1" dirty="0"/>
              <a:t>Notater:</a:t>
            </a:r>
            <a:br>
              <a:rPr lang="nb-NO" dirty="0"/>
            </a:br>
            <a:r>
              <a:rPr lang="nb-NO" dirty="0"/>
              <a:t>Vis at </a:t>
            </a:r>
            <a:r>
              <a:rPr lang="nb-NO" dirty="0" err="1"/>
              <a:t>vekstbanen</a:t>
            </a:r>
            <a:r>
              <a:rPr lang="nb-NO" dirty="0"/>
              <a:t> var «eksport av naturkapital» uten investeringsplan for tiden etterpå.</a:t>
            </a:r>
          </a:p>
        </p:txBody>
      </p:sp>
      <p:sp>
        <p:nvSpPr>
          <p:cNvPr id="4" name="Slide Number Placeholder 3"/>
          <p:cNvSpPr>
            <a:spLocks noGrp="1"/>
          </p:cNvSpPr>
          <p:nvPr>
            <p:ph type="sldNum" sz="quarter" idx="5"/>
          </p:nvPr>
        </p:nvSpPr>
        <p:spPr/>
        <p:txBody>
          <a:bodyPr/>
          <a:lstStyle/>
          <a:p>
            <a:fld id="{3FD4739E-9C57-4AE7-B15C-C6DCE23E91D8}" type="slidenum">
              <a:rPr lang="nb-NO" smtClean="0"/>
              <a:t>63</a:t>
            </a:fld>
            <a:endParaRPr lang="nb-NO"/>
          </a:p>
        </p:txBody>
      </p:sp>
    </p:spTree>
    <p:extLst>
      <p:ext uri="{BB962C8B-B14F-4D97-AF65-F5344CB8AC3E}">
        <p14:creationId xmlns:p14="http://schemas.microsoft.com/office/powerpoint/2010/main" val="34855024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b-NO" b="1" dirty="0"/>
              <a:t>Notater:</a:t>
            </a:r>
            <a:br>
              <a:rPr lang="nb-NO" dirty="0"/>
            </a:br>
            <a:r>
              <a:rPr lang="nb-NO" dirty="0"/>
              <a:t>Kontraster mot Alaska: inntekter brukt til konsum og prestisjeprosjekter, ikke til et varig fond.</a:t>
            </a:r>
          </a:p>
        </p:txBody>
      </p:sp>
      <p:sp>
        <p:nvSpPr>
          <p:cNvPr id="4" name="Slide Number Placeholder 3"/>
          <p:cNvSpPr>
            <a:spLocks noGrp="1"/>
          </p:cNvSpPr>
          <p:nvPr>
            <p:ph type="sldNum" sz="quarter" idx="5"/>
          </p:nvPr>
        </p:nvSpPr>
        <p:spPr/>
        <p:txBody>
          <a:bodyPr/>
          <a:lstStyle/>
          <a:p>
            <a:fld id="{3FD4739E-9C57-4AE7-B15C-C6DCE23E91D8}" type="slidenum">
              <a:rPr lang="nb-NO" smtClean="0"/>
              <a:t>64</a:t>
            </a:fld>
            <a:endParaRPr lang="nb-NO"/>
          </a:p>
        </p:txBody>
      </p:sp>
    </p:spTree>
    <p:extLst>
      <p:ext uri="{BB962C8B-B14F-4D97-AF65-F5344CB8AC3E}">
        <p14:creationId xmlns:p14="http://schemas.microsoft.com/office/powerpoint/2010/main" val="15822124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dirty="0"/>
          </a:p>
        </p:txBody>
      </p:sp>
      <p:sp>
        <p:nvSpPr>
          <p:cNvPr id="4" name="Slide Number Placeholder 3"/>
          <p:cNvSpPr>
            <a:spLocks noGrp="1"/>
          </p:cNvSpPr>
          <p:nvPr>
            <p:ph type="sldNum" sz="quarter" idx="5"/>
          </p:nvPr>
        </p:nvSpPr>
        <p:spPr/>
        <p:txBody>
          <a:bodyPr/>
          <a:lstStyle/>
          <a:p>
            <a:fld id="{3FD4739E-9C57-4AE7-B15C-C6DCE23E91D8}" type="slidenum">
              <a:rPr lang="nb-NO" smtClean="0"/>
              <a:t>65</a:t>
            </a:fld>
            <a:endParaRPr lang="nb-NO"/>
          </a:p>
        </p:txBody>
      </p:sp>
    </p:spTree>
    <p:extLst>
      <p:ext uri="{BB962C8B-B14F-4D97-AF65-F5344CB8AC3E}">
        <p14:creationId xmlns:p14="http://schemas.microsoft.com/office/powerpoint/2010/main" val="490486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FF77-45F4-CC62-4F91-91992D389E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E0008D7-0358-B6A2-39DE-9F916B96C6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DE5ACB5-F08E-030D-8A0F-E2696FEA5714}"/>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C87F10AD-4018-CB24-D73C-DC89D16899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963779-FD54-2B29-9FBB-5857A62EED20}"/>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5745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2E46-C5A8-910C-768A-C577B6B66E3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B8520A6-8430-3841-574E-6314200551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7313F6-1C26-CF74-9E3F-01D981303C44}"/>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436C2414-F7FB-7FC1-6770-5194EA5FC6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87D526-F27D-BC6A-4E88-C8A304A91AFA}"/>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1635472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1F3E-9695-1EF1-96CD-E98FA42F8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41E92A5-3AC1-997B-B131-199FC44351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BCC129-0E5A-264A-5721-61B866663B88}"/>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092C3B33-6016-F577-83D3-12522C969A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4D7173-8F20-BBAA-5EE4-F895F4686EC1}"/>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758568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5AF64-D916-DF41-4543-03FBE7233CC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DF3975D-7CCB-6F05-5C38-0D7869B14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A8D2B6-01A9-FCE8-BB5E-0731895514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14936CC-29D9-7B74-A1FD-000296A5473D}"/>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6" name="Footer Placeholder 5">
            <a:extLst>
              <a:ext uri="{FF2B5EF4-FFF2-40B4-BE49-F238E27FC236}">
                <a16:creationId xmlns:a16="http://schemas.microsoft.com/office/drawing/2014/main" id="{D8038C02-3D39-AA5E-453A-11B467FD31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5C58949-7B8D-81F3-063A-804AD09AA61A}"/>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116550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8044A-EB67-F849-346A-25842277C2D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9099975-76D0-42AD-1910-77FCE21D75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FE004-69EE-3294-7538-093E74440D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A6DC356-3B73-6FAF-A8E9-1A065FCDD1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DF2882-4003-D0CB-25F4-AF167D25D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4BF5F1B-81FA-9A1D-5B98-65A00C87ADFB}"/>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8" name="Footer Placeholder 7">
            <a:extLst>
              <a:ext uri="{FF2B5EF4-FFF2-40B4-BE49-F238E27FC236}">
                <a16:creationId xmlns:a16="http://schemas.microsoft.com/office/drawing/2014/main" id="{E8806E29-E739-CCA1-1588-72F0A212F9C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FFCFC2E-913B-AF6F-A047-1D20F5B3C424}"/>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3947597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8C0B-469C-AC99-26A1-B8B96EBAC14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DF91D85-7BD7-520C-A52F-8B3D4F9C4F29}"/>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4" name="Footer Placeholder 3">
            <a:extLst>
              <a:ext uri="{FF2B5EF4-FFF2-40B4-BE49-F238E27FC236}">
                <a16:creationId xmlns:a16="http://schemas.microsoft.com/office/drawing/2014/main" id="{1FED48AD-9F01-C5B7-00FC-901B3D16D72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A15092E-4AC9-9542-BA68-C6676822661F}"/>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2454209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0B4705-B373-DD6E-693D-D5B07908BFAF}"/>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3" name="Footer Placeholder 2">
            <a:extLst>
              <a:ext uri="{FF2B5EF4-FFF2-40B4-BE49-F238E27FC236}">
                <a16:creationId xmlns:a16="http://schemas.microsoft.com/office/drawing/2014/main" id="{F2BA061C-9A06-E27E-C2C1-858631812B5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98F2994-4484-0183-EE27-D757A79A5B37}"/>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3544702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39C0-F9BA-ABE8-A6B1-A47355D665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A7B323-A4A1-70AC-E064-3AEC27C9A6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3D3C16F-3DD1-C163-2635-F18AE5318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D4A471-6BCD-C237-FC6E-E327B0172242}"/>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6" name="Footer Placeholder 5">
            <a:extLst>
              <a:ext uri="{FF2B5EF4-FFF2-40B4-BE49-F238E27FC236}">
                <a16:creationId xmlns:a16="http://schemas.microsoft.com/office/drawing/2014/main" id="{2685D1DD-81EF-AFA5-055B-25FA3822D69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98EA6D-F17D-AF6E-0DA8-C7877D5F63FA}"/>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43864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13EE0-A834-AF57-1C88-BABA4206B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0BEE83E-B9E5-960D-E66F-368C0F0E7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D3D16CD-EECB-A072-B33B-D10C87996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68CED2-F8AC-4A4C-BE92-E133B555EA07}"/>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6" name="Footer Placeholder 5">
            <a:extLst>
              <a:ext uri="{FF2B5EF4-FFF2-40B4-BE49-F238E27FC236}">
                <a16:creationId xmlns:a16="http://schemas.microsoft.com/office/drawing/2014/main" id="{F37F7567-5AA3-A454-8FF1-D6636BAC41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2C2295-A0E3-8F97-6285-7817DBAE27D2}"/>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955459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74DF6-2C82-AA2B-8CA3-AE09580D462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9B00DF-92ED-61F2-630E-24543B159A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3C31AC-B626-D08C-4901-37324FE1B1B8}"/>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DD39EFDD-C1E3-227F-4342-D8F1A1E273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136A90-9A6C-AC3E-FF20-07DA82060B64}"/>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4200878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7B5DE3-9E73-E09E-4A19-03B8E9D0F6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9AC34D0-2835-1414-F433-26C62904EF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90CEE0-531F-19EA-B77E-1C5B7E4FCA7E}"/>
              </a:ext>
            </a:extLst>
          </p:cNvPr>
          <p:cNvSpPr>
            <a:spLocks noGrp="1"/>
          </p:cNvSpPr>
          <p:nvPr>
            <p:ph type="dt" sz="half" idx="10"/>
          </p:nvPr>
        </p:nvSpPr>
        <p:spPr/>
        <p:txBody>
          <a:body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869D49FF-66A8-FD12-8D3D-4A08622B1B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974B68-FA4C-31CE-2BD4-0BF5CF869CE8}"/>
              </a:ext>
            </a:extLst>
          </p:cNvPr>
          <p:cNvSpPr>
            <a:spLocks noGrp="1"/>
          </p:cNvSpPr>
          <p:nvPr>
            <p:ph type="sldNum" sz="quarter" idx="12"/>
          </p:nvPr>
        </p:nvSpPr>
        <p:spPr/>
        <p:txBody>
          <a:bodyPr/>
          <a:lstStyle/>
          <a:p>
            <a:fld id="{E5EC485B-319B-4D74-8096-0431562EF72A}" type="slidenum">
              <a:rPr lang="en-GB" smtClean="0"/>
              <a:t>‹#›</a:t>
            </a:fld>
            <a:endParaRPr lang="en-GB"/>
          </a:p>
        </p:txBody>
      </p:sp>
    </p:spTree>
    <p:extLst>
      <p:ext uri="{BB962C8B-B14F-4D97-AF65-F5344CB8AC3E}">
        <p14:creationId xmlns:p14="http://schemas.microsoft.com/office/powerpoint/2010/main" val="4141443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4E1BF9-1DA5-153B-A787-AB1ED7F605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BBD83A-3A8E-3257-D56E-4207E8E08D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45DC65-6F4D-EAD0-7E3C-CBC5EDF29A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08E7C9-C22B-40F7-AB2F-0568219BCFD2}" type="datetimeFigureOut">
              <a:rPr lang="en-GB" smtClean="0"/>
              <a:t>05/10/2026</a:t>
            </a:fld>
            <a:endParaRPr lang="en-GB"/>
          </a:p>
        </p:txBody>
      </p:sp>
      <p:sp>
        <p:nvSpPr>
          <p:cNvPr id="5" name="Footer Placeholder 4">
            <a:extLst>
              <a:ext uri="{FF2B5EF4-FFF2-40B4-BE49-F238E27FC236}">
                <a16:creationId xmlns:a16="http://schemas.microsoft.com/office/drawing/2014/main" id="{0C449E55-00FD-4AFF-AA9F-2834F1C676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EB07CAD-5B6D-7D16-63FB-B46BA8E0A1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EC485B-319B-4D74-8096-0431562EF72A}" type="slidenum">
              <a:rPr lang="en-GB" smtClean="0"/>
              <a:t>‹#›</a:t>
            </a:fld>
            <a:endParaRPr lang="en-GB"/>
          </a:p>
        </p:txBody>
      </p:sp>
    </p:spTree>
    <p:extLst>
      <p:ext uri="{BB962C8B-B14F-4D97-AF65-F5344CB8AC3E}">
        <p14:creationId xmlns:p14="http://schemas.microsoft.com/office/powerpoint/2010/main" val="3838188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0.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0.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40.png"/></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7.xml"/><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130.png"/></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21.png"/><Relationship Id="rId7" Type="http://schemas.openxmlformats.org/officeDocument/2006/relationships/image" Target="../media/image16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41.png"/><Relationship Id="rId10" Type="http://schemas.openxmlformats.org/officeDocument/2006/relationships/image" Target="../media/image39.png"/><Relationship Id="rId4" Type="http://schemas.openxmlformats.org/officeDocument/2006/relationships/image" Target="../media/image130.png"/><Relationship Id="rId9"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6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6.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D4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4A3BE6-77B2-7555-1095-55D83527A919}"/>
              </a:ext>
            </a:extLst>
          </p:cNvPr>
          <p:cNvSpPr/>
          <p:nvPr/>
        </p:nvSpPr>
        <p:spPr>
          <a:xfrm>
            <a:off x="723900" y="800100"/>
            <a:ext cx="95250" cy="49720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FC7B52C-5F48-EFB9-8FC0-D5F9BB73B677}"/>
              </a:ext>
            </a:extLst>
          </p:cNvPr>
          <p:cNvSpPr txBox="1"/>
          <p:nvPr/>
        </p:nvSpPr>
        <p:spPr>
          <a:xfrm>
            <a:off x="1162050" y="383486"/>
            <a:ext cx="6762750" cy="1390124"/>
          </a:xfrm>
          <a:prstGeom prst="rect">
            <a:avLst/>
          </a:prstGeom>
          <a:noFill/>
        </p:spPr>
        <p:txBody>
          <a:bodyPr vert="horz" lIns="50800" tIns="25400" rIns="50800" bIns="25400" rtlCol="0" anchor="ctr">
            <a:noAutofit/>
          </a:bodyPr>
          <a:lstStyle/>
          <a:p>
            <a:r>
              <a:rPr lang="en-GB" sz="4350" b="1">
                <a:solidFill>
                  <a:srgbClr val="FFFFFF"/>
                </a:solidFill>
                <a:latin typeface="Aptos" panose="020B0004020202020204" pitchFamily="34" charset="0"/>
              </a:rPr>
              <a:t>Dynamisk</a:t>
            </a:r>
          </a:p>
          <a:p>
            <a:r>
              <a:rPr lang="en-GB" sz="4350" b="1">
                <a:solidFill>
                  <a:srgbClr val="FFFFFF"/>
                </a:solidFill>
                <a:latin typeface="Aptos" panose="020B0004020202020204" pitchFamily="34" charset="0"/>
              </a:rPr>
              <a:t>effektivitet</a:t>
            </a:r>
          </a:p>
        </p:txBody>
      </p:sp>
      <p:sp>
        <p:nvSpPr>
          <p:cNvPr id="4" name="TextBox 3">
            <a:extLst>
              <a:ext uri="{FF2B5EF4-FFF2-40B4-BE49-F238E27FC236}">
                <a16:creationId xmlns:a16="http://schemas.microsoft.com/office/drawing/2014/main" id="{F7D225B0-3FFA-4A60-895D-6513C660EEDE}"/>
              </a:ext>
            </a:extLst>
          </p:cNvPr>
          <p:cNvSpPr txBox="1"/>
          <p:nvPr/>
        </p:nvSpPr>
        <p:spPr>
          <a:xfrm>
            <a:off x="1200150" y="2758217"/>
            <a:ext cx="7429500" cy="670783"/>
          </a:xfrm>
          <a:prstGeom prst="rect">
            <a:avLst/>
          </a:prstGeom>
          <a:noFill/>
        </p:spPr>
        <p:txBody>
          <a:bodyPr vert="horz" lIns="50800" tIns="25400" rIns="50800" bIns="25400" rtlCol="0" anchor="ctr">
            <a:noAutofit/>
          </a:bodyPr>
          <a:lstStyle/>
          <a:p>
            <a:r>
              <a:rPr lang="nb-NO" sz="2100" noProof="0" dirty="0">
                <a:solidFill>
                  <a:srgbClr val="D9E7EB"/>
                </a:solidFill>
                <a:latin typeface="Aptos" panose="020B0004020202020204" pitchFamily="34" charset="0"/>
              </a:rPr>
              <a:t>Ressursvalg over tid og bærekraftig utvikling</a:t>
            </a:r>
          </a:p>
          <a:p>
            <a:r>
              <a:rPr lang="nb-NO" sz="2100" noProof="0" dirty="0">
                <a:solidFill>
                  <a:srgbClr val="D9E7EB"/>
                </a:solidFill>
                <a:latin typeface="Aptos" panose="020B0004020202020204" pitchFamily="34" charset="0"/>
              </a:rPr>
              <a:t>Kapittel 5 + 6</a:t>
            </a:r>
          </a:p>
        </p:txBody>
      </p:sp>
      <p:sp>
        <p:nvSpPr>
          <p:cNvPr id="5" name="Rectangle: Rounded Corners 4">
            <a:extLst>
              <a:ext uri="{FF2B5EF4-FFF2-40B4-BE49-F238E27FC236}">
                <a16:creationId xmlns:a16="http://schemas.microsoft.com/office/drawing/2014/main" id="{83E6CC68-307D-A8DB-6197-219D6B7D9267}"/>
              </a:ext>
            </a:extLst>
          </p:cNvPr>
          <p:cNvSpPr/>
          <p:nvPr/>
        </p:nvSpPr>
        <p:spPr>
          <a:xfrm>
            <a:off x="8739187" y="916144"/>
            <a:ext cx="2381250" cy="2381250"/>
          </a:xfrm>
          <a:prstGeom prst="roundRect">
            <a:avLst/>
          </a:prstGeom>
          <a:solidFill>
            <a:srgbClr val="087E8B"/>
          </a:solidFill>
          <a:ln w="19050">
            <a:solidFill>
              <a:srgbClr val="5FC2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112655A3-CE23-16AC-C571-182AC6FF43E0}"/>
              </a:ext>
            </a:extLst>
          </p:cNvPr>
          <p:cNvSpPr txBox="1"/>
          <p:nvPr/>
        </p:nvSpPr>
        <p:spPr>
          <a:xfrm>
            <a:off x="8858250" y="1155226"/>
            <a:ext cx="2000250" cy="951543"/>
          </a:xfrm>
          <a:prstGeom prst="rect">
            <a:avLst/>
          </a:prstGeom>
          <a:noFill/>
        </p:spPr>
        <p:txBody>
          <a:bodyPr vert="horz" lIns="50800" tIns="25400" rIns="50800" bIns="25400" rtlCol="0" anchor="ctr">
            <a:noAutofit/>
          </a:bodyPr>
          <a:lstStyle/>
          <a:p>
            <a:pPr algn="ctr"/>
            <a:r>
              <a:rPr lang="en-GB" sz="5850" b="1" dirty="0">
                <a:solidFill>
                  <a:srgbClr val="FFFFFF"/>
                </a:solidFill>
                <a:latin typeface="Aptos" panose="020B0004020202020204" pitchFamily="34" charset="0"/>
              </a:rPr>
              <a:t>20</a:t>
            </a:r>
          </a:p>
        </p:txBody>
      </p:sp>
      <p:sp>
        <p:nvSpPr>
          <p:cNvPr id="7" name="TextBox 6">
            <a:extLst>
              <a:ext uri="{FF2B5EF4-FFF2-40B4-BE49-F238E27FC236}">
                <a16:creationId xmlns:a16="http://schemas.microsoft.com/office/drawing/2014/main" id="{92BD2A3E-A526-6277-347C-8328C1442F69}"/>
              </a:ext>
            </a:extLst>
          </p:cNvPr>
          <p:cNvSpPr txBox="1"/>
          <p:nvPr/>
        </p:nvSpPr>
        <p:spPr>
          <a:xfrm>
            <a:off x="8858250" y="2261801"/>
            <a:ext cx="2000250" cy="605294"/>
          </a:xfrm>
          <a:prstGeom prst="rect">
            <a:avLst/>
          </a:prstGeom>
          <a:noFill/>
        </p:spPr>
        <p:txBody>
          <a:bodyPr vert="horz" lIns="50800" tIns="25400" rIns="50800" bIns="25400" rtlCol="0" anchor="ctr">
            <a:noAutofit/>
          </a:bodyPr>
          <a:lstStyle/>
          <a:p>
            <a:pPr algn="ctr"/>
            <a:r>
              <a:rPr lang="en-GB" dirty="0" err="1">
                <a:solidFill>
                  <a:srgbClr val="FFFFFF"/>
                </a:solidFill>
                <a:latin typeface="Aptos" panose="020B0004020202020204" pitchFamily="34" charset="0"/>
              </a:rPr>
              <a:t>utvinnbare</a:t>
            </a:r>
            <a:endParaRPr lang="en-GB" dirty="0">
              <a:solidFill>
                <a:srgbClr val="FFFFFF"/>
              </a:solidFill>
              <a:latin typeface="Aptos" panose="020B0004020202020204" pitchFamily="34" charset="0"/>
            </a:endParaRPr>
          </a:p>
          <a:p>
            <a:pPr algn="ctr"/>
            <a:r>
              <a:rPr lang="en-GB" dirty="0" err="1">
                <a:solidFill>
                  <a:srgbClr val="FFFFFF"/>
                </a:solidFill>
                <a:latin typeface="Aptos" panose="020B0004020202020204" pitchFamily="34" charset="0"/>
              </a:rPr>
              <a:t>enheter</a:t>
            </a:r>
            <a:endParaRPr lang="en-GB" dirty="0">
              <a:solidFill>
                <a:srgbClr val="FFFFFF"/>
              </a:solidFill>
              <a:latin typeface="Aptos" panose="020B0004020202020204" pitchFamily="34" charset="0"/>
            </a:endParaRPr>
          </a:p>
        </p:txBody>
      </p:sp>
      <p:sp>
        <p:nvSpPr>
          <p:cNvPr id="8" name="TextBox 7">
            <a:extLst>
              <a:ext uri="{FF2B5EF4-FFF2-40B4-BE49-F238E27FC236}">
                <a16:creationId xmlns:a16="http://schemas.microsoft.com/office/drawing/2014/main" id="{F466E53D-891E-27DC-F049-0C437CC0E5C9}"/>
              </a:ext>
            </a:extLst>
          </p:cNvPr>
          <p:cNvSpPr txBox="1"/>
          <p:nvPr/>
        </p:nvSpPr>
        <p:spPr>
          <a:xfrm>
            <a:off x="1008184" y="5334000"/>
            <a:ext cx="2857500" cy="293670"/>
          </a:xfrm>
          <a:prstGeom prst="rect">
            <a:avLst/>
          </a:prstGeom>
          <a:noFill/>
        </p:spPr>
        <p:txBody>
          <a:bodyPr vert="horz" lIns="50800" tIns="25400" rIns="50800" bIns="25400" rtlCol="0" anchor="t">
            <a:noAutofit/>
          </a:bodyPr>
          <a:lstStyle/>
          <a:p>
            <a:r>
              <a:rPr lang="en-GB" sz="1575">
                <a:solidFill>
                  <a:srgbClr val="FFFFFF"/>
                </a:solidFill>
                <a:latin typeface="Aptos" panose="020B0004020202020204" pitchFamily="34" charset="0"/>
              </a:rPr>
              <a:t>SOK-2302 Miljø- og ressursøkonomi</a:t>
            </a:r>
          </a:p>
        </p:txBody>
      </p:sp>
      <p:sp>
        <p:nvSpPr>
          <p:cNvPr id="9" name="TextBox 8">
            <a:extLst>
              <a:ext uri="{FF2B5EF4-FFF2-40B4-BE49-F238E27FC236}">
                <a16:creationId xmlns:a16="http://schemas.microsoft.com/office/drawing/2014/main" id="{C6E13384-6B87-107D-7DED-FC9829C179F6}"/>
              </a:ext>
            </a:extLst>
          </p:cNvPr>
          <p:cNvSpPr txBox="1"/>
          <p:nvPr/>
        </p:nvSpPr>
        <p:spPr>
          <a:xfrm>
            <a:off x="1008184" y="5867400"/>
            <a:ext cx="2857500" cy="259045"/>
          </a:xfrm>
          <a:prstGeom prst="rect">
            <a:avLst/>
          </a:prstGeom>
          <a:noFill/>
        </p:spPr>
        <p:txBody>
          <a:bodyPr vert="horz" lIns="50800" tIns="25400" rIns="50800" bIns="25400" rtlCol="0" anchor="t">
            <a:noAutofit/>
          </a:bodyPr>
          <a:lstStyle/>
          <a:p>
            <a:r>
              <a:rPr lang="en-GB" sz="1350" dirty="0">
                <a:solidFill>
                  <a:srgbClr val="D9E7EB"/>
                </a:solidFill>
                <a:latin typeface="Aptos" panose="020B0004020202020204" pitchFamily="34" charset="0"/>
              </a:rPr>
              <a:t>05.10.2026</a:t>
            </a:r>
          </a:p>
        </p:txBody>
      </p:sp>
    </p:spTree>
    <p:extLst>
      <p:ext uri="{BB962C8B-B14F-4D97-AF65-F5344CB8AC3E}">
        <p14:creationId xmlns:p14="http://schemas.microsoft.com/office/powerpoint/2010/main" val="2901206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2794F0-7F9F-8E99-F25D-305520F7B0B7}"/>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Fornybare og uttømmingsbare ressurser</a:t>
            </a:r>
          </a:p>
        </p:txBody>
      </p:sp>
      <p:sp>
        <p:nvSpPr>
          <p:cNvPr id="3" name="Rectangle 2">
            <a:extLst>
              <a:ext uri="{FF2B5EF4-FFF2-40B4-BE49-F238E27FC236}">
                <a16:creationId xmlns:a16="http://schemas.microsoft.com/office/drawing/2014/main" id="{FC72C923-BD03-0B2A-BB24-30EBD0AA0268}"/>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D595803-6EA1-8DF4-3CDE-EC2B4B7575D4}"/>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D0C9C72F-D0FE-DE2A-CB99-4E2E3857BD1A}"/>
              </a:ext>
            </a:extLst>
          </p:cNvPr>
          <p:cNvSpPr/>
          <p:nvPr/>
        </p:nvSpPr>
        <p:spPr>
          <a:xfrm>
            <a:off x="876300" y="1476375"/>
            <a:ext cx="4857750" cy="314325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EA3D7BFA-4670-9C80-925A-8AD8687692E9}"/>
              </a:ext>
            </a:extLst>
          </p:cNvPr>
          <p:cNvSpPr txBox="1"/>
          <p:nvPr/>
        </p:nvSpPr>
        <p:spPr>
          <a:xfrm>
            <a:off x="1190625" y="1762125"/>
            <a:ext cx="4238625" cy="386003"/>
          </a:xfrm>
          <a:prstGeom prst="rect">
            <a:avLst/>
          </a:prstGeom>
          <a:noFill/>
        </p:spPr>
        <p:txBody>
          <a:bodyPr vert="horz" lIns="50800" tIns="25400" rIns="50800" bIns="25400" rtlCol="0" anchor="t">
            <a:noAutofit/>
          </a:bodyPr>
          <a:lstStyle/>
          <a:p>
            <a:pPr algn="ctr"/>
            <a:r>
              <a:rPr lang="en-GB" sz="2175" b="1" dirty="0" err="1">
                <a:solidFill>
                  <a:srgbClr val="087E8B"/>
                </a:solidFill>
                <a:latin typeface="Aptos" panose="020B0004020202020204" pitchFamily="34" charset="0"/>
              </a:rPr>
              <a:t>Ressursen</a:t>
            </a:r>
            <a:r>
              <a:rPr lang="en-GB" sz="2175" b="1" dirty="0">
                <a:solidFill>
                  <a:srgbClr val="087E8B"/>
                </a:solidFill>
                <a:latin typeface="Aptos" panose="020B0004020202020204" pitchFamily="34" charset="0"/>
              </a:rPr>
              <a:t> </a:t>
            </a:r>
            <a:r>
              <a:rPr lang="en-GB" sz="2175" b="1" dirty="0" err="1">
                <a:solidFill>
                  <a:srgbClr val="087E8B"/>
                </a:solidFill>
                <a:latin typeface="Aptos" panose="020B0004020202020204" pitchFamily="34" charset="0"/>
              </a:rPr>
              <a:t>fornyes</a:t>
            </a:r>
            <a:endParaRPr lang="en-GB" sz="2175" b="1" dirty="0">
              <a:solidFill>
                <a:srgbClr val="087E8B"/>
              </a:solidFill>
              <a:latin typeface="Aptos" panose="020B0004020202020204" pitchFamily="34" charset="0"/>
            </a:endParaRPr>
          </a:p>
        </p:txBody>
      </p:sp>
      <p:sp>
        <p:nvSpPr>
          <p:cNvPr id="8" name="TextBox 7">
            <a:extLst>
              <a:ext uri="{FF2B5EF4-FFF2-40B4-BE49-F238E27FC236}">
                <a16:creationId xmlns:a16="http://schemas.microsoft.com/office/drawing/2014/main" id="{2A720FF9-74B1-E2D8-B4CD-D1457649EAA3}"/>
              </a:ext>
            </a:extLst>
          </p:cNvPr>
          <p:cNvSpPr txBox="1"/>
          <p:nvPr/>
        </p:nvSpPr>
        <p:spPr>
          <a:xfrm>
            <a:off x="1285875" y="2524125"/>
            <a:ext cx="4048125" cy="1713290"/>
          </a:xfrm>
          <a:prstGeom prst="rect">
            <a:avLst/>
          </a:prstGeom>
          <a:noFill/>
        </p:spPr>
        <p:txBody>
          <a:bodyPr vert="horz" lIns="50800" tIns="25400" rIns="50800" bIns="25400" rtlCol="0" anchor="t">
            <a:noAutofit/>
          </a:bodyPr>
          <a:lstStyle/>
          <a:p>
            <a:pPr algn="ctr"/>
            <a:r>
              <a:rPr lang="nb-NO" dirty="0">
                <a:solidFill>
                  <a:srgbClr val="1C2930"/>
                </a:solidFill>
                <a:latin typeface="Aptos" panose="020B0004020202020204" pitchFamily="34" charset="0"/>
              </a:rPr>
              <a:t>Tilgangen kan være den samme neste periode når ressursen fylles opp før vi bruker den igjen.</a:t>
            </a:r>
          </a:p>
          <a:p>
            <a:pPr algn="ctr"/>
            <a:endParaRPr lang="nb-NO" dirty="0">
              <a:solidFill>
                <a:srgbClr val="1C2930"/>
              </a:solidFill>
              <a:latin typeface="Aptos" panose="020B0004020202020204" pitchFamily="34" charset="0"/>
            </a:endParaRPr>
          </a:p>
          <a:p>
            <a:pPr algn="ctr"/>
            <a:r>
              <a:rPr lang="nb-NO" dirty="0">
                <a:solidFill>
                  <a:srgbClr val="1C2930"/>
                </a:solidFill>
                <a:latin typeface="Aptos" panose="020B0004020202020204" pitchFamily="34" charset="0"/>
              </a:rPr>
              <a:t>Eksempel: solenergi, oksygen, trær og </a:t>
            </a:r>
            <a:r>
              <a:rPr lang="nb-NO" noProof="0" dirty="0">
                <a:solidFill>
                  <a:srgbClr val="1C2930"/>
                </a:solidFill>
                <a:latin typeface="Aptos" panose="020B0004020202020204" pitchFamily="34" charset="0"/>
              </a:rPr>
              <a:t>naturens renseevne.</a:t>
            </a:r>
            <a:endParaRPr lang="nb-NO" dirty="0">
              <a:solidFill>
                <a:srgbClr val="1C2930"/>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08080753-08A4-EB6A-101B-C9FCC498FF9C}"/>
              </a:ext>
            </a:extLst>
          </p:cNvPr>
          <p:cNvSpPr/>
          <p:nvPr/>
        </p:nvSpPr>
        <p:spPr>
          <a:xfrm>
            <a:off x="6457950" y="1476375"/>
            <a:ext cx="4857750" cy="3143250"/>
          </a:xfrm>
          <a:prstGeom prst="roundRect">
            <a:avLst/>
          </a:prstGeom>
          <a:solidFill>
            <a:srgbClr val="EEF7F8"/>
          </a:solidFill>
          <a:ln w="16192">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6D1A89E8-78A4-28FF-0E45-1E5ADC97FFC6}"/>
              </a:ext>
            </a:extLst>
          </p:cNvPr>
          <p:cNvSpPr txBox="1"/>
          <p:nvPr/>
        </p:nvSpPr>
        <p:spPr>
          <a:xfrm>
            <a:off x="6762750" y="1762125"/>
            <a:ext cx="4238625" cy="386003"/>
          </a:xfrm>
          <a:prstGeom prst="rect">
            <a:avLst/>
          </a:prstGeom>
          <a:noFill/>
        </p:spPr>
        <p:txBody>
          <a:bodyPr vert="horz" lIns="50800" tIns="25400" rIns="50800" bIns="25400" rtlCol="0" anchor="t">
            <a:noAutofit/>
          </a:bodyPr>
          <a:lstStyle/>
          <a:p>
            <a:pPr algn="ctr"/>
            <a:r>
              <a:rPr lang="en-GB" sz="2175" b="1">
                <a:solidFill>
                  <a:srgbClr val="087E8B"/>
                </a:solidFill>
                <a:latin typeface="Aptos" panose="020B0004020202020204" pitchFamily="34" charset="0"/>
              </a:rPr>
              <a:t>Fast lager</a:t>
            </a:r>
          </a:p>
        </p:txBody>
      </p:sp>
      <p:sp>
        <p:nvSpPr>
          <p:cNvPr id="11" name="TextBox 10">
            <a:extLst>
              <a:ext uri="{FF2B5EF4-FFF2-40B4-BE49-F238E27FC236}">
                <a16:creationId xmlns:a16="http://schemas.microsoft.com/office/drawing/2014/main" id="{23ABDA11-8775-4492-F17D-37E7869008C1}"/>
              </a:ext>
            </a:extLst>
          </p:cNvPr>
          <p:cNvSpPr txBox="1"/>
          <p:nvPr/>
        </p:nvSpPr>
        <p:spPr>
          <a:xfrm>
            <a:off x="6858000" y="2524125"/>
            <a:ext cx="4048125" cy="1436291"/>
          </a:xfrm>
          <a:prstGeom prst="rect">
            <a:avLst/>
          </a:prstGeom>
          <a:noFill/>
        </p:spPr>
        <p:txBody>
          <a:bodyPr vert="horz" lIns="50800" tIns="25400" rIns="50800" bIns="25400" rtlCol="0" anchor="t">
            <a:noAutofit/>
          </a:bodyPr>
          <a:lstStyle/>
          <a:p>
            <a:pPr algn="ctr"/>
            <a:r>
              <a:rPr lang="nb-NO" dirty="0">
                <a:solidFill>
                  <a:srgbClr val="1C2930"/>
                </a:solidFill>
                <a:latin typeface="Aptos" panose="020B0004020202020204" pitchFamily="34" charset="0"/>
              </a:rPr>
              <a:t>Bruk i dag reduserer det som finnes i neste periode.</a:t>
            </a:r>
          </a:p>
          <a:p>
            <a:pPr algn="ctr"/>
            <a:endParaRPr lang="nb-NO" dirty="0">
              <a:solidFill>
                <a:srgbClr val="1C2930"/>
              </a:solidFill>
              <a:latin typeface="Aptos" panose="020B0004020202020204" pitchFamily="34" charset="0"/>
            </a:endParaRPr>
          </a:p>
          <a:p>
            <a:pPr algn="ctr"/>
            <a:r>
              <a:rPr lang="nb-NO" dirty="0">
                <a:solidFill>
                  <a:srgbClr val="1C2930"/>
                </a:solidFill>
                <a:latin typeface="Aptos" panose="020B0004020202020204" pitchFamily="34" charset="0"/>
              </a:rPr>
              <a:t>Eksempel: metall eller olje osv.</a:t>
            </a:r>
            <a:endParaRPr lang="en-GB" dirty="0">
              <a:solidFill>
                <a:srgbClr val="1C2930"/>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D6DEFF47-9965-8904-EF07-598A13E1A4B1}"/>
              </a:ext>
            </a:extLst>
          </p:cNvPr>
          <p:cNvSpPr/>
          <p:nvPr/>
        </p:nvSpPr>
        <p:spPr>
          <a:xfrm>
            <a:off x="1381125" y="5143500"/>
            <a:ext cx="9429750" cy="68580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074268A-6E04-FE31-B80C-BE4188B0B02A}"/>
              </a:ext>
            </a:extLst>
          </p:cNvPr>
          <p:cNvSpPr/>
          <p:nvPr/>
        </p:nvSpPr>
        <p:spPr>
          <a:xfrm>
            <a:off x="1381125" y="5143500"/>
            <a:ext cx="76200" cy="6858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53A12A80-3B19-3D52-1253-2FF0A86C2CA3}"/>
              </a:ext>
            </a:extLst>
          </p:cNvPr>
          <p:cNvSpPr txBox="1"/>
          <p:nvPr/>
        </p:nvSpPr>
        <p:spPr>
          <a:xfrm>
            <a:off x="1628775" y="5172211"/>
            <a:ext cx="9010650" cy="628377"/>
          </a:xfrm>
          <a:prstGeom prst="rect">
            <a:avLst/>
          </a:prstGeom>
          <a:noFill/>
        </p:spPr>
        <p:txBody>
          <a:bodyPr vert="horz" lIns="50800" tIns="25400" rIns="50800" bIns="25400" rtlCol="0" anchor="ctr">
            <a:noAutofit/>
          </a:bodyPr>
          <a:lstStyle/>
          <a:p>
            <a:r>
              <a:rPr lang="nb-NO" sz="1875" b="1" dirty="0">
                <a:solidFill>
                  <a:srgbClr val="0B3D4F"/>
                </a:solidFill>
                <a:latin typeface="Aptos" panose="020B0004020202020204" pitchFamily="34" charset="0"/>
              </a:rPr>
              <a:t>Fisk, skog og grunnvann kan også være dynamiske. Ressursbegrepene kommer igjen i kapittel 6.</a:t>
            </a:r>
            <a:endParaRPr lang="en-GB" sz="1875" b="1" dirty="0">
              <a:solidFill>
                <a:srgbClr val="0B3D4F"/>
              </a:solidFill>
              <a:latin typeface="Aptos" panose="020B0004020202020204" pitchFamily="34" charset="0"/>
            </a:endParaRPr>
          </a:p>
        </p:txBody>
      </p:sp>
    </p:spTree>
    <p:extLst>
      <p:ext uri="{BB962C8B-B14F-4D97-AF65-F5344CB8AC3E}">
        <p14:creationId xmlns:p14="http://schemas.microsoft.com/office/powerpoint/2010/main" val="11312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F879DC-E72D-02C2-3354-D4D0AB327EB7}"/>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noProof="0" dirty="0">
                <a:solidFill>
                  <a:srgbClr val="0B3D4F"/>
                </a:solidFill>
                <a:latin typeface="Aptos" panose="020B0004020202020204" pitchFamily="34" charset="0"/>
              </a:rPr>
              <a:t>Natur resurs</a:t>
            </a:r>
          </a:p>
        </p:txBody>
      </p:sp>
      <p:sp>
        <p:nvSpPr>
          <p:cNvPr id="3" name="Rectangle 2">
            <a:extLst>
              <a:ext uri="{FF2B5EF4-FFF2-40B4-BE49-F238E27FC236}">
                <a16:creationId xmlns:a16="http://schemas.microsoft.com/office/drawing/2014/main" id="{92B094AF-DBE1-514A-F217-6482EE3CDD77}"/>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3DA5472-E0C8-8A1A-94B2-E30313E919C1}"/>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2767C10D-8A8C-C8C8-5709-F5F7C5B4193F}"/>
              </a:ext>
            </a:extLst>
          </p:cNvPr>
          <p:cNvSpPr/>
          <p:nvPr/>
        </p:nvSpPr>
        <p:spPr>
          <a:xfrm>
            <a:off x="1000125" y="1571625"/>
            <a:ext cx="4619625" cy="295275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6C6F6D1-B321-A18C-B4B5-FEDB905B7346}"/>
              </a:ext>
            </a:extLst>
          </p:cNvPr>
          <p:cNvSpPr txBox="1"/>
          <p:nvPr/>
        </p:nvSpPr>
        <p:spPr>
          <a:xfrm>
            <a:off x="1381125" y="1857375"/>
            <a:ext cx="3857625" cy="409086"/>
          </a:xfrm>
          <a:prstGeom prst="rect">
            <a:avLst/>
          </a:prstGeom>
          <a:noFill/>
        </p:spPr>
        <p:txBody>
          <a:bodyPr vert="horz" lIns="50800" tIns="25400" rIns="50800" bIns="25400" rtlCol="0" anchor="t">
            <a:noAutofit/>
          </a:bodyPr>
          <a:lstStyle/>
          <a:p>
            <a:pPr algn="ctr"/>
            <a:r>
              <a:rPr lang="nb-NO" sz="2325" b="1" noProof="0" dirty="0">
                <a:solidFill>
                  <a:srgbClr val="087E8B"/>
                </a:solidFill>
                <a:latin typeface="Aptos" panose="020B0004020202020204" pitchFamily="34" charset="0"/>
              </a:rPr>
              <a:t>Ressurs 1</a:t>
            </a:r>
          </a:p>
        </p:txBody>
      </p:sp>
      <p:sp>
        <p:nvSpPr>
          <p:cNvPr id="8" name="TextBox 7">
            <a:extLst>
              <a:ext uri="{FF2B5EF4-FFF2-40B4-BE49-F238E27FC236}">
                <a16:creationId xmlns:a16="http://schemas.microsoft.com/office/drawing/2014/main" id="{491B0237-8102-6D15-D0A2-6CF503B6F729}"/>
              </a:ext>
            </a:extLst>
          </p:cNvPr>
          <p:cNvSpPr txBox="1"/>
          <p:nvPr/>
        </p:nvSpPr>
        <p:spPr>
          <a:xfrm>
            <a:off x="1476375" y="2385689"/>
            <a:ext cx="3667125" cy="1297791"/>
          </a:xfrm>
          <a:prstGeom prst="rect">
            <a:avLst/>
          </a:prstGeom>
          <a:noFill/>
        </p:spPr>
        <p:txBody>
          <a:bodyPr vert="horz" lIns="50800" tIns="25400" rIns="50800" bIns="25400" rtlCol="0" anchor="ctr">
            <a:noAutofit/>
          </a:bodyPr>
          <a:lstStyle/>
          <a:p>
            <a:pPr algn="ctr"/>
            <a:r>
              <a:rPr lang="nb-NO" sz="2025" dirty="0">
                <a:solidFill>
                  <a:srgbClr val="1C2930"/>
                </a:solidFill>
                <a:latin typeface="Aptos" panose="020B0004020202020204" pitchFamily="34" charset="0"/>
              </a:rPr>
              <a:t>Fisk</a:t>
            </a:r>
          </a:p>
          <a:p>
            <a:pPr algn="ctr"/>
            <a:endParaRPr lang="nb-NO" sz="2025" dirty="0">
              <a:solidFill>
                <a:srgbClr val="1C2930"/>
              </a:solidFill>
              <a:latin typeface="Aptos" panose="020B0004020202020204" pitchFamily="34" charset="0"/>
            </a:endParaRPr>
          </a:p>
          <a:p>
            <a:pPr algn="ctr"/>
            <a:r>
              <a:rPr lang="nb-NO" sz="2025" dirty="0">
                <a:solidFill>
                  <a:srgbClr val="1C2930"/>
                </a:solidFill>
                <a:latin typeface="Aptos" panose="020B0004020202020204" pitchFamily="34" charset="0"/>
              </a:rPr>
              <a:t>Vi fisker i dag, men det kommer flere fisker i morgen</a:t>
            </a:r>
            <a:endParaRPr lang="en-GB" sz="2025" dirty="0">
              <a:solidFill>
                <a:srgbClr val="1C2930"/>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D4B170A7-DA3E-5967-C71F-87915D768EA5}"/>
              </a:ext>
            </a:extLst>
          </p:cNvPr>
          <p:cNvSpPr/>
          <p:nvPr/>
        </p:nvSpPr>
        <p:spPr>
          <a:xfrm>
            <a:off x="6572250" y="1571625"/>
            <a:ext cx="4619625" cy="2952750"/>
          </a:xfrm>
          <a:prstGeom prst="roundRect">
            <a:avLst/>
          </a:prstGeom>
          <a:solidFill>
            <a:srgbClr val="EEF7F8"/>
          </a:solidFill>
          <a:ln w="16192">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6EE82C1-9053-8938-E425-72ECE01DF15E}"/>
              </a:ext>
            </a:extLst>
          </p:cNvPr>
          <p:cNvSpPr txBox="1"/>
          <p:nvPr/>
        </p:nvSpPr>
        <p:spPr>
          <a:xfrm>
            <a:off x="6953250" y="1857375"/>
            <a:ext cx="3857625" cy="409086"/>
          </a:xfrm>
          <a:prstGeom prst="rect">
            <a:avLst/>
          </a:prstGeom>
          <a:noFill/>
        </p:spPr>
        <p:txBody>
          <a:bodyPr vert="horz" lIns="50800" tIns="25400" rIns="50800" bIns="25400" rtlCol="0" anchor="t">
            <a:noAutofit/>
          </a:bodyPr>
          <a:lstStyle/>
          <a:p>
            <a:pPr algn="ctr"/>
            <a:r>
              <a:rPr lang="nb-NO" sz="2325" b="1" dirty="0">
                <a:solidFill>
                  <a:srgbClr val="087E8B"/>
                </a:solidFill>
                <a:latin typeface="Aptos" panose="020B0004020202020204" pitchFamily="34" charset="0"/>
              </a:rPr>
              <a:t>Ressurs 2</a:t>
            </a:r>
          </a:p>
        </p:txBody>
      </p:sp>
      <p:sp>
        <p:nvSpPr>
          <p:cNvPr id="11" name="TextBox 10">
            <a:extLst>
              <a:ext uri="{FF2B5EF4-FFF2-40B4-BE49-F238E27FC236}">
                <a16:creationId xmlns:a16="http://schemas.microsoft.com/office/drawing/2014/main" id="{B429A057-2B4C-861B-92E8-85F92CDBBAD6}"/>
              </a:ext>
            </a:extLst>
          </p:cNvPr>
          <p:cNvSpPr txBox="1"/>
          <p:nvPr/>
        </p:nvSpPr>
        <p:spPr>
          <a:xfrm>
            <a:off x="7048500" y="2385689"/>
            <a:ext cx="3667125" cy="1297791"/>
          </a:xfrm>
          <a:prstGeom prst="rect">
            <a:avLst/>
          </a:prstGeom>
          <a:noFill/>
        </p:spPr>
        <p:txBody>
          <a:bodyPr vert="horz" lIns="50800" tIns="25400" rIns="50800" bIns="25400" rtlCol="0" anchor="ctr">
            <a:noAutofit/>
          </a:bodyPr>
          <a:lstStyle/>
          <a:p>
            <a:pPr algn="ctr"/>
            <a:r>
              <a:rPr lang="nb-NO" sz="2025" dirty="0">
                <a:solidFill>
                  <a:srgbClr val="1C2930"/>
                </a:solidFill>
                <a:latin typeface="Aptos" panose="020B0004020202020204" pitchFamily="34" charset="0"/>
              </a:rPr>
              <a:t>Olje</a:t>
            </a:r>
          </a:p>
          <a:p>
            <a:pPr algn="ctr"/>
            <a:endParaRPr lang="nb-NO" sz="2025" dirty="0">
              <a:solidFill>
                <a:srgbClr val="1C2930"/>
              </a:solidFill>
              <a:latin typeface="Aptos" panose="020B0004020202020204" pitchFamily="34" charset="0"/>
            </a:endParaRPr>
          </a:p>
          <a:p>
            <a:pPr algn="ctr"/>
            <a:r>
              <a:rPr lang="nb-NO" sz="2025" dirty="0">
                <a:solidFill>
                  <a:srgbClr val="1C2930"/>
                </a:solidFill>
                <a:latin typeface="Aptos" panose="020B0004020202020204" pitchFamily="34" charset="0"/>
              </a:rPr>
              <a:t>Olje pumpet opp i dag kan ikke pumpes opp i morgen.</a:t>
            </a:r>
            <a:endParaRPr lang="en-GB" sz="2025" dirty="0">
              <a:solidFill>
                <a:srgbClr val="1C2930"/>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40B861D1-03C9-72E3-79DC-0E409D7BD711}"/>
              </a:ext>
            </a:extLst>
          </p:cNvPr>
          <p:cNvSpPr/>
          <p:nvPr/>
        </p:nvSpPr>
        <p:spPr>
          <a:xfrm>
            <a:off x="1666875" y="5095875"/>
            <a:ext cx="8858250" cy="7429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867058D-66BA-8C39-5DBD-096470384CBC}"/>
              </a:ext>
            </a:extLst>
          </p:cNvPr>
          <p:cNvSpPr/>
          <p:nvPr/>
        </p:nvSpPr>
        <p:spPr>
          <a:xfrm>
            <a:off x="1666875" y="5095875"/>
            <a:ext cx="76200" cy="7429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A63103B2-5561-18B7-355D-D682A978DF81}"/>
              </a:ext>
            </a:extLst>
          </p:cNvPr>
          <p:cNvSpPr txBox="1"/>
          <p:nvPr/>
        </p:nvSpPr>
        <p:spPr>
          <a:xfrm>
            <a:off x="1914525" y="5313494"/>
            <a:ext cx="8439150" cy="339837"/>
          </a:xfrm>
          <a:prstGeom prst="rect">
            <a:avLst/>
          </a:prstGeom>
          <a:noFill/>
        </p:spPr>
        <p:txBody>
          <a:bodyPr vert="horz" lIns="50800" tIns="25400" rIns="50800" bIns="25400" rtlCol="0" anchor="ctr">
            <a:noAutofit/>
          </a:bodyPr>
          <a:lstStyle/>
          <a:p>
            <a:r>
              <a:rPr lang="nb-NO" sz="1875" b="1" dirty="0">
                <a:solidFill>
                  <a:srgbClr val="0B3D4F"/>
                </a:solidFill>
                <a:latin typeface="Aptos" panose="020B0004020202020204" pitchFamily="34" charset="0"/>
              </a:rPr>
              <a:t>Hvilken ressurs påvirker dagens konsum morgendagens muligheter?</a:t>
            </a:r>
            <a:endParaRPr lang="en-GB" sz="1875" b="1" dirty="0">
              <a:solidFill>
                <a:srgbClr val="0B3D4F"/>
              </a:solidFill>
              <a:latin typeface="Aptos" panose="020B0004020202020204" pitchFamily="34" charset="0"/>
            </a:endParaRPr>
          </a:p>
        </p:txBody>
      </p:sp>
    </p:spTree>
    <p:extLst>
      <p:ext uri="{BB962C8B-B14F-4D97-AF65-F5344CB8AC3E}">
        <p14:creationId xmlns:p14="http://schemas.microsoft.com/office/powerpoint/2010/main" val="12023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C7DF95-0748-DA43-3DCB-F54218B70988}"/>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Seks trøfler til helga</a:t>
            </a:r>
          </a:p>
        </p:txBody>
      </p:sp>
      <p:sp>
        <p:nvSpPr>
          <p:cNvPr id="3" name="Rectangle 2">
            <a:extLst>
              <a:ext uri="{FF2B5EF4-FFF2-40B4-BE49-F238E27FC236}">
                <a16:creationId xmlns:a16="http://schemas.microsoft.com/office/drawing/2014/main" id="{FAAE1510-0FBE-5F08-8631-41E2A665A1C1}"/>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674AB20-8F25-8F47-D8E0-C0DEA92E33D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835F9276-5404-4214-5C77-20C0F25340E7}"/>
              </a:ext>
            </a:extLst>
          </p:cNvPr>
          <p:cNvSpPr txBox="1"/>
          <p:nvPr/>
        </p:nvSpPr>
        <p:spPr>
          <a:xfrm>
            <a:off x="1190625" y="1340730"/>
            <a:ext cx="9810750" cy="409086"/>
          </a:xfrm>
          <a:prstGeom prst="rect">
            <a:avLst/>
          </a:prstGeom>
          <a:noFill/>
        </p:spPr>
        <p:txBody>
          <a:bodyPr vert="horz" lIns="50800" tIns="25400" rIns="50800" bIns="25400" rtlCol="0" anchor="ctr">
            <a:noAutofit/>
          </a:bodyPr>
          <a:lstStyle/>
          <a:p>
            <a:pPr algn="ctr"/>
            <a:r>
              <a:rPr lang="nb-NO" sz="2325" b="1">
                <a:solidFill>
                  <a:srgbClr val="0B3D4F"/>
                </a:solidFill>
                <a:latin typeface="Aptos" panose="020B0004020202020204" pitchFamily="34" charset="0"/>
              </a:rPr>
              <a:t>Du kjøper seks sjokoladetrøfler. Butikken er stengt søndag.</a:t>
            </a:r>
            <a:endParaRPr lang="en-GB" sz="2325" b="1">
              <a:solidFill>
                <a:srgbClr val="0B3D4F"/>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E1EA8F2D-F408-67E8-7DF7-5D30E29D5D2C}"/>
              </a:ext>
            </a:extLst>
          </p:cNvPr>
          <p:cNvSpPr/>
          <p:nvPr/>
        </p:nvSpPr>
        <p:spPr>
          <a:xfrm>
            <a:off x="1285875" y="2476500"/>
            <a:ext cx="4095750" cy="180975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761B28AC-695B-1C05-8589-8B4FA0909BFB}"/>
              </a:ext>
            </a:extLst>
          </p:cNvPr>
          <p:cNvSpPr txBox="1"/>
          <p:nvPr/>
        </p:nvSpPr>
        <p:spPr>
          <a:xfrm>
            <a:off x="1619250" y="2714625"/>
            <a:ext cx="3429000" cy="386003"/>
          </a:xfrm>
          <a:prstGeom prst="rect">
            <a:avLst/>
          </a:prstGeom>
          <a:noFill/>
        </p:spPr>
        <p:txBody>
          <a:bodyPr vert="horz" lIns="50800" tIns="25400" rIns="50800" bIns="25400" rtlCol="0" anchor="t">
            <a:noAutofit/>
          </a:bodyPr>
          <a:lstStyle/>
          <a:p>
            <a:pPr algn="ctr"/>
            <a:r>
              <a:rPr lang="en-GB" sz="2175" b="1">
                <a:solidFill>
                  <a:srgbClr val="087E8B"/>
                </a:solidFill>
                <a:latin typeface="Aptos" panose="020B0004020202020204" pitchFamily="34" charset="0"/>
              </a:rPr>
              <a:t>Lørdag</a:t>
            </a:r>
          </a:p>
        </p:txBody>
      </p:sp>
      <p:sp>
        <p:nvSpPr>
          <p:cNvPr id="9" name="TextBox 8">
            <a:extLst>
              <a:ext uri="{FF2B5EF4-FFF2-40B4-BE49-F238E27FC236}">
                <a16:creationId xmlns:a16="http://schemas.microsoft.com/office/drawing/2014/main" id="{2D951837-59BB-86A5-4E3B-BF7A512AE4CD}"/>
              </a:ext>
            </a:extLst>
          </p:cNvPr>
          <p:cNvSpPr txBox="1"/>
          <p:nvPr/>
        </p:nvSpPr>
        <p:spPr>
          <a:xfrm>
            <a:off x="1666875" y="3195251"/>
            <a:ext cx="3333750" cy="605294"/>
          </a:xfrm>
          <a:prstGeom prst="rect">
            <a:avLst/>
          </a:prstGeom>
          <a:noFill/>
        </p:spPr>
        <p:txBody>
          <a:bodyPr vert="horz" lIns="50800" tIns="25400" rIns="50800" bIns="25400" rtlCol="0" anchor="ctr">
            <a:noAutofit/>
          </a:bodyPr>
          <a:lstStyle/>
          <a:p>
            <a:pPr algn="ctr"/>
            <a:r>
              <a:rPr lang="en-GB">
                <a:solidFill>
                  <a:srgbClr val="1C2930"/>
                </a:solidFill>
                <a:latin typeface="Aptos" panose="020B0004020202020204" pitchFamily="34" charset="0"/>
              </a:rPr>
              <a:t>Den sjette trøffelen gir mindre ekstra nytte enn den første.</a:t>
            </a:r>
          </a:p>
        </p:txBody>
      </p:sp>
      <p:sp>
        <p:nvSpPr>
          <p:cNvPr id="10" name="Rectangle: Rounded Corners 9">
            <a:extLst>
              <a:ext uri="{FF2B5EF4-FFF2-40B4-BE49-F238E27FC236}">
                <a16:creationId xmlns:a16="http://schemas.microsoft.com/office/drawing/2014/main" id="{C319E88E-1451-8F79-DB06-064CF5B3A887}"/>
              </a:ext>
            </a:extLst>
          </p:cNvPr>
          <p:cNvSpPr/>
          <p:nvPr/>
        </p:nvSpPr>
        <p:spPr>
          <a:xfrm>
            <a:off x="6810375" y="2476500"/>
            <a:ext cx="4095750" cy="1809750"/>
          </a:xfrm>
          <a:prstGeom prst="roundRect">
            <a:avLst/>
          </a:prstGeom>
          <a:solidFill>
            <a:srgbClr val="EEF7F8"/>
          </a:solidFill>
          <a:ln w="16192">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A50FF4E-D756-7B4E-71E0-025590868C6B}"/>
              </a:ext>
            </a:extLst>
          </p:cNvPr>
          <p:cNvSpPr txBox="1"/>
          <p:nvPr/>
        </p:nvSpPr>
        <p:spPr>
          <a:xfrm>
            <a:off x="7143750" y="2714625"/>
            <a:ext cx="3429000" cy="386003"/>
          </a:xfrm>
          <a:prstGeom prst="rect">
            <a:avLst/>
          </a:prstGeom>
          <a:noFill/>
        </p:spPr>
        <p:txBody>
          <a:bodyPr vert="horz" lIns="50800" tIns="25400" rIns="50800" bIns="25400" rtlCol="0" anchor="t">
            <a:noAutofit/>
          </a:bodyPr>
          <a:lstStyle/>
          <a:p>
            <a:pPr algn="ctr"/>
            <a:r>
              <a:rPr lang="en-GB" sz="2175" b="1">
                <a:solidFill>
                  <a:srgbClr val="087E8B"/>
                </a:solidFill>
                <a:latin typeface="Aptos" panose="020B0004020202020204" pitchFamily="34" charset="0"/>
              </a:rPr>
              <a:t>Søndag</a:t>
            </a:r>
          </a:p>
        </p:txBody>
      </p:sp>
      <p:sp>
        <p:nvSpPr>
          <p:cNvPr id="12" name="TextBox 11">
            <a:extLst>
              <a:ext uri="{FF2B5EF4-FFF2-40B4-BE49-F238E27FC236}">
                <a16:creationId xmlns:a16="http://schemas.microsoft.com/office/drawing/2014/main" id="{A21FDB8B-85F3-4B8E-E1A0-9826F8609881}"/>
              </a:ext>
            </a:extLst>
          </p:cNvPr>
          <p:cNvSpPr txBox="1"/>
          <p:nvPr/>
        </p:nvSpPr>
        <p:spPr>
          <a:xfrm>
            <a:off x="7191375" y="3195251"/>
            <a:ext cx="3333750" cy="605294"/>
          </a:xfrm>
          <a:prstGeom prst="rect">
            <a:avLst/>
          </a:prstGeom>
          <a:noFill/>
        </p:spPr>
        <p:txBody>
          <a:bodyPr vert="horz" lIns="50800" tIns="25400" rIns="50800" bIns="25400" rtlCol="0" anchor="ctr">
            <a:noAutofit/>
          </a:bodyPr>
          <a:lstStyle/>
          <a:p>
            <a:pPr algn="ctr"/>
            <a:r>
              <a:rPr lang="nb-NO">
                <a:solidFill>
                  <a:srgbClr val="1C2930"/>
                </a:solidFill>
                <a:latin typeface="Aptos" panose="020B0004020202020204" pitchFamily="34" charset="0"/>
              </a:rPr>
              <a:t>Én ekstra trøffel lørdag betyr én mindre trøffel søndag.</a:t>
            </a:r>
            <a:endParaRPr lang="en-GB">
              <a:solidFill>
                <a:srgbClr val="1C2930"/>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A00BCEC3-D27C-03F9-A91A-6BA5642D6568}"/>
              </a:ext>
            </a:extLst>
          </p:cNvPr>
          <p:cNvSpPr/>
          <p:nvPr/>
        </p:nvSpPr>
        <p:spPr>
          <a:xfrm>
            <a:off x="2190750" y="5095875"/>
            <a:ext cx="7810500" cy="72390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FBC543A3-559F-C79E-8C07-6D4D3C3A8CCB}"/>
              </a:ext>
            </a:extLst>
          </p:cNvPr>
          <p:cNvSpPr/>
          <p:nvPr/>
        </p:nvSpPr>
        <p:spPr>
          <a:xfrm>
            <a:off x="2190750" y="5095875"/>
            <a:ext cx="76200" cy="7239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C9DB92B-74A6-1CBB-BB00-379DD2E6BA29}"/>
              </a:ext>
            </a:extLst>
          </p:cNvPr>
          <p:cNvSpPr txBox="1"/>
          <p:nvPr/>
        </p:nvSpPr>
        <p:spPr>
          <a:xfrm>
            <a:off x="2438400" y="5287906"/>
            <a:ext cx="7391400" cy="339837"/>
          </a:xfrm>
          <a:prstGeom prst="rect">
            <a:avLst/>
          </a:prstGeom>
          <a:noFill/>
        </p:spPr>
        <p:txBody>
          <a:bodyPr vert="horz" lIns="50800" tIns="25400" rIns="50800" bIns="25400" rtlCol="0" anchor="ctr">
            <a:noAutofit/>
          </a:bodyPr>
          <a:lstStyle/>
          <a:p>
            <a:r>
              <a:rPr lang="nb-NO" sz="1875" b="1" noProof="0" dirty="0">
                <a:solidFill>
                  <a:srgbClr val="0B3D4F"/>
                </a:solidFill>
                <a:latin typeface="Aptos" panose="020B0004020202020204" pitchFamily="34" charset="0"/>
              </a:rPr>
              <a:t>Dagens konsum har en framtidig alternativkostnad.</a:t>
            </a:r>
          </a:p>
        </p:txBody>
      </p:sp>
    </p:spTree>
    <p:extLst>
      <p:ext uri="{BB962C8B-B14F-4D97-AF65-F5344CB8AC3E}">
        <p14:creationId xmlns:p14="http://schemas.microsoft.com/office/powerpoint/2010/main" val="3754097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5EB36B0-61FF-7D96-2D09-1215449D6F89}"/>
              </a:ext>
            </a:extLst>
          </p:cNvPr>
          <p:cNvSpPr/>
          <p:nvPr/>
        </p:nvSpPr>
        <p:spPr>
          <a:xfrm>
            <a:off x="1238250" y="4154638"/>
            <a:ext cx="685800" cy="6858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626C2040-1F6D-D9EC-9B5C-B59BB209D225}"/>
              </a:ext>
            </a:extLst>
          </p:cNvPr>
          <p:cNvSpPr/>
          <p:nvPr/>
        </p:nvSpPr>
        <p:spPr>
          <a:xfrm>
            <a:off x="1238250" y="3031312"/>
            <a:ext cx="685800" cy="6858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D497262F-38BE-3940-C0DD-624462E97BD3}"/>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Hovedspørsmålet</a:t>
            </a:r>
          </a:p>
        </p:txBody>
      </p:sp>
      <p:sp>
        <p:nvSpPr>
          <p:cNvPr id="3" name="Rectangle 2">
            <a:extLst>
              <a:ext uri="{FF2B5EF4-FFF2-40B4-BE49-F238E27FC236}">
                <a16:creationId xmlns:a16="http://schemas.microsoft.com/office/drawing/2014/main" id="{02A2D619-154A-06AF-159E-EF7A025B3443}"/>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7CF5E24B-F0F8-F89F-BBAE-239515BF4E32}"/>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EBBE8A4C-6909-BAD9-9B96-95644DACB870}"/>
              </a:ext>
            </a:extLst>
          </p:cNvPr>
          <p:cNvSpPr/>
          <p:nvPr/>
        </p:nvSpPr>
        <p:spPr>
          <a:xfrm>
            <a:off x="895350" y="1381125"/>
            <a:ext cx="10401300" cy="636092"/>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E32B7AF-CAD7-A9F1-066E-BB6A1050C5CD}"/>
              </a:ext>
            </a:extLst>
          </p:cNvPr>
          <p:cNvSpPr/>
          <p:nvPr/>
        </p:nvSpPr>
        <p:spPr>
          <a:xfrm>
            <a:off x="895350" y="1381125"/>
            <a:ext cx="45719" cy="636092"/>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A805411E-10D0-87B0-9570-4ED310722352}"/>
              </a:ext>
            </a:extLst>
          </p:cNvPr>
          <p:cNvSpPr txBox="1"/>
          <p:nvPr/>
        </p:nvSpPr>
        <p:spPr>
          <a:xfrm>
            <a:off x="1162050" y="1464834"/>
            <a:ext cx="9982200" cy="351378"/>
          </a:xfrm>
          <a:prstGeom prst="rect">
            <a:avLst/>
          </a:prstGeom>
          <a:noFill/>
        </p:spPr>
        <p:txBody>
          <a:bodyPr vert="horz" lIns="50800" tIns="25400" rIns="50800" bIns="25400" rtlCol="0" anchor="ctr">
            <a:noAutofit/>
          </a:bodyPr>
          <a:lstStyle/>
          <a:p>
            <a:r>
              <a:rPr lang="nb-NO" sz="1950" b="1" dirty="0">
                <a:solidFill>
                  <a:srgbClr val="0B3D4F"/>
                </a:solidFill>
                <a:latin typeface="Aptos" panose="020B0004020202020204" pitchFamily="34" charset="0"/>
              </a:rPr>
              <a:t>Når bør en knapp ressurs brukes nå, og når bør den spares til framtiden?</a:t>
            </a:r>
            <a:endParaRPr lang="en-GB" sz="1950" b="1" dirty="0">
              <a:solidFill>
                <a:srgbClr val="0B3D4F"/>
              </a:solidFill>
              <a:latin typeface="Aptos" panose="020B0004020202020204" pitchFamily="34" charset="0"/>
            </a:endParaRPr>
          </a:p>
        </p:txBody>
      </p:sp>
      <p:sp>
        <p:nvSpPr>
          <p:cNvPr id="9" name="TextBox 8">
            <a:extLst>
              <a:ext uri="{FF2B5EF4-FFF2-40B4-BE49-F238E27FC236}">
                <a16:creationId xmlns:a16="http://schemas.microsoft.com/office/drawing/2014/main" id="{BF858700-5B1C-C1C9-BA4A-FA5291119C3E}"/>
              </a:ext>
            </a:extLst>
          </p:cNvPr>
          <p:cNvSpPr txBox="1"/>
          <p:nvPr/>
        </p:nvSpPr>
        <p:spPr>
          <a:xfrm>
            <a:off x="1238250" y="3050917"/>
            <a:ext cx="685800" cy="512961"/>
          </a:xfrm>
          <a:prstGeom prst="rect">
            <a:avLst/>
          </a:prstGeom>
          <a:noFill/>
        </p:spPr>
        <p:txBody>
          <a:bodyPr vert="horz" lIns="50800" tIns="25400" rIns="50800" bIns="25400" rtlCol="0" anchor="ctr">
            <a:noAutofit/>
          </a:bodyPr>
          <a:lstStyle/>
          <a:p>
            <a:pPr algn="ctr"/>
            <a:r>
              <a:rPr lang="en-GB" sz="3000" b="1">
                <a:solidFill>
                  <a:srgbClr val="FFFFFF"/>
                </a:solidFill>
                <a:latin typeface="Aptos" panose="020B0004020202020204" pitchFamily="34" charset="0"/>
              </a:rPr>
              <a:t>1</a:t>
            </a:r>
          </a:p>
        </p:txBody>
      </p:sp>
      <p:sp>
        <p:nvSpPr>
          <p:cNvPr id="11" name="TextBox 10">
            <a:extLst>
              <a:ext uri="{FF2B5EF4-FFF2-40B4-BE49-F238E27FC236}">
                <a16:creationId xmlns:a16="http://schemas.microsoft.com/office/drawing/2014/main" id="{C9638EA1-599E-04CB-EF64-0835FEFA38D4}"/>
              </a:ext>
            </a:extLst>
          </p:cNvPr>
          <p:cNvSpPr txBox="1"/>
          <p:nvPr/>
        </p:nvSpPr>
        <p:spPr>
          <a:xfrm>
            <a:off x="2143125" y="3155905"/>
            <a:ext cx="8572500" cy="386003"/>
          </a:xfrm>
          <a:prstGeom prst="rect">
            <a:avLst/>
          </a:prstGeom>
          <a:noFill/>
        </p:spPr>
        <p:txBody>
          <a:bodyPr vert="horz" lIns="50800" tIns="25400" rIns="50800" bIns="25400" rtlCol="0" anchor="ctr">
            <a:noAutofit/>
          </a:bodyPr>
          <a:lstStyle/>
          <a:p>
            <a:r>
              <a:rPr lang="en-GB" sz="2175" b="1" dirty="0" err="1">
                <a:solidFill>
                  <a:srgbClr val="0B3D4F"/>
                </a:solidFill>
                <a:latin typeface="Aptos" panose="020B0004020202020204" pitchFamily="34" charset="0"/>
              </a:rPr>
              <a:t>Hvilken</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fordeling</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maksimerer</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nåverdien</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av</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netto</a:t>
            </a:r>
            <a:r>
              <a:rPr lang="en-GB" sz="2175" b="1" dirty="0">
                <a:solidFill>
                  <a:srgbClr val="0B3D4F"/>
                </a:solidFill>
                <a:latin typeface="Aptos" panose="020B0004020202020204" pitchFamily="34" charset="0"/>
              </a:rPr>
              <a:t> </a:t>
            </a:r>
            <a:r>
              <a:rPr lang="en-GB" sz="2175" b="1" dirty="0" err="1">
                <a:solidFill>
                  <a:srgbClr val="0B3D4F"/>
                </a:solidFill>
                <a:latin typeface="Aptos" panose="020B0004020202020204" pitchFamily="34" charset="0"/>
              </a:rPr>
              <a:t>nytte</a:t>
            </a:r>
            <a:r>
              <a:rPr lang="en-GB" sz="2175" b="1" dirty="0">
                <a:solidFill>
                  <a:srgbClr val="0B3D4F"/>
                </a:solidFill>
                <a:latin typeface="Aptos" panose="020B0004020202020204" pitchFamily="34" charset="0"/>
              </a:rPr>
              <a:t>?</a:t>
            </a:r>
          </a:p>
        </p:txBody>
      </p:sp>
      <p:sp>
        <p:nvSpPr>
          <p:cNvPr id="12" name="TextBox 11">
            <a:extLst>
              <a:ext uri="{FF2B5EF4-FFF2-40B4-BE49-F238E27FC236}">
                <a16:creationId xmlns:a16="http://schemas.microsoft.com/office/drawing/2014/main" id="{B5F51F73-8B8B-33C4-5766-3CDF07470F05}"/>
              </a:ext>
            </a:extLst>
          </p:cNvPr>
          <p:cNvSpPr txBox="1"/>
          <p:nvPr/>
        </p:nvSpPr>
        <p:spPr>
          <a:xfrm>
            <a:off x="1238250" y="4212967"/>
            <a:ext cx="685800" cy="512961"/>
          </a:xfrm>
          <a:prstGeom prst="rect">
            <a:avLst/>
          </a:prstGeom>
          <a:noFill/>
        </p:spPr>
        <p:txBody>
          <a:bodyPr vert="horz" lIns="50800" tIns="25400" rIns="50800" bIns="25400" rtlCol="0" anchor="ctr">
            <a:noAutofit/>
          </a:bodyPr>
          <a:lstStyle/>
          <a:p>
            <a:pPr algn="ctr"/>
            <a:r>
              <a:rPr lang="en-GB" sz="3000" b="1">
                <a:solidFill>
                  <a:srgbClr val="FFFFFF"/>
                </a:solidFill>
                <a:latin typeface="Aptos" panose="020B0004020202020204" pitchFamily="34" charset="0"/>
              </a:rPr>
              <a:t>2</a:t>
            </a:r>
          </a:p>
        </p:txBody>
      </p:sp>
      <p:sp>
        <p:nvSpPr>
          <p:cNvPr id="14" name="TextBox 13">
            <a:extLst>
              <a:ext uri="{FF2B5EF4-FFF2-40B4-BE49-F238E27FC236}">
                <a16:creationId xmlns:a16="http://schemas.microsoft.com/office/drawing/2014/main" id="{DB5E983F-23BD-C411-F535-71BB3526A336}"/>
              </a:ext>
            </a:extLst>
          </p:cNvPr>
          <p:cNvSpPr txBox="1"/>
          <p:nvPr/>
        </p:nvSpPr>
        <p:spPr>
          <a:xfrm>
            <a:off x="2143125" y="4290841"/>
            <a:ext cx="8572500" cy="386003"/>
          </a:xfrm>
          <a:prstGeom prst="rect">
            <a:avLst/>
          </a:prstGeom>
          <a:noFill/>
        </p:spPr>
        <p:txBody>
          <a:bodyPr vert="horz" lIns="50800" tIns="25400" rIns="50800" bIns="25400" rtlCol="0" anchor="ctr">
            <a:noAutofit/>
          </a:bodyPr>
          <a:lstStyle/>
          <a:p>
            <a:r>
              <a:rPr lang="nb-NO" sz="2175" b="1" dirty="0">
                <a:solidFill>
                  <a:srgbClr val="0B3D4F"/>
                </a:solidFill>
                <a:latin typeface="Aptos" panose="020B0004020202020204" pitchFamily="34" charset="0"/>
              </a:rPr>
              <a:t>Hvilken fordeling er bærekraftig og rettferdig mellom generasjoner?</a:t>
            </a:r>
            <a:endParaRPr lang="en-GB" sz="2175" b="1" dirty="0">
              <a:solidFill>
                <a:srgbClr val="0B3D4F"/>
              </a:solidFill>
              <a:latin typeface="Aptos" panose="020B0004020202020204" pitchFamily="34" charset="0"/>
            </a:endParaRPr>
          </a:p>
        </p:txBody>
      </p:sp>
    </p:spTree>
    <p:extLst>
      <p:ext uri="{BB962C8B-B14F-4D97-AF65-F5344CB8AC3E}">
        <p14:creationId xmlns:p14="http://schemas.microsoft.com/office/powerpoint/2010/main" val="87907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74DE0F-E0ED-4316-CCE8-F3F51EBEAF62}"/>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dirty="0">
                <a:solidFill>
                  <a:srgbClr val="0B3D4F"/>
                </a:solidFill>
                <a:latin typeface="Aptos" panose="020B0004020202020204" pitchFamily="34" charset="0"/>
              </a:rPr>
              <a:t>Fra </a:t>
            </a:r>
            <a:r>
              <a:rPr lang="en-GB" sz="2625" b="1" dirty="0" err="1">
                <a:solidFill>
                  <a:srgbClr val="0B3D4F"/>
                </a:solidFill>
                <a:latin typeface="Aptos" panose="020B0004020202020204" pitchFamily="34" charset="0"/>
              </a:rPr>
              <a:t>kapittel</a:t>
            </a:r>
            <a:r>
              <a:rPr lang="en-GB" sz="2625" b="1" dirty="0">
                <a:solidFill>
                  <a:srgbClr val="0B3D4F"/>
                </a:solidFill>
                <a:latin typeface="Aptos" panose="020B0004020202020204" pitchFamily="34" charset="0"/>
              </a:rPr>
              <a:t> 3</a:t>
            </a:r>
          </a:p>
        </p:txBody>
      </p:sp>
      <p:sp>
        <p:nvSpPr>
          <p:cNvPr id="3" name="Rectangle 2">
            <a:extLst>
              <a:ext uri="{FF2B5EF4-FFF2-40B4-BE49-F238E27FC236}">
                <a16:creationId xmlns:a16="http://schemas.microsoft.com/office/drawing/2014/main" id="{F44D1A03-D726-6FFA-4E6F-4C2149DDF974}"/>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D196721-8AC4-BF9F-E23D-635CF1DE83AA}"/>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A7386179-3313-5D4C-0E02-86509674125B}"/>
              </a:ext>
            </a:extLst>
          </p:cNvPr>
          <p:cNvSpPr txBox="1"/>
          <p:nvPr/>
        </p:nvSpPr>
        <p:spPr>
          <a:xfrm>
            <a:off x="914400" y="1381124"/>
            <a:ext cx="10287000" cy="2187575"/>
          </a:xfrm>
          <a:prstGeom prst="rect">
            <a:avLst/>
          </a:prstGeom>
          <a:noFill/>
        </p:spPr>
        <p:txBody>
          <a:bodyPr vert="horz" lIns="50800" tIns="25400" rIns="50800" bIns="25400" rtlCol="0" anchor="t">
            <a:noAutofit/>
          </a:bodyPr>
          <a:lstStyle/>
          <a:p>
            <a:pPr marL="342900" indent="-342900">
              <a:spcAft>
                <a:spcPts val="1000"/>
              </a:spcAft>
              <a:buFont typeface="Arial" panose="020B0604020202020204" pitchFamily="34" charset="0"/>
              <a:buChar char="•"/>
            </a:pPr>
            <a:r>
              <a:rPr lang="en-GB" sz="2100" dirty="0">
                <a:solidFill>
                  <a:srgbClr val="1C2930"/>
                </a:solidFill>
                <a:latin typeface="Aptos" panose="020B0004020202020204" pitchFamily="34" charset="0"/>
              </a:rPr>
              <a:t>Betalingsvillighet </a:t>
            </a:r>
            <a:r>
              <a:rPr lang="en-GB" sz="2100" dirty="0" err="1">
                <a:solidFill>
                  <a:srgbClr val="1C2930"/>
                </a:solidFill>
                <a:latin typeface="Aptos" panose="020B0004020202020204" pitchFamily="34" charset="0"/>
              </a:rPr>
              <a:t>gir</a:t>
            </a:r>
            <a:r>
              <a:rPr lang="en-GB" sz="2100" dirty="0">
                <a:solidFill>
                  <a:srgbClr val="1C2930"/>
                </a:solidFill>
                <a:latin typeface="Aptos" panose="020B0004020202020204" pitchFamily="34" charset="0"/>
              </a:rPr>
              <a:t> marginal </a:t>
            </a:r>
            <a:r>
              <a:rPr lang="en-GB" sz="2100" dirty="0" err="1">
                <a:solidFill>
                  <a:srgbClr val="1C2930"/>
                </a:solidFill>
                <a:latin typeface="Aptos" panose="020B0004020202020204" pitchFamily="34" charset="0"/>
              </a:rPr>
              <a:t>nytte</a:t>
            </a:r>
            <a:r>
              <a:rPr lang="en-GB" sz="2100" dirty="0">
                <a:solidFill>
                  <a:srgbClr val="1C2930"/>
                </a:solidFill>
                <a:latin typeface="Aptos" panose="020B0004020202020204" pitchFamily="34" charset="0"/>
              </a:rPr>
              <a:t>.</a:t>
            </a:r>
          </a:p>
          <a:p>
            <a:pPr marL="342900" indent="-342900">
              <a:spcAft>
                <a:spcPts val="1000"/>
              </a:spcAft>
              <a:buFont typeface="Arial" panose="020B0604020202020204" pitchFamily="34" charset="0"/>
              <a:buChar char="•"/>
            </a:pPr>
            <a:r>
              <a:rPr lang="en-GB" sz="2100" dirty="0">
                <a:solidFill>
                  <a:srgbClr val="1C2930"/>
                </a:solidFill>
                <a:latin typeface="Aptos" panose="020B0004020202020204" pitchFamily="34" charset="0"/>
              </a:rPr>
              <a:t>Marginal </a:t>
            </a:r>
            <a:r>
              <a:rPr lang="en-GB" sz="2100" dirty="0" err="1">
                <a:solidFill>
                  <a:srgbClr val="1C2930"/>
                </a:solidFill>
                <a:latin typeface="Aptos" panose="020B0004020202020204" pitchFamily="34" charset="0"/>
              </a:rPr>
              <a:t>nytte</a:t>
            </a:r>
            <a:r>
              <a:rPr lang="en-GB" sz="2100" dirty="0">
                <a:solidFill>
                  <a:srgbClr val="1C2930"/>
                </a:solidFill>
                <a:latin typeface="Aptos" panose="020B0004020202020204" pitchFamily="34" charset="0"/>
              </a:rPr>
              <a:t> minus </a:t>
            </a:r>
            <a:r>
              <a:rPr lang="en-GB" sz="2100" dirty="0" err="1">
                <a:solidFill>
                  <a:srgbClr val="1C2930"/>
                </a:solidFill>
                <a:latin typeface="Aptos" panose="020B0004020202020204" pitchFamily="34" charset="0"/>
              </a:rPr>
              <a:t>marginalkostnad</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gir</a:t>
            </a:r>
            <a:r>
              <a:rPr lang="en-GB" sz="2100" dirty="0">
                <a:solidFill>
                  <a:srgbClr val="1C2930"/>
                </a:solidFill>
                <a:latin typeface="Aptos" panose="020B0004020202020204" pitchFamily="34" charset="0"/>
              </a:rPr>
              <a:t> marginal </a:t>
            </a:r>
            <a:r>
              <a:rPr lang="en-GB" sz="2100" dirty="0" err="1">
                <a:solidFill>
                  <a:srgbClr val="1C2930"/>
                </a:solidFill>
                <a:latin typeface="Aptos" panose="020B0004020202020204" pitchFamily="34" charset="0"/>
              </a:rPr>
              <a:t>netto</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nytte</a:t>
            </a:r>
            <a:r>
              <a:rPr lang="en-GB" sz="2100" dirty="0">
                <a:solidFill>
                  <a:srgbClr val="1C2930"/>
                </a:solidFill>
                <a:latin typeface="Aptos" panose="020B0004020202020204" pitchFamily="34" charset="0"/>
              </a:rPr>
              <a:t>.</a:t>
            </a:r>
          </a:p>
          <a:p>
            <a:pPr marL="342900" indent="-342900">
              <a:spcAft>
                <a:spcPts val="1000"/>
              </a:spcAft>
              <a:buFont typeface="Arial" panose="020B0604020202020204" pitchFamily="34" charset="0"/>
              <a:buChar char="•"/>
            </a:pPr>
            <a:r>
              <a:rPr lang="en-GB" sz="2100" dirty="0" err="1">
                <a:solidFill>
                  <a:srgbClr val="1C2930"/>
                </a:solidFill>
                <a:latin typeface="Aptos" panose="020B0004020202020204" pitchFamily="34" charset="0"/>
              </a:rPr>
              <a:t>Framtidige</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beløp</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omregnes</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til</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nåverdi</a:t>
            </a:r>
            <a:r>
              <a:rPr lang="en-GB" sz="2100" dirty="0">
                <a:solidFill>
                  <a:srgbClr val="1C2930"/>
                </a:solidFill>
                <a:latin typeface="Aptos" panose="020B0004020202020204" pitchFamily="34" charset="0"/>
              </a:rPr>
              <a:t>.</a:t>
            </a:r>
          </a:p>
          <a:p>
            <a:pPr marL="342900" indent="-342900">
              <a:spcAft>
                <a:spcPts val="1000"/>
              </a:spcAft>
              <a:buFont typeface="Arial" panose="020B0604020202020204" pitchFamily="34" charset="0"/>
              <a:buChar char="•"/>
            </a:pPr>
            <a:r>
              <a:rPr lang="en-GB" sz="2100" dirty="0" err="1">
                <a:solidFill>
                  <a:srgbClr val="1C2930"/>
                </a:solidFill>
                <a:latin typeface="Aptos" panose="020B0004020202020204" pitchFamily="34" charset="0"/>
              </a:rPr>
              <a:t>Effektivitet</a:t>
            </a:r>
            <a:r>
              <a:rPr lang="en-GB" sz="2100" dirty="0">
                <a:solidFill>
                  <a:srgbClr val="1C2930"/>
                </a:solidFill>
                <a:latin typeface="Aptos" panose="020B0004020202020204" pitchFamily="34" charset="0"/>
              </a:rPr>
              <a:t> </a:t>
            </a:r>
            <a:r>
              <a:rPr lang="en-GB" sz="2100" dirty="0" err="1">
                <a:solidFill>
                  <a:srgbClr val="1C2930"/>
                </a:solidFill>
                <a:latin typeface="Aptos" panose="020B0004020202020204" pitchFamily="34" charset="0"/>
              </a:rPr>
              <a:t>maksimerer</a:t>
            </a:r>
            <a:r>
              <a:rPr lang="en-GB" sz="2100" dirty="0">
                <a:solidFill>
                  <a:srgbClr val="1C2930"/>
                </a:solidFill>
                <a:latin typeface="Aptos" panose="020B0004020202020204" pitchFamily="34" charset="0"/>
              </a:rPr>
              <a:t> samlet </a:t>
            </a:r>
            <a:r>
              <a:rPr lang="en-GB" sz="2100" dirty="0" err="1">
                <a:solidFill>
                  <a:srgbClr val="1C2930"/>
                </a:solidFill>
                <a:latin typeface="Aptos" panose="020B0004020202020204" pitchFamily="34" charset="0"/>
              </a:rPr>
              <a:t>nettonytte</a:t>
            </a:r>
            <a:r>
              <a:rPr lang="en-GB" sz="2100" dirty="0">
                <a:solidFill>
                  <a:srgbClr val="1C2930"/>
                </a:solidFill>
                <a:latin typeface="Aptos" panose="020B0004020202020204" pitchFamily="34" charset="0"/>
              </a:rPr>
              <a:t>.</a:t>
            </a:r>
          </a:p>
        </p:txBody>
      </p:sp>
      <p:sp>
        <p:nvSpPr>
          <p:cNvPr id="7" name="Rectangle: Rounded Corners 6">
            <a:extLst>
              <a:ext uri="{FF2B5EF4-FFF2-40B4-BE49-F238E27FC236}">
                <a16:creationId xmlns:a16="http://schemas.microsoft.com/office/drawing/2014/main" id="{95C5AAAE-01AD-D2EE-117F-08E0FE0D7C05}"/>
              </a:ext>
            </a:extLst>
          </p:cNvPr>
          <p:cNvSpPr/>
          <p:nvPr/>
        </p:nvSpPr>
        <p:spPr>
          <a:xfrm>
            <a:off x="1047750" y="5000625"/>
            <a:ext cx="10096500" cy="78105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06CA3A3-BA12-E88D-645A-4BAA3C4F4334}"/>
              </a:ext>
            </a:extLst>
          </p:cNvPr>
          <p:cNvSpPr/>
          <p:nvPr/>
        </p:nvSpPr>
        <p:spPr>
          <a:xfrm>
            <a:off x="1047750" y="5000625"/>
            <a:ext cx="76200" cy="78105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0707635-064E-4723-BF5B-04ECE26A3907}"/>
              </a:ext>
            </a:extLst>
          </p:cNvPr>
          <p:cNvSpPr txBox="1"/>
          <p:nvPr/>
        </p:nvSpPr>
        <p:spPr>
          <a:xfrm>
            <a:off x="1314450" y="5084334"/>
            <a:ext cx="9677400" cy="351378"/>
          </a:xfrm>
          <a:prstGeom prst="rect">
            <a:avLst/>
          </a:prstGeom>
          <a:noFill/>
        </p:spPr>
        <p:txBody>
          <a:bodyPr vert="horz" lIns="50800" tIns="25400" rIns="50800" bIns="25400" rtlCol="0" anchor="ctr">
            <a:noAutofit/>
          </a:bodyPr>
          <a:lstStyle/>
          <a:p>
            <a:r>
              <a:rPr lang="nb-NO" sz="1950" b="1">
                <a:solidFill>
                  <a:srgbClr val="0B3D4F"/>
                </a:solidFill>
                <a:latin typeface="Aptos" panose="020B0004020202020204" pitchFamily="34" charset="0"/>
              </a:rPr>
              <a:t>Nytt i dag: Bruk i én periode endrer mulighetene i en annen periode.</a:t>
            </a:r>
            <a:endParaRPr lang="en-GB" sz="1950" b="1">
              <a:solidFill>
                <a:srgbClr val="0B3D4F"/>
              </a:solidFill>
              <a:latin typeface="Aptos" panose="020B0004020202020204" pitchFamily="34" charset="0"/>
            </a:endParaRPr>
          </a:p>
        </p:txBody>
      </p:sp>
    </p:spTree>
    <p:extLst>
      <p:ext uri="{BB962C8B-B14F-4D97-AF65-F5344CB8AC3E}">
        <p14:creationId xmlns:p14="http://schemas.microsoft.com/office/powerpoint/2010/main" val="427652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DA601F-9C8F-2A89-7803-C329C6BB1220}"/>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Læringsmål</a:t>
            </a:r>
          </a:p>
        </p:txBody>
      </p:sp>
      <p:sp>
        <p:nvSpPr>
          <p:cNvPr id="3" name="Rectangle 2">
            <a:extLst>
              <a:ext uri="{FF2B5EF4-FFF2-40B4-BE49-F238E27FC236}">
                <a16:creationId xmlns:a16="http://schemas.microsoft.com/office/drawing/2014/main" id="{1B86300D-C4CE-12BF-3B46-AEA951DF5C3D}"/>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9243C805-FC05-D3AD-ACF4-0F1B441AD571}"/>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475BAE56-8413-8256-0184-B544F06701EA}"/>
              </a:ext>
            </a:extLst>
          </p:cNvPr>
          <p:cNvSpPr txBox="1"/>
          <p:nvPr/>
        </p:nvSpPr>
        <p:spPr>
          <a:xfrm>
            <a:off x="1000125" y="1524000"/>
            <a:ext cx="10096500" cy="2006600"/>
          </a:xfrm>
          <a:prstGeom prst="rect">
            <a:avLst/>
          </a:prstGeom>
          <a:noFill/>
        </p:spPr>
        <p:txBody>
          <a:bodyPr vert="horz" lIns="50800" tIns="25400" rIns="50800" bIns="25400" rtlCol="0" anchor="t">
            <a:noAutofit/>
          </a:bodyPr>
          <a:lstStyle/>
          <a:p>
            <a:pPr>
              <a:spcAft>
                <a:spcPts val="1000"/>
              </a:spcAft>
            </a:pPr>
            <a:r>
              <a:rPr lang="nb-NO" sz="2175" dirty="0">
                <a:solidFill>
                  <a:srgbClr val="1C2930"/>
                </a:solidFill>
                <a:latin typeface="Aptos" panose="020B0004020202020204" pitchFamily="34" charset="0"/>
              </a:rPr>
              <a:t>✓  Forklare forskjellen mellom statisk og dynamisk effektivitet.</a:t>
            </a:r>
          </a:p>
          <a:p>
            <a:pPr>
              <a:spcAft>
                <a:spcPts val="1000"/>
              </a:spcAft>
            </a:pPr>
            <a:r>
              <a:rPr lang="nb-NO" sz="2175" dirty="0">
                <a:solidFill>
                  <a:srgbClr val="1C2930"/>
                </a:solidFill>
                <a:latin typeface="Aptos" panose="020B0004020202020204" pitchFamily="34" charset="0"/>
              </a:rPr>
              <a:t>✓  Beregne en effektiv fordeling i en </a:t>
            </a:r>
            <a:r>
              <a:rPr lang="nb-NO" sz="2175" dirty="0" err="1">
                <a:solidFill>
                  <a:srgbClr val="1C2930"/>
                </a:solidFill>
                <a:latin typeface="Aptos" panose="020B0004020202020204" pitchFamily="34" charset="0"/>
              </a:rPr>
              <a:t>toperiodemodell</a:t>
            </a:r>
            <a:r>
              <a:rPr lang="nb-NO" sz="2175" dirty="0">
                <a:solidFill>
                  <a:srgbClr val="1C2930"/>
                </a:solidFill>
                <a:latin typeface="Aptos" panose="020B0004020202020204" pitchFamily="34" charset="0"/>
              </a:rPr>
              <a:t>.</a:t>
            </a:r>
          </a:p>
          <a:p>
            <a:pPr>
              <a:spcAft>
                <a:spcPts val="1000"/>
              </a:spcAft>
            </a:pPr>
            <a:r>
              <a:rPr lang="nb-NO" sz="2175" dirty="0">
                <a:solidFill>
                  <a:srgbClr val="1C2930"/>
                </a:solidFill>
                <a:latin typeface="Aptos" panose="020B0004020202020204" pitchFamily="34" charset="0"/>
              </a:rPr>
              <a:t>✓  Tolke marginal brukerkostnad og virkningen av renten.</a:t>
            </a:r>
          </a:p>
          <a:p>
            <a:pPr>
              <a:spcAft>
                <a:spcPts val="1000"/>
              </a:spcAft>
            </a:pPr>
            <a:r>
              <a:rPr lang="nb-NO" sz="2175" dirty="0">
                <a:solidFill>
                  <a:srgbClr val="1C2930"/>
                </a:solidFill>
                <a:latin typeface="Aptos" panose="020B0004020202020204" pitchFamily="34" charset="0"/>
              </a:rPr>
              <a:t>✓  Skille mellom effektivitet og tre </a:t>
            </a:r>
            <a:r>
              <a:rPr lang="nb-NO" sz="2175" dirty="0" err="1">
                <a:solidFill>
                  <a:srgbClr val="1C2930"/>
                </a:solidFill>
                <a:latin typeface="Aptos" panose="020B0004020202020204" pitchFamily="34" charset="0"/>
              </a:rPr>
              <a:t>bærekraftskriterier</a:t>
            </a:r>
            <a:r>
              <a:rPr lang="nb-NO" sz="2175" dirty="0">
                <a:solidFill>
                  <a:srgbClr val="1C2930"/>
                </a:solidFill>
                <a:latin typeface="Aptos" panose="020B0004020202020204" pitchFamily="34" charset="0"/>
              </a:rPr>
              <a:t>.</a:t>
            </a:r>
            <a:endParaRPr lang="en-GB" sz="2175" dirty="0">
              <a:solidFill>
                <a:srgbClr val="1C2930"/>
              </a:solidFill>
              <a:latin typeface="Aptos" panose="020B0004020202020204" pitchFamily="34" charset="0"/>
            </a:endParaRPr>
          </a:p>
        </p:txBody>
      </p:sp>
    </p:spTree>
    <p:extLst>
      <p:ext uri="{BB962C8B-B14F-4D97-AF65-F5344CB8AC3E}">
        <p14:creationId xmlns:p14="http://schemas.microsoft.com/office/powerpoint/2010/main" val="146158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EF5060-5069-1D72-BA27-4C8E8DA9C632}"/>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Plan for 2 × 45 minutter</a:t>
            </a:r>
          </a:p>
        </p:txBody>
      </p:sp>
      <p:sp>
        <p:nvSpPr>
          <p:cNvPr id="3" name="Rectangle 2">
            <a:extLst>
              <a:ext uri="{FF2B5EF4-FFF2-40B4-BE49-F238E27FC236}">
                <a16:creationId xmlns:a16="http://schemas.microsoft.com/office/drawing/2014/main" id="{596222A4-BB5A-7375-3F97-12C26B87AB91}"/>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13883CC-2E31-0BC7-F430-DD858E9F5E9C}"/>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59CA21D9-5763-78D6-0D9E-2D4B22D30B0B}"/>
              </a:ext>
            </a:extLst>
          </p:cNvPr>
          <p:cNvSpPr/>
          <p:nvPr/>
        </p:nvSpPr>
        <p:spPr>
          <a:xfrm>
            <a:off x="781050" y="2095500"/>
            <a:ext cx="2190750" cy="22860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295221B-9780-985E-24A6-3AA12E1F758E}"/>
              </a:ext>
            </a:extLst>
          </p:cNvPr>
          <p:cNvSpPr txBox="1"/>
          <p:nvPr/>
        </p:nvSpPr>
        <p:spPr>
          <a:xfrm>
            <a:off x="876300" y="2333625"/>
            <a:ext cx="2000250" cy="328295"/>
          </a:xfrm>
          <a:prstGeom prst="rect">
            <a:avLst/>
          </a:prstGeom>
          <a:noFill/>
        </p:spPr>
        <p:txBody>
          <a:bodyPr vert="horz" lIns="50800" tIns="25400" rIns="50800" bIns="25400" rtlCol="0" anchor="t">
            <a:noAutofit/>
          </a:bodyPr>
          <a:lstStyle/>
          <a:p>
            <a:pPr algn="ctr"/>
            <a:r>
              <a:rPr lang="en-GB" sz="1725" b="1">
                <a:solidFill>
                  <a:srgbClr val="087E8B"/>
                </a:solidFill>
                <a:latin typeface="Aptos" panose="020B0004020202020204" pitchFamily="34" charset="0"/>
              </a:rPr>
              <a:t>0–12</a:t>
            </a:r>
          </a:p>
        </p:txBody>
      </p:sp>
      <p:sp>
        <p:nvSpPr>
          <p:cNvPr id="8" name="TextBox 7">
            <a:extLst>
              <a:ext uri="{FF2B5EF4-FFF2-40B4-BE49-F238E27FC236}">
                <a16:creationId xmlns:a16="http://schemas.microsoft.com/office/drawing/2014/main" id="{A1A176A4-FE22-2AAA-6F39-44D747F472DA}"/>
              </a:ext>
            </a:extLst>
          </p:cNvPr>
          <p:cNvSpPr txBox="1"/>
          <p:nvPr/>
        </p:nvSpPr>
        <p:spPr>
          <a:xfrm>
            <a:off x="876300" y="3000375"/>
            <a:ext cx="200025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Ressurser</a:t>
            </a:r>
          </a:p>
        </p:txBody>
      </p:sp>
      <p:sp>
        <p:nvSpPr>
          <p:cNvPr id="9" name="TextBox 8">
            <a:extLst>
              <a:ext uri="{FF2B5EF4-FFF2-40B4-BE49-F238E27FC236}">
                <a16:creationId xmlns:a16="http://schemas.microsoft.com/office/drawing/2014/main" id="{CDCFC6B9-89D2-BD90-DCFE-96C14E78B27D}"/>
              </a:ext>
            </a:extLst>
          </p:cNvPr>
          <p:cNvSpPr txBox="1"/>
          <p:nvPr/>
        </p:nvSpPr>
        <p:spPr>
          <a:xfrm>
            <a:off x="914400" y="3606500"/>
            <a:ext cx="1924050" cy="259045"/>
          </a:xfrm>
          <a:prstGeom prst="rect">
            <a:avLst/>
          </a:prstGeom>
          <a:noFill/>
        </p:spPr>
        <p:txBody>
          <a:bodyPr vert="horz" lIns="50800" tIns="25400" rIns="50800" bIns="25400" rtlCol="0" anchor="ctr">
            <a:noAutofit/>
          </a:bodyPr>
          <a:lstStyle/>
          <a:p>
            <a:pPr algn="ctr"/>
            <a:r>
              <a:rPr lang="en-GB" sz="1350">
                <a:solidFill>
                  <a:srgbClr val="51656D"/>
                </a:solidFill>
                <a:latin typeface="Aptos" panose="020B0004020202020204" pitchFamily="34" charset="0"/>
              </a:rPr>
              <a:t>Matbord og trøfler</a:t>
            </a:r>
          </a:p>
        </p:txBody>
      </p:sp>
      <p:sp>
        <p:nvSpPr>
          <p:cNvPr id="10" name="Rectangle: Rounded Corners 9">
            <a:extLst>
              <a:ext uri="{FF2B5EF4-FFF2-40B4-BE49-F238E27FC236}">
                <a16:creationId xmlns:a16="http://schemas.microsoft.com/office/drawing/2014/main" id="{9AC27085-7E32-E6EA-BE5D-ED87952CF1D5}"/>
              </a:ext>
            </a:extLst>
          </p:cNvPr>
          <p:cNvSpPr/>
          <p:nvPr/>
        </p:nvSpPr>
        <p:spPr>
          <a:xfrm>
            <a:off x="3143250" y="2095500"/>
            <a:ext cx="2190750" cy="2286000"/>
          </a:xfrm>
          <a:prstGeom prst="roundRect">
            <a:avLst/>
          </a:prstGeom>
          <a:solidFill>
            <a:srgbClr val="EEF7F8"/>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93004C35-A68F-D6B1-1A08-7B92D5878AAF}"/>
              </a:ext>
            </a:extLst>
          </p:cNvPr>
          <p:cNvSpPr txBox="1"/>
          <p:nvPr/>
        </p:nvSpPr>
        <p:spPr>
          <a:xfrm>
            <a:off x="3238500" y="2333625"/>
            <a:ext cx="2000250" cy="328295"/>
          </a:xfrm>
          <a:prstGeom prst="rect">
            <a:avLst/>
          </a:prstGeom>
          <a:noFill/>
        </p:spPr>
        <p:txBody>
          <a:bodyPr vert="horz" lIns="50800" tIns="25400" rIns="50800" bIns="25400" rtlCol="0" anchor="t">
            <a:noAutofit/>
          </a:bodyPr>
          <a:lstStyle/>
          <a:p>
            <a:pPr algn="ctr"/>
            <a:r>
              <a:rPr lang="en-GB" sz="1725" b="1">
                <a:solidFill>
                  <a:srgbClr val="087E8B"/>
                </a:solidFill>
                <a:latin typeface="Aptos" panose="020B0004020202020204" pitchFamily="34" charset="0"/>
              </a:rPr>
              <a:t>12–45</a:t>
            </a:r>
          </a:p>
        </p:txBody>
      </p:sp>
      <p:sp>
        <p:nvSpPr>
          <p:cNvPr id="12" name="TextBox 11">
            <a:extLst>
              <a:ext uri="{FF2B5EF4-FFF2-40B4-BE49-F238E27FC236}">
                <a16:creationId xmlns:a16="http://schemas.microsoft.com/office/drawing/2014/main" id="{360F248D-DDDF-F5EC-133B-D83C7B11166E}"/>
              </a:ext>
            </a:extLst>
          </p:cNvPr>
          <p:cNvSpPr txBox="1"/>
          <p:nvPr/>
        </p:nvSpPr>
        <p:spPr>
          <a:xfrm>
            <a:off x="3238500" y="3000375"/>
            <a:ext cx="200025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Modell</a:t>
            </a:r>
          </a:p>
        </p:txBody>
      </p:sp>
      <p:sp>
        <p:nvSpPr>
          <p:cNvPr id="13" name="TextBox 12">
            <a:extLst>
              <a:ext uri="{FF2B5EF4-FFF2-40B4-BE49-F238E27FC236}">
                <a16:creationId xmlns:a16="http://schemas.microsoft.com/office/drawing/2014/main" id="{28DA478D-0F0F-9BD3-C28E-BEAFDB580816}"/>
              </a:ext>
            </a:extLst>
          </p:cNvPr>
          <p:cNvSpPr txBox="1"/>
          <p:nvPr/>
        </p:nvSpPr>
        <p:spPr>
          <a:xfrm>
            <a:off x="3276600" y="3606500"/>
            <a:ext cx="1924050" cy="259045"/>
          </a:xfrm>
          <a:prstGeom prst="rect">
            <a:avLst/>
          </a:prstGeom>
          <a:noFill/>
        </p:spPr>
        <p:txBody>
          <a:bodyPr vert="horz" lIns="50800" tIns="25400" rIns="50800" bIns="25400" rtlCol="0" anchor="ctr">
            <a:noAutofit/>
          </a:bodyPr>
          <a:lstStyle/>
          <a:p>
            <a:pPr algn="ctr"/>
            <a:r>
              <a:rPr lang="en-GB" sz="1350">
                <a:solidFill>
                  <a:srgbClr val="51656D"/>
                </a:solidFill>
                <a:latin typeface="Aptos" panose="020B0004020202020204" pitchFamily="34" charset="0"/>
              </a:rPr>
              <a:t>Fra én til to perioder</a:t>
            </a:r>
          </a:p>
        </p:txBody>
      </p:sp>
      <p:sp>
        <p:nvSpPr>
          <p:cNvPr id="14" name="Rectangle: Rounded Corners 13">
            <a:extLst>
              <a:ext uri="{FF2B5EF4-FFF2-40B4-BE49-F238E27FC236}">
                <a16:creationId xmlns:a16="http://schemas.microsoft.com/office/drawing/2014/main" id="{84926D14-8369-6089-F7AD-88BB3B05A46C}"/>
              </a:ext>
            </a:extLst>
          </p:cNvPr>
          <p:cNvSpPr/>
          <p:nvPr/>
        </p:nvSpPr>
        <p:spPr>
          <a:xfrm>
            <a:off x="5505450" y="2095500"/>
            <a:ext cx="1428750" cy="2286000"/>
          </a:xfrm>
          <a:prstGeom prst="roundRect">
            <a:avLst/>
          </a:prstGeom>
          <a:solidFill>
            <a:srgbClr val="F7F6F1"/>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D818049B-9937-BC54-AE10-A6610025141C}"/>
              </a:ext>
            </a:extLst>
          </p:cNvPr>
          <p:cNvSpPr txBox="1"/>
          <p:nvPr/>
        </p:nvSpPr>
        <p:spPr>
          <a:xfrm>
            <a:off x="5600700" y="2333625"/>
            <a:ext cx="1238250" cy="328295"/>
          </a:xfrm>
          <a:prstGeom prst="rect">
            <a:avLst/>
          </a:prstGeom>
          <a:noFill/>
        </p:spPr>
        <p:txBody>
          <a:bodyPr vert="horz" lIns="50800" tIns="25400" rIns="50800" bIns="25400" rtlCol="0" anchor="t">
            <a:noAutofit/>
          </a:bodyPr>
          <a:lstStyle/>
          <a:p>
            <a:pPr algn="ctr"/>
            <a:r>
              <a:rPr lang="en-GB" sz="1725" b="1">
                <a:solidFill>
                  <a:srgbClr val="087E8B"/>
                </a:solidFill>
                <a:latin typeface="Aptos" panose="020B0004020202020204" pitchFamily="34" charset="0"/>
              </a:rPr>
              <a:t>45–55</a:t>
            </a:r>
          </a:p>
        </p:txBody>
      </p:sp>
      <p:sp>
        <p:nvSpPr>
          <p:cNvPr id="16" name="TextBox 15">
            <a:extLst>
              <a:ext uri="{FF2B5EF4-FFF2-40B4-BE49-F238E27FC236}">
                <a16:creationId xmlns:a16="http://schemas.microsoft.com/office/drawing/2014/main" id="{D73369D7-A72D-BA89-E7D8-7EFD17CC27BB}"/>
              </a:ext>
            </a:extLst>
          </p:cNvPr>
          <p:cNvSpPr txBox="1"/>
          <p:nvPr/>
        </p:nvSpPr>
        <p:spPr>
          <a:xfrm>
            <a:off x="5600700" y="3000375"/>
            <a:ext cx="123825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Pause</a:t>
            </a:r>
          </a:p>
        </p:txBody>
      </p:sp>
      <p:sp>
        <p:nvSpPr>
          <p:cNvPr id="17" name="TextBox 16">
            <a:extLst>
              <a:ext uri="{FF2B5EF4-FFF2-40B4-BE49-F238E27FC236}">
                <a16:creationId xmlns:a16="http://schemas.microsoft.com/office/drawing/2014/main" id="{4A05E4BF-5EC4-D3A1-5076-CDCDEB72A3FD}"/>
              </a:ext>
            </a:extLst>
          </p:cNvPr>
          <p:cNvSpPr txBox="1"/>
          <p:nvPr/>
        </p:nvSpPr>
        <p:spPr>
          <a:xfrm>
            <a:off x="5638800" y="3606500"/>
            <a:ext cx="1162050" cy="259045"/>
          </a:xfrm>
          <a:prstGeom prst="rect">
            <a:avLst/>
          </a:prstGeom>
          <a:noFill/>
        </p:spPr>
        <p:txBody>
          <a:bodyPr vert="horz" lIns="50800" tIns="25400" rIns="50800" bIns="25400" rtlCol="0" anchor="ctr">
            <a:noAutofit/>
          </a:bodyPr>
          <a:lstStyle/>
          <a:p>
            <a:pPr algn="ctr"/>
            <a:endParaRPr lang="en-GB" sz="1350">
              <a:solidFill>
                <a:srgbClr val="51656D"/>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1D6D2566-49EB-B4FB-7C36-B153F2CFEFF9}"/>
              </a:ext>
            </a:extLst>
          </p:cNvPr>
          <p:cNvSpPr/>
          <p:nvPr/>
        </p:nvSpPr>
        <p:spPr>
          <a:xfrm>
            <a:off x="7105650" y="2095500"/>
            <a:ext cx="2190750" cy="2286000"/>
          </a:xfrm>
          <a:prstGeom prst="roundRect">
            <a:avLst/>
          </a:prstGeom>
          <a:solidFill>
            <a:srgbClr val="EEF7F8"/>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34EBF449-5732-CAFD-B1B6-362EADD9318A}"/>
              </a:ext>
            </a:extLst>
          </p:cNvPr>
          <p:cNvSpPr txBox="1"/>
          <p:nvPr/>
        </p:nvSpPr>
        <p:spPr>
          <a:xfrm>
            <a:off x="7200900" y="2333625"/>
            <a:ext cx="2000250" cy="328295"/>
          </a:xfrm>
          <a:prstGeom prst="rect">
            <a:avLst/>
          </a:prstGeom>
          <a:noFill/>
        </p:spPr>
        <p:txBody>
          <a:bodyPr vert="horz" lIns="50800" tIns="25400" rIns="50800" bIns="25400" rtlCol="0" anchor="t">
            <a:noAutofit/>
          </a:bodyPr>
          <a:lstStyle/>
          <a:p>
            <a:pPr algn="ctr"/>
            <a:r>
              <a:rPr lang="en-GB" sz="1725" b="1">
                <a:solidFill>
                  <a:srgbClr val="087E8B"/>
                </a:solidFill>
                <a:latin typeface="Aptos" panose="020B0004020202020204" pitchFamily="34" charset="0"/>
              </a:rPr>
              <a:t>55–75</a:t>
            </a:r>
          </a:p>
        </p:txBody>
      </p:sp>
      <p:sp>
        <p:nvSpPr>
          <p:cNvPr id="20" name="TextBox 19">
            <a:extLst>
              <a:ext uri="{FF2B5EF4-FFF2-40B4-BE49-F238E27FC236}">
                <a16:creationId xmlns:a16="http://schemas.microsoft.com/office/drawing/2014/main" id="{4F4D08E0-7423-8562-03A0-49927CCF9D2D}"/>
              </a:ext>
            </a:extLst>
          </p:cNvPr>
          <p:cNvSpPr txBox="1"/>
          <p:nvPr/>
        </p:nvSpPr>
        <p:spPr>
          <a:xfrm>
            <a:off x="7200900" y="3000375"/>
            <a:ext cx="200025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Knapphet</a:t>
            </a:r>
          </a:p>
        </p:txBody>
      </p:sp>
      <p:sp>
        <p:nvSpPr>
          <p:cNvPr id="21" name="TextBox 20">
            <a:extLst>
              <a:ext uri="{FF2B5EF4-FFF2-40B4-BE49-F238E27FC236}">
                <a16:creationId xmlns:a16="http://schemas.microsoft.com/office/drawing/2014/main" id="{742CE13C-07A5-89A7-779C-779C35B7CDC1}"/>
              </a:ext>
            </a:extLst>
          </p:cNvPr>
          <p:cNvSpPr txBox="1"/>
          <p:nvPr/>
        </p:nvSpPr>
        <p:spPr>
          <a:xfrm>
            <a:off x="7239000" y="3606500"/>
            <a:ext cx="1924050" cy="259045"/>
          </a:xfrm>
          <a:prstGeom prst="rect">
            <a:avLst/>
          </a:prstGeom>
          <a:noFill/>
        </p:spPr>
        <p:txBody>
          <a:bodyPr vert="horz" lIns="50800" tIns="25400" rIns="50800" bIns="25400" rtlCol="0" anchor="ctr">
            <a:noAutofit/>
          </a:bodyPr>
          <a:lstStyle/>
          <a:p>
            <a:pPr algn="ctr"/>
            <a:r>
              <a:rPr lang="en-GB" sz="1350">
                <a:solidFill>
                  <a:srgbClr val="51656D"/>
                </a:solidFill>
                <a:latin typeface="Aptos" panose="020B0004020202020204" pitchFamily="34" charset="0"/>
              </a:rPr>
              <a:t>MUC, </a:t>
            </a:r>
            <a:r>
              <a:rPr lang="el-GR" sz="1350">
                <a:solidFill>
                  <a:srgbClr val="51656D"/>
                </a:solidFill>
                <a:latin typeface="Aptos" panose="020B0004020202020204" pitchFamily="34" charset="0"/>
              </a:rPr>
              <a:t>λ </a:t>
            </a:r>
            <a:r>
              <a:rPr lang="en-GB" sz="1350">
                <a:solidFill>
                  <a:srgbClr val="51656D"/>
                </a:solidFill>
                <a:latin typeface="Aptos" panose="020B0004020202020204" pitchFamily="34" charset="0"/>
              </a:rPr>
              <a:t>og markeder</a:t>
            </a:r>
          </a:p>
        </p:txBody>
      </p:sp>
      <p:sp>
        <p:nvSpPr>
          <p:cNvPr id="22" name="Rectangle: Rounded Corners 21">
            <a:extLst>
              <a:ext uri="{FF2B5EF4-FFF2-40B4-BE49-F238E27FC236}">
                <a16:creationId xmlns:a16="http://schemas.microsoft.com/office/drawing/2014/main" id="{80CBFB08-844E-926A-CD0C-3BF07804F74E}"/>
              </a:ext>
            </a:extLst>
          </p:cNvPr>
          <p:cNvSpPr/>
          <p:nvPr/>
        </p:nvSpPr>
        <p:spPr>
          <a:xfrm>
            <a:off x="9467850" y="2095500"/>
            <a:ext cx="2190750" cy="22860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7EFAE89A-404F-E77B-B209-D87FCD1057EB}"/>
              </a:ext>
            </a:extLst>
          </p:cNvPr>
          <p:cNvSpPr txBox="1"/>
          <p:nvPr/>
        </p:nvSpPr>
        <p:spPr>
          <a:xfrm>
            <a:off x="9563100" y="2333625"/>
            <a:ext cx="2000250" cy="328295"/>
          </a:xfrm>
          <a:prstGeom prst="rect">
            <a:avLst/>
          </a:prstGeom>
          <a:noFill/>
        </p:spPr>
        <p:txBody>
          <a:bodyPr vert="horz" lIns="50800" tIns="25400" rIns="50800" bIns="25400" rtlCol="0" anchor="t">
            <a:noAutofit/>
          </a:bodyPr>
          <a:lstStyle/>
          <a:p>
            <a:pPr algn="ctr"/>
            <a:r>
              <a:rPr lang="en-GB" sz="1725" b="1">
                <a:solidFill>
                  <a:srgbClr val="087E8B"/>
                </a:solidFill>
                <a:latin typeface="Aptos" panose="020B0004020202020204" pitchFamily="34" charset="0"/>
              </a:rPr>
              <a:t>75–90</a:t>
            </a:r>
          </a:p>
        </p:txBody>
      </p:sp>
      <p:sp>
        <p:nvSpPr>
          <p:cNvPr id="24" name="TextBox 23">
            <a:extLst>
              <a:ext uri="{FF2B5EF4-FFF2-40B4-BE49-F238E27FC236}">
                <a16:creationId xmlns:a16="http://schemas.microsoft.com/office/drawing/2014/main" id="{EF82E496-4C19-A321-8F2C-B69F39806565}"/>
              </a:ext>
            </a:extLst>
          </p:cNvPr>
          <p:cNvSpPr txBox="1"/>
          <p:nvPr/>
        </p:nvSpPr>
        <p:spPr>
          <a:xfrm>
            <a:off x="9563100" y="3000375"/>
            <a:ext cx="200025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Rettferdighet</a:t>
            </a:r>
          </a:p>
        </p:txBody>
      </p:sp>
      <p:sp>
        <p:nvSpPr>
          <p:cNvPr id="25" name="TextBox 24">
            <a:extLst>
              <a:ext uri="{FF2B5EF4-FFF2-40B4-BE49-F238E27FC236}">
                <a16:creationId xmlns:a16="http://schemas.microsoft.com/office/drawing/2014/main" id="{D32182F1-108B-C9A0-480F-832206D50C43}"/>
              </a:ext>
            </a:extLst>
          </p:cNvPr>
          <p:cNvSpPr txBox="1"/>
          <p:nvPr/>
        </p:nvSpPr>
        <p:spPr>
          <a:xfrm>
            <a:off x="9601200" y="3606500"/>
            <a:ext cx="1924050" cy="259045"/>
          </a:xfrm>
          <a:prstGeom prst="rect">
            <a:avLst/>
          </a:prstGeom>
          <a:noFill/>
        </p:spPr>
        <p:txBody>
          <a:bodyPr vert="horz" lIns="50800" tIns="25400" rIns="50800" bIns="25400" rtlCol="0" anchor="ctr">
            <a:noAutofit/>
          </a:bodyPr>
          <a:lstStyle/>
          <a:p>
            <a:pPr algn="ctr"/>
            <a:r>
              <a:rPr lang="en-GB" sz="1350">
                <a:solidFill>
                  <a:srgbClr val="51656D"/>
                </a:solidFill>
                <a:latin typeface="Aptos" panose="020B0004020202020204" pitchFamily="34" charset="0"/>
              </a:rPr>
              <a:t>Kriterier og Hartwick</a:t>
            </a:r>
          </a:p>
        </p:txBody>
      </p:sp>
    </p:spTree>
    <p:extLst>
      <p:ext uri="{BB962C8B-B14F-4D97-AF65-F5344CB8AC3E}">
        <p14:creationId xmlns:p14="http://schemas.microsoft.com/office/powerpoint/2010/main" val="78835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3D4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5E69FD-E140-A170-DA6C-B76308675554}"/>
              </a:ext>
            </a:extLst>
          </p:cNvPr>
          <p:cNvSpPr txBox="1"/>
          <p:nvPr/>
        </p:nvSpPr>
        <p:spPr>
          <a:xfrm>
            <a:off x="819150" y="505852"/>
            <a:ext cx="1524000" cy="1297791"/>
          </a:xfrm>
          <a:prstGeom prst="rect">
            <a:avLst/>
          </a:prstGeom>
          <a:noFill/>
        </p:spPr>
        <p:txBody>
          <a:bodyPr vert="horz" lIns="50800" tIns="25400" rIns="50800" bIns="25400" rtlCol="0" anchor="ctr">
            <a:noAutofit/>
          </a:bodyPr>
          <a:lstStyle/>
          <a:p>
            <a:pPr algn="ctr"/>
            <a:r>
              <a:rPr lang="en-GB" sz="8100" b="1">
                <a:solidFill>
                  <a:srgbClr val="E1B655"/>
                </a:solidFill>
                <a:latin typeface="Aptos" panose="020B0004020202020204" pitchFamily="34" charset="0"/>
              </a:rPr>
              <a:t>I</a:t>
            </a:r>
          </a:p>
        </p:txBody>
      </p:sp>
      <p:sp>
        <p:nvSpPr>
          <p:cNvPr id="3" name="TextBox 2">
            <a:extLst>
              <a:ext uri="{FF2B5EF4-FFF2-40B4-BE49-F238E27FC236}">
                <a16:creationId xmlns:a16="http://schemas.microsoft.com/office/drawing/2014/main" id="{AD98133D-05D4-1DDA-4070-40DD5FB20773}"/>
              </a:ext>
            </a:extLst>
          </p:cNvPr>
          <p:cNvSpPr txBox="1"/>
          <p:nvPr/>
        </p:nvSpPr>
        <p:spPr>
          <a:xfrm>
            <a:off x="2552700" y="1156901"/>
            <a:ext cx="8334375" cy="605294"/>
          </a:xfrm>
          <a:prstGeom prst="rect">
            <a:avLst/>
          </a:prstGeom>
          <a:noFill/>
        </p:spPr>
        <p:txBody>
          <a:bodyPr vert="horz" lIns="50800" tIns="25400" rIns="50800" bIns="25400" rtlCol="0" anchor="ctr">
            <a:noAutofit/>
          </a:bodyPr>
          <a:lstStyle/>
          <a:p>
            <a:r>
              <a:rPr lang="en-GB" sz="3600" b="1">
                <a:solidFill>
                  <a:srgbClr val="FFFFFF"/>
                </a:solidFill>
                <a:latin typeface="Aptos" panose="020B0004020202020204" pitchFamily="34" charset="0"/>
              </a:rPr>
              <a:t>Del I: Effektivitet over tid</a:t>
            </a:r>
          </a:p>
        </p:txBody>
      </p:sp>
      <p:sp>
        <p:nvSpPr>
          <p:cNvPr id="4" name="Rectangle 3">
            <a:extLst>
              <a:ext uri="{FF2B5EF4-FFF2-40B4-BE49-F238E27FC236}">
                <a16:creationId xmlns:a16="http://schemas.microsoft.com/office/drawing/2014/main" id="{E7E2506C-AB84-78A1-6151-5E94D3DE8D2C}"/>
              </a:ext>
            </a:extLst>
          </p:cNvPr>
          <p:cNvSpPr/>
          <p:nvPr/>
        </p:nvSpPr>
        <p:spPr>
          <a:xfrm>
            <a:off x="2571750" y="2381250"/>
            <a:ext cx="704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EF9B1E8B-6AD8-602B-80E2-015E4E4EC3AC}"/>
              </a:ext>
            </a:extLst>
          </p:cNvPr>
          <p:cNvSpPr txBox="1"/>
          <p:nvPr/>
        </p:nvSpPr>
        <p:spPr>
          <a:xfrm>
            <a:off x="2571750" y="2686050"/>
            <a:ext cx="7762875" cy="674544"/>
          </a:xfrm>
          <a:prstGeom prst="rect">
            <a:avLst/>
          </a:prstGeom>
          <a:noFill/>
        </p:spPr>
        <p:txBody>
          <a:bodyPr vert="horz" lIns="50800" tIns="25400" rIns="50800" bIns="25400" rtlCol="0" anchor="t">
            <a:noAutofit/>
          </a:bodyPr>
          <a:lstStyle/>
          <a:p>
            <a:r>
              <a:rPr lang="nb-NO" sz="2025">
                <a:solidFill>
                  <a:srgbClr val="D9E7EB"/>
                </a:solidFill>
                <a:latin typeface="Aptos" panose="020B0004020202020204" pitchFamily="34" charset="0"/>
              </a:rPr>
              <a:t>Hvordan fordeler vi et gitt lager når bruk i dag reduserer mulighetene i morgen?</a:t>
            </a:r>
            <a:endParaRPr lang="en-GB" sz="2025">
              <a:solidFill>
                <a:srgbClr val="D9E7EB"/>
              </a:solidFill>
              <a:latin typeface="Aptos" panose="020B0004020202020204" pitchFamily="34" charset="0"/>
            </a:endParaRPr>
          </a:p>
        </p:txBody>
      </p:sp>
    </p:spTree>
    <p:extLst>
      <p:ext uri="{BB962C8B-B14F-4D97-AF65-F5344CB8AC3E}">
        <p14:creationId xmlns:p14="http://schemas.microsoft.com/office/powerpoint/2010/main" val="782482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E3969-2DBA-801F-B040-6592CFD2050B}"/>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Statisk og dynamisk effektivitet</a:t>
            </a:r>
          </a:p>
        </p:txBody>
      </p:sp>
      <p:sp>
        <p:nvSpPr>
          <p:cNvPr id="3" name="Rectangle 2">
            <a:extLst>
              <a:ext uri="{FF2B5EF4-FFF2-40B4-BE49-F238E27FC236}">
                <a16:creationId xmlns:a16="http://schemas.microsoft.com/office/drawing/2014/main" id="{3CE3773A-5F45-8B18-EDFD-494D054300AE}"/>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89A0994-05C8-0668-C90F-FEB8E5C58C4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2107D919-9BCD-D43D-4B35-93E0C4ED2A93}"/>
              </a:ext>
            </a:extLst>
          </p:cNvPr>
          <p:cNvSpPr/>
          <p:nvPr/>
        </p:nvSpPr>
        <p:spPr>
          <a:xfrm>
            <a:off x="809625" y="1381125"/>
            <a:ext cx="5238750" cy="5905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400AE54-7B2F-9E88-D1F8-C38FB1E870E0}"/>
              </a:ext>
            </a:extLst>
          </p:cNvPr>
          <p:cNvSpPr txBox="1"/>
          <p:nvPr/>
        </p:nvSpPr>
        <p:spPr>
          <a:xfrm>
            <a:off x="866775" y="1436537"/>
            <a:ext cx="5124450" cy="293670"/>
          </a:xfrm>
          <a:prstGeom prst="rect">
            <a:avLst/>
          </a:prstGeom>
          <a:noFill/>
        </p:spPr>
        <p:txBody>
          <a:bodyPr vert="horz" lIns="50800" tIns="25400" rIns="50800" bIns="25400" rtlCol="0" anchor="ctr">
            <a:noAutofit/>
          </a:bodyPr>
          <a:lstStyle/>
          <a:p>
            <a:pPr algn="ctr"/>
            <a:r>
              <a:rPr lang="en-GB" sz="1575" b="1" dirty="0" err="1">
                <a:solidFill>
                  <a:srgbClr val="FFFFFF"/>
                </a:solidFill>
                <a:latin typeface="Aptos" panose="020B0004020202020204" pitchFamily="34" charset="0"/>
              </a:rPr>
              <a:t>Statisk</a:t>
            </a:r>
            <a:r>
              <a:rPr lang="en-GB" sz="1575" b="1" dirty="0">
                <a:solidFill>
                  <a:srgbClr val="FFFFFF"/>
                </a:solidFill>
                <a:latin typeface="Aptos" panose="020B0004020202020204" pitchFamily="34" charset="0"/>
              </a:rPr>
              <a:t> problem</a:t>
            </a:r>
          </a:p>
        </p:txBody>
      </p:sp>
      <p:sp>
        <p:nvSpPr>
          <p:cNvPr id="8" name="Rectangle 7">
            <a:extLst>
              <a:ext uri="{FF2B5EF4-FFF2-40B4-BE49-F238E27FC236}">
                <a16:creationId xmlns:a16="http://schemas.microsoft.com/office/drawing/2014/main" id="{3DC8B4E3-0AB7-F11E-A65B-1CAB7102E148}"/>
              </a:ext>
            </a:extLst>
          </p:cNvPr>
          <p:cNvSpPr/>
          <p:nvPr/>
        </p:nvSpPr>
        <p:spPr>
          <a:xfrm>
            <a:off x="6048375" y="1381125"/>
            <a:ext cx="5238750" cy="5905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AF0D4D4-6BD9-2C1A-C308-1D97A743EEBB}"/>
              </a:ext>
            </a:extLst>
          </p:cNvPr>
          <p:cNvSpPr txBox="1"/>
          <p:nvPr/>
        </p:nvSpPr>
        <p:spPr>
          <a:xfrm>
            <a:off x="6105525" y="1436537"/>
            <a:ext cx="5124450" cy="293670"/>
          </a:xfrm>
          <a:prstGeom prst="rect">
            <a:avLst/>
          </a:prstGeom>
          <a:noFill/>
        </p:spPr>
        <p:txBody>
          <a:bodyPr vert="horz" lIns="50800" tIns="25400" rIns="50800" bIns="25400" rtlCol="0" anchor="ctr">
            <a:noAutofit/>
          </a:bodyPr>
          <a:lstStyle/>
          <a:p>
            <a:pPr algn="ctr"/>
            <a:r>
              <a:rPr lang="en-GB" sz="1575" b="1">
                <a:solidFill>
                  <a:srgbClr val="FFFFFF"/>
                </a:solidFill>
                <a:latin typeface="Aptos" panose="020B0004020202020204" pitchFamily="34" charset="0"/>
              </a:rPr>
              <a:t>Dynamisk problem</a:t>
            </a:r>
          </a:p>
        </p:txBody>
      </p:sp>
      <p:sp>
        <p:nvSpPr>
          <p:cNvPr id="10" name="Rectangle 9">
            <a:extLst>
              <a:ext uri="{FF2B5EF4-FFF2-40B4-BE49-F238E27FC236}">
                <a16:creationId xmlns:a16="http://schemas.microsoft.com/office/drawing/2014/main" id="{D40A811D-0A90-D177-D74A-1382D7BF2942}"/>
              </a:ext>
            </a:extLst>
          </p:cNvPr>
          <p:cNvSpPr/>
          <p:nvPr/>
        </p:nvSpPr>
        <p:spPr>
          <a:xfrm>
            <a:off x="809625" y="1971675"/>
            <a:ext cx="5238750" cy="8763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56085732-E38C-25B3-DC7D-38F6A01744C8}"/>
              </a:ext>
            </a:extLst>
          </p:cNvPr>
          <p:cNvSpPr txBox="1"/>
          <p:nvPr/>
        </p:nvSpPr>
        <p:spPr>
          <a:xfrm>
            <a:off x="866775" y="2027087"/>
            <a:ext cx="5124450" cy="293670"/>
          </a:xfrm>
          <a:prstGeom prst="rect">
            <a:avLst/>
          </a:prstGeom>
          <a:noFill/>
        </p:spPr>
        <p:txBody>
          <a:bodyPr vert="horz" lIns="50800" tIns="25400" rIns="50800" bIns="25400" rtlCol="0" anchor="ctr">
            <a:noAutofit/>
          </a:bodyPr>
          <a:lstStyle/>
          <a:p>
            <a:pPr algn="ctr"/>
            <a:r>
              <a:rPr lang="en-GB" sz="1575" dirty="0" err="1">
                <a:solidFill>
                  <a:srgbClr val="1C2930"/>
                </a:solidFill>
                <a:latin typeface="Aptos" panose="020B0004020202020204" pitchFamily="34" charset="0"/>
              </a:rPr>
              <a:t>Én</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periode</a:t>
            </a:r>
            <a:endParaRPr lang="en-GB" sz="1575" dirty="0">
              <a:solidFill>
                <a:srgbClr val="1C2930"/>
              </a:solidFill>
              <a:latin typeface="Aptos" panose="020B0004020202020204" pitchFamily="34" charset="0"/>
            </a:endParaRPr>
          </a:p>
        </p:txBody>
      </p:sp>
      <p:sp>
        <p:nvSpPr>
          <p:cNvPr id="12" name="Rectangle 11">
            <a:extLst>
              <a:ext uri="{FF2B5EF4-FFF2-40B4-BE49-F238E27FC236}">
                <a16:creationId xmlns:a16="http://schemas.microsoft.com/office/drawing/2014/main" id="{F405980A-C439-F220-EE3D-16021B2782D8}"/>
              </a:ext>
            </a:extLst>
          </p:cNvPr>
          <p:cNvSpPr/>
          <p:nvPr/>
        </p:nvSpPr>
        <p:spPr>
          <a:xfrm>
            <a:off x="6048375" y="1971675"/>
            <a:ext cx="5238750" cy="8763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1FBB6F42-7EA5-F364-B592-FA5E64138E3F}"/>
              </a:ext>
            </a:extLst>
          </p:cNvPr>
          <p:cNvSpPr txBox="1"/>
          <p:nvPr/>
        </p:nvSpPr>
        <p:spPr>
          <a:xfrm>
            <a:off x="6105525" y="2027087"/>
            <a:ext cx="5124450" cy="293670"/>
          </a:xfrm>
          <a:prstGeom prst="rect">
            <a:avLst/>
          </a:prstGeom>
          <a:noFill/>
        </p:spPr>
        <p:txBody>
          <a:bodyPr vert="horz" lIns="50800" tIns="25400" rIns="50800" bIns="25400" rtlCol="0" anchor="ctr">
            <a:noAutofit/>
          </a:bodyPr>
          <a:lstStyle/>
          <a:p>
            <a:pPr algn="ctr"/>
            <a:r>
              <a:rPr lang="en-GB" sz="1575">
                <a:solidFill>
                  <a:srgbClr val="1C2930"/>
                </a:solidFill>
                <a:latin typeface="Aptos" panose="020B0004020202020204" pitchFamily="34" charset="0"/>
              </a:rPr>
              <a:t>Sammenkoblede perioder</a:t>
            </a:r>
          </a:p>
        </p:txBody>
      </p:sp>
      <p:sp>
        <p:nvSpPr>
          <p:cNvPr id="14" name="Rectangle 13">
            <a:extLst>
              <a:ext uri="{FF2B5EF4-FFF2-40B4-BE49-F238E27FC236}">
                <a16:creationId xmlns:a16="http://schemas.microsoft.com/office/drawing/2014/main" id="{10C77610-B3C6-ADB9-9C4E-5E021D158A06}"/>
              </a:ext>
            </a:extLst>
          </p:cNvPr>
          <p:cNvSpPr/>
          <p:nvPr/>
        </p:nvSpPr>
        <p:spPr>
          <a:xfrm>
            <a:off x="809625" y="2847975"/>
            <a:ext cx="5238750" cy="8763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4E837C8-6D4D-AF72-428B-5CA5802F825F}"/>
              </a:ext>
            </a:extLst>
          </p:cNvPr>
          <p:cNvSpPr txBox="1"/>
          <p:nvPr/>
        </p:nvSpPr>
        <p:spPr>
          <a:xfrm>
            <a:off x="866775" y="2903387"/>
            <a:ext cx="5124450" cy="293670"/>
          </a:xfrm>
          <a:prstGeom prst="rect">
            <a:avLst/>
          </a:prstGeom>
          <a:noFill/>
        </p:spPr>
        <p:txBody>
          <a:bodyPr vert="horz" lIns="50800" tIns="25400" rIns="50800" bIns="25400" rtlCol="0" anchor="ctr">
            <a:noAutofit/>
          </a:bodyPr>
          <a:lstStyle/>
          <a:p>
            <a:pPr algn="ctr"/>
            <a:r>
              <a:rPr lang="nb-NO" sz="1575" dirty="0">
                <a:solidFill>
                  <a:srgbClr val="1C2930"/>
                </a:solidFill>
                <a:latin typeface="Aptos" panose="020B0004020202020204" pitchFamily="34" charset="0"/>
              </a:rPr>
              <a:t>Dagens bruk endrer ikke framtidig tilgang</a:t>
            </a:r>
            <a:endParaRPr lang="en-GB" sz="1575" dirty="0">
              <a:solidFill>
                <a:srgbClr val="1C2930"/>
              </a:solidFill>
              <a:latin typeface="Aptos" panose="020B0004020202020204" pitchFamily="34" charset="0"/>
            </a:endParaRPr>
          </a:p>
        </p:txBody>
      </p:sp>
      <p:sp>
        <p:nvSpPr>
          <p:cNvPr id="16" name="Rectangle 15">
            <a:extLst>
              <a:ext uri="{FF2B5EF4-FFF2-40B4-BE49-F238E27FC236}">
                <a16:creationId xmlns:a16="http://schemas.microsoft.com/office/drawing/2014/main" id="{AA3857F9-A34C-67C1-56F1-3C8E6D9C9001}"/>
              </a:ext>
            </a:extLst>
          </p:cNvPr>
          <p:cNvSpPr/>
          <p:nvPr/>
        </p:nvSpPr>
        <p:spPr>
          <a:xfrm>
            <a:off x="6048375" y="2847975"/>
            <a:ext cx="5238750" cy="8763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1F684471-E870-CBDF-0F32-0E7247E0100E}"/>
              </a:ext>
            </a:extLst>
          </p:cNvPr>
          <p:cNvSpPr txBox="1"/>
          <p:nvPr/>
        </p:nvSpPr>
        <p:spPr>
          <a:xfrm>
            <a:off x="6105525" y="2903387"/>
            <a:ext cx="5124450" cy="293670"/>
          </a:xfrm>
          <a:prstGeom prst="rect">
            <a:avLst/>
          </a:prstGeom>
          <a:noFill/>
        </p:spPr>
        <p:txBody>
          <a:bodyPr vert="horz" lIns="50800" tIns="25400" rIns="50800" bIns="25400" rtlCol="0" anchor="ctr">
            <a:noAutofit/>
          </a:bodyPr>
          <a:lstStyle/>
          <a:p>
            <a:pPr algn="ctr"/>
            <a:r>
              <a:rPr lang="nb-NO" sz="1575">
                <a:solidFill>
                  <a:srgbClr val="1C2930"/>
                </a:solidFill>
                <a:latin typeface="Aptos" panose="020B0004020202020204" pitchFamily="34" charset="0"/>
              </a:rPr>
              <a:t>Dagens bruk endrer framtidige muligheter</a:t>
            </a:r>
            <a:endParaRPr lang="en-GB" sz="1575">
              <a:solidFill>
                <a:srgbClr val="1C2930"/>
              </a:solidFill>
              <a:latin typeface="Aptos" panose="020B0004020202020204" pitchFamily="34" charset="0"/>
            </a:endParaRPr>
          </a:p>
        </p:txBody>
      </p:sp>
      <p:sp>
        <p:nvSpPr>
          <p:cNvPr id="18" name="Rectangle 17">
            <a:extLst>
              <a:ext uri="{FF2B5EF4-FFF2-40B4-BE49-F238E27FC236}">
                <a16:creationId xmlns:a16="http://schemas.microsoft.com/office/drawing/2014/main" id="{AAFECDC7-3A61-D367-4B02-0DBFC4F54DA5}"/>
              </a:ext>
            </a:extLst>
          </p:cNvPr>
          <p:cNvSpPr/>
          <p:nvPr/>
        </p:nvSpPr>
        <p:spPr>
          <a:xfrm>
            <a:off x="809625" y="3724275"/>
            <a:ext cx="5238750" cy="8763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C09DA41B-FB9B-2FA0-5EB8-668E5F181E63}"/>
              </a:ext>
            </a:extLst>
          </p:cNvPr>
          <p:cNvSpPr txBox="1"/>
          <p:nvPr/>
        </p:nvSpPr>
        <p:spPr>
          <a:xfrm>
            <a:off x="866775" y="3779687"/>
            <a:ext cx="5124450" cy="293670"/>
          </a:xfrm>
          <a:prstGeom prst="rect">
            <a:avLst/>
          </a:prstGeom>
          <a:noFill/>
        </p:spPr>
        <p:txBody>
          <a:bodyPr vert="horz" lIns="50800" tIns="25400" rIns="50800" bIns="25400" rtlCol="0" anchor="ctr">
            <a:noAutofit/>
          </a:bodyPr>
          <a:lstStyle/>
          <a:p>
            <a:pPr algn="ctr"/>
            <a:r>
              <a:rPr lang="en-GB" sz="1575" dirty="0" err="1">
                <a:solidFill>
                  <a:srgbClr val="1C2930"/>
                </a:solidFill>
                <a:latin typeface="Aptos" panose="020B0004020202020204" pitchFamily="34" charset="0"/>
              </a:rPr>
              <a:t>Maksimerer</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netto</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nytte</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nå</a:t>
            </a:r>
            <a:endParaRPr lang="en-GB" sz="1575" dirty="0">
              <a:solidFill>
                <a:srgbClr val="1C2930"/>
              </a:solidFill>
              <a:latin typeface="Aptos" panose="020B0004020202020204" pitchFamily="34" charset="0"/>
            </a:endParaRPr>
          </a:p>
        </p:txBody>
      </p:sp>
      <p:sp>
        <p:nvSpPr>
          <p:cNvPr id="20" name="Rectangle 19">
            <a:extLst>
              <a:ext uri="{FF2B5EF4-FFF2-40B4-BE49-F238E27FC236}">
                <a16:creationId xmlns:a16="http://schemas.microsoft.com/office/drawing/2014/main" id="{57C4ECF1-65BD-C20E-D7E2-530E03F895FF}"/>
              </a:ext>
            </a:extLst>
          </p:cNvPr>
          <p:cNvSpPr/>
          <p:nvPr/>
        </p:nvSpPr>
        <p:spPr>
          <a:xfrm>
            <a:off x="6048375" y="3724275"/>
            <a:ext cx="5238750" cy="8763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7D7EB64F-ABD3-DAB9-B3AA-145F3745BC31}"/>
              </a:ext>
            </a:extLst>
          </p:cNvPr>
          <p:cNvSpPr txBox="1"/>
          <p:nvPr/>
        </p:nvSpPr>
        <p:spPr>
          <a:xfrm>
            <a:off x="6105525" y="3779687"/>
            <a:ext cx="5124450" cy="293670"/>
          </a:xfrm>
          <a:prstGeom prst="rect">
            <a:avLst/>
          </a:prstGeom>
          <a:noFill/>
        </p:spPr>
        <p:txBody>
          <a:bodyPr vert="horz" lIns="50800" tIns="25400" rIns="50800" bIns="25400" rtlCol="0" anchor="ctr">
            <a:noAutofit/>
          </a:bodyPr>
          <a:lstStyle/>
          <a:p>
            <a:pPr algn="ctr"/>
            <a:r>
              <a:rPr lang="en-GB" sz="1575" dirty="0" err="1">
                <a:solidFill>
                  <a:srgbClr val="1C2930"/>
                </a:solidFill>
                <a:latin typeface="Aptos" panose="020B0004020202020204" pitchFamily="34" charset="0"/>
              </a:rPr>
              <a:t>Maksimer</a:t>
            </a:r>
            <a:r>
              <a:rPr lang="en-GB" sz="1575" dirty="0">
                <a:solidFill>
                  <a:srgbClr val="1C2930"/>
                </a:solidFill>
                <a:latin typeface="Aptos" panose="020B0004020202020204" pitchFamily="34" charset="0"/>
              </a:rPr>
              <a:t> </a:t>
            </a:r>
            <a:r>
              <a:rPr lang="en-GB" sz="1575" b="1" dirty="0" err="1">
                <a:solidFill>
                  <a:srgbClr val="1C2930"/>
                </a:solidFill>
                <a:latin typeface="Aptos" panose="020B0004020202020204" pitchFamily="34" charset="0"/>
              </a:rPr>
              <a:t>nåverdien</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av</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netto</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nytte</a:t>
            </a:r>
            <a:endParaRPr lang="en-GB" sz="1575" dirty="0">
              <a:solidFill>
                <a:srgbClr val="1C2930"/>
              </a:solidFill>
              <a:latin typeface="Aptos" panose="020B0004020202020204" pitchFamily="34" charset="0"/>
            </a:endParaRPr>
          </a:p>
        </p:txBody>
      </p:sp>
      <p:sp>
        <p:nvSpPr>
          <p:cNvPr id="22" name="Rectangle 21">
            <a:extLst>
              <a:ext uri="{FF2B5EF4-FFF2-40B4-BE49-F238E27FC236}">
                <a16:creationId xmlns:a16="http://schemas.microsoft.com/office/drawing/2014/main" id="{230F74CA-E7DE-6785-011C-E1FA6F1BBB8A}"/>
              </a:ext>
            </a:extLst>
          </p:cNvPr>
          <p:cNvSpPr/>
          <p:nvPr/>
        </p:nvSpPr>
        <p:spPr>
          <a:xfrm>
            <a:off x="809625" y="4600575"/>
            <a:ext cx="5238750" cy="8763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C138677E-06CB-A38C-A8C1-CAA3935335F8}"/>
              </a:ext>
            </a:extLst>
          </p:cNvPr>
          <p:cNvSpPr txBox="1"/>
          <p:nvPr/>
        </p:nvSpPr>
        <p:spPr>
          <a:xfrm>
            <a:off x="866775" y="4655987"/>
            <a:ext cx="5124450" cy="293670"/>
          </a:xfrm>
          <a:prstGeom prst="rect">
            <a:avLst/>
          </a:prstGeom>
          <a:noFill/>
        </p:spPr>
        <p:txBody>
          <a:bodyPr vert="horz" lIns="50800" tIns="25400" rIns="50800" bIns="25400" rtlCol="0" anchor="ctr">
            <a:noAutofit/>
          </a:bodyPr>
          <a:lstStyle/>
          <a:p>
            <a:pPr algn="ctr"/>
            <a:r>
              <a:rPr lang="en-GB" sz="1575" dirty="0">
                <a:solidFill>
                  <a:srgbClr val="1C2930"/>
                </a:solidFill>
                <a:latin typeface="Aptos" panose="020B0004020202020204" pitchFamily="34" charset="0"/>
              </a:rPr>
              <a:t>For </a:t>
            </a:r>
            <a:r>
              <a:rPr lang="en-GB" sz="1575" dirty="0" err="1">
                <a:solidFill>
                  <a:srgbClr val="1C2930"/>
                </a:solidFill>
                <a:latin typeface="Aptos" panose="020B0004020202020204" pitchFamily="34" charset="0"/>
              </a:rPr>
              <a:t>eksempel</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fordeling</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dagens</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vannstrøm</a:t>
            </a:r>
            <a:endParaRPr lang="en-GB" sz="1575" dirty="0">
              <a:solidFill>
                <a:srgbClr val="1C2930"/>
              </a:solidFill>
              <a:latin typeface="Aptos" panose="020B0004020202020204" pitchFamily="34" charset="0"/>
            </a:endParaRPr>
          </a:p>
        </p:txBody>
      </p:sp>
      <p:sp>
        <p:nvSpPr>
          <p:cNvPr id="24" name="Rectangle 23">
            <a:extLst>
              <a:ext uri="{FF2B5EF4-FFF2-40B4-BE49-F238E27FC236}">
                <a16:creationId xmlns:a16="http://schemas.microsoft.com/office/drawing/2014/main" id="{80FF6839-CD73-B756-4A1C-09BC7BC8C04F}"/>
              </a:ext>
            </a:extLst>
          </p:cNvPr>
          <p:cNvSpPr/>
          <p:nvPr/>
        </p:nvSpPr>
        <p:spPr>
          <a:xfrm>
            <a:off x="6048375" y="4600575"/>
            <a:ext cx="5238750" cy="8763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3A5E5BF1-C548-DAB8-6C8C-57E48F705819}"/>
              </a:ext>
            </a:extLst>
          </p:cNvPr>
          <p:cNvSpPr txBox="1"/>
          <p:nvPr/>
        </p:nvSpPr>
        <p:spPr>
          <a:xfrm>
            <a:off x="6105525" y="4655987"/>
            <a:ext cx="5124450" cy="293670"/>
          </a:xfrm>
          <a:prstGeom prst="rect">
            <a:avLst/>
          </a:prstGeom>
          <a:noFill/>
        </p:spPr>
        <p:txBody>
          <a:bodyPr vert="horz" lIns="50800" tIns="25400" rIns="50800" bIns="25400" rtlCol="0" anchor="ctr">
            <a:noAutofit/>
          </a:bodyPr>
          <a:lstStyle/>
          <a:p>
            <a:pPr algn="ctr"/>
            <a:r>
              <a:rPr lang="en-GB" sz="1575" dirty="0">
                <a:solidFill>
                  <a:srgbClr val="1C2930"/>
                </a:solidFill>
                <a:latin typeface="Aptos" panose="020B0004020202020204" pitchFamily="34" charset="0"/>
              </a:rPr>
              <a:t>For </a:t>
            </a:r>
            <a:r>
              <a:rPr lang="en-GB" sz="1575" dirty="0" err="1">
                <a:solidFill>
                  <a:srgbClr val="1C2930"/>
                </a:solidFill>
                <a:latin typeface="Aptos" panose="020B0004020202020204" pitchFamily="34" charset="0"/>
              </a:rPr>
              <a:t>eksempel</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fordeling</a:t>
            </a:r>
            <a:r>
              <a:rPr lang="en-GB" sz="1575" dirty="0">
                <a:solidFill>
                  <a:srgbClr val="1C2930"/>
                </a:solidFill>
                <a:latin typeface="Aptos" panose="020B0004020202020204" pitchFamily="34" charset="0"/>
              </a:rPr>
              <a:t> et </a:t>
            </a:r>
            <a:r>
              <a:rPr lang="en-GB" sz="1575" dirty="0" err="1">
                <a:solidFill>
                  <a:srgbClr val="1C2930"/>
                </a:solidFill>
                <a:latin typeface="Aptos" panose="020B0004020202020204" pitchFamily="34" charset="0"/>
              </a:rPr>
              <a:t>metallager</a:t>
            </a:r>
            <a:r>
              <a:rPr lang="en-GB" sz="1575" dirty="0">
                <a:solidFill>
                  <a:srgbClr val="1C2930"/>
                </a:solidFill>
                <a:latin typeface="Aptos" panose="020B0004020202020204" pitchFamily="34" charset="0"/>
              </a:rPr>
              <a:t> over </a:t>
            </a:r>
            <a:r>
              <a:rPr lang="en-GB" sz="1575" dirty="0" err="1">
                <a:solidFill>
                  <a:srgbClr val="1C2930"/>
                </a:solidFill>
                <a:latin typeface="Aptos" panose="020B0004020202020204" pitchFamily="34" charset="0"/>
              </a:rPr>
              <a:t>tid</a:t>
            </a:r>
            <a:endParaRPr lang="en-GB" sz="1575" dirty="0">
              <a:solidFill>
                <a:srgbClr val="1C2930"/>
              </a:solidFill>
              <a:latin typeface="Aptos" panose="020B0004020202020204" pitchFamily="34" charset="0"/>
            </a:endParaRPr>
          </a:p>
        </p:txBody>
      </p:sp>
    </p:spTree>
    <p:extLst>
      <p:ext uri="{BB962C8B-B14F-4D97-AF65-F5344CB8AC3E}">
        <p14:creationId xmlns:p14="http://schemas.microsoft.com/office/powerpoint/2010/main" val="3138954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7D22F0-9F93-1CB0-9840-F2A06935DCA3}"/>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Metallforekomsten i toperiodemodellen</a:t>
            </a:r>
          </a:p>
        </p:txBody>
      </p:sp>
      <p:sp>
        <p:nvSpPr>
          <p:cNvPr id="3" name="Rectangle 2">
            <a:extLst>
              <a:ext uri="{FF2B5EF4-FFF2-40B4-BE49-F238E27FC236}">
                <a16:creationId xmlns:a16="http://schemas.microsoft.com/office/drawing/2014/main" id="{233EC829-62DE-7FA4-FFC5-FACED2AFAE4E}"/>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4F3EB9C-BCA3-670C-96A2-86FD25B24F1E}"/>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2A01C018-D32C-24D3-0DA9-9E720C55D382}"/>
              </a:ext>
            </a:extLst>
          </p:cNvPr>
          <p:cNvSpPr txBox="1"/>
          <p:nvPr/>
        </p:nvSpPr>
        <p:spPr>
          <a:xfrm>
            <a:off x="1066800" y="1381125"/>
            <a:ext cx="10058400" cy="362920"/>
          </a:xfrm>
          <a:prstGeom prst="rect">
            <a:avLst/>
          </a:prstGeom>
          <a:noFill/>
        </p:spPr>
        <p:txBody>
          <a:bodyPr vert="horz" lIns="50800" tIns="25400" rIns="50800" bIns="25400" rtlCol="0" anchor="t">
            <a:noAutofit/>
          </a:bodyPr>
          <a:lstStyle/>
          <a:p>
            <a:pPr algn="ctr"/>
            <a:r>
              <a:rPr lang="nb-NO" sz="2025">
                <a:solidFill>
                  <a:srgbClr val="1C2930"/>
                </a:solidFill>
                <a:latin typeface="Aptos" panose="020B0004020202020204" pitchFamily="34" charset="0"/>
              </a:rPr>
              <a:t>De 20 enhetene skal fordeles mellom to perioder:</a:t>
            </a:r>
            <a:endParaRPr lang="en-GB" sz="2025">
              <a:solidFill>
                <a:srgbClr val="1C2930"/>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3AE62FAE-6A63-3EB3-08EE-2A47BEB0C4AA}"/>
              </a:ext>
            </a:extLst>
          </p:cNvPr>
          <p:cNvSpPr/>
          <p:nvPr/>
        </p:nvSpPr>
        <p:spPr>
          <a:xfrm>
            <a:off x="3429000" y="2000250"/>
            <a:ext cx="5334000" cy="8763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3D70D3-8D5C-32C3-E390-27B0EAE218D6}"/>
                  </a:ext>
                </a:extLst>
              </p:cNvPr>
              <p:cNvSpPr txBox="1"/>
              <p:nvPr/>
            </p:nvSpPr>
            <p:spPr>
              <a:xfrm>
                <a:off x="3543300" y="2125045"/>
                <a:ext cx="5105400" cy="489878"/>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850" b="0" i="1" dirty="0" smtClean="0">
                          <a:solidFill>
                            <a:srgbClr val="0B3D4F"/>
                          </a:solidFill>
                          <a:latin typeface="Cambria Math" panose="02040503050406030204" pitchFamily="18" charset="0"/>
                        </a:rPr>
                        <m:t>𝑞</m:t>
                      </m:r>
                      <m:r>
                        <a:rPr lang="en-GB" sz="2850" b="0" i="1" dirty="0" smtClean="0">
                          <a:solidFill>
                            <a:srgbClr val="0B3D4F"/>
                          </a:solidFill>
                          <a:latin typeface="Cambria Math" panose="02040503050406030204" pitchFamily="18" charset="0"/>
                        </a:rPr>
                        <m:t>₁ + </m:t>
                      </m:r>
                      <m:r>
                        <a:rPr lang="en-GB" sz="2850" b="0" i="1" dirty="0" smtClean="0">
                          <a:solidFill>
                            <a:srgbClr val="0B3D4F"/>
                          </a:solidFill>
                          <a:latin typeface="Cambria Math" panose="02040503050406030204" pitchFamily="18" charset="0"/>
                        </a:rPr>
                        <m:t>𝑞</m:t>
                      </m:r>
                      <m:r>
                        <a:rPr lang="en-GB" sz="2850" b="0" i="1" dirty="0" smtClean="0">
                          <a:solidFill>
                            <a:srgbClr val="0B3D4F"/>
                          </a:solidFill>
                          <a:latin typeface="Cambria Math" panose="02040503050406030204" pitchFamily="18" charset="0"/>
                        </a:rPr>
                        <m:t>₂ = 20</m:t>
                      </m:r>
                    </m:oMath>
                  </m:oMathPara>
                </a14:m>
                <a:endParaRPr dirty="0"/>
              </a:p>
            </p:txBody>
          </p:sp>
        </mc:Choice>
        <mc:Fallback xmlns="">
          <p:sp>
            <p:nvSpPr>
              <p:cNvPr id="8" name="TextBox 7">
                <a:extLst>
                  <a:ext uri="{FF2B5EF4-FFF2-40B4-BE49-F238E27FC236}">
                    <a16:creationId xmlns:a16="http://schemas.microsoft.com/office/drawing/2014/main" id="{3D3D70D3-8D5C-32C3-E390-27B0EAE218D6}"/>
                  </a:ext>
                </a:extLst>
              </p:cNvPr>
              <p:cNvSpPr txBox="1">
                <a:spLocks noRot="1" noChangeAspect="1" noMove="1" noResize="1" noEditPoints="1" noAdjustHandles="1" noChangeArrowheads="1" noChangeShapeType="1" noTextEdit="1"/>
              </p:cNvSpPr>
              <p:nvPr/>
            </p:nvSpPr>
            <p:spPr>
              <a:xfrm>
                <a:off x="3543300" y="2125045"/>
                <a:ext cx="5105400" cy="489878"/>
              </a:xfrm>
              <a:prstGeom prst="rect">
                <a:avLst/>
              </a:prstGeom>
              <a:blipFill>
                <a:blip r:embed="rId2"/>
                <a:stretch>
                  <a:fillRect/>
                </a:stretch>
              </a:blipFill>
            </p:spPr>
            <p:txBody>
              <a:bodyPr/>
              <a:lstStyle/>
              <a:p>
                <a:r>
                  <a:rPr lang="nb-NO">
                    <a:noFill/>
                  </a:rPr>
                  <a:t> </a:t>
                </a:r>
              </a:p>
            </p:txBody>
          </p:sp>
        </mc:Fallback>
      </mc:AlternateContent>
      <p:sp>
        <p:nvSpPr>
          <p:cNvPr id="9" name="TextBox 8">
            <a:extLst>
              <a:ext uri="{FF2B5EF4-FFF2-40B4-BE49-F238E27FC236}">
                <a16:creationId xmlns:a16="http://schemas.microsoft.com/office/drawing/2014/main" id="{684A5495-7EA8-62F8-0280-EADF7B9B8FBA}"/>
              </a:ext>
            </a:extLst>
          </p:cNvPr>
          <p:cNvSpPr txBox="1"/>
          <p:nvPr/>
        </p:nvSpPr>
        <p:spPr>
          <a:xfrm>
            <a:off x="1066800" y="3381375"/>
            <a:ext cx="10058400" cy="362920"/>
          </a:xfrm>
          <a:prstGeom prst="rect">
            <a:avLst/>
          </a:prstGeom>
          <a:noFill/>
        </p:spPr>
        <p:txBody>
          <a:bodyPr vert="horz" lIns="50800" tIns="25400" rIns="50800" bIns="25400" rtlCol="0" anchor="t">
            <a:noAutofit/>
          </a:bodyPr>
          <a:lstStyle/>
          <a:p>
            <a:pPr algn="ctr"/>
            <a:r>
              <a:rPr lang="en-GB" sz="2025" dirty="0" err="1">
                <a:solidFill>
                  <a:srgbClr val="1C2930"/>
                </a:solidFill>
                <a:latin typeface="Aptos" panose="020B0004020202020204" pitchFamily="34" charset="0"/>
              </a:rPr>
              <a:t>Etterspørsel</a:t>
            </a:r>
            <a:r>
              <a:rPr lang="en-GB" sz="2025" dirty="0">
                <a:solidFill>
                  <a:srgbClr val="1C2930"/>
                </a:solidFill>
                <a:latin typeface="Aptos" panose="020B0004020202020204" pitchFamily="34" charset="0"/>
              </a:rPr>
              <a:t> </a:t>
            </a:r>
            <a:r>
              <a:rPr lang="en-GB" sz="2025" dirty="0" err="1">
                <a:solidFill>
                  <a:srgbClr val="1C2930"/>
                </a:solidFill>
                <a:latin typeface="Aptos" panose="020B0004020202020204" pitchFamily="34" charset="0"/>
              </a:rPr>
              <a:t>og</a:t>
            </a:r>
            <a:r>
              <a:rPr lang="en-GB" sz="2025" dirty="0">
                <a:solidFill>
                  <a:srgbClr val="1C2930"/>
                </a:solidFill>
                <a:latin typeface="Aptos" panose="020B0004020202020204" pitchFamily="34" charset="0"/>
              </a:rPr>
              <a:t> marginal </a:t>
            </a:r>
            <a:r>
              <a:rPr lang="en-GB" sz="2025" dirty="0" err="1">
                <a:solidFill>
                  <a:srgbClr val="1C2930"/>
                </a:solidFill>
                <a:latin typeface="Aptos" panose="020B0004020202020204" pitchFamily="34" charset="0"/>
              </a:rPr>
              <a:t>utvinningskostnad</a:t>
            </a:r>
            <a:r>
              <a:rPr lang="en-GB" sz="2025" dirty="0">
                <a:solidFill>
                  <a:srgbClr val="1C2930"/>
                </a:solidFill>
                <a:latin typeface="Aptos" panose="020B0004020202020204" pitchFamily="34" charset="0"/>
              </a:rPr>
              <a:t>:</a:t>
            </a:r>
          </a:p>
        </p:txBody>
      </p:sp>
      <p:sp>
        <p:nvSpPr>
          <p:cNvPr id="10" name="Rectangle: Rounded Corners 9">
            <a:extLst>
              <a:ext uri="{FF2B5EF4-FFF2-40B4-BE49-F238E27FC236}">
                <a16:creationId xmlns:a16="http://schemas.microsoft.com/office/drawing/2014/main" id="{FB338184-2DB1-49A9-DD8D-1EA588A7E8D9}"/>
              </a:ext>
            </a:extLst>
          </p:cNvPr>
          <p:cNvSpPr/>
          <p:nvPr/>
        </p:nvSpPr>
        <p:spPr>
          <a:xfrm>
            <a:off x="2571750" y="4000500"/>
            <a:ext cx="7048500" cy="9144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3FDB595-96B6-2904-FB52-181DDB0F236B}"/>
                  </a:ext>
                </a:extLst>
              </p:cNvPr>
              <p:cNvSpPr txBox="1"/>
              <p:nvPr/>
            </p:nvSpPr>
            <p:spPr>
              <a:xfrm>
                <a:off x="2686050" y="4235844"/>
                <a:ext cx="6819900" cy="443711"/>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550" i="1" dirty="0" smtClean="0">
                          <a:solidFill>
                            <a:srgbClr val="0B3D4F"/>
                          </a:solidFill>
                          <a:latin typeface="Cambria Math" panose="02040503050406030204" pitchFamily="18" charset="0"/>
                        </a:rPr>
                        <m:t>𝑃</m:t>
                      </m:r>
                      <m:r>
                        <a:rPr lang="en-GB" sz="2550" i="1" dirty="0" smtClean="0">
                          <a:solidFill>
                            <a:srgbClr val="0B3D4F"/>
                          </a:solidFill>
                          <a:latin typeface="Cambria Math" panose="02040503050406030204" pitchFamily="18" charset="0"/>
                        </a:rPr>
                        <m:t>ₜ = 8 − 0,4</m:t>
                      </m:r>
                      <m:r>
                        <a:rPr lang="en-GB" sz="2550" i="1" dirty="0" smtClean="0">
                          <a:solidFill>
                            <a:srgbClr val="0B3D4F"/>
                          </a:solidFill>
                          <a:latin typeface="Cambria Math" panose="02040503050406030204" pitchFamily="18" charset="0"/>
                        </a:rPr>
                        <m:t>𝑞</m:t>
                      </m:r>
                      <m:r>
                        <a:rPr lang="en-GB" sz="2550" i="1" dirty="0" smtClean="0">
                          <a:solidFill>
                            <a:srgbClr val="0B3D4F"/>
                          </a:solidFill>
                          <a:latin typeface="Cambria Math" panose="02040503050406030204" pitchFamily="18" charset="0"/>
                        </a:rPr>
                        <m:t>ₜ     |     </m:t>
                      </m:r>
                      <m:r>
                        <a:rPr lang="en-GB" sz="2550" i="1" dirty="0" smtClean="0">
                          <a:solidFill>
                            <a:srgbClr val="0B3D4F"/>
                          </a:solidFill>
                          <a:latin typeface="Cambria Math" panose="02040503050406030204" pitchFamily="18" charset="0"/>
                        </a:rPr>
                        <m:t>𝑀𝐶</m:t>
                      </m:r>
                      <m:r>
                        <a:rPr lang="en-GB" sz="2550" i="1" dirty="0" smtClean="0">
                          <a:solidFill>
                            <a:srgbClr val="0B3D4F"/>
                          </a:solidFill>
                          <a:latin typeface="Cambria Math" panose="02040503050406030204" pitchFamily="18" charset="0"/>
                        </a:rPr>
                        <m:t> = 2</m:t>
                      </m:r>
                    </m:oMath>
                  </m:oMathPara>
                </a14:m>
                <a:endParaRPr dirty="0"/>
              </a:p>
            </p:txBody>
          </p:sp>
        </mc:Choice>
        <mc:Fallback xmlns="">
          <p:sp>
            <p:nvSpPr>
              <p:cNvPr id="11" name="TextBox 10">
                <a:extLst>
                  <a:ext uri="{FF2B5EF4-FFF2-40B4-BE49-F238E27FC236}">
                    <a16:creationId xmlns:a16="http://schemas.microsoft.com/office/drawing/2014/main" id="{D3FDB595-96B6-2904-FB52-181DDB0F236B}"/>
                  </a:ext>
                </a:extLst>
              </p:cNvPr>
              <p:cNvSpPr txBox="1">
                <a:spLocks noRot="1" noChangeAspect="1" noMove="1" noResize="1" noEditPoints="1" noAdjustHandles="1" noChangeArrowheads="1" noChangeShapeType="1" noTextEdit="1"/>
              </p:cNvSpPr>
              <p:nvPr/>
            </p:nvSpPr>
            <p:spPr>
              <a:xfrm>
                <a:off x="2686050" y="4235844"/>
                <a:ext cx="6819900" cy="443711"/>
              </a:xfrm>
              <a:prstGeom prst="rect">
                <a:avLst/>
              </a:prstGeom>
              <a:blipFill>
                <a:blip r:embed="rId3"/>
                <a:stretch>
                  <a:fillRect b="-21918"/>
                </a:stretch>
              </a:blipFill>
            </p:spPr>
            <p:txBody>
              <a:bodyPr/>
              <a:lstStyle/>
              <a:p>
                <a:r>
                  <a:rPr lang="nb-NO">
                    <a:noFill/>
                  </a:rPr>
                  <a:t> </a:t>
                </a:r>
              </a:p>
            </p:txBody>
          </p:sp>
        </mc:Fallback>
      </mc:AlternateContent>
      <p:sp>
        <p:nvSpPr>
          <p:cNvPr id="12" name="TextBox 11">
            <a:extLst>
              <a:ext uri="{FF2B5EF4-FFF2-40B4-BE49-F238E27FC236}">
                <a16:creationId xmlns:a16="http://schemas.microsoft.com/office/drawing/2014/main" id="{6DFBFCCA-7AA5-7657-961A-2553E3523316}"/>
              </a:ext>
            </a:extLst>
          </p:cNvPr>
          <p:cNvSpPr txBox="1"/>
          <p:nvPr/>
        </p:nvSpPr>
        <p:spPr>
          <a:xfrm>
            <a:off x="1619250" y="5476875"/>
            <a:ext cx="8953500" cy="282129"/>
          </a:xfrm>
          <a:prstGeom prst="rect">
            <a:avLst/>
          </a:prstGeom>
          <a:noFill/>
        </p:spPr>
        <p:txBody>
          <a:bodyPr vert="horz" lIns="50800" tIns="25400" rIns="50800" bIns="25400" rtlCol="0" anchor="t">
            <a:noAutofit/>
          </a:bodyPr>
          <a:lstStyle/>
          <a:p>
            <a:pPr algn="ctr"/>
            <a:r>
              <a:rPr lang="nb-NO" sz="1500" i="1" dirty="0">
                <a:solidFill>
                  <a:srgbClr val="51656D"/>
                </a:solidFill>
                <a:latin typeface="Aptos" panose="020B0004020202020204" pitchFamily="34" charset="0"/>
              </a:rPr>
              <a:t>Foreløpig: ingen nye funn, gjenvinning eller substitutter.</a:t>
            </a:r>
            <a:endParaRPr lang="en-GB" sz="1500" i="1" dirty="0">
              <a:solidFill>
                <a:srgbClr val="51656D"/>
              </a:solidFill>
              <a:latin typeface="Aptos" panose="020B0004020202020204" pitchFamily="34" charset="0"/>
            </a:endParaRPr>
          </a:p>
        </p:txBody>
      </p:sp>
    </p:spTree>
    <p:extLst>
      <p:ext uri="{BB962C8B-B14F-4D97-AF65-F5344CB8AC3E}">
        <p14:creationId xmlns:p14="http://schemas.microsoft.com/office/powerpoint/2010/main" val="4011772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CD71-E153-D0F6-C24B-A34AF79D9B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62CCA7-E9C4-CFA9-C8D1-6DF3BD0D0333}"/>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Effektivitet i én periode</a:t>
            </a:r>
            <a:endParaRPr lang="en-GB" sz="2625" b="1" dirty="0">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C9931C1E-4DF1-C1D7-2314-46303356B699}"/>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2BAD9BD9-0849-C19F-13ED-923A126B0CEA}"/>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9" name="TextBox 8">
            <a:extLst>
              <a:ext uri="{FF2B5EF4-FFF2-40B4-BE49-F238E27FC236}">
                <a16:creationId xmlns:a16="http://schemas.microsoft.com/office/drawing/2014/main" id="{482C9180-A678-0B2F-5973-3BFABD456B74}"/>
              </a:ext>
            </a:extLst>
          </p:cNvPr>
          <p:cNvSpPr txBox="1"/>
          <p:nvPr/>
        </p:nvSpPr>
        <p:spPr>
          <a:xfrm>
            <a:off x="102187" y="1686703"/>
            <a:ext cx="5107757" cy="369332"/>
          </a:xfrm>
          <a:prstGeom prst="rect">
            <a:avLst/>
          </a:prstGeom>
          <a:noFill/>
        </p:spPr>
        <p:txBody>
          <a:bodyPr vert="horz" lIns="50800" tIns="25400" rIns="50800" bIns="25400" rtlCol="0" anchor="t">
            <a:noAutofit/>
          </a:bodyPr>
          <a:lstStyle/>
          <a:p>
            <a:pPr algn="ctr"/>
            <a:r>
              <a:rPr lang="en-GB" sz="2025" dirty="0" err="1">
                <a:solidFill>
                  <a:srgbClr val="1C2930"/>
                </a:solidFill>
                <a:latin typeface="Aptos" panose="020B0004020202020204" pitchFamily="34" charset="0"/>
              </a:rPr>
              <a:t>Etterspørsel</a:t>
            </a:r>
            <a:r>
              <a:rPr lang="en-GB" sz="2025" dirty="0">
                <a:solidFill>
                  <a:srgbClr val="1C2930"/>
                </a:solidFill>
                <a:latin typeface="Aptos" panose="020B0004020202020204" pitchFamily="34" charset="0"/>
              </a:rPr>
              <a:t> </a:t>
            </a:r>
            <a:r>
              <a:rPr lang="en-GB" sz="2025" dirty="0" err="1">
                <a:solidFill>
                  <a:srgbClr val="1C2930"/>
                </a:solidFill>
                <a:latin typeface="Aptos" panose="020B0004020202020204" pitchFamily="34" charset="0"/>
              </a:rPr>
              <a:t>og</a:t>
            </a:r>
            <a:r>
              <a:rPr lang="en-GB" sz="2025" dirty="0">
                <a:solidFill>
                  <a:srgbClr val="1C2930"/>
                </a:solidFill>
                <a:latin typeface="Aptos" panose="020B0004020202020204" pitchFamily="34" charset="0"/>
              </a:rPr>
              <a:t> marginal </a:t>
            </a:r>
            <a:r>
              <a:rPr lang="en-GB" sz="2025" dirty="0" err="1">
                <a:solidFill>
                  <a:srgbClr val="1C2930"/>
                </a:solidFill>
                <a:latin typeface="Aptos" panose="020B0004020202020204" pitchFamily="34" charset="0"/>
              </a:rPr>
              <a:t>utvinningskostnad</a:t>
            </a:r>
            <a:r>
              <a:rPr lang="en-GB" sz="2025" dirty="0">
                <a:solidFill>
                  <a:srgbClr val="1C2930"/>
                </a:solidFill>
                <a:latin typeface="Aptos" panose="020B0004020202020204" pitchFamily="34" charset="0"/>
              </a:rPr>
              <a:t>:</a:t>
            </a:r>
          </a:p>
        </p:txBody>
      </p:sp>
      <p:sp>
        <p:nvSpPr>
          <p:cNvPr id="10" name="Rectangle: Rounded Corners 9">
            <a:extLst>
              <a:ext uri="{FF2B5EF4-FFF2-40B4-BE49-F238E27FC236}">
                <a16:creationId xmlns:a16="http://schemas.microsoft.com/office/drawing/2014/main" id="{C34A1745-361F-C74E-D90D-F0F85C1119B1}"/>
              </a:ext>
            </a:extLst>
          </p:cNvPr>
          <p:cNvSpPr/>
          <p:nvPr/>
        </p:nvSpPr>
        <p:spPr>
          <a:xfrm>
            <a:off x="253883" y="2307560"/>
            <a:ext cx="3251317" cy="1208355"/>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0264E6D-5066-F0F4-5E12-D13E8E8289F2}"/>
                  </a:ext>
                </a:extLst>
              </p:cNvPr>
              <p:cNvSpPr txBox="1"/>
              <p:nvPr/>
            </p:nvSpPr>
            <p:spPr>
              <a:xfrm>
                <a:off x="519777" y="2515986"/>
                <a:ext cx="3043236" cy="791501"/>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550" i="1" dirty="0" smtClean="0">
                          <a:solidFill>
                            <a:srgbClr val="0B3D4F"/>
                          </a:solidFill>
                          <a:latin typeface="Cambria Math" panose="02040503050406030204" pitchFamily="18" charset="0"/>
                        </a:rPr>
                        <m:t>𝑃</m:t>
                      </m:r>
                      <m:r>
                        <a:rPr lang="en-GB" sz="2550" i="1" dirty="0" smtClean="0">
                          <a:solidFill>
                            <a:srgbClr val="0B3D4F"/>
                          </a:solidFill>
                          <a:latin typeface="Cambria Math" panose="02040503050406030204" pitchFamily="18" charset="0"/>
                        </a:rPr>
                        <m:t>ₜ = 8 − 0.4∙</m:t>
                      </m:r>
                      <m:r>
                        <a:rPr lang="en-GB" sz="2550" i="1" dirty="0" smtClean="0">
                          <a:solidFill>
                            <a:srgbClr val="0B3D4F"/>
                          </a:solidFill>
                          <a:latin typeface="Cambria Math" panose="02040503050406030204" pitchFamily="18" charset="0"/>
                        </a:rPr>
                        <m:t>𝑞</m:t>
                      </m:r>
                      <m:r>
                        <a:rPr lang="en-GB" sz="2550" i="1" dirty="0" smtClean="0">
                          <a:solidFill>
                            <a:srgbClr val="0B3D4F"/>
                          </a:solidFill>
                          <a:latin typeface="Cambria Math" panose="02040503050406030204" pitchFamily="18" charset="0"/>
                        </a:rPr>
                        <m:t>ₜ    </m:t>
                      </m:r>
                    </m:oMath>
                    <m:oMath>
                      <m:r>
                        <a:rPr lang="en-GB" sz="2550" i="1" dirty="0" smtClean="0">
                          <a:solidFill>
                            <a:srgbClr val="0B3D4F"/>
                          </a:solidFill>
                          <a:latin typeface="Cambria Math" panose="02040503050406030204" pitchFamily="18" charset="0"/>
                        </a:rPr>
                        <m:t>𝑀𝐶</m:t>
                      </m:r>
                      <m:r>
                        <a:rPr lang="en-GB" sz="2550" i="1" dirty="0" smtClean="0">
                          <a:solidFill>
                            <a:srgbClr val="0B3D4F"/>
                          </a:solidFill>
                          <a:latin typeface="Cambria Math" panose="02040503050406030204" pitchFamily="18" charset="0"/>
                        </a:rPr>
                        <m:t> = 2</m:t>
                      </m:r>
                    </m:oMath>
                  </m:oMathPara>
                </a14:m>
                <a:endParaRPr dirty="0"/>
              </a:p>
            </p:txBody>
          </p:sp>
        </mc:Choice>
        <mc:Fallback xmlns="">
          <p:sp>
            <p:nvSpPr>
              <p:cNvPr id="11" name="TextBox 10">
                <a:extLst>
                  <a:ext uri="{FF2B5EF4-FFF2-40B4-BE49-F238E27FC236}">
                    <a16:creationId xmlns:a16="http://schemas.microsoft.com/office/drawing/2014/main" id="{F0264E6D-5066-F0F4-5E12-D13E8E8289F2}"/>
                  </a:ext>
                </a:extLst>
              </p:cNvPr>
              <p:cNvSpPr txBox="1">
                <a:spLocks noRot="1" noChangeAspect="1" noMove="1" noResize="1" noEditPoints="1" noAdjustHandles="1" noChangeArrowheads="1" noChangeShapeType="1" noTextEdit="1"/>
              </p:cNvSpPr>
              <p:nvPr/>
            </p:nvSpPr>
            <p:spPr>
              <a:xfrm>
                <a:off x="519777" y="2515986"/>
                <a:ext cx="3043236" cy="791501"/>
              </a:xfrm>
              <a:prstGeom prst="rect">
                <a:avLst/>
              </a:prstGeom>
              <a:blipFill>
                <a:blip r:embed="rId2"/>
                <a:stretch>
                  <a:fillRect l="-401" b="-1538"/>
                </a:stretch>
              </a:blipFill>
            </p:spPr>
            <p:txBody>
              <a:bodyPr/>
              <a:lstStyle/>
              <a:p>
                <a:r>
                  <a:rPr lang="nb-NO">
                    <a:noFill/>
                  </a:rPr>
                  <a:t> </a:t>
                </a:r>
              </a:p>
            </p:txBody>
          </p:sp>
        </mc:Fallback>
      </mc:AlternateContent>
      <p:cxnSp>
        <p:nvCxnSpPr>
          <p:cNvPr id="13" name="Straight Arrow Connector 5">
            <a:extLst>
              <a:ext uri="{FF2B5EF4-FFF2-40B4-BE49-F238E27FC236}">
                <a16:creationId xmlns:a16="http://schemas.microsoft.com/office/drawing/2014/main" id="{4622051D-655E-37D4-1196-486F11AB5DEB}"/>
              </a:ext>
            </a:extLst>
          </p:cNvPr>
          <p:cNvCxnSpPr>
            <a:cxnSpLocks/>
          </p:cNvCxnSpPr>
          <p:nvPr/>
        </p:nvCxnSpPr>
        <p:spPr>
          <a:xfrm flipV="1">
            <a:off x="6597426" y="1650874"/>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6">
            <a:extLst>
              <a:ext uri="{FF2B5EF4-FFF2-40B4-BE49-F238E27FC236}">
                <a16:creationId xmlns:a16="http://schemas.microsoft.com/office/drawing/2014/main" id="{AD4BB16B-6EF8-FC86-14F8-B1C18C74F65D}"/>
              </a:ext>
            </a:extLst>
          </p:cNvPr>
          <p:cNvCxnSpPr/>
          <p:nvPr/>
        </p:nvCxnSpPr>
        <p:spPr>
          <a:xfrm>
            <a:off x="6597426" y="5482004"/>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8">
            <a:extLst>
              <a:ext uri="{FF2B5EF4-FFF2-40B4-BE49-F238E27FC236}">
                <a16:creationId xmlns:a16="http://schemas.microsoft.com/office/drawing/2014/main" id="{13B0C6A3-4755-BB46-3528-CE1A849E9E4E}"/>
              </a:ext>
            </a:extLst>
          </p:cNvPr>
          <p:cNvCxnSpPr>
            <a:cxnSpLocks/>
          </p:cNvCxnSpPr>
          <p:nvPr/>
        </p:nvCxnSpPr>
        <p:spPr>
          <a:xfrm>
            <a:off x="6597426" y="2098723"/>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16" name="TextBox 9">
            <a:extLst>
              <a:ext uri="{FF2B5EF4-FFF2-40B4-BE49-F238E27FC236}">
                <a16:creationId xmlns:a16="http://schemas.microsoft.com/office/drawing/2014/main" id="{F2CC0441-CD55-0B47-7220-B90D9122D7FC}"/>
              </a:ext>
            </a:extLst>
          </p:cNvPr>
          <p:cNvSpPr txBox="1"/>
          <p:nvPr/>
        </p:nvSpPr>
        <p:spPr>
          <a:xfrm>
            <a:off x="8789063" y="1291897"/>
            <a:ext cx="2821557" cy="923330"/>
          </a:xfrm>
          <a:prstGeom prst="rect">
            <a:avLst/>
          </a:prstGeom>
          <a:noFill/>
        </p:spPr>
        <p:txBody>
          <a:bodyPr wrap="square" rtlCol="0">
            <a:spAutoFit/>
          </a:bodyPr>
          <a:lstStyle/>
          <a:p>
            <a:r>
              <a:rPr lang="nb-NO" dirty="0"/>
              <a:t>Marginal nytte = MB</a:t>
            </a:r>
            <a:br>
              <a:rPr lang="nb-NO" dirty="0"/>
            </a:br>
            <a:r>
              <a:rPr lang="nb-NO" dirty="0"/>
              <a:t>Marginal kostnad = MC</a:t>
            </a:r>
          </a:p>
          <a:p>
            <a:r>
              <a:rPr lang="nb-NO" dirty="0"/>
              <a:t>Netto nytte = NB</a:t>
            </a:r>
          </a:p>
        </p:txBody>
      </p:sp>
      <p:sp>
        <p:nvSpPr>
          <p:cNvPr id="17" name="TextBox 10">
            <a:extLst>
              <a:ext uri="{FF2B5EF4-FFF2-40B4-BE49-F238E27FC236}">
                <a16:creationId xmlns:a16="http://schemas.microsoft.com/office/drawing/2014/main" id="{E9564312-BDF9-D10F-3759-977650A6551E}"/>
              </a:ext>
            </a:extLst>
          </p:cNvPr>
          <p:cNvSpPr txBox="1"/>
          <p:nvPr/>
        </p:nvSpPr>
        <p:spPr>
          <a:xfrm>
            <a:off x="5780697" y="1324432"/>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mc:AlternateContent xmlns:mc="http://schemas.openxmlformats.org/markup-compatibility/2006" xmlns:a14="http://schemas.microsoft.com/office/drawing/2010/main">
        <mc:Choice Requires="a14">
          <p:sp>
            <p:nvSpPr>
              <p:cNvPr id="18" name="TextBox 11">
                <a:extLst>
                  <a:ext uri="{FF2B5EF4-FFF2-40B4-BE49-F238E27FC236}">
                    <a16:creationId xmlns:a16="http://schemas.microsoft.com/office/drawing/2014/main" id="{74D1AF4B-1909-9959-9168-A7A98837A54F}"/>
                  </a:ext>
                </a:extLst>
              </p:cNvPr>
              <p:cNvSpPr txBox="1"/>
              <p:nvPr/>
            </p:nvSpPr>
            <p:spPr>
              <a:xfrm>
                <a:off x="10408353" y="5586991"/>
                <a:ext cx="1532117" cy="369332"/>
              </a:xfrm>
              <a:prstGeom prst="rect">
                <a:avLst/>
              </a:prstGeom>
              <a:noFill/>
            </p:spPr>
            <p:txBody>
              <a:bodyPr wrap="square" rtlCol="0">
                <a:spAutoFit/>
              </a:bodyPr>
              <a:lstStyle/>
              <a:p>
                <a:pPr/>
                <a14:m>
                  <m:oMathPara xmlns:m="http://schemas.openxmlformats.org/officeDocument/2006/math">
                    <m:oMath>
                      <m:r>
                        <a:rPr lang="nb-NO" i="1" dirty="0" smtClean="0">
                          <a:latin typeface="Cambria Math" panose="02040503050406030204" pitchFamily="18" charset="0"/>
                        </a:rPr>
                        <m:t>𝐾𝑣𝑎𝑛𝑡𝑢𝑚</m:t>
                      </m:r>
                      <m:r>
                        <a:rPr lang="nb-NO" i="1" dirty="0" smtClean="0">
                          <a:latin typeface="Cambria Math" panose="02040503050406030204" pitchFamily="18" charset="0"/>
                        </a:rPr>
                        <m:t> (</m:t>
                      </m:r>
                      <m:r>
                        <a:rPr lang="nb-NO" i="1" dirty="0" smtClean="0">
                          <a:latin typeface="Cambria Math" panose="02040503050406030204" pitchFamily="18" charset="0"/>
                        </a:rPr>
                        <m:t>𝑞</m:t>
                      </m:r>
                      <m:r>
                        <a:rPr lang="nb-NO" i="1" dirty="0" smtClean="0">
                          <a:latin typeface="Cambria Math" panose="02040503050406030204" pitchFamily="18" charset="0"/>
                        </a:rPr>
                        <m:t>)</m:t>
                      </m:r>
                    </m:oMath>
                  </m:oMathPara>
                </a14:m>
                <a:endParaRPr/>
              </a:p>
            </p:txBody>
          </p:sp>
        </mc:Choice>
        <mc:Fallback xmlns="">
          <p:sp>
            <p:nvSpPr>
              <p:cNvPr id="18" name="TextBox 11">
                <a:extLst>
                  <a:ext uri="{FF2B5EF4-FFF2-40B4-BE49-F238E27FC236}">
                    <a16:creationId xmlns:a16="http://schemas.microsoft.com/office/drawing/2014/main" id="{74D1AF4B-1909-9959-9168-A7A98837A54F}"/>
                  </a:ext>
                </a:extLst>
              </p:cNvPr>
              <p:cNvSpPr txBox="1">
                <a:spLocks noRot="1" noChangeAspect="1" noMove="1" noResize="1" noEditPoints="1" noAdjustHandles="1" noChangeArrowheads="1" noChangeShapeType="1" noTextEdit="1"/>
              </p:cNvSpPr>
              <p:nvPr/>
            </p:nvSpPr>
            <p:spPr>
              <a:xfrm>
                <a:off x="10408353" y="5586991"/>
                <a:ext cx="1532117" cy="369332"/>
              </a:xfrm>
              <a:prstGeom prst="rect">
                <a:avLst/>
              </a:prstGeom>
              <a:blipFill>
                <a:blip r:embed="rId3"/>
                <a:stretch>
                  <a:fillRect t="-11667" r="-5952" b="-25000"/>
                </a:stretch>
              </a:blipFill>
            </p:spPr>
            <p:txBody>
              <a:bodyPr/>
              <a:lstStyle/>
              <a:p>
                <a:r>
                  <a:rPr lang="nb-NO">
                    <a:noFill/>
                  </a:rPr>
                  <a:t> </a:t>
                </a:r>
              </a:p>
            </p:txBody>
          </p:sp>
        </mc:Fallback>
      </mc:AlternateContent>
      <p:cxnSp>
        <p:nvCxnSpPr>
          <p:cNvPr id="19" name="Straight Connector 12">
            <a:extLst>
              <a:ext uri="{FF2B5EF4-FFF2-40B4-BE49-F238E27FC236}">
                <a16:creationId xmlns:a16="http://schemas.microsoft.com/office/drawing/2014/main" id="{7F9AEB98-89F6-6B04-F550-8E79B97A1E64}"/>
              </a:ext>
            </a:extLst>
          </p:cNvPr>
          <p:cNvCxnSpPr>
            <a:cxnSpLocks/>
          </p:cNvCxnSpPr>
          <p:nvPr/>
        </p:nvCxnSpPr>
        <p:spPr>
          <a:xfrm>
            <a:off x="6597426" y="4946911"/>
            <a:ext cx="4273282"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3">
            <a:extLst>
              <a:ext uri="{FF2B5EF4-FFF2-40B4-BE49-F238E27FC236}">
                <a16:creationId xmlns:a16="http://schemas.microsoft.com/office/drawing/2014/main" id="{DF98DD3A-DEE2-2D94-2480-6542394477C0}"/>
              </a:ext>
            </a:extLst>
          </p:cNvPr>
          <p:cNvSpPr txBox="1"/>
          <p:nvPr/>
        </p:nvSpPr>
        <p:spPr>
          <a:xfrm>
            <a:off x="10564988" y="4505905"/>
            <a:ext cx="1045632" cy="369332"/>
          </a:xfrm>
          <a:prstGeom prst="rect">
            <a:avLst/>
          </a:prstGeom>
          <a:noFill/>
        </p:spPr>
        <p:txBody>
          <a:bodyPr wrap="square">
            <a:spAutoFit/>
          </a:bodyPr>
          <a:lstStyle/>
          <a:p>
            <a:r>
              <a:rPr lang="nb-NO" dirty="0"/>
              <a:t>MC</a:t>
            </a:r>
          </a:p>
        </p:txBody>
      </p:sp>
      <p:cxnSp>
        <p:nvCxnSpPr>
          <p:cNvPr id="21" name="Straight Connector 14">
            <a:extLst>
              <a:ext uri="{FF2B5EF4-FFF2-40B4-BE49-F238E27FC236}">
                <a16:creationId xmlns:a16="http://schemas.microsoft.com/office/drawing/2014/main" id="{4082F50E-8A8A-D472-7D1D-3A907B46D5EF}"/>
              </a:ext>
            </a:extLst>
          </p:cNvPr>
          <p:cNvCxnSpPr>
            <a:cxnSpLocks/>
          </p:cNvCxnSpPr>
          <p:nvPr/>
        </p:nvCxnSpPr>
        <p:spPr>
          <a:xfrm flipH="1">
            <a:off x="9519111" y="4969323"/>
            <a:ext cx="1792" cy="5126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2" name="TextBox 15">
                <a:extLst>
                  <a:ext uri="{FF2B5EF4-FFF2-40B4-BE49-F238E27FC236}">
                    <a16:creationId xmlns:a16="http://schemas.microsoft.com/office/drawing/2014/main" id="{F14655F4-F9BF-21A3-A7BC-62F3BA866B9F}"/>
                  </a:ext>
                </a:extLst>
              </p:cNvPr>
              <p:cNvSpPr txBox="1"/>
              <p:nvPr/>
            </p:nvSpPr>
            <p:spPr>
              <a:xfrm>
                <a:off x="8975774" y="5642499"/>
                <a:ext cx="1086674" cy="369332"/>
              </a:xfrm>
              <a:prstGeom prst="rect">
                <a:avLst/>
              </a:prstGeom>
              <a:noFill/>
            </p:spPr>
            <p:txBody>
              <a:bodyPr wrap="square" rtlCol="0">
                <a:spAutoFit/>
              </a:bodyPr>
              <a:lstStyle/>
              <a:p>
                <a:pPr/>
                <a14:m>
                  <m:oMathPara xmlns:m="http://schemas.openxmlformats.org/officeDocument/2006/math">
                    <m:oMath>
                      <m:sSup>
                        <m:sSupPr>
                          <m:ctrlPr>
                            <a:rPr lang="nb-NO" b="0" i="1" dirty="0" smtClean="0">
                              <a:latin typeface="Cambria Math" panose="02040503050406030204" pitchFamily="18" charset="0"/>
                            </a:rPr>
                          </m:ctrlPr>
                        </m:sSupPr>
                        <m:e>
                          <m:r>
                            <a:rPr lang="nb-NO" b="0" i="1" dirty="0" smtClean="0">
                              <a:latin typeface="Cambria Math" panose="02040503050406030204" pitchFamily="18" charset="0"/>
                            </a:rPr>
                            <m:t>𝑞</m:t>
                          </m:r>
                        </m:e>
                        <m:sup>
                          <m:r>
                            <a:rPr lang="nb-NO" b="0" i="1" dirty="0" smtClean="0">
                              <a:latin typeface="Cambria Math" panose="02040503050406030204" pitchFamily="18" charset="0"/>
                            </a:rPr>
                            <m:t>∗</m:t>
                          </m:r>
                        </m:sup>
                      </m:sSup>
                      <m:r>
                        <a:rPr lang="nb-NO" i="1" dirty="0" smtClean="0">
                          <a:latin typeface="Cambria Math" panose="02040503050406030204" pitchFamily="18" charset="0"/>
                        </a:rPr>
                        <m:t>=15</m:t>
                      </m:r>
                    </m:oMath>
                  </m:oMathPara>
                </a14:m>
                <a:endParaRPr/>
              </a:p>
            </p:txBody>
          </p:sp>
        </mc:Choice>
        <mc:Fallback xmlns="">
          <p:sp>
            <p:nvSpPr>
              <p:cNvPr id="22" name="TextBox 15">
                <a:extLst>
                  <a:ext uri="{FF2B5EF4-FFF2-40B4-BE49-F238E27FC236}">
                    <a16:creationId xmlns:a16="http://schemas.microsoft.com/office/drawing/2014/main" id="{F14655F4-F9BF-21A3-A7BC-62F3BA866B9F}"/>
                  </a:ext>
                </a:extLst>
              </p:cNvPr>
              <p:cNvSpPr txBox="1">
                <a:spLocks noRot="1" noChangeAspect="1" noMove="1" noResize="1" noEditPoints="1" noAdjustHandles="1" noChangeArrowheads="1" noChangeShapeType="1" noTextEdit="1"/>
              </p:cNvSpPr>
              <p:nvPr/>
            </p:nvSpPr>
            <p:spPr>
              <a:xfrm>
                <a:off x="8975774" y="5642499"/>
                <a:ext cx="1086674" cy="369332"/>
              </a:xfrm>
              <a:prstGeom prst="rect">
                <a:avLst/>
              </a:prstGeom>
              <a:blipFill>
                <a:blip r:embed="rId4"/>
                <a:stretch>
                  <a:fillRect t="-11667" r="-3352" b="-25000"/>
                </a:stretch>
              </a:blipFill>
            </p:spPr>
            <p:txBody>
              <a:bodyPr/>
              <a:lstStyle/>
              <a:p>
                <a:r>
                  <a:rPr lang="nb-NO">
                    <a:noFill/>
                  </a:rPr>
                  <a:t> </a:t>
                </a:r>
              </a:p>
            </p:txBody>
          </p:sp>
        </mc:Fallback>
      </mc:AlternateContent>
      <p:sp>
        <p:nvSpPr>
          <p:cNvPr id="23" name="TextBox 16">
            <a:extLst>
              <a:ext uri="{FF2B5EF4-FFF2-40B4-BE49-F238E27FC236}">
                <a16:creationId xmlns:a16="http://schemas.microsoft.com/office/drawing/2014/main" id="{8AE9673C-C609-47AA-D278-0E29870AF4BE}"/>
              </a:ext>
            </a:extLst>
          </p:cNvPr>
          <p:cNvSpPr txBox="1"/>
          <p:nvPr/>
        </p:nvSpPr>
        <p:spPr>
          <a:xfrm>
            <a:off x="8598282" y="3421031"/>
            <a:ext cx="754379" cy="369332"/>
          </a:xfrm>
          <a:prstGeom prst="rect">
            <a:avLst/>
          </a:prstGeom>
          <a:noFill/>
        </p:spPr>
        <p:txBody>
          <a:bodyPr wrap="square">
            <a:spAutoFit/>
          </a:bodyPr>
          <a:lstStyle/>
          <a:p>
            <a:r>
              <a:rPr lang="nb-NO" dirty="0"/>
              <a:t>MB</a:t>
            </a:r>
          </a:p>
        </p:txBody>
      </p:sp>
      <p:sp>
        <p:nvSpPr>
          <p:cNvPr id="24" name="Isosceles Triangle 17">
            <a:extLst>
              <a:ext uri="{FF2B5EF4-FFF2-40B4-BE49-F238E27FC236}">
                <a16:creationId xmlns:a16="http://schemas.microsoft.com/office/drawing/2014/main" id="{0445D23D-DC20-8FD3-F3EB-8B648EFA27E1}"/>
              </a:ext>
            </a:extLst>
          </p:cNvPr>
          <p:cNvSpPr/>
          <p:nvPr/>
        </p:nvSpPr>
        <p:spPr>
          <a:xfrm rot="5400000">
            <a:off x="6605186" y="2085884"/>
            <a:ext cx="2853264" cy="2868787"/>
          </a:xfrm>
          <a:prstGeom prst="triangle">
            <a:avLst>
              <a:gd name="adj" fmla="val 100000"/>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mc:AlternateContent xmlns:mc="http://schemas.openxmlformats.org/markup-compatibility/2006" xmlns:a14="http://schemas.microsoft.com/office/drawing/2010/main">
        <mc:Choice Requires="a14">
          <p:sp>
            <p:nvSpPr>
              <p:cNvPr id="25" name="TextBox 18">
                <a:extLst>
                  <a:ext uri="{FF2B5EF4-FFF2-40B4-BE49-F238E27FC236}">
                    <a16:creationId xmlns:a16="http://schemas.microsoft.com/office/drawing/2014/main" id="{ACA1D74F-4A36-5A1C-1B3E-6DC7E1167866}"/>
                  </a:ext>
                </a:extLst>
              </p:cNvPr>
              <p:cNvSpPr txBox="1"/>
              <p:nvPr/>
            </p:nvSpPr>
            <p:spPr>
              <a:xfrm>
                <a:off x="6754001" y="4227153"/>
                <a:ext cx="1878487" cy="369332"/>
              </a:xfrm>
              <a:prstGeom prst="rect">
                <a:avLst/>
              </a:prstGeom>
              <a:noFill/>
            </p:spPr>
            <p:txBody>
              <a:bodyPr wrap="square" rtlCol="0">
                <a:spAutoFit/>
              </a:bodyPr>
              <a:lstStyle/>
              <a:p>
                <a:pPr/>
                <a14:m>
                  <m:oMathPara xmlns:m="http://schemas.openxmlformats.org/officeDocument/2006/math">
                    <m:oMath>
                      <m:r>
                        <a:rPr lang="nb-NO" i="1" dirty="0">
                          <a:solidFill>
                            <a:srgbClr val="0B3D4F"/>
                          </a:solidFill>
                          <a:latin typeface="Cambria Math" panose="02040503050406030204" pitchFamily="18" charset="0"/>
                        </a:rPr>
                        <m:t>𝑁𝐵</m:t>
                      </m:r>
                      <m:r>
                        <a:rPr lang="nb-NO" i="1" dirty="0">
                          <a:solidFill>
                            <a:srgbClr val="0B3D4F"/>
                          </a:solidFill>
                          <a:latin typeface="Cambria Math" panose="02040503050406030204" pitchFamily="18" charset="0"/>
                        </a:rPr>
                        <m:t>=45</m:t>
                      </m:r>
                    </m:oMath>
                  </m:oMathPara>
                </a14:m>
                <a:endParaRPr lang="nb-NO" dirty="0"/>
              </a:p>
            </p:txBody>
          </p:sp>
        </mc:Choice>
        <mc:Fallback xmlns="">
          <p:sp>
            <p:nvSpPr>
              <p:cNvPr id="25" name="TextBox 18">
                <a:extLst>
                  <a:ext uri="{FF2B5EF4-FFF2-40B4-BE49-F238E27FC236}">
                    <a16:creationId xmlns:a16="http://schemas.microsoft.com/office/drawing/2014/main" id="{ACA1D74F-4A36-5A1C-1B3E-6DC7E1167866}"/>
                  </a:ext>
                </a:extLst>
              </p:cNvPr>
              <p:cNvSpPr txBox="1">
                <a:spLocks noRot="1" noChangeAspect="1" noMove="1" noResize="1" noEditPoints="1" noAdjustHandles="1" noChangeArrowheads="1" noChangeShapeType="1" noTextEdit="1"/>
              </p:cNvSpPr>
              <p:nvPr/>
            </p:nvSpPr>
            <p:spPr>
              <a:xfrm>
                <a:off x="6754001" y="4227153"/>
                <a:ext cx="1878487" cy="369332"/>
              </a:xfrm>
              <a:prstGeom prst="rect">
                <a:avLst/>
              </a:prstGeom>
              <a:blipFill>
                <a:blip r:embed="rId5"/>
                <a:stretch>
                  <a:fillRect/>
                </a:stretch>
              </a:blipFill>
            </p:spPr>
            <p:txBody>
              <a:bodyPr/>
              <a:lstStyle/>
              <a:p>
                <a:r>
                  <a:rPr lang="nb-NO">
                    <a:noFill/>
                  </a:rPr>
                  <a:t> </a:t>
                </a:r>
              </a:p>
            </p:txBody>
          </p:sp>
        </mc:Fallback>
      </mc:AlternateContent>
      <p:sp>
        <p:nvSpPr>
          <p:cNvPr id="26" name="TextBox 3">
            <a:extLst>
              <a:ext uri="{FF2B5EF4-FFF2-40B4-BE49-F238E27FC236}">
                <a16:creationId xmlns:a16="http://schemas.microsoft.com/office/drawing/2014/main" id="{E1A327F9-55D7-A430-ACA4-B9FD2967D772}"/>
              </a:ext>
            </a:extLst>
          </p:cNvPr>
          <p:cNvSpPr txBox="1"/>
          <p:nvPr/>
        </p:nvSpPr>
        <p:spPr>
          <a:xfrm>
            <a:off x="6182888" y="1938228"/>
            <a:ext cx="293594" cy="369332"/>
          </a:xfrm>
          <a:prstGeom prst="rect">
            <a:avLst/>
          </a:prstGeom>
          <a:noFill/>
        </p:spPr>
        <p:txBody>
          <a:bodyPr wrap="square" rtlCol="0">
            <a:spAutoFit/>
          </a:bodyPr>
          <a:lstStyle/>
          <a:p>
            <a:r>
              <a:rPr lang="nb-NO" dirty="0"/>
              <a:t>8</a:t>
            </a:r>
          </a:p>
        </p:txBody>
      </p:sp>
      <p:sp>
        <p:nvSpPr>
          <p:cNvPr id="27" name="TextBox 4">
            <a:extLst>
              <a:ext uri="{FF2B5EF4-FFF2-40B4-BE49-F238E27FC236}">
                <a16:creationId xmlns:a16="http://schemas.microsoft.com/office/drawing/2014/main" id="{5FB969D0-F3E6-62AE-91F0-EE410FD7818C}"/>
              </a:ext>
            </a:extLst>
          </p:cNvPr>
          <p:cNvSpPr txBox="1"/>
          <p:nvPr/>
        </p:nvSpPr>
        <p:spPr>
          <a:xfrm>
            <a:off x="6210293" y="4762244"/>
            <a:ext cx="293594" cy="369332"/>
          </a:xfrm>
          <a:prstGeom prst="rect">
            <a:avLst/>
          </a:prstGeom>
          <a:noFill/>
        </p:spPr>
        <p:txBody>
          <a:bodyPr wrap="square" rtlCol="0">
            <a:spAutoFit/>
          </a:bodyPr>
          <a:lstStyle/>
          <a:p>
            <a:r>
              <a:rPr lang="nb-NO" dirty="0"/>
              <a:t>2</a:t>
            </a:r>
          </a:p>
        </p:txBody>
      </p:sp>
      <p:sp>
        <p:nvSpPr>
          <p:cNvPr id="29" name="Rectangle: Rounded Corners 10">
            <a:extLst>
              <a:ext uri="{FF2B5EF4-FFF2-40B4-BE49-F238E27FC236}">
                <a16:creationId xmlns:a16="http://schemas.microsoft.com/office/drawing/2014/main" id="{F029337F-BACF-2016-DD1D-44A49ECFB857}"/>
              </a:ext>
            </a:extLst>
          </p:cNvPr>
          <p:cNvSpPr/>
          <p:nvPr/>
        </p:nvSpPr>
        <p:spPr>
          <a:xfrm>
            <a:off x="205260" y="3767439"/>
            <a:ext cx="3366579" cy="1714565"/>
          </a:xfrm>
          <a:prstGeom prst="roundRect">
            <a:avLst/>
          </a:prstGeom>
          <a:solidFill>
            <a:srgbClr val="EEF7F8"/>
          </a:solidFill>
          <a:ln w="19050">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3" name="TextBox 10">
                <a:extLst>
                  <a:ext uri="{FF2B5EF4-FFF2-40B4-BE49-F238E27FC236}">
                    <a16:creationId xmlns:a16="http://schemas.microsoft.com/office/drawing/2014/main" id="{FCF58BCC-E287-28EA-242D-F8237227E263}"/>
                  </a:ext>
                </a:extLst>
              </p:cNvPr>
              <p:cNvSpPr txBox="1"/>
              <p:nvPr/>
            </p:nvSpPr>
            <p:spPr>
              <a:xfrm>
                <a:off x="355721" y="3537993"/>
                <a:ext cx="1931142" cy="2048998"/>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400" i="1" dirty="0" smtClean="0">
                          <a:solidFill>
                            <a:srgbClr val="0B3D4F"/>
                          </a:solidFill>
                          <a:latin typeface="Cambria Math" panose="02040503050406030204" pitchFamily="18" charset="0"/>
                        </a:rPr>
                        <m:t>𝑀𝐵</m:t>
                      </m:r>
                      <m:r>
                        <a:rPr lang="en-GB" sz="2400" i="1" dirty="0" smtClean="0">
                          <a:solidFill>
                            <a:srgbClr val="0B3D4F"/>
                          </a:solidFill>
                          <a:latin typeface="Cambria Math" panose="02040503050406030204" pitchFamily="18" charset="0"/>
                        </a:rPr>
                        <m:t>=</m:t>
                      </m:r>
                      <m:r>
                        <a:rPr lang="en-GB" sz="2400" i="1" dirty="0" smtClean="0">
                          <a:solidFill>
                            <a:srgbClr val="0B3D4F"/>
                          </a:solidFill>
                          <a:latin typeface="Cambria Math" panose="02040503050406030204" pitchFamily="18" charset="0"/>
                        </a:rPr>
                        <m:t>𝑀𝐶</m:t>
                      </m:r>
                      <m:r>
                        <a:rPr lang="en-GB" sz="2400" i="1" dirty="0" smtClean="0">
                          <a:solidFill>
                            <a:srgbClr val="0B3D4F"/>
                          </a:solidFill>
                          <a:latin typeface="Cambria Math" panose="02040503050406030204" pitchFamily="18" charset="0"/>
                        </a:rPr>
                        <m:t>    </m:t>
                      </m:r>
                    </m:oMath>
                    <m:oMath>
                      <m:sSup>
                        <m:sSupPr>
                          <m:ctrlPr>
                            <a:rPr lang="nb-NO" sz="2400" b="0" i="1" smtClean="0">
                              <a:solidFill>
                                <a:srgbClr val="0B3D4F"/>
                              </a:solidFill>
                              <a:latin typeface="Cambria Math" panose="02040503050406030204" pitchFamily="18" charset="0"/>
                            </a:rPr>
                          </m:ctrlPr>
                        </m:sSupPr>
                        <m:e>
                          <m:r>
                            <a:rPr lang="nb-NO" sz="2400" b="0" i="1" smtClean="0">
                              <a:solidFill>
                                <a:srgbClr val="0B3D4F"/>
                              </a:solidFill>
                              <a:latin typeface="Cambria Math" panose="02040503050406030204" pitchFamily="18" charset="0"/>
                            </a:rPr>
                            <m:t>𝑃</m:t>
                          </m:r>
                        </m:e>
                        <m:sup>
                          <m:r>
                            <a:rPr lang="nb-NO" sz="2400" i="1">
                              <a:solidFill>
                                <a:srgbClr val="0B3D4F"/>
                              </a:solidFill>
                              <a:latin typeface="Cambria Math" panose="02040503050406030204" pitchFamily="18" charset="0"/>
                            </a:rPr>
                            <m:t>∗</m:t>
                          </m:r>
                        </m:sup>
                      </m:sSup>
                      <m:r>
                        <a:rPr lang="en-GB" sz="2400" i="1" dirty="0" smtClean="0">
                          <a:solidFill>
                            <a:srgbClr val="0B3D4F"/>
                          </a:solidFill>
                          <a:latin typeface="Cambria Math" panose="02040503050406030204" pitchFamily="18" charset="0"/>
                        </a:rPr>
                        <m:t>= 2</m:t>
                      </m:r>
                    </m:oMath>
                    <m:oMath>
                      <m:sSup>
                        <m:sSupPr>
                          <m:ctrlPr>
                            <a:rPr lang="nb-NO" sz="2400" b="0" i="1" smtClean="0">
                              <a:solidFill>
                                <a:srgbClr val="0B3D4F"/>
                              </a:solidFill>
                              <a:latin typeface="Cambria Math" panose="02040503050406030204" pitchFamily="18" charset="0"/>
                            </a:rPr>
                          </m:ctrlPr>
                        </m:sSupPr>
                        <m:e>
                          <m:r>
                            <a:rPr lang="nb-NO" sz="2400" b="0" i="1" smtClean="0">
                              <a:solidFill>
                                <a:srgbClr val="0B3D4F"/>
                              </a:solidFill>
                              <a:latin typeface="Cambria Math" panose="02040503050406030204" pitchFamily="18" charset="0"/>
                            </a:rPr>
                            <m:t>𝑄</m:t>
                          </m:r>
                        </m:e>
                        <m:sup>
                          <m:r>
                            <a:rPr lang="nb-NO" sz="2400" b="0" i="1" smtClean="0">
                              <a:solidFill>
                                <a:srgbClr val="0B3D4F"/>
                              </a:solidFill>
                              <a:latin typeface="Cambria Math" panose="02040503050406030204" pitchFamily="18" charset="0"/>
                            </a:rPr>
                            <m:t>∗</m:t>
                          </m:r>
                        </m:sup>
                      </m:sSup>
                      <m:r>
                        <a:rPr lang="nb-NO" sz="2400" b="0" i="1" smtClean="0">
                          <a:solidFill>
                            <a:srgbClr val="0B3D4F"/>
                          </a:solidFill>
                          <a:latin typeface="Cambria Math" panose="02040503050406030204" pitchFamily="18" charset="0"/>
                        </a:rPr>
                        <m:t>=15</m:t>
                      </m:r>
                    </m:oMath>
                  </m:oMathPara>
                </a14:m>
                <a:endParaRPr sz="1600" dirty="0"/>
              </a:p>
            </p:txBody>
          </p:sp>
        </mc:Choice>
        <mc:Fallback xmlns="">
          <p:sp>
            <p:nvSpPr>
              <p:cNvPr id="33" name="TextBox 10">
                <a:extLst>
                  <a:ext uri="{FF2B5EF4-FFF2-40B4-BE49-F238E27FC236}">
                    <a16:creationId xmlns:a16="http://schemas.microsoft.com/office/drawing/2014/main" id="{FCF58BCC-E287-28EA-242D-F8237227E263}"/>
                  </a:ext>
                </a:extLst>
              </p:cNvPr>
              <p:cNvSpPr txBox="1">
                <a:spLocks noRot="1" noChangeAspect="1" noMove="1" noResize="1" noEditPoints="1" noAdjustHandles="1" noChangeArrowheads="1" noChangeShapeType="1" noTextEdit="1"/>
              </p:cNvSpPr>
              <p:nvPr/>
            </p:nvSpPr>
            <p:spPr>
              <a:xfrm>
                <a:off x="355721" y="3537993"/>
                <a:ext cx="1931142" cy="2048998"/>
              </a:xfrm>
              <a:prstGeom prst="rect">
                <a:avLst/>
              </a:prstGeom>
              <a:blipFill>
                <a:blip r:embed="rId6"/>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35" name="TextBox 10">
                <a:extLst>
                  <a:ext uri="{FF2B5EF4-FFF2-40B4-BE49-F238E27FC236}">
                    <a16:creationId xmlns:a16="http://schemas.microsoft.com/office/drawing/2014/main" id="{EEE0A16C-8457-EB9E-200C-DB6E10485396}"/>
                  </a:ext>
                </a:extLst>
              </p:cNvPr>
              <p:cNvSpPr txBox="1"/>
              <p:nvPr/>
            </p:nvSpPr>
            <p:spPr>
              <a:xfrm>
                <a:off x="1573388" y="3663060"/>
                <a:ext cx="1998451" cy="1866850"/>
              </a:xfrm>
              <a:prstGeom prst="rect">
                <a:avLst/>
              </a:prstGeom>
              <a:noFill/>
            </p:spPr>
            <p:txBody>
              <a:bodyPr vert="horz" lIns="50800" tIns="25400" rIns="50800" bIns="25400" rtlCol="0" anchor="ctr">
                <a:noAutofit/>
              </a:bodyPr>
              <a:lstStyle/>
              <a:p>
                <a:pPr algn="ctr"/>
                <a14:m>
                  <m:oMathPara xmlns:m="http://schemas.openxmlformats.org/officeDocument/2006/math">
                    <m:oMath>
                      <m:r>
                        <a:rPr lang="nb-NO" sz="2400" b="0" i="1" dirty="0" smtClean="0">
                          <a:solidFill>
                            <a:srgbClr val="0B3D4F"/>
                          </a:solidFill>
                          <a:latin typeface="Cambria Math" panose="02040503050406030204" pitchFamily="18" charset="0"/>
                        </a:rPr>
                        <m:t>𝑁𝐵</m:t>
                      </m:r>
                      <m:r>
                        <a:rPr lang="nb-NO" sz="2400" b="0" i="1" dirty="0" smtClean="0">
                          <a:solidFill>
                            <a:srgbClr val="0B3D4F"/>
                          </a:solidFill>
                          <a:latin typeface="Cambria Math" panose="02040503050406030204" pitchFamily="18" charset="0"/>
                        </a:rPr>
                        <m:t>=45</m:t>
                      </m:r>
                    </m:oMath>
                  </m:oMathPara>
                </a14:m>
                <a:br>
                  <a:rPr lang="en-GB" sz="2400" i="1" dirty="0">
                    <a:solidFill>
                      <a:srgbClr val="0B3D4F"/>
                    </a:solidFill>
                    <a:latin typeface="Cambria Math" panose="02040503050406030204" pitchFamily="18" charset="0"/>
                  </a:rPr>
                </a:br>
                <a:endParaRPr sz="1600" dirty="0"/>
              </a:p>
            </p:txBody>
          </p:sp>
        </mc:Choice>
        <mc:Fallback xmlns="">
          <p:sp>
            <p:nvSpPr>
              <p:cNvPr id="35" name="TextBox 10">
                <a:extLst>
                  <a:ext uri="{FF2B5EF4-FFF2-40B4-BE49-F238E27FC236}">
                    <a16:creationId xmlns:a16="http://schemas.microsoft.com/office/drawing/2014/main" id="{EEE0A16C-8457-EB9E-200C-DB6E10485396}"/>
                  </a:ext>
                </a:extLst>
              </p:cNvPr>
              <p:cNvSpPr txBox="1">
                <a:spLocks noRot="1" noChangeAspect="1" noMove="1" noResize="1" noEditPoints="1" noAdjustHandles="1" noChangeArrowheads="1" noChangeShapeType="1" noTextEdit="1"/>
              </p:cNvSpPr>
              <p:nvPr/>
            </p:nvSpPr>
            <p:spPr>
              <a:xfrm>
                <a:off x="1573388" y="3663060"/>
                <a:ext cx="1998451" cy="1866850"/>
              </a:xfrm>
              <a:prstGeom prst="rect">
                <a:avLst/>
              </a:prstGeom>
              <a:blipFill>
                <a:blip r:embed="rId7"/>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510075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DE687-38C4-EC13-A2A1-CD14BF0AD057}"/>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Marginal netto nytte</a:t>
            </a:r>
          </a:p>
        </p:txBody>
      </p:sp>
      <p:sp>
        <p:nvSpPr>
          <p:cNvPr id="3" name="Rectangle 2">
            <a:extLst>
              <a:ext uri="{FF2B5EF4-FFF2-40B4-BE49-F238E27FC236}">
                <a16:creationId xmlns:a16="http://schemas.microsoft.com/office/drawing/2014/main" id="{21B602B1-6D60-E81C-3139-D81CE0975E53}"/>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9E6C604-187C-EE8B-BD58-06E39FF6FCC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10C5E953-0A55-27BD-026B-5D33B11C136D}"/>
              </a:ext>
            </a:extLst>
          </p:cNvPr>
          <p:cNvSpPr/>
          <p:nvPr/>
        </p:nvSpPr>
        <p:spPr>
          <a:xfrm>
            <a:off x="1952625" y="1476375"/>
            <a:ext cx="8286750" cy="104775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DD0AFB-E7BC-3A22-50CB-7313BBB8479D}"/>
                  </a:ext>
                </a:extLst>
              </p:cNvPr>
              <p:cNvSpPr txBox="1"/>
              <p:nvPr/>
            </p:nvSpPr>
            <p:spPr>
              <a:xfrm>
                <a:off x="2066925" y="1695450"/>
                <a:ext cx="8058150" cy="455253"/>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625" b="0" i="1" dirty="0" smtClean="0">
                          <a:solidFill>
                            <a:srgbClr val="0B3D4F"/>
                          </a:solidFill>
                          <a:latin typeface="Cambria Math" panose="02040503050406030204" pitchFamily="18" charset="0"/>
                        </a:rPr>
                        <m:t>𝑀𝑁𝐵</m:t>
                      </m:r>
                      <m:r>
                        <a:rPr lang="en-GB" sz="2625" b="0" i="1" dirty="0" smtClean="0">
                          <a:solidFill>
                            <a:srgbClr val="0B3D4F"/>
                          </a:solidFill>
                          <a:latin typeface="Cambria Math" panose="02040503050406030204" pitchFamily="18" charset="0"/>
                        </a:rPr>
                        <m:t>ₜ(</m:t>
                      </m:r>
                      <m:r>
                        <a:rPr lang="en-GB" sz="2625" b="0" i="1" dirty="0" smtClean="0">
                          <a:solidFill>
                            <a:srgbClr val="0B3D4F"/>
                          </a:solidFill>
                          <a:latin typeface="Cambria Math" panose="02040503050406030204" pitchFamily="18" charset="0"/>
                        </a:rPr>
                        <m:t>𝑞</m:t>
                      </m:r>
                      <m:r>
                        <a:rPr lang="en-GB" sz="2625" b="0" i="1" dirty="0" smtClean="0">
                          <a:solidFill>
                            <a:srgbClr val="0B3D4F"/>
                          </a:solidFill>
                          <a:latin typeface="Cambria Math" panose="02040503050406030204" pitchFamily="18" charset="0"/>
                        </a:rPr>
                        <m:t>ₜ) = </m:t>
                      </m:r>
                      <m:r>
                        <a:rPr lang="en-GB" sz="2625" b="0" i="1" dirty="0" smtClean="0">
                          <a:solidFill>
                            <a:srgbClr val="0B3D4F"/>
                          </a:solidFill>
                          <a:latin typeface="Cambria Math" panose="02040503050406030204" pitchFamily="18" charset="0"/>
                        </a:rPr>
                        <m:t>𝑃</m:t>
                      </m:r>
                      <m:r>
                        <a:rPr lang="en-GB" sz="2625" b="0" i="1" dirty="0" smtClean="0">
                          <a:solidFill>
                            <a:srgbClr val="0B3D4F"/>
                          </a:solidFill>
                          <a:latin typeface="Cambria Math" panose="02040503050406030204" pitchFamily="18" charset="0"/>
                        </a:rPr>
                        <m:t>ₜ(</m:t>
                      </m:r>
                      <m:r>
                        <a:rPr lang="en-GB" sz="2625" b="0" i="1" dirty="0" smtClean="0">
                          <a:solidFill>
                            <a:srgbClr val="0B3D4F"/>
                          </a:solidFill>
                          <a:latin typeface="Cambria Math" panose="02040503050406030204" pitchFamily="18" charset="0"/>
                        </a:rPr>
                        <m:t>𝑞</m:t>
                      </m:r>
                      <m:r>
                        <a:rPr lang="en-GB" sz="2625" b="0" i="1" dirty="0" smtClean="0">
                          <a:solidFill>
                            <a:srgbClr val="0B3D4F"/>
                          </a:solidFill>
                          <a:latin typeface="Cambria Math" panose="02040503050406030204" pitchFamily="18" charset="0"/>
                        </a:rPr>
                        <m:t>ₜ) − </m:t>
                      </m:r>
                      <m:r>
                        <a:rPr lang="en-GB" sz="2625" b="0" i="1" dirty="0" smtClean="0">
                          <a:solidFill>
                            <a:srgbClr val="0B3D4F"/>
                          </a:solidFill>
                          <a:latin typeface="Cambria Math" panose="02040503050406030204" pitchFamily="18" charset="0"/>
                        </a:rPr>
                        <m:t>𝑀𝐶</m:t>
                      </m:r>
                      <m:r>
                        <a:rPr lang="en-GB" sz="2625" b="0" i="1" dirty="0" smtClean="0">
                          <a:solidFill>
                            <a:srgbClr val="0B3D4F"/>
                          </a:solidFill>
                          <a:latin typeface="Cambria Math" panose="02040503050406030204" pitchFamily="18" charset="0"/>
                        </a:rPr>
                        <m:t> = 6 − 0,4</m:t>
                      </m:r>
                      <m:r>
                        <a:rPr lang="en-GB" sz="2625" b="0" i="1" dirty="0" smtClean="0">
                          <a:solidFill>
                            <a:srgbClr val="0B3D4F"/>
                          </a:solidFill>
                          <a:latin typeface="Cambria Math" panose="02040503050406030204" pitchFamily="18" charset="0"/>
                        </a:rPr>
                        <m:t>𝑞</m:t>
                      </m:r>
                      <m:r>
                        <a:rPr lang="en-GB" sz="2625" b="0" i="1" dirty="0" smtClean="0">
                          <a:solidFill>
                            <a:srgbClr val="0B3D4F"/>
                          </a:solidFill>
                          <a:latin typeface="Cambria Math" panose="02040503050406030204" pitchFamily="18" charset="0"/>
                        </a:rPr>
                        <m:t>ₜ</m:t>
                      </m:r>
                    </m:oMath>
                  </m:oMathPara>
                </a14:m>
                <a:endParaRPr dirty="0"/>
              </a:p>
            </p:txBody>
          </p:sp>
        </mc:Choice>
        <mc:Fallback xmlns="">
          <p:sp>
            <p:nvSpPr>
              <p:cNvPr id="7" name="TextBox 6">
                <a:extLst>
                  <a:ext uri="{FF2B5EF4-FFF2-40B4-BE49-F238E27FC236}">
                    <a16:creationId xmlns:a16="http://schemas.microsoft.com/office/drawing/2014/main" id="{61DD0AFB-E7BC-3A22-50CB-7313BBB8479D}"/>
                  </a:ext>
                </a:extLst>
              </p:cNvPr>
              <p:cNvSpPr txBox="1">
                <a:spLocks noRot="1" noChangeAspect="1" noMove="1" noResize="1" noEditPoints="1" noAdjustHandles="1" noChangeArrowheads="1" noChangeShapeType="1" noTextEdit="1"/>
              </p:cNvSpPr>
              <p:nvPr/>
            </p:nvSpPr>
            <p:spPr>
              <a:xfrm>
                <a:off x="2066925" y="1695450"/>
                <a:ext cx="8058150" cy="455253"/>
              </a:xfrm>
              <a:prstGeom prst="rect">
                <a:avLst/>
              </a:prstGeom>
              <a:blipFill>
                <a:blip r:embed="rId2"/>
                <a:stretch>
                  <a:fillRect/>
                </a:stretch>
              </a:blipFill>
            </p:spPr>
            <p:txBody>
              <a:bodyPr/>
              <a:lstStyle/>
              <a:p>
                <a:r>
                  <a:rPr lang="nb-NO">
                    <a:noFill/>
                  </a:rPr>
                  <a:t> </a:t>
                </a:r>
              </a:p>
            </p:txBody>
          </p:sp>
        </mc:Fallback>
      </mc:AlternateContent>
      <p:sp>
        <p:nvSpPr>
          <p:cNvPr id="8" name="Rectangle: Rounded Corners 7">
            <a:extLst>
              <a:ext uri="{FF2B5EF4-FFF2-40B4-BE49-F238E27FC236}">
                <a16:creationId xmlns:a16="http://schemas.microsoft.com/office/drawing/2014/main" id="{60A94B2C-CDD1-1B5C-8FAE-61478E745E60}"/>
              </a:ext>
            </a:extLst>
          </p:cNvPr>
          <p:cNvSpPr/>
          <p:nvPr/>
        </p:nvSpPr>
        <p:spPr>
          <a:xfrm>
            <a:off x="990600" y="3219450"/>
            <a:ext cx="4476750" cy="180975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252B7AE4-A220-3B1A-515D-D765C1BDA37B}"/>
              </a:ext>
            </a:extLst>
          </p:cNvPr>
          <p:cNvSpPr txBox="1"/>
          <p:nvPr/>
        </p:nvSpPr>
        <p:spPr>
          <a:xfrm>
            <a:off x="1238250" y="3476625"/>
            <a:ext cx="3981450" cy="362920"/>
          </a:xfrm>
          <a:prstGeom prst="rect">
            <a:avLst/>
          </a:prstGeom>
          <a:noFill/>
        </p:spPr>
        <p:txBody>
          <a:bodyPr vert="horz" lIns="50800" tIns="25400" rIns="50800" bIns="25400" rtlCol="0" anchor="t">
            <a:noAutofit/>
          </a:bodyPr>
          <a:lstStyle/>
          <a:p>
            <a:pPr algn="ctr"/>
            <a:r>
              <a:rPr lang="en-GB" sz="2025" b="1" dirty="0" err="1">
                <a:solidFill>
                  <a:srgbClr val="0B3D4F"/>
                </a:solidFill>
                <a:latin typeface="Aptos" panose="020B0004020202020204" pitchFamily="34" charset="0"/>
              </a:rPr>
              <a:t>Hvis</a:t>
            </a:r>
            <a:r>
              <a:rPr lang="en-GB" sz="2025" b="1" dirty="0">
                <a:solidFill>
                  <a:srgbClr val="0B3D4F"/>
                </a:solidFill>
                <a:latin typeface="Aptos" panose="020B0004020202020204" pitchFamily="34" charset="0"/>
              </a:rPr>
              <a:t> </a:t>
            </a:r>
            <a:r>
              <a:rPr lang="en-GB" sz="2025" b="1" dirty="0" err="1">
                <a:solidFill>
                  <a:srgbClr val="0B3D4F"/>
                </a:solidFill>
                <a:latin typeface="Aptos" panose="020B0004020202020204" pitchFamily="34" charset="0"/>
              </a:rPr>
              <a:t>lageret</a:t>
            </a:r>
            <a:r>
              <a:rPr lang="en-GB" sz="2025" b="1" dirty="0">
                <a:solidFill>
                  <a:srgbClr val="0B3D4F"/>
                </a:solidFill>
                <a:latin typeface="Aptos" panose="020B0004020202020204" pitchFamily="34" charset="0"/>
              </a:rPr>
              <a:t> var ≥ 30</a:t>
            </a:r>
          </a:p>
        </p:txBody>
      </p:sp>
      <p:sp>
        <p:nvSpPr>
          <p:cNvPr id="10" name="TextBox 9">
            <a:extLst>
              <a:ext uri="{FF2B5EF4-FFF2-40B4-BE49-F238E27FC236}">
                <a16:creationId xmlns:a16="http://schemas.microsoft.com/office/drawing/2014/main" id="{35684023-D2DF-1894-5EF2-83AB5BE16A2A}"/>
              </a:ext>
            </a:extLst>
          </p:cNvPr>
          <p:cNvSpPr txBox="1"/>
          <p:nvPr/>
        </p:nvSpPr>
        <p:spPr>
          <a:xfrm>
            <a:off x="1285875" y="4105275"/>
            <a:ext cx="3886200" cy="328295"/>
          </a:xfrm>
          <a:prstGeom prst="rect">
            <a:avLst/>
          </a:prstGeom>
          <a:noFill/>
        </p:spPr>
        <p:txBody>
          <a:bodyPr vert="horz" lIns="50800" tIns="25400" rIns="50800" bIns="25400" rtlCol="0" anchor="ctr">
            <a:noAutofit/>
          </a:bodyPr>
          <a:lstStyle/>
          <a:p>
            <a:pPr algn="ctr"/>
            <a:r>
              <a:rPr lang="nb-NO" sz="1725">
                <a:solidFill>
                  <a:srgbClr val="1C2930"/>
                </a:solidFill>
                <a:latin typeface="Aptos" panose="020B0004020202020204" pitchFamily="34" charset="0"/>
              </a:rPr>
              <a:t>Begge perioder kunne fått 15 enheter.</a:t>
            </a:r>
            <a:endParaRPr lang="en-GB" sz="1725">
              <a:solidFill>
                <a:srgbClr val="1C2930"/>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D9D045AC-1717-898B-58C9-8D5ECDABD4B2}"/>
              </a:ext>
            </a:extLst>
          </p:cNvPr>
          <p:cNvSpPr/>
          <p:nvPr/>
        </p:nvSpPr>
        <p:spPr>
          <a:xfrm>
            <a:off x="6724650" y="3219450"/>
            <a:ext cx="4476750" cy="1809750"/>
          </a:xfrm>
          <a:prstGeom prst="roundRect">
            <a:avLst/>
          </a:prstGeom>
          <a:solidFill>
            <a:srgbClr val="EEF7F8"/>
          </a:solidFill>
          <a:ln w="19050">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E85C07F-E460-10EB-3972-C4C1BA876D0A}"/>
              </a:ext>
            </a:extLst>
          </p:cNvPr>
          <p:cNvSpPr txBox="1"/>
          <p:nvPr/>
        </p:nvSpPr>
        <p:spPr>
          <a:xfrm>
            <a:off x="6972300" y="3476625"/>
            <a:ext cx="3981450" cy="362920"/>
          </a:xfrm>
          <a:prstGeom prst="rect">
            <a:avLst/>
          </a:prstGeom>
          <a:noFill/>
        </p:spPr>
        <p:txBody>
          <a:bodyPr vert="horz" lIns="50800" tIns="25400" rIns="50800" bIns="25400" rtlCol="0" anchor="t">
            <a:noAutofit/>
          </a:bodyPr>
          <a:lstStyle/>
          <a:p>
            <a:pPr algn="ctr"/>
            <a:r>
              <a:rPr lang="en-GB" sz="2025" b="1">
                <a:solidFill>
                  <a:srgbClr val="0B3D4F"/>
                </a:solidFill>
                <a:latin typeface="Aptos" panose="020B0004020202020204" pitchFamily="34" charset="0"/>
              </a:rPr>
              <a:t>Men lageret er 20</a:t>
            </a:r>
          </a:p>
        </p:txBody>
      </p:sp>
      <p:sp>
        <p:nvSpPr>
          <p:cNvPr id="13" name="TextBox 12">
            <a:extLst>
              <a:ext uri="{FF2B5EF4-FFF2-40B4-BE49-F238E27FC236}">
                <a16:creationId xmlns:a16="http://schemas.microsoft.com/office/drawing/2014/main" id="{00E3B586-91E2-DC7D-EAFF-8DE3E0057C5B}"/>
              </a:ext>
            </a:extLst>
          </p:cNvPr>
          <p:cNvSpPr txBox="1"/>
          <p:nvPr/>
        </p:nvSpPr>
        <p:spPr>
          <a:xfrm>
            <a:off x="7000875" y="4105275"/>
            <a:ext cx="3886200" cy="328295"/>
          </a:xfrm>
          <a:prstGeom prst="rect">
            <a:avLst/>
          </a:prstGeom>
          <a:noFill/>
        </p:spPr>
        <p:txBody>
          <a:bodyPr vert="horz" lIns="50800" tIns="25400" rIns="50800" bIns="25400" rtlCol="0" anchor="ctr">
            <a:noAutofit/>
          </a:bodyPr>
          <a:lstStyle/>
          <a:p>
            <a:pPr algn="ctr"/>
            <a:r>
              <a:rPr lang="en-GB" sz="1725">
                <a:solidFill>
                  <a:srgbClr val="1C2930"/>
                </a:solidFill>
                <a:latin typeface="Aptos" panose="020B0004020202020204" pitchFamily="34" charset="0"/>
              </a:rPr>
              <a:t>Ressursbindingen blir bindende.</a:t>
            </a:r>
          </a:p>
        </p:txBody>
      </p:sp>
    </p:spTree>
    <p:extLst>
      <p:ext uri="{BB962C8B-B14F-4D97-AF65-F5344CB8AC3E}">
        <p14:creationId xmlns:p14="http://schemas.microsoft.com/office/powerpoint/2010/main" val="2254070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B6B68-46FC-4038-8E61-B25E6F27C9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2D8990-B673-38A5-71AB-1B4F444D0C9E}"/>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Hvorfor 15 i dag og 5 senere ikke er effektivt</a:t>
            </a:r>
            <a:endParaRPr lang="en-GB" sz="2625" b="1" dirty="0">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6B5A7F94-C736-445B-DE25-EFE9106D2FA5}"/>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79C9E80-94AC-0A3F-A6D5-61F4670C8548}"/>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10" name="Rectangle: Rounded Corners 9">
            <a:extLst>
              <a:ext uri="{FF2B5EF4-FFF2-40B4-BE49-F238E27FC236}">
                <a16:creationId xmlns:a16="http://schemas.microsoft.com/office/drawing/2014/main" id="{9B068996-0294-F4BB-A89A-C62DD103A876}"/>
              </a:ext>
            </a:extLst>
          </p:cNvPr>
          <p:cNvSpPr/>
          <p:nvPr/>
        </p:nvSpPr>
        <p:spPr>
          <a:xfrm>
            <a:off x="219298" y="1117436"/>
            <a:ext cx="3714303" cy="45779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55B247-164F-840F-A8A7-D2CF54AE72E0}"/>
                  </a:ext>
                </a:extLst>
              </p:cNvPr>
              <p:cNvSpPr txBox="1"/>
              <p:nvPr/>
            </p:nvSpPr>
            <p:spPr>
              <a:xfrm>
                <a:off x="187536" y="1161665"/>
                <a:ext cx="3746065" cy="369332"/>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i="1" dirty="0" smtClean="0">
                          <a:solidFill>
                            <a:srgbClr val="0B3D4F"/>
                          </a:solidFill>
                          <a:latin typeface="Cambria Math" panose="02040503050406030204" pitchFamily="18" charset="0"/>
                        </a:rPr>
                        <m:t>𝑃</m:t>
                      </m:r>
                      <m:r>
                        <a:rPr lang="en-GB" i="1" dirty="0" smtClean="0">
                          <a:solidFill>
                            <a:srgbClr val="0B3D4F"/>
                          </a:solidFill>
                          <a:latin typeface="Cambria Math" panose="02040503050406030204" pitchFamily="18" charset="0"/>
                        </a:rPr>
                        <m:t>ₜ = 8 − 0.4∙</m:t>
                      </m:r>
                      <m:r>
                        <a:rPr lang="en-GB" i="1" dirty="0">
                          <a:solidFill>
                            <a:srgbClr val="0B3D4F"/>
                          </a:solidFill>
                          <a:latin typeface="Cambria Math" panose="02040503050406030204" pitchFamily="18" charset="0"/>
                        </a:rPr>
                        <m:t>𝑞</m:t>
                      </m:r>
                      <m:r>
                        <a:rPr lang="en-GB" i="1" dirty="0">
                          <a:solidFill>
                            <a:srgbClr val="0B3D4F"/>
                          </a:solidFill>
                          <a:latin typeface="Cambria Math" panose="02040503050406030204" pitchFamily="18" charset="0"/>
                        </a:rPr>
                        <m:t>ₜ  |  </m:t>
                      </m:r>
                      <m:r>
                        <a:rPr lang="en-GB" i="1" dirty="0">
                          <a:solidFill>
                            <a:srgbClr val="0B3D4F"/>
                          </a:solidFill>
                          <a:latin typeface="Cambria Math" panose="02040503050406030204" pitchFamily="18" charset="0"/>
                        </a:rPr>
                        <m:t>𝑀𝐶</m:t>
                      </m:r>
                      <m:r>
                        <a:rPr lang="en-GB" i="1" dirty="0">
                          <a:solidFill>
                            <a:srgbClr val="0B3D4F"/>
                          </a:solidFill>
                          <a:latin typeface="Cambria Math" panose="02040503050406030204" pitchFamily="18" charset="0"/>
                        </a:rPr>
                        <m:t> = 2</m:t>
                      </m:r>
                    </m:oMath>
                  </m:oMathPara>
                </a14:m>
                <a:endParaRPr dirty="0"/>
              </a:p>
            </p:txBody>
          </p:sp>
        </mc:Choice>
        <mc:Fallback xmlns="">
          <p:sp>
            <p:nvSpPr>
              <p:cNvPr id="11" name="TextBox 10">
                <a:extLst>
                  <a:ext uri="{FF2B5EF4-FFF2-40B4-BE49-F238E27FC236}">
                    <a16:creationId xmlns:a16="http://schemas.microsoft.com/office/drawing/2014/main" id="{9D55B247-164F-840F-A8A7-D2CF54AE72E0}"/>
                  </a:ext>
                </a:extLst>
              </p:cNvPr>
              <p:cNvSpPr txBox="1">
                <a:spLocks noRot="1" noChangeAspect="1" noMove="1" noResize="1" noEditPoints="1" noAdjustHandles="1" noChangeArrowheads="1" noChangeShapeType="1" noTextEdit="1"/>
              </p:cNvSpPr>
              <p:nvPr/>
            </p:nvSpPr>
            <p:spPr>
              <a:xfrm>
                <a:off x="187536" y="1161665"/>
                <a:ext cx="3746065" cy="369332"/>
              </a:xfrm>
              <a:prstGeom prst="rect">
                <a:avLst/>
              </a:prstGeom>
              <a:blipFill>
                <a:blip r:embed="rId3"/>
                <a:stretch>
                  <a:fillRect b="-13333"/>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B0E5F3DB-05E6-67E5-D3AE-9595A7ECCB7B}"/>
                  </a:ext>
                </a:extLst>
              </p:cNvPr>
              <p:cNvSpPr/>
              <p:nvPr/>
            </p:nvSpPr>
            <p:spPr>
              <a:xfrm>
                <a:off x="8748082" y="142924"/>
                <a:ext cx="2526505" cy="652711"/>
              </a:xfrm>
              <a:prstGeom prst="roundRect">
                <a:avLst/>
              </a:prstGeom>
              <a:solidFill>
                <a:srgbClr val="EEF7F8"/>
              </a:solidFill>
              <a:ln w="14288">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GB" b="1" i="1" dirty="0">
                          <a:solidFill>
                            <a:srgbClr val="0B3D4F"/>
                          </a:solidFill>
                          <a:latin typeface="Cambria Math" panose="02040503050406030204" pitchFamily="18" charset="0"/>
                        </a:rPr>
                        <m:t>𝒒</m:t>
                      </m:r>
                      <m:r>
                        <a:rPr lang="en-GB" b="1" i="1" dirty="0">
                          <a:solidFill>
                            <a:srgbClr val="0B3D4F"/>
                          </a:solidFill>
                          <a:latin typeface="Cambria Math" panose="02040503050406030204" pitchFamily="18" charset="0"/>
                        </a:rPr>
                        <m:t>₁ + </m:t>
                      </m:r>
                      <m:r>
                        <a:rPr lang="en-GB" b="1" i="1" dirty="0">
                          <a:solidFill>
                            <a:srgbClr val="0B3D4F"/>
                          </a:solidFill>
                          <a:latin typeface="Cambria Math" panose="02040503050406030204" pitchFamily="18" charset="0"/>
                        </a:rPr>
                        <m:t>𝒒</m:t>
                      </m:r>
                      <m:r>
                        <a:rPr lang="en-GB" b="1" i="1" dirty="0">
                          <a:solidFill>
                            <a:srgbClr val="0B3D4F"/>
                          </a:solidFill>
                          <a:latin typeface="Cambria Math" panose="02040503050406030204" pitchFamily="18" charset="0"/>
                        </a:rPr>
                        <m:t>₂ = </m:t>
                      </m:r>
                      <m:r>
                        <a:rPr lang="en-GB" b="1" i="1" dirty="0">
                          <a:solidFill>
                            <a:srgbClr val="0B3D4F"/>
                          </a:solidFill>
                          <a:latin typeface="Cambria Math" panose="02040503050406030204" pitchFamily="18" charset="0"/>
                        </a:rPr>
                        <m:t>𝟐𝟎</m:t>
                      </m:r>
                    </m:oMath>
                  </m:oMathPara>
                </a14:m>
                <a:endParaRPr lang="en-GB" sz="1200" dirty="0"/>
              </a:p>
            </p:txBody>
          </p:sp>
        </mc:Choice>
        <mc:Fallback xmlns="">
          <p:sp>
            <p:nvSpPr>
              <p:cNvPr id="7" name="Rectangle: Rounded Corners 6">
                <a:extLst>
                  <a:ext uri="{FF2B5EF4-FFF2-40B4-BE49-F238E27FC236}">
                    <a16:creationId xmlns:a16="http://schemas.microsoft.com/office/drawing/2014/main" id="{B0E5F3DB-05E6-67E5-D3AE-9595A7ECCB7B}"/>
                  </a:ext>
                </a:extLst>
              </p:cNvPr>
              <p:cNvSpPr>
                <a:spLocks noRot="1" noChangeAspect="1" noMove="1" noResize="1" noEditPoints="1" noAdjustHandles="1" noChangeArrowheads="1" noChangeShapeType="1" noTextEdit="1"/>
              </p:cNvSpPr>
              <p:nvPr/>
            </p:nvSpPr>
            <p:spPr>
              <a:xfrm>
                <a:off x="8748082" y="142924"/>
                <a:ext cx="2526505" cy="652711"/>
              </a:xfrm>
              <a:prstGeom prst="roundRect">
                <a:avLst/>
              </a:prstGeom>
              <a:blipFill>
                <a:blip r:embed="rId6"/>
                <a:stretch>
                  <a:fillRect/>
                </a:stretch>
              </a:blipFill>
              <a:ln w="14288">
                <a:solidFill>
                  <a:srgbClr val="FF0000"/>
                </a:solidFill>
              </a:ln>
            </p:spPr>
            <p:txBody>
              <a:bodyPr/>
              <a:lstStyle/>
              <a:p>
                <a:r>
                  <a:rPr lang="en-GB">
                    <a:noFill/>
                  </a:rPr>
                  <a:t> </a:t>
                </a:r>
              </a:p>
            </p:txBody>
          </p:sp>
        </mc:Fallback>
      </mc:AlternateContent>
      <p:sp>
        <p:nvSpPr>
          <p:cNvPr id="43" name="Rectangle: Rounded Corners 11">
            <a:extLst>
              <a:ext uri="{FF2B5EF4-FFF2-40B4-BE49-F238E27FC236}">
                <a16:creationId xmlns:a16="http://schemas.microsoft.com/office/drawing/2014/main" id="{EAE9B31F-FBAB-EC0E-FBE5-1B8E0C2BD8EF}"/>
              </a:ext>
            </a:extLst>
          </p:cNvPr>
          <p:cNvSpPr/>
          <p:nvPr/>
        </p:nvSpPr>
        <p:spPr>
          <a:xfrm>
            <a:off x="3842707" y="6108868"/>
            <a:ext cx="4905375" cy="55245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15">
            <a:extLst>
              <a:ext uri="{FF2B5EF4-FFF2-40B4-BE49-F238E27FC236}">
                <a16:creationId xmlns:a16="http://schemas.microsoft.com/office/drawing/2014/main" id="{F019B05F-7DE6-6D03-C66B-A032734EF99E}"/>
              </a:ext>
            </a:extLst>
          </p:cNvPr>
          <p:cNvSpPr/>
          <p:nvPr/>
        </p:nvSpPr>
        <p:spPr>
          <a:xfrm>
            <a:off x="3842707" y="6108868"/>
            <a:ext cx="76200" cy="55245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27">
            <a:extLst>
              <a:ext uri="{FF2B5EF4-FFF2-40B4-BE49-F238E27FC236}">
                <a16:creationId xmlns:a16="http://schemas.microsoft.com/office/drawing/2014/main" id="{69BF0D72-0047-FC3D-C0BB-FF308A240F9E}"/>
              </a:ext>
            </a:extLst>
          </p:cNvPr>
          <p:cNvSpPr txBox="1"/>
          <p:nvPr/>
        </p:nvSpPr>
        <p:spPr>
          <a:xfrm>
            <a:off x="4109407" y="6054078"/>
            <a:ext cx="4486275" cy="628377"/>
          </a:xfrm>
          <a:prstGeom prst="rect">
            <a:avLst/>
          </a:prstGeom>
          <a:noFill/>
        </p:spPr>
        <p:txBody>
          <a:bodyPr vert="horz" lIns="50800" tIns="25400" rIns="50800" bIns="25400" rtlCol="0" anchor="ctr">
            <a:noAutofit/>
          </a:bodyPr>
          <a:lstStyle/>
          <a:p>
            <a:r>
              <a:rPr lang="nb-NO" sz="1875" b="1" dirty="0">
                <a:solidFill>
                  <a:srgbClr val="0B3D4F"/>
                </a:solidFill>
                <a:latin typeface="Aptos" panose="020B0004020202020204" pitchFamily="34" charset="0"/>
              </a:rPr>
              <a:t>En liten overføring til periode 2 øker samlet nettonytte.</a:t>
            </a:r>
            <a:endParaRPr lang="en-GB" sz="1875" b="1" dirty="0">
              <a:solidFill>
                <a:srgbClr val="0B3D4F"/>
              </a:solidFill>
              <a:latin typeface="Aptos" panose="020B0004020202020204" pitchFamily="34" charset="0"/>
            </a:endParaRPr>
          </a:p>
        </p:txBody>
      </p:sp>
      <p:pic>
        <p:nvPicPr>
          <p:cNvPr id="57" name="Bilde 56">
            <a:extLst>
              <a:ext uri="{FF2B5EF4-FFF2-40B4-BE49-F238E27FC236}">
                <a16:creationId xmlns:a16="http://schemas.microsoft.com/office/drawing/2014/main" id="{BB5AB31C-1892-45C2-A2C1-217F5DB20866}"/>
              </a:ext>
            </a:extLst>
          </p:cNvPr>
          <p:cNvPicPr>
            <a:picLocks noChangeAspect="1"/>
          </p:cNvPicPr>
          <p:nvPr/>
        </p:nvPicPr>
        <p:blipFill>
          <a:blip r:embed="rId7"/>
          <a:stretch>
            <a:fillRect/>
          </a:stretch>
        </p:blipFill>
        <p:spPr>
          <a:xfrm>
            <a:off x="990599" y="2000708"/>
            <a:ext cx="4519247" cy="3734050"/>
          </a:xfrm>
          <a:prstGeom prst="rect">
            <a:avLst/>
          </a:prstGeom>
        </p:spPr>
      </p:pic>
      <p:pic>
        <p:nvPicPr>
          <p:cNvPr id="59" name="Bilde 58">
            <a:extLst>
              <a:ext uri="{FF2B5EF4-FFF2-40B4-BE49-F238E27FC236}">
                <a16:creationId xmlns:a16="http://schemas.microsoft.com/office/drawing/2014/main" id="{1D18ACBC-76BD-6506-8810-3BD47505EE8A}"/>
              </a:ext>
            </a:extLst>
          </p:cNvPr>
          <p:cNvPicPr>
            <a:picLocks noChangeAspect="1"/>
          </p:cNvPicPr>
          <p:nvPr/>
        </p:nvPicPr>
        <p:blipFill>
          <a:blip r:embed="rId8"/>
          <a:stretch>
            <a:fillRect/>
          </a:stretch>
        </p:blipFill>
        <p:spPr>
          <a:xfrm>
            <a:off x="6096000" y="1842427"/>
            <a:ext cx="4769644" cy="3981940"/>
          </a:xfrm>
          <a:prstGeom prst="rect">
            <a:avLst/>
          </a:prstGeom>
        </p:spPr>
      </p:pic>
    </p:spTree>
    <p:extLst>
      <p:ext uri="{BB962C8B-B14F-4D97-AF65-F5344CB8AC3E}">
        <p14:creationId xmlns:p14="http://schemas.microsoft.com/office/powerpoint/2010/main" val="2818849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C17885-BFAF-C153-3B03-F96E55B134A9}"/>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Effektivitetsbetingelsen</a:t>
            </a:r>
          </a:p>
        </p:txBody>
      </p:sp>
      <p:sp>
        <p:nvSpPr>
          <p:cNvPr id="3" name="Rectangle 2">
            <a:extLst>
              <a:ext uri="{FF2B5EF4-FFF2-40B4-BE49-F238E27FC236}">
                <a16:creationId xmlns:a16="http://schemas.microsoft.com/office/drawing/2014/main" id="{27FAD24D-6143-F545-3401-CFBC0D7B44F6}"/>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CF59BD3-C614-0E88-8704-B912CB0DDA1E}"/>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0ABF4B94-4CF2-A0A9-6877-A934CE5A6D46}"/>
              </a:ext>
            </a:extLst>
          </p:cNvPr>
          <p:cNvSpPr/>
          <p:nvPr/>
        </p:nvSpPr>
        <p:spPr>
          <a:xfrm>
            <a:off x="3226777" y="1381124"/>
            <a:ext cx="6022731" cy="1050947"/>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8E066E-3470-1FB9-5A6C-315A9D29A54B}"/>
                  </a:ext>
                </a:extLst>
              </p:cNvPr>
              <p:cNvSpPr txBox="1"/>
              <p:nvPr/>
            </p:nvSpPr>
            <p:spPr>
              <a:xfrm>
                <a:off x="3914775" y="1539152"/>
                <a:ext cx="5172075" cy="734890"/>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325" i="1" dirty="0" smtClean="0">
                          <a:solidFill>
                            <a:srgbClr val="0B3D4F"/>
                          </a:solidFill>
                          <a:latin typeface="Cambria Math" panose="02040503050406030204" pitchFamily="18" charset="0"/>
                        </a:rPr>
                        <m:t>𝑃𝑉𝑁𝐵</m:t>
                      </m:r>
                      <m:r>
                        <a:rPr lang="en-GB" sz="2325" i="1" dirty="0" smtClean="0">
                          <a:solidFill>
                            <a:srgbClr val="0B3D4F"/>
                          </a:solidFill>
                          <a:latin typeface="Cambria Math" panose="02040503050406030204" pitchFamily="18" charset="0"/>
                        </a:rPr>
                        <m:t> = </m:t>
                      </m:r>
                      <m:r>
                        <a:rPr lang="en-GB" sz="2325" i="1" dirty="0" smtClean="0">
                          <a:solidFill>
                            <a:srgbClr val="0B3D4F"/>
                          </a:solidFill>
                          <a:latin typeface="Cambria Math" panose="02040503050406030204" pitchFamily="18" charset="0"/>
                        </a:rPr>
                        <m:t>𝑁𝐵</m:t>
                      </m:r>
                      <m:r>
                        <a:rPr lang="en-GB" sz="2325" i="1" dirty="0" smtClean="0">
                          <a:solidFill>
                            <a:srgbClr val="0B3D4F"/>
                          </a:solidFill>
                          <a:latin typeface="Cambria Math" panose="02040503050406030204" pitchFamily="18" charset="0"/>
                        </a:rPr>
                        <m:t>₁(</m:t>
                      </m:r>
                      <m:r>
                        <a:rPr lang="en-GB" sz="2325" i="1" dirty="0" smtClean="0">
                          <a:solidFill>
                            <a:srgbClr val="0B3D4F"/>
                          </a:solidFill>
                          <a:latin typeface="Cambria Math" panose="02040503050406030204" pitchFamily="18" charset="0"/>
                        </a:rPr>
                        <m:t>𝑞</m:t>
                      </m:r>
                      <m:r>
                        <a:rPr lang="en-GB" sz="2325" i="1" dirty="0" smtClean="0">
                          <a:solidFill>
                            <a:srgbClr val="0B3D4F"/>
                          </a:solidFill>
                          <a:latin typeface="Cambria Math" panose="02040503050406030204" pitchFamily="18" charset="0"/>
                        </a:rPr>
                        <m:t>₁) + </m:t>
                      </m:r>
                      <m:f>
                        <m:fPr>
                          <m:ctrlPr>
                            <a:rPr lang="en-GB" sz="2325" i="1" dirty="0">
                              <a:solidFill>
                                <a:srgbClr val="0B3D4F"/>
                              </a:solidFill>
                              <a:latin typeface="Cambria Math" panose="02040503050406030204" pitchFamily="18" charset="0"/>
                            </a:rPr>
                          </m:ctrlPr>
                        </m:fPr>
                        <m:num>
                          <m:r>
                            <a:rPr lang="en-GB" sz="2325" i="1" dirty="0">
                              <a:solidFill>
                                <a:srgbClr val="0B3D4F"/>
                              </a:solidFill>
                              <a:latin typeface="Cambria Math" panose="02040503050406030204" pitchFamily="18" charset="0"/>
                            </a:rPr>
                            <m:t>𝑁𝐵</m:t>
                          </m:r>
                          <m:r>
                            <a:rPr lang="en-GB" sz="2325" i="1" dirty="0">
                              <a:solidFill>
                                <a:srgbClr val="0B3D4F"/>
                              </a:solidFill>
                              <a:latin typeface="Cambria Math" panose="02040503050406030204" pitchFamily="18" charset="0"/>
                            </a:rPr>
                            <m:t>₂(</m:t>
                          </m:r>
                          <m:r>
                            <a:rPr lang="en-GB" sz="2325" i="1" dirty="0">
                              <a:solidFill>
                                <a:srgbClr val="0B3D4F"/>
                              </a:solidFill>
                              <a:latin typeface="Cambria Math" panose="02040503050406030204" pitchFamily="18" charset="0"/>
                            </a:rPr>
                            <m:t>𝑞</m:t>
                          </m:r>
                          <m:r>
                            <a:rPr lang="en-GB" sz="2325" i="1" dirty="0">
                              <a:solidFill>
                                <a:srgbClr val="0B3D4F"/>
                              </a:solidFill>
                              <a:latin typeface="Cambria Math" panose="02040503050406030204" pitchFamily="18" charset="0"/>
                            </a:rPr>
                            <m:t>₂)</m:t>
                          </m:r>
                        </m:num>
                        <m:den>
                          <m:r>
                            <a:rPr lang="nb-NO" sz="2325" b="0" i="1" dirty="0" smtClean="0">
                              <a:solidFill>
                                <a:srgbClr val="0B3D4F"/>
                              </a:solidFill>
                              <a:latin typeface="Cambria Math" panose="02040503050406030204" pitchFamily="18" charset="0"/>
                            </a:rPr>
                            <m:t>(1+</m:t>
                          </m:r>
                          <m:r>
                            <a:rPr lang="nb-NO" sz="2325" b="0" i="1" dirty="0" smtClean="0">
                              <a:solidFill>
                                <a:srgbClr val="0B3D4F"/>
                              </a:solidFill>
                              <a:latin typeface="Cambria Math" panose="02040503050406030204" pitchFamily="18" charset="0"/>
                            </a:rPr>
                            <m:t>𝑟</m:t>
                          </m:r>
                          <m:r>
                            <a:rPr lang="nb-NO" sz="2325" b="0" i="1" dirty="0" smtClean="0">
                              <a:solidFill>
                                <a:srgbClr val="0B3D4F"/>
                              </a:solidFill>
                              <a:latin typeface="Cambria Math" panose="02040503050406030204" pitchFamily="18" charset="0"/>
                            </a:rPr>
                            <m:t>)</m:t>
                          </m:r>
                        </m:den>
                      </m:f>
                    </m:oMath>
                  </m:oMathPara>
                </a14:m>
                <a:endParaRPr dirty="0"/>
              </a:p>
            </p:txBody>
          </p:sp>
        </mc:Choice>
        <mc:Fallback xmlns="">
          <p:sp>
            <p:nvSpPr>
              <p:cNvPr id="7" name="TextBox 6">
                <a:extLst>
                  <a:ext uri="{FF2B5EF4-FFF2-40B4-BE49-F238E27FC236}">
                    <a16:creationId xmlns:a16="http://schemas.microsoft.com/office/drawing/2014/main" id="{ED8E066E-3470-1FB9-5A6C-315A9D29A54B}"/>
                  </a:ext>
                </a:extLst>
              </p:cNvPr>
              <p:cNvSpPr txBox="1">
                <a:spLocks noRot="1" noChangeAspect="1" noMove="1" noResize="1" noEditPoints="1" noAdjustHandles="1" noChangeArrowheads="1" noChangeShapeType="1" noTextEdit="1"/>
              </p:cNvSpPr>
              <p:nvPr/>
            </p:nvSpPr>
            <p:spPr>
              <a:xfrm>
                <a:off x="3914775" y="1539152"/>
                <a:ext cx="5172075" cy="734890"/>
              </a:xfrm>
              <a:prstGeom prst="rect">
                <a:avLst/>
              </a:prstGeom>
              <a:blipFill>
                <a:blip r:embed="rId2"/>
                <a:stretch>
                  <a:fillRect/>
                </a:stretch>
              </a:blipFill>
            </p:spPr>
            <p:txBody>
              <a:bodyPr/>
              <a:lstStyle/>
              <a:p>
                <a:r>
                  <a:rPr lang="nb-NO">
                    <a:noFill/>
                  </a:rPr>
                  <a:t> </a:t>
                </a:r>
              </a:p>
            </p:txBody>
          </p:sp>
        </mc:Fallback>
      </mc:AlternateContent>
      <p:sp>
        <p:nvSpPr>
          <p:cNvPr id="8" name="TextBox 7">
            <a:extLst>
              <a:ext uri="{FF2B5EF4-FFF2-40B4-BE49-F238E27FC236}">
                <a16:creationId xmlns:a16="http://schemas.microsoft.com/office/drawing/2014/main" id="{AE1904B3-262D-3245-76C4-57AA909BB090}"/>
              </a:ext>
            </a:extLst>
          </p:cNvPr>
          <p:cNvSpPr txBox="1"/>
          <p:nvPr/>
        </p:nvSpPr>
        <p:spPr>
          <a:xfrm>
            <a:off x="1809750" y="2733675"/>
            <a:ext cx="8572500" cy="351378"/>
          </a:xfrm>
          <a:prstGeom prst="rect">
            <a:avLst/>
          </a:prstGeom>
          <a:noFill/>
        </p:spPr>
        <p:txBody>
          <a:bodyPr vert="horz" lIns="50800" tIns="25400" rIns="50800" bIns="25400" rtlCol="0" anchor="t">
            <a:noAutofit/>
          </a:bodyPr>
          <a:lstStyle/>
          <a:p>
            <a:pPr algn="ctr"/>
            <a:r>
              <a:rPr lang="en-GB" sz="1950" dirty="0">
                <a:solidFill>
                  <a:srgbClr val="1C2930"/>
                </a:solidFill>
                <a:latin typeface="Aptos" panose="020B0004020202020204" pitchFamily="34" charset="0"/>
              </a:rPr>
              <a:t>I </a:t>
            </a:r>
            <a:r>
              <a:rPr lang="en-GB" sz="1950" dirty="0" err="1">
                <a:solidFill>
                  <a:srgbClr val="1C2930"/>
                </a:solidFill>
                <a:latin typeface="Aptos" panose="020B0004020202020204" pitchFamily="34" charset="0"/>
              </a:rPr>
              <a:t>en</a:t>
            </a:r>
            <a:r>
              <a:rPr lang="en-GB" sz="1950" dirty="0">
                <a:solidFill>
                  <a:srgbClr val="1C2930"/>
                </a:solidFill>
                <a:latin typeface="Aptos" panose="020B0004020202020204" pitchFamily="34" charset="0"/>
              </a:rPr>
              <a:t> </a:t>
            </a:r>
            <a:r>
              <a:rPr lang="en-GB" sz="1950" dirty="0" err="1">
                <a:solidFill>
                  <a:srgbClr val="1C2930"/>
                </a:solidFill>
                <a:latin typeface="Aptos" panose="020B0004020202020204" pitchFamily="34" charset="0"/>
              </a:rPr>
              <a:t>indre</a:t>
            </a:r>
            <a:r>
              <a:rPr lang="en-GB" sz="1950" dirty="0">
                <a:solidFill>
                  <a:srgbClr val="1C2930"/>
                </a:solidFill>
                <a:latin typeface="Aptos" panose="020B0004020202020204" pitchFamily="34" charset="0"/>
              </a:rPr>
              <a:t> </a:t>
            </a:r>
            <a:r>
              <a:rPr lang="en-GB" sz="1950" dirty="0" err="1">
                <a:solidFill>
                  <a:srgbClr val="1C2930"/>
                </a:solidFill>
                <a:latin typeface="Aptos" panose="020B0004020202020204" pitchFamily="34" charset="0"/>
              </a:rPr>
              <a:t>løsning</a:t>
            </a:r>
            <a:r>
              <a:rPr lang="en-GB" sz="1950" dirty="0">
                <a:solidFill>
                  <a:srgbClr val="1C2930"/>
                </a:solidFill>
                <a:latin typeface="Aptos" panose="020B0004020202020204" pitchFamily="34" charset="0"/>
              </a:rPr>
              <a:t> </a:t>
            </a:r>
            <a:r>
              <a:rPr lang="en-GB" sz="1950" dirty="0" err="1">
                <a:solidFill>
                  <a:srgbClr val="1C2930"/>
                </a:solidFill>
                <a:latin typeface="Aptos" panose="020B0004020202020204" pitchFamily="34" charset="0"/>
              </a:rPr>
              <a:t>må</a:t>
            </a:r>
            <a:r>
              <a:rPr lang="en-GB" sz="1950" dirty="0">
                <a:solidFill>
                  <a:srgbClr val="1C2930"/>
                </a:solidFill>
                <a:latin typeface="Aptos" panose="020B0004020202020204" pitchFamily="34" charset="0"/>
              </a:rPr>
              <a:t>:</a:t>
            </a:r>
          </a:p>
        </p:txBody>
      </p:sp>
      <p:sp>
        <p:nvSpPr>
          <p:cNvPr id="9" name="Rectangle: Rounded Corners 8">
            <a:extLst>
              <a:ext uri="{FF2B5EF4-FFF2-40B4-BE49-F238E27FC236}">
                <a16:creationId xmlns:a16="http://schemas.microsoft.com/office/drawing/2014/main" id="{9E177DE1-1AEA-1B61-04FA-9ABB989180FE}"/>
              </a:ext>
            </a:extLst>
          </p:cNvPr>
          <p:cNvSpPr/>
          <p:nvPr/>
        </p:nvSpPr>
        <p:spPr>
          <a:xfrm>
            <a:off x="3157538" y="3286125"/>
            <a:ext cx="6000750" cy="1150144"/>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68FDD1-19E1-C92E-6A89-D919BA0AEDBD}"/>
                  </a:ext>
                </a:extLst>
              </p:cNvPr>
              <p:cNvSpPr txBox="1"/>
              <p:nvPr/>
            </p:nvSpPr>
            <p:spPr>
              <a:xfrm>
                <a:off x="3914775" y="3357564"/>
                <a:ext cx="4443414" cy="1028700"/>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550" b="0" i="1" dirty="0" smtClean="0">
                          <a:solidFill>
                            <a:srgbClr val="0B3D4F"/>
                          </a:solidFill>
                          <a:latin typeface="Cambria Math" panose="02040503050406030204" pitchFamily="18" charset="0"/>
                        </a:rPr>
                        <m:t>𝑀𝑁𝐵</m:t>
                      </m:r>
                      <m:r>
                        <a:rPr lang="en-GB" sz="2550" b="0" i="1" dirty="0" smtClean="0">
                          <a:solidFill>
                            <a:srgbClr val="0B3D4F"/>
                          </a:solidFill>
                          <a:latin typeface="Cambria Math" panose="02040503050406030204" pitchFamily="18" charset="0"/>
                        </a:rPr>
                        <m:t>₁(</m:t>
                      </m:r>
                      <m:sSubSup>
                        <m:sSubSupPr>
                          <m:ctrlPr>
                            <a:rPr lang="nb-NO" sz="2550" b="0" i="1" dirty="0" smtClean="0">
                              <a:solidFill>
                                <a:srgbClr val="0B3D4F"/>
                              </a:solidFill>
                              <a:latin typeface="Cambria Math" panose="02040503050406030204" pitchFamily="18" charset="0"/>
                            </a:rPr>
                          </m:ctrlPr>
                        </m:sSubSupPr>
                        <m:e>
                          <m:r>
                            <a:rPr lang="nb-NO" sz="2550" b="0" i="1" dirty="0" smtClean="0">
                              <a:solidFill>
                                <a:srgbClr val="0B3D4F"/>
                              </a:solidFill>
                              <a:latin typeface="Cambria Math" panose="02040503050406030204" pitchFamily="18" charset="0"/>
                            </a:rPr>
                            <m:t>𝑞</m:t>
                          </m:r>
                        </m:e>
                        <m:sub>
                          <m:r>
                            <a:rPr lang="nb-NO" sz="2550" b="0" i="1" dirty="0" smtClean="0">
                              <a:solidFill>
                                <a:srgbClr val="0B3D4F"/>
                              </a:solidFill>
                              <a:latin typeface="Cambria Math" panose="02040503050406030204" pitchFamily="18" charset="0"/>
                            </a:rPr>
                            <m:t>1</m:t>
                          </m:r>
                        </m:sub>
                        <m:sup>
                          <m:r>
                            <a:rPr lang="nb-NO" sz="2550" b="0" i="1" dirty="0" smtClean="0">
                              <a:solidFill>
                                <a:srgbClr val="0B3D4F"/>
                              </a:solidFill>
                              <a:latin typeface="Cambria Math" panose="02040503050406030204" pitchFamily="18" charset="0"/>
                            </a:rPr>
                            <m:t>∗</m:t>
                          </m:r>
                        </m:sup>
                      </m:sSubSup>
                      <m:r>
                        <a:rPr lang="en-GB" sz="2550" b="0" i="1" dirty="0" smtClean="0">
                          <a:solidFill>
                            <a:srgbClr val="0B3D4F"/>
                          </a:solidFill>
                          <a:latin typeface="Cambria Math" panose="02040503050406030204" pitchFamily="18" charset="0"/>
                        </a:rPr>
                        <m:t>) = </m:t>
                      </m:r>
                      <m:f>
                        <m:fPr>
                          <m:ctrlPr>
                            <a:rPr lang="en-GB" sz="2550" b="0" i="1" dirty="0">
                              <a:solidFill>
                                <a:srgbClr val="0B3D4F"/>
                              </a:solidFill>
                              <a:latin typeface="Cambria Math" panose="02040503050406030204" pitchFamily="18" charset="0"/>
                            </a:rPr>
                          </m:ctrlPr>
                        </m:fPr>
                        <m:num>
                          <m:r>
                            <a:rPr lang="en-GB" sz="2550" b="0" i="1" dirty="0">
                              <a:solidFill>
                                <a:srgbClr val="0B3D4F"/>
                              </a:solidFill>
                              <a:latin typeface="Cambria Math" panose="02040503050406030204" pitchFamily="18" charset="0"/>
                            </a:rPr>
                            <m:t>𝑀𝑁𝐵</m:t>
                          </m:r>
                          <m:r>
                            <a:rPr lang="en-GB" sz="2550" b="0" i="1" dirty="0">
                              <a:solidFill>
                                <a:srgbClr val="0B3D4F"/>
                              </a:solidFill>
                              <a:latin typeface="Cambria Math" panose="02040503050406030204" pitchFamily="18" charset="0"/>
                            </a:rPr>
                            <m:t>₂(</m:t>
                          </m:r>
                          <m:sSubSup>
                            <m:sSubSupPr>
                              <m:ctrlPr>
                                <a:rPr lang="en-GB" sz="2550" b="0" i="1" dirty="0">
                                  <a:solidFill>
                                    <a:srgbClr val="0B3D4F"/>
                                  </a:solidFill>
                                  <a:latin typeface="Cambria Math" panose="02040503050406030204" pitchFamily="18" charset="0"/>
                                </a:rPr>
                              </m:ctrlPr>
                            </m:sSubSupPr>
                            <m:e>
                              <m:r>
                                <a:rPr lang="en-GB" sz="2550" b="0" i="1" dirty="0">
                                  <a:solidFill>
                                    <a:srgbClr val="0B3D4F"/>
                                  </a:solidFill>
                                  <a:latin typeface="Cambria Math" panose="02040503050406030204" pitchFamily="18" charset="0"/>
                                </a:rPr>
                                <m:t>𝑞</m:t>
                              </m:r>
                            </m:e>
                            <m:sub>
                              <m:r>
                                <a:rPr lang="en-GB" sz="2550" b="0" i="1" dirty="0">
                                  <a:solidFill>
                                    <a:srgbClr val="0B3D4F"/>
                                  </a:solidFill>
                                  <a:latin typeface="Cambria Math" panose="02040503050406030204" pitchFamily="18" charset="0"/>
                                </a:rPr>
                                <m:t>2</m:t>
                              </m:r>
                            </m:sub>
                            <m:sup>
                              <m:r>
                                <a:rPr lang="en-GB" sz="2550" b="0" i="1" dirty="0">
                                  <a:solidFill>
                                    <a:srgbClr val="0B3D4F"/>
                                  </a:solidFill>
                                  <a:latin typeface="Cambria Math" panose="02040503050406030204" pitchFamily="18" charset="0"/>
                                </a:rPr>
                                <m:t>∗</m:t>
                              </m:r>
                            </m:sup>
                          </m:sSubSup>
                          <m:r>
                            <a:rPr lang="en-GB" sz="2550" b="0" i="1" dirty="0">
                              <a:solidFill>
                                <a:srgbClr val="0B3D4F"/>
                              </a:solidFill>
                              <a:latin typeface="Cambria Math" panose="02040503050406030204" pitchFamily="18" charset="0"/>
                            </a:rPr>
                            <m:t>)</m:t>
                          </m:r>
                        </m:num>
                        <m:den>
                          <m:r>
                            <a:rPr lang="en-GB" sz="2550" b="0" i="1" dirty="0">
                              <a:solidFill>
                                <a:srgbClr val="0B3D4F"/>
                              </a:solidFill>
                              <a:latin typeface="Cambria Math" panose="02040503050406030204" pitchFamily="18" charset="0"/>
                            </a:rPr>
                            <m:t>(1+</m:t>
                          </m:r>
                          <m:r>
                            <a:rPr lang="en-GB" sz="2550" b="0" i="1" dirty="0">
                              <a:solidFill>
                                <a:srgbClr val="0B3D4F"/>
                              </a:solidFill>
                              <a:latin typeface="Cambria Math" panose="02040503050406030204" pitchFamily="18" charset="0"/>
                            </a:rPr>
                            <m:t>𝑟</m:t>
                          </m:r>
                          <m:r>
                            <a:rPr lang="en-GB" sz="2550" b="0" i="1" dirty="0">
                              <a:solidFill>
                                <a:srgbClr val="0B3D4F"/>
                              </a:solidFill>
                              <a:latin typeface="Cambria Math" panose="02040503050406030204" pitchFamily="18" charset="0"/>
                            </a:rPr>
                            <m:t>)</m:t>
                          </m:r>
                        </m:den>
                      </m:f>
                    </m:oMath>
                  </m:oMathPara>
                </a14:m>
                <a:endParaRPr dirty="0"/>
              </a:p>
            </p:txBody>
          </p:sp>
        </mc:Choice>
        <mc:Fallback xmlns="">
          <p:sp>
            <p:nvSpPr>
              <p:cNvPr id="10" name="TextBox 9">
                <a:extLst>
                  <a:ext uri="{FF2B5EF4-FFF2-40B4-BE49-F238E27FC236}">
                    <a16:creationId xmlns:a16="http://schemas.microsoft.com/office/drawing/2014/main" id="{6E68FDD1-19E1-C92E-6A89-D919BA0AEDBD}"/>
                  </a:ext>
                </a:extLst>
              </p:cNvPr>
              <p:cNvSpPr txBox="1">
                <a:spLocks noRot="1" noChangeAspect="1" noMove="1" noResize="1" noEditPoints="1" noAdjustHandles="1" noChangeArrowheads="1" noChangeShapeType="1" noTextEdit="1"/>
              </p:cNvSpPr>
              <p:nvPr/>
            </p:nvSpPr>
            <p:spPr>
              <a:xfrm>
                <a:off x="3914775" y="3357564"/>
                <a:ext cx="4443414" cy="1028700"/>
              </a:xfrm>
              <a:prstGeom prst="rect">
                <a:avLst/>
              </a:prstGeom>
              <a:blipFill>
                <a:blip r:embed="rId3"/>
                <a:stretch>
                  <a:fillRect/>
                </a:stretch>
              </a:blipFill>
            </p:spPr>
            <p:txBody>
              <a:bodyPr/>
              <a:lstStyle/>
              <a:p>
                <a:r>
                  <a:rPr lang="nb-NO">
                    <a:noFill/>
                  </a:rPr>
                  <a:t> </a:t>
                </a:r>
              </a:p>
            </p:txBody>
          </p:sp>
        </mc:Fallback>
      </mc:AlternateContent>
      <p:sp>
        <p:nvSpPr>
          <p:cNvPr id="11" name="Rectangle: Rounded Corners 10">
            <a:extLst>
              <a:ext uri="{FF2B5EF4-FFF2-40B4-BE49-F238E27FC236}">
                <a16:creationId xmlns:a16="http://schemas.microsoft.com/office/drawing/2014/main" id="{8ECB5D78-7AB9-AAA8-FDE7-61FC4A428195}"/>
              </a:ext>
            </a:extLst>
          </p:cNvPr>
          <p:cNvSpPr/>
          <p:nvPr/>
        </p:nvSpPr>
        <p:spPr>
          <a:xfrm>
            <a:off x="1428750" y="4953000"/>
            <a:ext cx="9334500" cy="7810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330FB921-F27A-866D-019E-D166C0D0C1B2}"/>
              </a:ext>
            </a:extLst>
          </p:cNvPr>
          <p:cNvSpPr/>
          <p:nvPr/>
        </p:nvSpPr>
        <p:spPr>
          <a:xfrm>
            <a:off x="1428750" y="4953000"/>
            <a:ext cx="76200" cy="7810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853A75B6-481A-DC86-67B8-04585C896C67}"/>
              </a:ext>
            </a:extLst>
          </p:cNvPr>
          <p:cNvSpPr txBox="1"/>
          <p:nvPr/>
        </p:nvSpPr>
        <p:spPr>
          <a:xfrm>
            <a:off x="1676400" y="5017795"/>
            <a:ext cx="8915400" cy="651460"/>
          </a:xfrm>
          <a:prstGeom prst="rect">
            <a:avLst/>
          </a:prstGeom>
          <a:noFill/>
        </p:spPr>
        <p:txBody>
          <a:bodyPr vert="horz" lIns="50800" tIns="25400" rIns="50800" bIns="25400" rtlCol="0" anchor="ctr">
            <a:noAutofit/>
          </a:bodyPr>
          <a:lstStyle/>
          <a:p>
            <a:r>
              <a:rPr lang="en-GB" sz="1950" b="1" dirty="0">
                <a:solidFill>
                  <a:srgbClr val="0B3D4F"/>
                </a:solidFill>
                <a:latin typeface="Aptos" panose="020B0004020202020204" pitchFamily="34" charset="0"/>
              </a:rPr>
              <a:t>Den </a:t>
            </a:r>
            <a:r>
              <a:rPr lang="en-GB" sz="1950" b="1" dirty="0" err="1">
                <a:solidFill>
                  <a:srgbClr val="0B3D4F"/>
                </a:solidFill>
                <a:latin typeface="Aptos" panose="020B0004020202020204" pitchFamily="34" charset="0"/>
              </a:rPr>
              <a:t>siste</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ressursenheten</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skal</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gi</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samme</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nåverdi</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av</a:t>
            </a:r>
            <a:r>
              <a:rPr lang="en-GB" sz="1950" b="1" dirty="0">
                <a:solidFill>
                  <a:srgbClr val="0B3D4F"/>
                </a:solidFill>
                <a:latin typeface="Aptos" panose="020B0004020202020204" pitchFamily="34" charset="0"/>
              </a:rPr>
              <a:t> marginal </a:t>
            </a:r>
            <a:r>
              <a:rPr lang="en-GB" sz="1950" b="1" dirty="0" err="1">
                <a:solidFill>
                  <a:srgbClr val="0B3D4F"/>
                </a:solidFill>
                <a:latin typeface="Aptos" panose="020B0004020202020204" pitchFamily="34" charset="0"/>
              </a:rPr>
              <a:t>netto</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nytte</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i</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begge</a:t>
            </a:r>
            <a:r>
              <a:rPr lang="en-GB" sz="1950" b="1" dirty="0">
                <a:solidFill>
                  <a:srgbClr val="0B3D4F"/>
                </a:solidFill>
                <a:latin typeface="Aptos" panose="020B0004020202020204" pitchFamily="34" charset="0"/>
              </a:rPr>
              <a:t> </a:t>
            </a:r>
            <a:r>
              <a:rPr lang="en-GB" sz="1950" b="1" dirty="0" err="1">
                <a:solidFill>
                  <a:srgbClr val="0B3D4F"/>
                </a:solidFill>
                <a:latin typeface="Aptos" panose="020B0004020202020204" pitchFamily="34" charset="0"/>
              </a:rPr>
              <a:t>perioder</a:t>
            </a:r>
            <a:r>
              <a:rPr lang="en-GB" sz="1950" b="1" dirty="0">
                <a:solidFill>
                  <a:srgbClr val="0B3D4F"/>
                </a:solidFill>
                <a:latin typeface="Aptos" panose="020B0004020202020204" pitchFamily="34" charset="0"/>
              </a:rPr>
              <a:t>.</a:t>
            </a:r>
          </a:p>
        </p:txBody>
      </p:sp>
    </p:spTree>
    <p:extLst>
      <p:ext uri="{BB962C8B-B14F-4D97-AF65-F5344CB8AC3E}">
        <p14:creationId xmlns:p14="http://schemas.microsoft.com/office/powerpoint/2010/main" val="2448976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2C6CDB-C548-7E17-E684-6ACF58802465}"/>
              </a:ext>
            </a:extLst>
          </p:cNvPr>
          <p:cNvSpPr txBox="1"/>
          <p:nvPr/>
        </p:nvSpPr>
        <p:spPr>
          <a:xfrm>
            <a:off x="628650" y="260371"/>
            <a:ext cx="102870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Samfunnsplanleggerens problem</a:t>
            </a:r>
          </a:p>
        </p:txBody>
      </p:sp>
      <p:sp>
        <p:nvSpPr>
          <p:cNvPr id="3" name="Rectangle 2">
            <a:extLst>
              <a:ext uri="{FF2B5EF4-FFF2-40B4-BE49-F238E27FC236}">
                <a16:creationId xmlns:a16="http://schemas.microsoft.com/office/drawing/2014/main" id="{E19B543A-FE37-4D2B-A7DB-AAC439CDBBE7}"/>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57AB8BC7-5796-7603-8BD4-B36D9AC289ED}"/>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EB13A02F-F4F2-79CB-1FE0-A13C92A1E117}"/>
              </a:ext>
            </a:extLst>
          </p:cNvPr>
          <p:cNvSpPr txBox="1"/>
          <p:nvPr/>
        </p:nvSpPr>
        <p:spPr>
          <a:xfrm>
            <a:off x="-226219" y="1365829"/>
            <a:ext cx="8526576" cy="339837"/>
          </a:xfrm>
          <a:prstGeom prst="rect">
            <a:avLst/>
          </a:prstGeom>
          <a:noFill/>
        </p:spPr>
        <p:txBody>
          <a:bodyPr vert="horz" lIns="50800" tIns="25400" rIns="50800" bIns="25400" rtlCol="0" anchor="ctr">
            <a:noAutofit/>
          </a:bodyPr>
          <a:lstStyle/>
          <a:p>
            <a:pPr algn="ctr"/>
            <a:r>
              <a:rPr lang="en-GB" sz="1875" b="1">
                <a:solidFill>
                  <a:srgbClr val="0B3D4F"/>
                </a:solidFill>
                <a:latin typeface="Aptos" panose="020B0004020202020204" pitchFamily="34" charset="0"/>
              </a:rPr>
              <a:t>Marginal netto nytte i hver periode</a:t>
            </a:r>
          </a:p>
        </p:txBody>
      </p:sp>
      <p:sp>
        <p:nvSpPr>
          <p:cNvPr id="7" name="Rectangle: Rounded Corners 6">
            <a:extLst>
              <a:ext uri="{FF2B5EF4-FFF2-40B4-BE49-F238E27FC236}">
                <a16:creationId xmlns:a16="http://schemas.microsoft.com/office/drawing/2014/main" id="{9948FC57-9D6A-9937-1275-16FCBC1E80E7}"/>
              </a:ext>
            </a:extLst>
          </p:cNvPr>
          <p:cNvSpPr/>
          <p:nvPr/>
        </p:nvSpPr>
        <p:spPr>
          <a:xfrm>
            <a:off x="1678781" y="1895475"/>
            <a:ext cx="5278357" cy="66675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EC9D97-4E50-10AB-79B8-91258067E189}"/>
                  </a:ext>
                </a:extLst>
              </p:cNvPr>
              <p:cNvSpPr txBox="1"/>
              <p:nvPr/>
            </p:nvSpPr>
            <p:spPr>
              <a:xfrm>
                <a:off x="1793081" y="1923771"/>
                <a:ext cx="5083464" cy="594025"/>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175" b="1" i="1" dirty="0" smtClean="0">
                          <a:solidFill>
                            <a:srgbClr val="0B3D4F"/>
                          </a:solidFill>
                          <a:latin typeface="Cambria Math" panose="02040503050406030204" pitchFamily="18" charset="0"/>
                        </a:rPr>
                        <m:t>𝑴𝑵𝑩</m:t>
                      </m:r>
                      <m:r>
                        <a:rPr lang="en-GB" sz="2175" b="1" i="1" dirty="0" smtClean="0">
                          <a:solidFill>
                            <a:srgbClr val="0B3D4F"/>
                          </a:solidFill>
                          <a:latin typeface="Cambria Math" panose="02040503050406030204" pitchFamily="18" charset="0"/>
                        </a:rPr>
                        <m:t>(</m:t>
                      </m:r>
                      <m:r>
                        <a:rPr lang="en-GB" sz="2175" b="1" i="1" dirty="0" smtClean="0">
                          <a:solidFill>
                            <a:srgbClr val="0B3D4F"/>
                          </a:solidFill>
                          <a:latin typeface="Cambria Math" panose="02040503050406030204" pitchFamily="18" charset="0"/>
                        </a:rPr>
                        <m:t>𝒒</m:t>
                      </m:r>
                      <m:r>
                        <a:rPr lang="en-GB" sz="2175" b="1" i="1" dirty="0" smtClean="0">
                          <a:solidFill>
                            <a:srgbClr val="0B3D4F"/>
                          </a:solidFill>
                          <a:latin typeface="Cambria Math" panose="02040503050406030204" pitchFamily="18" charset="0"/>
                        </a:rPr>
                        <m:t>) =</m:t>
                      </m:r>
                      <m:r>
                        <a:rPr lang="nb-NO" sz="2175" b="1" i="1" dirty="0" smtClean="0">
                          <a:solidFill>
                            <a:srgbClr val="0B3D4F"/>
                          </a:solidFill>
                          <a:latin typeface="Cambria Math" panose="02040503050406030204" pitchFamily="18" charset="0"/>
                        </a:rPr>
                        <m:t>𝑴𝑩</m:t>
                      </m:r>
                      <m:r>
                        <a:rPr lang="en-GB" sz="2175" b="1" i="1" dirty="0" smtClean="0">
                          <a:solidFill>
                            <a:srgbClr val="0B3D4F"/>
                          </a:solidFill>
                          <a:latin typeface="Cambria Math" panose="02040503050406030204" pitchFamily="18" charset="0"/>
                        </a:rPr>
                        <m:t> − </m:t>
                      </m:r>
                      <m:r>
                        <a:rPr lang="en-GB" sz="2175" b="1" i="1" dirty="0" smtClean="0">
                          <a:solidFill>
                            <a:srgbClr val="0B3D4F"/>
                          </a:solidFill>
                          <a:latin typeface="Cambria Math" panose="02040503050406030204" pitchFamily="18" charset="0"/>
                        </a:rPr>
                        <m:t>𝑴𝑪</m:t>
                      </m:r>
                      <m:r>
                        <a:rPr lang="en-GB" sz="2175" b="1" i="1" dirty="0" smtClean="0">
                          <a:solidFill>
                            <a:srgbClr val="0B3D4F"/>
                          </a:solidFill>
                          <a:latin typeface="Cambria Math" panose="02040503050406030204" pitchFamily="18" charset="0"/>
                        </a:rPr>
                        <m:t> = </m:t>
                      </m:r>
                      <m:r>
                        <a:rPr lang="en-GB" sz="2175" b="1" i="1" dirty="0" smtClean="0">
                          <a:solidFill>
                            <a:srgbClr val="0B3D4F"/>
                          </a:solidFill>
                          <a:latin typeface="Cambria Math" panose="02040503050406030204" pitchFamily="18" charset="0"/>
                        </a:rPr>
                        <m:t>𝟔</m:t>
                      </m:r>
                      <m:r>
                        <a:rPr lang="en-GB" sz="2175" b="1" i="1" dirty="0" smtClean="0">
                          <a:solidFill>
                            <a:srgbClr val="0B3D4F"/>
                          </a:solidFill>
                          <a:latin typeface="Cambria Math" panose="02040503050406030204" pitchFamily="18" charset="0"/>
                        </a:rPr>
                        <m:t> − </m:t>
                      </m:r>
                      <m:r>
                        <a:rPr lang="en-GB" sz="2175" b="1" i="1" dirty="0" smtClean="0">
                          <a:solidFill>
                            <a:srgbClr val="0B3D4F"/>
                          </a:solidFill>
                          <a:latin typeface="Cambria Math" panose="02040503050406030204" pitchFamily="18" charset="0"/>
                        </a:rPr>
                        <m:t>𝟎</m:t>
                      </m:r>
                      <m:r>
                        <a:rPr lang="en-GB" sz="2175" b="1" i="1" dirty="0" smtClean="0">
                          <a:solidFill>
                            <a:srgbClr val="0B3D4F"/>
                          </a:solidFill>
                          <a:latin typeface="Cambria Math" panose="02040503050406030204" pitchFamily="18" charset="0"/>
                        </a:rPr>
                        <m:t>,</m:t>
                      </m:r>
                      <m:r>
                        <a:rPr lang="en-GB" sz="2175" b="1" i="1" dirty="0" smtClean="0">
                          <a:solidFill>
                            <a:srgbClr val="0B3D4F"/>
                          </a:solidFill>
                          <a:latin typeface="Cambria Math" panose="02040503050406030204" pitchFamily="18" charset="0"/>
                        </a:rPr>
                        <m:t>𝟒</m:t>
                      </m:r>
                      <m:r>
                        <a:rPr lang="en-GB" sz="2175" b="1" i="1" dirty="0" smtClean="0">
                          <a:solidFill>
                            <a:srgbClr val="0B3D4F"/>
                          </a:solidFill>
                          <a:latin typeface="Cambria Math" panose="02040503050406030204" pitchFamily="18" charset="0"/>
                        </a:rPr>
                        <m:t>𝒒</m:t>
                      </m:r>
                    </m:oMath>
                  </m:oMathPara>
                </a14:m>
                <a:endParaRPr dirty="0"/>
              </a:p>
            </p:txBody>
          </p:sp>
        </mc:Choice>
        <mc:Fallback xmlns="">
          <p:sp>
            <p:nvSpPr>
              <p:cNvPr id="8" name="TextBox 7">
                <a:extLst>
                  <a:ext uri="{FF2B5EF4-FFF2-40B4-BE49-F238E27FC236}">
                    <a16:creationId xmlns:a16="http://schemas.microsoft.com/office/drawing/2014/main" id="{58EC9D97-4E50-10AB-79B8-91258067E189}"/>
                  </a:ext>
                </a:extLst>
              </p:cNvPr>
              <p:cNvSpPr txBox="1">
                <a:spLocks noRot="1" noChangeAspect="1" noMove="1" noResize="1" noEditPoints="1" noAdjustHandles="1" noChangeArrowheads="1" noChangeShapeType="1" noTextEdit="1"/>
              </p:cNvSpPr>
              <p:nvPr/>
            </p:nvSpPr>
            <p:spPr>
              <a:xfrm>
                <a:off x="1793081" y="1923771"/>
                <a:ext cx="5083464" cy="594025"/>
              </a:xfrm>
              <a:prstGeom prst="rect">
                <a:avLst/>
              </a:prstGeom>
              <a:blipFill>
                <a:blip r:embed="rId3"/>
                <a:stretch>
                  <a:fillRect/>
                </a:stretch>
              </a:blipFill>
            </p:spPr>
            <p:txBody>
              <a:bodyPr/>
              <a:lstStyle/>
              <a:p>
                <a:r>
                  <a:rPr lang="nb-NO">
                    <a:noFill/>
                  </a:rPr>
                  <a:t> </a:t>
                </a:r>
              </a:p>
            </p:txBody>
          </p:sp>
        </mc:Fallback>
      </mc:AlternateContent>
      <p:sp>
        <p:nvSpPr>
          <p:cNvPr id="9" name="TextBox 8">
            <a:extLst>
              <a:ext uri="{FF2B5EF4-FFF2-40B4-BE49-F238E27FC236}">
                <a16:creationId xmlns:a16="http://schemas.microsoft.com/office/drawing/2014/main" id="{00E5EE4E-C40A-A4F0-8BF8-ABADF00417D2}"/>
              </a:ext>
            </a:extLst>
          </p:cNvPr>
          <p:cNvSpPr txBox="1"/>
          <p:nvPr/>
        </p:nvSpPr>
        <p:spPr>
          <a:xfrm>
            <a:off x="107156" y="2847975"/>
            <a:ext cx="7958138" cy="328295"/>
          </a:xfrm>
          <a:prstGeom prst="rect">
            <a:avLst/>
          </a:prstGeom>
          <a:noFill/>
        </p:spPr>
        <p:txBody>
          <a:bodyPr vert="horz" lIns="50800" tIns="25400" rIns="50800" bIns="25400" rtlCol="0" anchor="ctr">
            <a:noAutofit/>
          </a:bodyPr>
          <a:lstStyle/>
          <a:p>
            <a:pPr algn="ctr"/>
            <a:r>
              <a:rPr lang="en-GB">
                <a:solidFill>
                  <a:srgbClr val="1C2930"/>
                </a:solidFill>
                <a:latin typeface="Aptos" panose="020B0004020202020204" pitchFamily="34" charset="0"/>
              </a:rPr>
              <a:t>Dermed er netto nytte arealet under MNB-kurven:</a:t>
            </a:r>
          </a:p>
        </p:txBody>
      </p:sp>
      <p:sp>
        <p:nvSpPr>
          <p:cNvPr id="10" name="Rectangle: Rounded Corners 9">
            <a:extLst>
              <a:ext uri="{FF2B5EF4-FFF2-40B4-BE49-F238E27FC236}">
                <a16:creationId xmlns:a16="http://schemas.microsoft.com/office/drawing/2014/main" id="{E223C9D5-D89F-07C4-33CA-6AFEB8BED33B}"/>
              </a:ext>
            </a:extLst>
          </p:cNvPr>
          <p:cNvSpPr/>
          <p:nvPr/>
        </p:nvSpPr>
        <p:spPr>
          <a:xfrm>
            <a:off x="916781" y="3371850"/>
            <a:ext cx="6577644" cy="7239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A7B585-CD63-95EC-C6B6-ED8D6935AF35}"/>
                  </a:ext>
                </a:extLst>
              </p:cNvPr>
              <p:cNvSpPr txBox="1"/>
              <p:nvPr/>
            </p:nvSpPr>
            <p:spPr>
              <a:xfrm>
                <a:off x="1562284" y="3405917"/>
                <a:ext cx="5202148" cy="689833"/>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100" i="1" dirty="0" smtClean="0">
                          <a:solidFill>
                            <a:srgbClr val="0B3D4F"/>
                          </a:solidFill>
                          <a:latin typeface="Cambria Math" panose="02040503050406030204" pitchFamily="18" charset="0"/>
                        </a:rPr>
                        <m:t>𝑁𝐵</m:t>
                      </m:r>
                      <m:r>
                        <a:rPr lang="en-GB" sz="2100" i="1" dirty="0" smtClean="0">
                          <a:solidFill>
                            <a:srgbClr val="0B3D4F"/>
                          </a:solidFill>
                          <a:latin typeface="Cambria Math" panose="02040503050406030204" pitchFamily="18" charset="0"/>
                        </a:rPr>
                        <m:t>(</m:t>
                      </m:r>
                      <m:r>
                        <a:rPr lang="en-GB" sz="2100" i="1" dirty="0" smtClean="0">
                          <a:solidFill>
                            <a:srgbClr val="0B3D4F"/>
                          </a:solidFill>
                          <a:latin typeface="Cambria Math" panose="02040503050406030204" pitchFamily="18" charset="0"/>
                        </a:rPr>
                        <m:t>𝑞</m:t>
                      </m:r>
                      <m:r>
                        <a:rPr lang="en-GB" sz="2100" i="1" dirty="0" smtClean="0">
                          <a:solidFill>
                            <a:srgbClr val="0B3D4F"/>
                          </a:solidFill>
                          <a:latin typeface="Cambria Math" panose="02040503050406030204" pitchFamily="18" charset="0"/>
                        </a:rPr>
                        <m:t>) = </m:t>
                      </m:r>
                      <m:nary>
                        <m:naryPr>
                          <m:ctrlPr>
                            <a:rPr lang="nb-NO" sz="2100" b="0" i="1" dirty="0" smtClean="0">
                              <a:solidFill>
                                <a:srgbClr val="0B3D4F"/>
                              </a:solidFill>
                              <a:latin typeface="Cambria Math" panose="02040503050406030204" pitchFamily="18" charset="0"/>
                            </a:rPr>
                          </m:ctrlPr>
                        </m:naryPr>
                        <m:sub>
                          <m:r>
                            <m:rPr>
                              <m:brk m:alnAt="23"/>
                            </m:rPr>
                            <a:rPr lang="nb-NO" sz="2100" b="0" i="1" dirty="0" smtClean="0">
                              <a:solidFill>
                                <a:srgbClr val="0B3D4F"/>
                              </a:solidFill>
                              <a:latin typeface="Cambria Math" panose="02040503050406030204" pitchFamily="18" charset="0"/>
                            </a:rPr>
                            <m:t>0</m:t>
                          </m:r>
                        </m:sub>
                        <m:sup>
                          <m:r>
                            <a:rPr lang="nb-NO" sz="2100" b="0" i="1" dirty="0" smtClean="0">
                              <a:solidFill>
                                <a:srgbClr val="0B3D4F"/>
                              </a:solidFill>
                              <a:latin typeface="Cambria Math" panose="02040503050406030204" pitchFamily="18" charset="0"/>
                            </a:rPr>
                            <m:t>𝑞</m:t>
                          </m:r>
                        </m:sup>
                        <m:e>
                          <m:r>
                            <a:rPr lang="iu-Cans-CA" sz="2100" i="1" dirty="0">
                              <a:solidFill>
                                <a:srgbClr val="0B3D4F"/>
                              </a:solidFill>
                              <a:latin typeface="Cambria Math" panose="02040503050406030204" pitchFamily="18" charset="0"/>
                            </a:rPr>
                            <m:t>(6 − 0,4</m:t>
                          </m:r>
                          <m:r>
                            <a:rPr lang="nb-NO" sz="2100" b="0" i="1" dirty="0" smtClean="0">
                              <a:solidFill>
                                <a:srgbClr val="0B3D4F"/>
                              </a:solidFill>
                              <a:latin typeface="Cambria Math" panose="02040503050406030204" pitchFamily="18" charset="0"/>
                            </a:rPr>
                            <m:t>𝑞</m:t>
                          </m:r>
                          <m:r>
                            <a:rPr lang="en-GB" sz="2100" i="1" dirty="0">
                              <a:solidFill>
                                <a:srgbClr val="0B3D4F"/>
                              </a:solidFill>
                              <a:latin typeface="Cambria Math" panose="02040503050406030204" pitchFamily="18" charset="0"/>
                            </a:rPr>
                            <m:t>)</m:t>
                          </m:r>
                        </m:e>
                      </m:nary>
                      <m:r>
                        <a:rPr lang="en-GB" sz="2100" i="1" dirty="0">
                          <a:solidFill>
                            <a:srgbClr val="0B3D4F"/>
                          </a:solidFill>
                          <a:latin typeface="Cambria Math" panose="02040503050406030204" pitchFamily="18" charset="0"/>
                        </a:rPr>
                        <m:t>𝑑</m:t>
                      </m:r>
                      <m:r>
                        <a:rPr lang="nb-NO" sz="2100" b="0" i="1" dirty="0" smtClean="0">
                          <a:solidFill>
                            <a:srgbClr val="0B3D4F"/>
                          </a:solidFill>
                          <a:latin typeface="Cambria Math" panose="02040503050406030204" pitchFamily="18" charset="0"/>
                        </a:rPr>
                        <m:t>𝑞</m:t>
                      </m:r>
                      <m:r>
                        <a:rPr lang="en-GB" sz="2100" i="1" dirty="0">
                          <a:solidFill>
                            <a:srgbClr val="0B3D4F"/>
                          </a:solidFill>
                          <a:latin typeface="Cambria Math" panose="02040503050406030204" pitchFamily="18" charset="0"/>
                        </a:rPr>
                        <m:t> = 6</m:t>
                      </m:r>
                      <m:r>
                        <a:rPr lang="en-GB" sz="2100" i="1" dirty="0">
                          <a:solidFill>
                            <a:srgbClr val="0B3D4F"/>
                          </a:solidFill>
                          <a:latin typeface="Cambria Math" panose="02040503050406030204" pitchFamily="18" charset="0"/>
                        </a:rPr>
                        <m:t>𝑞</m:t>
                      </m:r>
                      <m:r>
                        <a:rPr lang="en-GB" sz="2100" i="1" dirty="0">
                          <a:solidFill>
                            <a:srgbClr val="0B3D4F"/>
                          </a:solidFill>
                          <a:latin typeface="Cambria Math" panose="02040503050406030204" pitchFamily="18" charset="0"/>
                        </a:rPr>
                        <m:t> − 0,2</m:t>
                      </m:r>
                      <m:r>
                        <a:rPr lang="en-GB" sz="2100" i="1" dirty="0">
                          <a:solidFill>
                            <a:srgbClr val="0B3D4F"/>
                          </a:solidFill>
                          <a:latin typeface="Cambria Math" panose="02040503050406030204" pitchFamily="18" charset="0"/>
                        </a:rPr>
                        <m:t>𝑞</m:t>
                      </m:r>
                      <m:r>
                        <a:rPr lang="en-GB" sz="2100" i="1" dirty="0">
                          <a:solidFill>
                            <a:srgbClr val="0B3D4F"/>
                          </a:solidFill>
                          <a:latin typeface="Cambria Math" panose="02040503050406030204" pitchFamily="18" charset="0"/>
                        </a:rPr>
                        <m:t>²</m:t>
                      </m:r>
                    </m:oMath>
                  </m:oMathPara>
                </a14:m>
                <a:endParaRPr/>
              </a:p>
            </p:txBody>
          </p:sp>
        </mc:Choice>
        <mc:Fallback xmlns="">
          <p:sp>
            <p:nvSpPr>
              <p:cNvPr id="11" name="TextBox 10">
                <a:extLst>
                  <a:ext uri="{FF2B5EF4-FFF2-40B4-BE49-F238E27FC236}">
                    <a16:creationId xmlns:a16="http://schemas.microsoft.com/office/drawing/2014/main" id="{04A7B585-CD63-95EC-C6B6-ED8D6935AF35}"/>
                  </a:ext>
                </a:extLst>
              </p:cNvPr>
              <p:cNvSpPr txBox="1">
                <a:spLocks noRot="1" noChangeAspect="1" noMove="1" noResize="1" noEditPoints="1" noAdjustHandles="1" noChangeArrowheads="1" noChangeShapeType="1" noTextEdit="1"/>
              </p:cNvSpPr>
              <p:nvPr/>
            </p:nvSpPr>
            <p:spPr>
              <a:xfrm>
                <a:off x="1562284" y="3405917"/>
                <a:ext cx="5202148" cy="689833"/>
              </a:xfrm>
              <a:prstGeom prst="rect">
                <a:avLst/>
              </a:prstGeom>
              <a:blipFill>
                <a:blip r:embed="rId4"/>
                <a:stretch>
                  <a:fillRect b="-885"/>
                </a:stretch>
              </a:blipFill>
            </p:spPr>
            <p:txBody>
              <a:bodyPr/>
              <a:lstStyle/>
              <a:p>
                <a:r>
                  <a:rPr lang="nb-NO">
                    <a:noFill/>
                  </a:rPr>
                  <a:t> </a:t>
                </a:r>
              </a:p>
            </p:txBody>
          </p:sp>
        </mc:Fallback>
      </mc:AlternateContent>
      <p:sp>
        <p:nvSpPr>
          <p:cNvPr id="12" name="TextBox 11">
            <a:extLst>
              <a:ext uri="{FF2B5EF4-FFF2-40B4-BE49-F238E27FC236}">
                <a16:creationId xmlns:a16="http://schemas.microsoft.com/office/drawing/2014/main" id="{362CE67E-1AA2-5B7C-1285-9B6914E79ED5}"/>
              </a:ext>
            </a:extLst>
          </p:cNvPr>
          <p:cNvSpPr txBox="1"/>
          <p:nvPr/>
        </p:nvSpPr>
        <p:spPr>
          <a:xfrm>
            <a:off x="107156" y="4514850"/>
            <a:ext cx="7958138" cy="328295"/>
          </a:xfrm>
          <a:prstGeom prst="rect">
            <a:avLst/>
          </a:prstGeom>
          <a:noFill/>
        </p:spPr>
        <p:txBody>
          <a:bodyPr vert="horz" lIns="50800" tIns="25400" rIns="50800" bIns="25400" rtlCol="0" anchor="ctr">
            <a:noAutofit/>
          </a:bodyPr>
          <a:lstStyle/>
          <a:p>
            <a:pPr algn="ctr"/>
            <a:r>
              <a:rPr lang="en-GB" b="1">
                <a:solidFill>
                  <a:srgbClr val="0B3D4F"/>
                </a:solidFill>
                <a:latin typeface="Aptos" panose="020B0004020202020204" pitchFamily="34" charset="0"/>
              </a:rPr>
              <a:t>Maksimer nåverdien av netto nytte</a:t>
            </a:r>
          </a:p>
        </p:txBody>
      </p:sp>
      <p:sp>
        <p:nvSpPr>
          <p:cNvPr id="13" name="Rectangle: Rounded Corners 12">
            <a:extLst>
              <a:ext uri="{FF2B5EF4-FFF2-40B4-BE49-F238E27FC236}">
                <a16:creationId xmlns:a16="http://schemas.microsoft.com/office/drawing/2014/main" id="{27DA280A-2279-AB2F-8038-5EE28E10260D}"/>
              </a:ext>
            </a:extLst>
          </p:cNvPr>
          <p:cNvSpPr/>
          <p:nvPr/>
        </p:nvSpPr>
        <p:spPr>
          <a:xfrm>
            <a:off x="440531" y="5038725"/>
            <a:ext cx="7389700" cy="78105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DBE4070-653E-4935-BDF7-0B020CEEBFA0}"/>
                  </a:ext>
                </a:extLst>
              </p:cNvPr>
              <p:cNvSpPr txBox="1"/>
              <p:nvPr/>
            </p:nvSpPr>
            <p:spPr>
              <a:xfrm>
                <a:off x="1430397" y="5038726"/>
                <a:ext cx="5726861" cy="730786"/>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025" b="0" i="1" dirty="0" smtClean="0">
                          <a:solidFill>
                            <a:srgbClr val="0B3D4F"/>
                          </a:solidFill>
                          <a:latin typeface="Cambria Math" panose="02040503050406030204" pitchFamily="18" charset="0"/>
                        </a:rPr>
                        <m:t>𝑚𝑎𝑘𝑠</m:t>
                      </m:r>
                      <m:r>
                        <a:rPr lang="en-GB" sz="2025" b="0" i="1" dirty="0">
                          <a:solidFill>
                            <a:srgbClr val="0B3D4F"/>
                          </a:solidFill>
                          <a:latin typeface="Cambria Math" panose="02040503050406030204" pitchFamily="18" charset="0"/>
                        </a:rPr>
                        <m:t>  </m:t>
                      </m:r>
                      <m:r>
                        <a:rPr lang="en-GB" sz="2025" b="0" i="1" dirty="0">
                          <a:solidFill>
                            <a:srgbClr val="0B3D4F"/>
                          </a:solidFill>
                          <a:latin typeface="Cambria Math" panose="02040503050406030204" pitchFamily="18" charset="0"/>
                        </a:rPr>
                        <m:t>𝑁𝐵</m:t>
                      </m:r>
                      <m:r>
                        <a:rPr lang="en-GB" sz="2025" b="0" i="1" dirty="0">
                          <a:solidFill>
                            <a:srgbClr val="0B3D4F"/>
                          </a:solidFill>
                          <a:latin typeface="Cambria Math" panose="02040503050406030204" pitchFamily="18" charset="0"/>
                        </a:rPr>
                        <m:t>₁(</m:t>
                      </m:r>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₁) + </m:t>
                      </m:r>
                      <m:f>
                        <m:fPr>
                          <m:ctrlPr>
                            <a:rPr lang="en-GB" sz="2025" i="1" dirty="0">
                              <a:solidFill>
                                <a:srgbClr val="0B3D4F"/>
                              </a:solidFill>
                              <a:latin typeface="Cambria Math" panose="02040503050406030204" pitchFamily="18" charset="0"/>
                            </a:rPr>
                          </m:ctrlPr>
                        </m:fPr>
                        <m:num>
                          <m:r>
                            <a:rPr lang="en-GB" sz="2025" i="1" dirty="0">
                              <a:solidFill>
                                <a:srgbClr val="0B3D4F"/>
                              </a:solidFill>
                              <a:latin typeface="Cambria Math" panose="02040503050406030204" pitchFamily="18" charset="0"/>
                            </a:rPr>
                            <m:t>𝑁𝐵</m:t>
                          </m:r>
                          <m:r>
                            <a:rPr lang="en-GB" sz="2025" i="1" dirty="0">
                              <a:solidFill>
                                <a:srgbClr val="0B3D4F"/>
                              </a:solidFill>
                              <a:latin typeface="Cambria Math" panose="02040503050406030204" pitchFamily="18" charset="0"/>
                            </a:rPr>
                            <m:t>₂(</m:t>
                          </m:r>
                          <m:r>
                            <a:rPr lang="en-GB" sz="2025" i="1" dirty="0">
                              <a:solidFill>
                                <a:srgbClr val="0B3D4F"/>
                              </a:solidFill>
                              <a:latin typeface="Cambria Math" panose="02040503050406030204" pitchFamily="18" charset="0"/>
                            </a:rPr>
                            <m:t>𝑞</m:t>
                          </m:r>
                          <m:r>
                            <a:rPr lang="en-GB" sz="2025" i="1" dirty="0">
                              <a:solidFill>
                                <a:srgbClr val="0B3D4F"/>
                              </a:solidFill>
                              <a:latin typeface="Cambria Math" panose="02040503050406030204" pitchFamily="18" charset="0"/>
                            </a:rPr>
                            <m:t>₂)</m:t>
                          </m:r>
                        </m:num>
                        <m:den>
                          <m:r>
                            <a:rPr lang="en-GB" sz="2025" i="1" dirty="0">
                              <a:solidFill>
                                <a:srgbClr val="0B3D4F"/>
                              </a:solidFill>
                              <a:latin typeface="Cambria Math" panose="02040503050406030204" pitchFamily="18" charset="0"/>
                            </a:rPr>
                            <m:t>(1+</m:t>
                          </m:r>
                          <m:r>
                            <a:rPr lang="en-GB" sz="2025" i="1" dirty="0">
                              <a:solidFill>
                                <a:srgbClr val="0B3D4F"/>
                              </a:solidFill>
                              <a:latin typeface="Cambria Math" panose="02040503050406030204" pitchFamily="18" charset="0"/>
                            </a:rPr>
                            <m:t>𝑟</m:t>
                          </m:r>
                          <m:r>
                            <a:rPr lang="en-GB" sz="2025" i="1" dirty="0">
                              <a:solidFill>
                                <a:srgbClr val="0B3D4F"/>
                              </a:solidFill>
                              <a:latin typeface="Cambria Math" panose="02040503050406030204" pitchFamily="18" charset="0"/>
                            </a:rPr>
                            <m:t>)</m:t>
                          </m:r>
                        </m:den>
                      </m:f>
                      <m:r>
                        <a:rPr lang="en-GB" sz="2025" b="0" i="1" dirty="0">
                          <a:solidFill>
                            <a:srgbClr val="0B3D4F"/>
                          </a:solidFill>
                          <a:latin typeface="Cambria Math" panose="02040503050406030204" pitchFamily="18" charset="0"/>
                        </a:rPr>
                        <m:t>     </m:t>
                      </m:r>
                      <m:r>
                        <a:rPr lang="en-GB" sz="2025" b="0" i="1" dirty="0" err="1">
                          <a:solidFill>
                            <a:srgbClr val="0B3D4F"/>
                          </a:solidFill>
                          <a:latin typeface="Cambria Math" panose="02040503050406030204" pitchFamily="18" charset="0"/>
                        </a:rPr>
                        <m:t>𝑔𝑖𝑡𝑡</m:t>
                      </m:r>
                      <m:r>
                        <a:rPr lang="en-GB" sz="2025" b="0" i="1" dirty="0">
                          <a:solidFill>
                            <a:srgbClr val="0B3D4F"/>
                          </a:solidFill>
                          <a:latin typeface="Cambria Math" panose="02040503050406030204" pitchFamily="18" charset="0"/>
                        </a:rPr>
                        <m:t> </m:t>
                      </m:r>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₁ + </m:t>
                      </m:r>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₂ = 20</m:t>
                      </m:r>
                    </m:oMath>
                  </m:oMathPara>
                </a14:m>
                <a:endParaRPr/>
              </a:p>
            </p:txBody>
          </p:sp>
        </mc:Choice>
        <mc:Fallback xmlns="">
          <p:sp>
            <p:nvSpPr>
              <p:cNvPr id="14" name="TextBox 13">
                <a:extLst>
                  <a:ext uri="{FF2B5EF4-FFF2-40B4-BE49-F238E27FC236}">
                    <a16:creationId xmlns:a16="http://schemas.microsoft.com/office/drawing/2014/main" id="{9DBE4070-653E-4935-BDF7-0B020CEEBFA0}"/>
                  </a:ext>
                </a:extLst>
              </p:cNvPr>
              <p:cNvSpPr txBox="1">
                <a:spLocks noRot="1" noChangeAspect="1" noMove="1" noResize="1" noEditPoints="1" noAdjustHandles="1" noChangeArrowheads="1" noChangeShapeType="1" noTextEdit="1"/>
              </p:cNvSpPr>
              <p:nvPr/>
            </p:nvSpPr>
            <p:spPr>
              <a:xfrm>
                <a:off x="1430397" y="5038726"/>
                <a:ext cx="5726861" cy="730786"/>
              </a:xfrm>
              <a:prstGeom prst="rect">
                <a:avLst/>
              </a:prstGeom>
              <a:blipFill>
                <a:blip r:embed="rId5"/>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4023558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14B0-C5F6-24F2-515B-C838BA7B3F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B7E9A8-71BB-0F2C-6A71-D3059E73DCAF}"/>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dirty="0">
                <a:solidFill>
                  <a:srgbClr val="0B3D4F"/>
                </a:solidFill>
                <a:latin typeface="Aptos" panose="020B0004020202020204" pitchFamily="34" charset="0"/>
              </a:rPr>
              <a:t>Lagrange </a:t>
            </a:r>
            <a:r>
              <a:rPr lang="en-GB" sz="2625" b="1" dirty="0" err="1">
                <a:solidFill>
                  <a:srgbClr val="0B3D4F"/>
                </a:solidFill>
                <a:latin typeface="Aptos" panose="020B0004020202020204" pitchFamily="34" charset="0"/>
              </a:rPr>
              <a:t>løsning</a:t>
            </a:r>
            <a:endParaRPr lang="en-GB" sz="2625" b="1" dirty="0">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BEC5F683-4DE1-7BE7-F159-2712002EE7E7}"/>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85884FC-9FC2-55CC-D4E1-34385E019391}"/>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7" name="Rectangle: Rounded Corners 6">
            <a:extLst>
              <a:ext uri="{FF2B5EF4-FFF2-40B4-BE49-F238E27FC236}">
                <a16:creationId xmlns:a16="http://schemas.microsoft.com/office/drawing/2014/main" id="{B2DC9FAD-EFDA-6253-A0B1-2D6AAB3A4895}"/>
              </a:ext>
            </a:extLst>
          </p:cNvPr>
          <p:cNvSpPr/>
          <p:nvPr/>
        </p:nvSpPr>
        <p:spPr>
          <a:xfrm>
            <a:off x="781050" y="1178169"/>
            <a:ext cx="10629900" cy="5013081"/>
          </a:xfrm>
          <a:prstGeom prst="roundRect">
            <a:avLst/>
          </a:prstGeom>
          <a:solidFill>
            <a:srgbClr val="FFFFFF"/>
          </a:solidFill>
          <a:ln w="19050">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17877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3C8E9-7CE9-2F22-5CAD-9EB21748DE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F11FB8-E568-A065-ED5D-2210DE7C3E30}"/>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dirty="0">
                <a:solidFill>
                  <a:srgbClr val="0B3D4F"/>
                </a:solidFill>
                <a:latin typeface="Aptos" panose="020B0004020202020204" pitchFamily="34" charset="0"/>
              </a:rPr>
              <a:t>Lagrange </a:t>
            </a:r>
            <a:r>
              <a:rPr lang="en-GB" sz="2625" b="1" dirty="0" err="1">
                <a:solidFill>
                  <a:srgbClr val="0B3D4F"/>
                </a:solidFill>
                <a:latin typeface="Aptos" panose="020B0004020202020204" pitchFamily="34" charset="0"/>
              </a:rPr>
              <a:t>løsning</a:t>
            </a:r>
            <a:endParaRPr lang="en-GB" sz="2625" b="1" dirty="0">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B30D1112-6177-E50B-FDB2-4C4F03056294}"/>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F8FBCDF-7F59-740B-7692-271AF83F2557}"/>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7" name="Rectangle: Rounded Corners 6">
            <a:extLst>
              <a:ext uri="{FF2B5EF4-FFF2-40B4-BE49-F238E27FC236}">
                <a16:creationId xmlns:a16="http://schemas.microsoft.com/office/drawing/2014/main" id="{AAE3EFFE-5CB1-BA1E-F142-0E0C4E1591F8}"/>
              </a:ext>
            </a:extLst>
          </p:cNvPr>
          <p:cNvSpPr/>
          <p:nvPr/>
        </p:nvSpPr>
        <p:spPr>
          <a:xfrm>
            <a:off x="781050" y="1178169"/>
            <a:ext cx="10629900" cy="5013081"/>
          </a:xfrm>
          <a:prstGeom prst="roundRect">
            <a:avLst/>
          </a:prstGeom>
          <a:solidFill>
            <a:srgbClr val="FFFFFF"/>
          </a:solidFill>
          <a:ln w="19050">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02608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B017F-0C91-1F61-97FF-7651853EEB23}"/>
              </a:ext>
            </a:extLst>
          </p:cNvPr>
          <p:cNvSpPr txBox="1"/>
          <p:nvPr/>
        </p:nvSpPr>
        <p:spPr>
          <a:xfrm>
            <a:off x="628650" y="260371"/>
            <a:ext cx="10287000" cy="455253"/>
          </a:xfrm>
          <a:prstGeom prst="rect">
            <a:avLst/>
          </a:prstGeom>
          <a:noFill/>
        </p:spPr>
        <p:txBody>
          <a:bodyPr vert="horz" lIns="50800" tIns="25400" rIns="50800" bIns="25400" rtlCol="0" anchor="ctr">
            <a:noAutofit/>
          </a:bodyPr>
          <a:lstStyle/>
          <a:p>
            <a:r>
              <a:rPr lang="en-GB" sz="2625" b="1" dirty="0" err="1">
                <a:solidFill>
                  <a:srgbClr val="0B3D4F"/>
                </a:solidFill>
                <a:latin typeface="Aptos" panose="020B0004020202020204" pitchFamily="34" charset="0"/>
              </a:rPr>
              <a:t>Lagrangefunksjonen</a:t>
            </a:r>
            <a:r>
              <a:rPr lang="en-GB" sz="2625" b="1" dirty="0">
                <a:solidFill>
                  <a:srgbClr val="0B3D4F"/>
                </a:solidFill>
                <a:latin typeface="Aptos" panose="020B0004020202020204" pitchFamily="34" charset="0"/>
              </a:rPr>
              <a:t> </a:t>
            </a:r>
            <a:r>
              <a:rPr lang="en-GB" sz="2625" b="1" dirty="0" err="1">
                <a:solidFill>
                  <a:srgbClr val="0B3D4F"/>
                </a:solidFill>
                <a:latin typeface="Aptos" panose="020B0004020202020204" pitchFamily="34" charset="0"/>
              </a:rPr>
              <a:t>og</a:t>
            </a:r>
            <a:r>
              <a:rPr lang="en-GB" sz="2625" b="1" dirty="0">
                <a:solidFill>
                  <a:srgbClr val="0B3D4F"/>
                </a:solidFill>
                <a:latin typeface="Aptos" panose="020B0004020202020204" pitchFamily="34" charset="0"/>
              </a:rPr>
              <a:t> </a:t>
            </a:r>
            <a:r>
              <a:rPr lang="en-GB" sz="2625" b="1" dirty="0" err="1">
                <a:solidFill>
                  <a:srgbClr val="0B3D4F"/>
                </a:solidFill>
                <a:latin typeface="Aptos" panose="020B0004020202020204" pitchFamily="34" charset="0"/>
              </a:rPr>
              <a:t>førsteordensbetingelsene</a:t>
            </a:r>
            <a:endParaRPr lang="en-GB" sz="2625" b="1" dirty="0">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C3DD470F-889F-947B-03CA-2268A94B5598}"/>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4CD4D1C-22EF-C64E-C446-4B9FAB7B6A17}"/>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3EA84921-33BD-7B47-4F7B-42795C9DF5D9}"/>
              </a:ext>
            </a:extLst>
          </p:cNvPr>
          <p:cNvSpPr/>
          <p:nvPr/>
        </p:nvSpPr>
        <p:spPr>
          <a:xfrm>
            <a:off x="1428750" y="1333500"/>
            <a:ext cx="9334500" cy="7239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1FC6A11-6740-C443-0A18-756F1C3598E2}"/>
                  </a:ext>
                </a:extLst>
              </p:cNvPr>
              <p:cNvSpPr txBox="1"/>
              <p:nvPr/>
            </p:nvSpPr>
            <p:spPr>
              <a:xfrm>
                <a:off x="1543050" y="1242283"/>
                <a:ext cx="9220200" cy="770938"/>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175" b="1" i="1" dirty="0" smtClean="0">
                          <a:solidFill>
                            <a:srgbClr val="0B3D4F"/>
                          </a:solidFill>
                          <a:latin typeface="Cambria Math" panose="02040503050406030204" pitchFamily="18" charset="0"/>
                        </a:rPr>
                        <m:t>𝑳</m:t>
                      </m:r>
                      <m:r>
                        <a:rPr lang="en-GB" sz="2175" b="1" i="1" dirty="0" smtClean="0">
                          <a:solidFill>
                            <a:srgbClr val="0B3D4F"/>
                          </a:solidFill>
                          <a:latin typeface="Cambria Math" panose="02040503050406030204" pitchFamily="18" charset="0"/>
                        </a:rPr>
                        <m:t> = </m:t>
                      </m:r>
                      <m:r>
                        <a:rPr lang="en-GB" sz="2175" b="1" i="1" dirty="0" smtClean="0">
                          <a:solidFill>
                            <a:srgbClr val="0B3D4F"/>
                          </a:solidFill>
                          <a:latin typeface="Cambria Math" panose="02040503050406030204" pitchFamily="18" charset="0"/>
                        </a:rPr>
                        <m:t>𝑵</m:t>
                      </m:r>
                      <m:sSub>
                        <m:sSubPr>
                          <m:ctrlPr>
                            <a:rPr lang="en-GB" sz="2175" b="1" i="1" dirty="0" smtClean="0">
                              <a:solidFill>
                                <a:srgbClr val="0B3D4F"/>
                              </a:solidFill>
                              <a:latin typeface="Cambria Math" panose="02040503050406030204" pitchFamily="18" charset="0"/>
                            </a:rPr>
                          </m:ctrlPr>
                        </m:sSubPr>
                        <m:e>
                          <m:r>
                            <a:rPr lang="en-GB" sz="2175" b="1" i="1" dirty="0" smtClean="0">
                              <a:solidFill>
                                <a:srgbClr val="0B3D4F"/>
                              </a:solidFill>
                              <a:latin typeface="Cambria Math" panose="02040503050406030204" pitchFamily="18" charset="0"/>
                            </a:rPr>
                            <m:t>𝑩</m:t>
                          </m:r>
                        </m:e>
                        <m:sub>
                          <m:r>
                            <a:rPr lang="en-GB" sz="2175" b="1" i="1" dirty="0" smtClean="0">
                              <a:solidFill>
                                <a:srgbClr val="0B3D4F"/>
                              </a:solidFill>
                              <a:latin typeface="Cambria Math" panose="02040503050406030204" pitchFamily="18" charset="0"/>
                            </a:rPr>
                            <m:t>1</m:t>
                          </m:r>
                        </m:sub>
                      </m:sSub>
                      <m:d>
                        <m:dPr>
                          <m:ctrlPr>
                            <a:rPr lang="en-GB" sz="2175" b="1" i="1" dirty="0" smtClean="0">
                              <a:solidFill>
                                <a:srgbClr val="0B3D4F"/>
                              </a:solidFill>
                              <a:latin typeface="Cambria Math" panose="02040503050406030204" pitchFamily="18" charset="0"/>
                            </a:rPr>
                          </m:ctrlPr>
                        </m:dPr>
                        <m:e>
                          <m:sSub>
                            <m:sSubPr>
                              <m:ctrlPr>
                                <a:rPr lang="en-GB" sz="2175" b="1" i="1" dirty="0" smtClean="0">
                                  <a:solidFill>
                                    <a:srgbClr val="0B3D4F"/>
                                  </a:solidFill>
                                  <a:latin typeface="Cambria Math" panose="02040503050406030204" pitchFamily="18" charset="0"/>
                                </a:rPr>
                              </m:ctrlPr>
                            </m:sSubPr>
                            <m:e>
                              <m:r>
                                <a:rPr lang="en-GB" sz="2175" b="1" i="1" dirty="0" smtClean="0">
                                  <a:solidFill>
                                    <a:srgbClr val="0B3D4F"/>
                                  </a:solidFill>
                                  <a:latin typeface="Cambria Math" panose="02040503050406030204" pitchFamily="18" charset="0"/>
                                </a:rPr>
                                <m:t>𝒒</m:t>
                              </m:r>
                            </m:e>
                            <m:sub>
                              <m:r>
                                <a:rPr lang="en-GB" sz="2175" b="1" i="1" dirty="0" smtClean="0">
                                  <a:solidFill>
                                    <a:srgbClr val="0B3D4F"/>
                                  </a:solidFill>
                                  <a:latin typeface="Cambria Math" panose="02040503050406030204" pitchFamily="18" charset="0"/>
                                </a:rPr>
                                <m:t>1</m:t>
                              </m:r>
                            </m:sub>
                          </m:sSub>
                        </m:e>
                      </m:d>
                      <m:r>
                        <a:rPr lang="en-GB" sz="2175" b="1" i="1" dirty="0" smtClean="0">
                          <a:solidFill>
                            <a:srgbClr val="0B3D4F"/>
                          </a:solidFill>
                          <a:latin typeface="Cambria Math" panose="02040503050406030204" pitchFamily="18" charset="0"/>
                        </a:rPr>
                        <m:t>+</m:t>
                      </m:r>
                      <m:f>
                        <m:fPr>
                          <m:ctrlPr>
                            <a:rPr lang="en-GB" sz="2175" b="1" i="1" dirty="0" smtClean="0">
                              <a:solidFill>
                                <a:srgbClr val="0B3D4F"/>
                              </a:solidFill>
                              <a:latin typeface="Cambria Math" panose="02040503050406030204" pitchFamily="18" charset="0"/>
                            </a:rPr>
                          </m:ctrlPr>
                        </m:fPr>
                        <m:num>
                          <m:r>
                            <a:rPr lang="en-GB" sz="2175" b="1" i="1" dirty="0" smtClean="0">
                              <a:solidFill>
                                <a:srgbClr val="0B3D4F"/>
                              </a:solidFill>
                              <a:latin typeface="Cambria Math" panose="02040503050406030204" pitchFamily="18" charset="0"/>
                            </a:rPr>
                            <m:t>𝑵</m:t>
                          </m:r>
                          <m:sSub>
                            <m:sSubPr>
                              <m:ctrlPr>
                                <a:rPr lang="en-GB" sz="2175" b="1" i="1" dirty="0" smtClean="0">
                                  <a:solidFill>
                                    <a:srgbClr val="0B3D4F"/>
                                  </a:solidFill>
                                  <a:latin typeface="Cambria Math" panose="02040503050406030204" pitchFamily="18" charset="0"/>
                                </a:rPr>
                              </m:ctrlPr>
                            </m:sSubPr>
                            <m:e>
                              <m:r>
                                <a:rPr lang="en-GB" sz="2175" b="1" i="1" dirty="0" smtClean="0">
                                  <a:solidFill>
                                    <a:srgbClr val="0B3D4F"/>
                                  </a:solidFill>
                                  <a:latin typeface="Cambria Math" panose="02040503050406030204" pitchFamily="18" charset="0"/>
                                </a:rPr>
                                <m:t>𝑩</m:t>
                              </m:r>
                            </m:e>
                            <m:sub>
                              <m:r>
                                <a:rPr lang="en-GB" sz="2175" b="1" i="1" dirty="0" smtClean="0">
                                  <a:solidFill>
                                    <a:srgbClr val="0B3D4F"/>
                                  </a:solidFill>
                                  <a:latin typeface="Cambria Math" panose="02040503050406030204" pitchFamily="18" charset="0"/>
                                </a:rPr>
                                <m:t>2</m:t>
                              </m:r>
                            </m:sub>
                          </m:sSub>
                          <m:d>
                            <m:dPr>
                              <m:ctrlPr>
                                <a:rPr lang="en-GB" sz="2175" b="1" i="1" dirty="0" smtClean="0">
                                  <a:solidFill>
                                    <a:srgbClr val="0B3D4F"/>
                                  </a:solidFill>
                                  <a:latin typeface="Cambria Math" panose="02040503050406030204" pitchFamily="18" charset="0"/>
                                </a:rPr>
                              </m:ctrlPr>
                            </m:dPr>
                            <m:e>
                              <m:sSub>
                                <m:sSubPr>
                                  <m:ctrlPr>
                                    <a:rPr lang="en-GB" sz="2175" b="1" i="1" dirty="0" smtClean="0">
                                      <a:solidFill>
                                        <a:srgbClr val="0B3D4F"/>
                                      </a:solidFill>
                                      <a:latin typeface="Cambria Math" panose="02040503050406030204" pitchFamily="18" charset="0"/>
                                    </a:rPr>
                                  </m:ctrlPr>
                                </m:sSubPr>
                                <m:e>
                                  <m:r>
                                    <a:rPr lang="en-GB" sz="2175" b="1" i="1" dirty="0" smtClean="0">
                                      <a:solidFill>
                                        <a:srgbClr val="0B3D4F"/>
                                      </a:solidFill>
                                      <a:latin typeface="Cambria Math" panose="02040503050406030204" pitchFamily="18" charset="0"/>
                                    </a:rPr>
                                    <m:t>𝒒</m:t>
                                  </m:r>
                                </m:e>
                                <m:sub>
                                  <m:r>
                                    <a:rPr lang="en-GB" sz="2175" b="1" i="1" dirty="0" smtClean="0">
                                      <a:solidFill>
                                        <a:srgbClr val="0B3D4F"/>
                                      </a:solidFill>
                                      <a:latin typeface="Cambria Math" panose="02040503050406030204" pitchFamily="18" charset="0"/>
                                    </a:rPr>
                                    <m:t>2</m:t>
                                  </m:r>
                                </m:sub>
                              </m:sSub>
                            </m:e>
                          </m:d>
                        </m:num>
                        <m:den>
                          <m:r>
                            <a:rPr lang="en-GB" sz="2175" b="1" i="1" dirty="0" smtClean="0">
                              <a:solidFill>
                                <a:srgbClr val="0B3D4F"/>
                              </a:solidFill>
                              <a:latin typeface="Cambria Math" panose="02040503050406030204" pitchFamily="18" charset="0"/>
                            </a:rPr>
                            <m:t>𝟏</m:t>
                          </m:r>
                          <m:r>
                            <a:rPr lang="en-GB" sz="2175" b="1" i="1" dirty="0" smtClean="0">
                              <a:solidFill>
                                <a:srgbClr val="0B3D4F"/>
                              </a:solidFill>
                              <a:latin typeface="Cambria Math" panose="02040503050406030204" pitchFamily="18" charset="0"/>
                            </a:rPr>
                            <m:t>+</m:t>
                          </m:r>
                          <m:r>
                            <a:rPr lang="en-GB" sz="2175" b="1" i="1" dirty="0" smtClean="0">
                              <a:solidFill>
                                <a:srgbClr val="0B3D4F"/>
                              </a:solidFill>
                              <a:latin typeface="Cambria Math" panose="02040503050406030204" pitchFamily="18" charset="0"/>
                            </a:rPr>
                            <m:t>𝒓</m:t>
                          </m:r>
                        </m:den>
                      </m:f>
                      <m:r>
                        <a:rPr lang="nb-NO" sz="2175" b="1" i="1" dirty="0" smtClean="0">
                          <a:solidFill>
                            <a:srgbClr val="0B3D4F"/>
                          </a:solidFill>
                          <a:latin typeface="Cambria Math" panose="02040503050406030204" pitchFamily="18" charset="0"/>
                        </a:rPr>
                        <m:t>−</m:t>
                      </m:r>
                      <m:r>
                        <a:rPr lang="en-GB" sz="2175" b="1" i="1" dirty="0" smtClean="0">
                          <a:solidFill>
                            <a:srgbClr val="0B3D4F"/>
                          </a:solidFill>
                          <a:latin typeface="Cambria Math" panose="02040503050406030204" pitchFamily="18" charset="0"/>
                        </a:rPr>
                        <m:t> </m:t>
                      </m:r>
                      <m:r>
                        <a:rPr lang="el-GR" sz="2175" b="1" i="1" dirty="0">
                          <a:solidFill>
                            <a:srgbClr val="0B3D4F"/>
                          </a:solidFill>
                          <a:latin typeface="Cambria Math" panose="02040503050406030204" pitchFamily="18" charset="0"/>
                        </a:rPr>
                        <m:t>𝝀</m:t>
                      </m:r>
                      <m:r>
                        <a:rPr lang="el-GR" sz="2175" b="1" i="1" dirty="0">
                          <a:solidFill>
                            <a:srgbClr val="0B3D4F"/>
                          </a:solidFill>
                          <a:latin typeface="Cambria Math" panose="02040503050406030204" pitchFamily="18" charset="0"/>
                        </a:rPr>
                        <m:t>(</m:t>
                      </m:r>
                      <m:sSub>
                        <m:sSubPr>
                          <m:ctrlPr>
                            <a:rPr lang="en-GB" sz="2175" b="1" i="1" dirty="0">
                              <a:solidFill>
                                <a:srgbClr val="0B3D4F"/>
                              </a:solidFill>
                              <a:latin typeface="Cambria Math" panose="02040503050406030204" pitchFamily="18" charset="0"/>
                            </a:rPr>
                          </m:ctrlPr>
                        </m:sSubPr>
                        <m:e>
                          <m:r>
                            <a:rPr lang="en-GB" sz="2175" b="1" i="1" dirty="0">
                              <a:solidFill>
                                <a:srgbClr val="0B3D4F"/>
                              </a:solidFill>
                              <a:latin typeface="Cambria Math" panose="02040503050406030204" pitchFamily="18" charset="0"/>
                            </a:rPr>
                            <m:t>𝒒</m:t>
                          </m:r>
                        </m:e>
                        <m:sub>
                          <m:r>
                            <a:rPr lang="en-GB" sz="2175" b="1" i="1" dirty="0">
                              <a:solidFill>
                                <a:srgbClr val="0B3D4F"/>
                              </a:solidFill>
                              <a:latin typeface="Cambria Math" panose="02040503050406030204" pitchFamily="18" charset="0"/>
                            </a:rPr>
                            <m:t>1</m:t>
                          </m:r>
                        </m:sub>
                      </m:sSub>
                      <m:r>
                        <a:rPr lang="nb-NO" sz="2175" b="1" i="1" dirty="0" smtClean="0">
                          <a:solidFill>
                            <a:srgbClr val="0B3D4F"/>
                          </a:solidFill>
                          <a:latin typeface="Cambria Math" panose="02040503050406030204" pitchFamily="18" charset="0"/>
                        </a:rPr>
                        <m:t>+</m:t>
                      </m:r>
                      <m:r>
                        <a:rPr lang="en-GB" sz="2175" b="1" i="1" dirty="0">
                          <a:solidFill>
                            <a:srgbClr val="0B3D4F"/>
                          </a:solidFill>
                          <a:latin typeface="Cambria Math" panose="02040503050406030204" pitchFamily="18" charset="0"/>
                        </a:rPr>
                        <m:t> </m:t>
                      </m:r>
                      <m:sSub>
                        <m:sSubPr>
                          <m:ctrlPr>
                            <a:rPr lang="en-GB" sz="2175" b="1" i="1" dirty="0">
                              <a:solidFill>
                                <a:srgbClr val="0B3D4F"/>
                              </a:solidFill>
                              <a:latin typeface="Cambria Math" panose="02040503050406030204" pitchFamily="18" charset="0"/>
                            </a:rPr>
                          </m:ctrlPr>
                        </m:sSubPr>
                        <m:e>
                          <m:r>
                            <a:rPr lang="en-GB" sz="2175" b="1" i="1" dirty="0">
                              <a:solidFill>
                                <a:srgbClr val="0B3D4F"/>
                              </a:solidFill>
                              <a:latin typeface="Cambria Math" panose="02040503050406030204" pitchFamily="18" charset="0"/>
                            </a:rPr>
                            <m:t>𝒒</m:t>
                          </m:r>
                        </m:e>
                        <m:sub>
                          <m:r>
                            <a:rPr lang="en-GB" sz="2175" b="1" i="1" dirty="0">
                              <a:solidFill>
                                <a:srgbClr val="0B3D4F"/>
                              </a:solidFill>
                              <a:latin typeface="Cambria Math" panose="02040503050406030204" pitchFamily="18" charset="0"/>
                            </a:rPr>
                            <m:t>2</m:t>
                          </m:r>
                        </m:sub>
                      </m:sSub>
                      <m:r>
                        <a:rPr lang="nb-NO" sz="2175" b="1" i="1" dirty="0" smtClean="0">
                          <a:solidFill>
                            <a:srgbClr val="0B3D4F"/>
                          </a:solidFill>
                          <a:latin typeface="Cambria Math" panose="02040503050406030204" pitchFamily="18" charset="0"/>
                        </a:rPr>
                        <m:t>−</m:t>
                      </m:r>
                      <m:r>
                        <a:rPr lang="nb-NO" sz="2175" b="1" i="1" dirty="0" smtClean="0">
                          <a:solidFill>
                            <a:srgbClr val="0B3D4F"/>
                          </a:solidFill>
                          <a:latin typeface="Cambria Math" panose="02040503050406030204" pitchFamily="18" charset="0"/>
                        </a:rPr>
                        <m:t>𝟐𝟎</m:t>
                      </m:r>
                      <m:r>
                        <a:rPr lang="en-GB" sz="2175" b="1" i="1" dirty="0">
                          <a:solidFill>
                            <a:srgbClr val="0B3D4F"/>
                          </a:solidFill>
                          <a:latin typeface="Cambria Math" panose="02040503050406030204" pitchFamily="18" charset="0"/>
                        </a:rPr>
                        <m:t>)</m:t>
                      </m:r>
                    </m:oMath>
                  </m:oMathPara>
                </a14:m>
                <a:endParaRPr dirty="0"/>
              </a:p>
            </p:txBody>
          </p:sp>
        </mc:Choice>
        <mc:Fallback xmlns="">
          <p:sp>
            <p:nvSpPr>
              <p:cNvPr id="7" name="TextBox 6">
                <a:extLst>
                  <a:ext uri="{FF2B5EF4-FFF2-40B4-BE49-F238E27FC236}">
                    <a16:creationId xmlns:a16="http://schemas.microsoft.com/office/drawing/2014/main" id="{F1FC6A11-6740-C443-0A18-756F1C3598E2}"/>
                  </a:ext>
                </a:extLst>
              </p:cNvPr>
              <p:cNvSpPr txBox="1">
                <a:spLocks noRot="1" noChangeAspect="1" noMove="1" noResize="1" noEditPoints="1" noAdjustHandles="1" noChangeArrowheads="1" noChangeShapeType="1" noTextEdit="1"/>
              </p:cNvSpPr>
              <p:nvPr/>
            </p:nvSpPr>
            <p:spPr>
              <a:xfrm>
                <a:off x="1543050" y="1242283"/>
                <a:ext cx="9220200" cy="770938"/>
              </a:xfrm>
              <a:prstGeom prst="rect">
                <a:avLst/>
              </a:prstGeom>
              <a:blipFill>
                <a:blip r:embed="rId3"/>
                <a:stretch>
                  <a:fillRect/>
                </a:stretch>
              </a:blipFill>
            </p:spPr>
            <p:txBody>
              <a:bodyPr/>
              <a:lstStyle/>
              <a:p>
                <a:r>
                  <a:rPr lang="nb-NO">
                    <a:noFill/>
                  </a:rPr>
                  <a:t> </a:t>
                </a:r>
              </a:p>
            </p:txBody>
          </p:sp>
        </mc:Fallback>
      </mc:AlternateContent>
      <p:sp>
        <p:nvSpPr>
          <p:cNvPr id="8" name="TextBox 7">
            <a:extLst>
              <a:ext uri="{FF2B5EF4-FFF2-40B4-BE49-F238E27FC236}">
                <a16:creationId xmlns:a16="http://schemas.microsoft.com/office/drawing/2014/main" id="{219ED056-61E5-C0FF-DBFE-05288C1B0876}"/>
              </a:ext>
            </a:extLst>
          </p:cNvPr>
          <p:cNvSpPr txBox="1"/>
          <p:nvPr/>
        </p:nvSpPr>
        <p:spPr>
          <a:xfrm>
            <a:off x="1285875" y="2333625"/>
            <a:ext cx="9620250" cy="328295"/>
          </a:xfrm>
          <a:prstGeom prst="rect">
            <a:avLst/>
          </a:prstGeom>
          <a:noFill/>
        </p:spPr>
        <p:txBody>
          <a:bodyPr vert="horz" lIns="50800" tIns="25400" rIns="50800" bIns="25400" rtlCol="0" anchor="ctr">
            <a:noAutofit/>
          </a:bodyPr>
          <a:lstStyle/>
          <a:p>
            <a:pPr algn="ctr"/>
            <a:r>
              <a:rPr lang="en-GB">
                <a:solidFill>
                  <a:srgbClr val="1C2930"/>
                </a:solidFill>
                <a:latin typeface="Aptos" panose="020B0004020202020204" pitchFamily="34" charset="0"/>
              </a:rPr>
              <a:t>Deriver med hensyn på valgene og lagerbindingen:</a:t>
            </a:r>
          </a:p>
        </p:txBody>
      </p:sp>
      <p:sp>
        <p:nvSpPr>
          <p:cNvPr id="9" name="Rectangle: Rounded Corners 8">
            <a:extLst>
              <a:ext uri="{FF2B5EF4-FFF2-40B4-BE49-F238E27FC236}">
                <a16:creationId xmlns:a16="http://schemas.microsoft.com/office/drawing/2014/main" id="{0E9C8C38-58D7-449A-2550-19691A322272}"/>
              </a:ext>
            </a:extLst>
          </p:cNvPr>
          <p:cNvSpPr/>
          <p:nvPr/>
        </p:nvSpPr>
        <p:spPr>
          <a:xfrm>
            <a:off x="252413" y="2765381"/>
            <a:ext cx="4300538" cy="784183"/>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36380C5-E813-93AB-26FC-89B2ABF1C884}"/>
                  </a:ext>
                </a:extLst>
              </p:cNvPr>
              <p:cNvSpPr txBox="1"/>
              <p:nvPr/>
            </p:nvSpPr>
            <p:spPr>
              <a:xfrm>
                <a:off x="366713" y="2731727"/>
                <a:ext cx="4094112" cy="781328"/>
              </a:xfrm>
              <a:prstGeom prst="rect">
                <a:avLst/>
              </a:prstGeom>
              <a:noFill/>
            </p:spPr>
            <p:txBody>
              <a:bodyPr vert="horz" lIns="50800" tIns="25400" rIns="50800" bIns="25400" rtlCol="0" anchor="ctr">
                <a:noAutofit/>
              </a:bodyPr>
              <a:lstStyle/>
              <a:p>
                <a:pPr algn="ctr"/>
                <a14:m>
                  <m:oMathPara xmlns:m="http://schemas.openxmlformats.org/officeDocument/2006/math">
                    <m:oMath>
                      <m:f>
                        <m:fPr>
                          <m:ctrlPr>
                            <a:rPr lang="en-GB" sz="2025" i="1" dirty="0">
                              <a:solidFill>
                                <a:srgbClr val="0B3D4F"/>
                              </a:solidFill>
                              <a:latin typeface="Cambria Math" panose="02040503050406030204" pitchFamily="18" charset="0"/>
                            </a:rPr>
                          </m:ctrlPr>
                        </m:fPr>
                        <m:num>
                          <m:r>
                            <a:rPr lang="en-GB" sz="2025" i="1" dirty="0">
                              <a:solidFill>
                                <a:srgbClr val="0B3D4F"/>
                              </a:solidFill>
                              <a:latin typeface="Cambria Math" panose="02040503050406030204" pitchFamily="18" charset="0"/>
                            </a:rPr>
                            <m:t>𝜕</m:t>
                          </m:r>
                          <m:r>
                            <a:rPr lang="en-GB" sz="2025" i="1" dirty="0">
                              <a:solidFill>
                                <a:srgbClr val="0B3D4F"/>
                              </a:solidFill>
                              <a:latin typeface="Cambria Math" panose="02040503050406030204" pitchFamily="18" charset="0"/>
                            </a:rPr>
                            <m:t>𝐿</m:t>
                          </m:r>
                        </m:num>
                        <m:den>
                          <m:r>
                            <a:rPr lang="en-GB" sz="2025" i="1" dirty="0">
                              <a:solidFill>
                                <a:srgbClr val="0B3D4F"/>
                              </a:solidFill>
                              <a:latin typeface="Cambria Math" panose="02040503050406030204" pitchFamily="18" charset="0"/>
                            </a:rPr>
                            <m:t>𝜕</m:t>
                          </m:r>
                          <m:r>
                            <a:rPr lang="en-GB" sz="2025" i="1" dirty="0">
                              <a:solidFill>
                                <a:srgbClr val="0B3D4F"/>
                              </a:solidFill>
                              <a:latin typeface="Cambria Math" panose="02040503050406030204" pitchFamily="18" charset="0"/>
                            </a:rPr>
                            <m:t>𝑞</m:t>
                          </m:r>
                          <m:r>
                            <a:rPr lang="en-GB" sz="2025" i="1" dirty="0">
                              <a:solidFill>
                                <a:srgbClr val="0B3D4F"/>
                              </a:solidFill>
                              <a:latin typeface="Cambria Math" panose="02040503050406030204" pitchFamily="18" charset="0"/>
                            </a:rPr>
                            <m:t>₁</m:t>
                          </m:r>
                        </m:den>
                      </m:f>
                      <m:r>
                        <a:rPr lang="en-GB" sz="2025" i="1" dirty="0" smtClean="0">
                          <a:solidFill>
                            <a:srgbClr val="0B3D4F"/>
                          </a:solidFill>
                          <a:latin typeface="Cambria Math" panose="02040503050406030204" pitchFamily="18" charset="0"/>
                        </a:rPr>
                        <m:t>= </m:t>
                      </m:r>
                      <m:r>
                        <a:rPr lang="en-GB" sz="2025" i="1" dirty="0" smtClean="0">
                          <a:solidFill>
                            <a:srgbClr val="0B3D4F"/>
                          </a:solidFill>
                          <a:latin typeface="Cambria Math" panose="02040503050406030204" pitchFamily="18" charset="0"/>
                        </a:rPr>
                        <m:t>𝑀𝑁𝐵</m:t>
                      </m:r>
                      <m:r>
                        <a:rPr lang="en-GB" sz="2025" i="1" dirty="0" smtClean="0">
                          <a:solidFill>
                            <a:srgbClr val="0B3D4F"/>
                          </a:solidFill>
                          <a:latin typeface="Cambria Math" panose="02040503050406030204" pitchFamily="18" charset="0"/>
                        </a:rPr>
                        <m:t>₁(</m:t>
                      </m:r>
                      <m:r>
                        <a:rPr lang="en-GB" sz="2025" i="1" dirty="0" smtClean="0">
                          <a:solidFill>
                            <a:srgbClr val="0B3D4F"/>
                          </a:solidFill>
                          <a:latin typeface="Cambria Math" panose="02040503050406030204" pitchFamily="18" charset="0"/>
                        </a:rPr>
                        <m:t>𝑞</m:t>
                      </m:r>
                      <m:r>
                        <a:rPr lang="en-GB" sz="2025" i="1" dirty="0" smtClean="0">
                          <a:solidFill>
                            <a:srgbClr val="0B3D4F"/>
                          </a:solidFill>
                          <a:latin typeface="Cambria Math" panose="02040503050406030204" pitchFamily="18" charset="0"/>
                        </a:rPr>
                        <m:t>₁) − </m:t>
                      </m:r>
                      <m:r>
                        <a:rPr lang="el-GR" sz="2025" i="1" dirty="0">
                          <a:solidFill>
                            <a:srgbClr val="0B3D4F"/>
                          </a:solidFill>
                          <a:latin typeface="Cambria Math" panose="02040503050406030204" pitchFamily="18" charset="0"/>
                        </a:rPr>
                        <m:t>𝜆</m:t>
                      </m:r>
                      <m:r>
                        <a:rPr lang="el-GR" sz="2025" i="1" dirty="0">
                          <a:solidFill>
                            <a:srgbClr val="0B3D4F"/>
                          </a:solidFill>
                          <a:latin typeface="Cambria Math" panose="02040503050406030204" pitchFamily="18" charset="0"/>
                        </a:rPr>
                        <m:t> = 0</m:t>
                      </m:r>
                    </m:oMath>
                  </m:oMathPara>
                </a14:m>
                <a:endParaRPr dirty="0"/>
              </a:p>
            </p:txBody>
          </p:sp>
        </mc:Choice>
        <mc:Fallback xmlns="">
          <p:sp>
            <p:nvSpPr>
              <p:cNvPr id="10" name="TextBox 9">
                <a:extLst>
                  <a:ext uri="{FF2B5EF4-FFF2-40B4-BE49-F238E27FC236}">
                    <a16:creationId xmlns:a16="http://schemas.microsoft.com/office/drawing/2014/main" id="{F36380C5-E813-93AB-26FC-89B2ABF1C884}"/>
                  </a:ext>
                </a:extLst>
              </p:cNvPr>
              <p:cNvSpPr txBox="1">
                <a:spLocks noRot="1" noChangeAspect="1" noMove="1" noResize="1" noEditPoints="1" noAdjustHandles="1" noChangeArrowheads="1" noChangeShapeType="1" noTextEdit="1"/>
              </p:cNvSpPr>
              <p:nvPr/>
            </p:nvSpPr>
            <p:spPr>
              <a:xfrm>
                <a:off x="366713" y="2731727"/>
                <a:ext cx="4094112" cy="781328"/>
              </a:xfrm>
              <a:prstGeom prst="rect">
                <a:avLst/>
              </a:prstGeom>
              <a:blipFill>
                <a:blip r:embed="rId4"/>
                <a:stretch>
                  <a:fillRect/>
                </a:stretch>
              </a:blipFill>
            </p:spPr>
            <p:txBody>
              <a:bodyPr/>
              <a:lstStyle/>
              <a:p>
                <a:r>
                  <a:rPr lang="nb-NO">
                    <a:noFill/>
                  </a:rPr>
                  <a:t> </a:t>
                </a:r>
              </a:p>
            </p:txBody>
          </p:sp>
        </mc:Fallback>
      </mc:AlternateContent>
      <p:sp>
        <p:nvSpPr>
          <p:cNvPr id="11" name="Rectangle: Rounded Corners 10">
            <a:extLst>
              <a:ext uri="{FF2B5EF4-FFF2-40B4-BE49-F238E27FC236}">
                <a16:creationId xmlns:a16="http://schemas.microsoft.com/office/drawing/2014/main" id="{C179F67A-67EF-F49B-0A74-CD8CEB166761}"/>
              </a:ext>
            </a:extLst>
          </p:cNvPr>
          <p:cNvSpPr/>
          <p:nvPr/>
        </p:nvSpPr>
        <p:spPr>
          <a:xfrm>
            <a:off x="4667251" y="2775970"/>
            <a:ext cx="4160044" cy="784183"/>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0AEBE3-0E23-919D-82BF-61EF518A0175}"/>
                  </a:ext>
                </a:extLst>
              </p:cNvPr>
              <p:cNvSpPr txBox="1"/>
              <p:nvPr/>
            </p:nvSpPr>
            <p:spPr>
              <a:xfrm>
                <a:off x="4667251" y="2724103"/>
                <a:ext cx="4060203" cy="836050"/>
              </a:xfrm>
              <a:prstGeom prst="rect">
                <a:avLst/>
              </a:prstGeom>
              <a:noFill/>
            </p:spPr>
            <p:txBody>
              <a:bodyPr vert="horz" lIns="50800" tIns="25400" rIns="50800" bIns="25400" rtlCol="0" anchor="ctr">
                <a:noAutofit/>
              </a:bodyPr>
              <a:lstStyle/>
              <a:p>
                <a:pPr algn="ctr"/>
                <a14:m>
                  <m:oMathPara xmlns:m="http://schemas.openxmlformats.org/officeDocument/2006/math">
                    <m:oMath>
                      <m:f>
                        <m:fPr>
                          <m:ctrlPr>
                            <a:rPr lang="en-GB" sz="2025" i="1" dirty="0">
                              <a:solidFill>
                                <a:srgbClr val="0B3D4F"/>
                              </a:solidFill>
                              <a:latin typeface="Cambria Math" panose="02040503050406030204" pitchFamily="18" charset="0"/>
                            </a:rPr>
                          </m:ctrlPr>
                        </m:fPr>
                        <m:num>
                          <m:r>
                            <a:rPr lang="en-GB" sz="2025" i="1" dirty="0">
                              <a:solidFill>
                                <a:srgbClr val="0B3D4F"/>
                              </a:solidFill>
                              <a:latin typeface="Cambria Math" panose="02040503050406030204" pitchFamily="18" charset="0"/>
                            </a:rPr>
                            <m:t>𝜕</m:t>
                          </m:r>
                          <m:r>
                            <a:rPr lang="en-GB" sz="2025" i="1" dirty="0">
                              <a:solidFill>
                                <a:srgbClr val="0B3D4F"/>
                              </a:solidFill>
                              <a:latin typeface="Cambria Math" panose="02040503050406030204" pitchFamily="18" charset="0"/>
                            </a:rPr>
                            <m:t>𝐿</m:t>
                          </m:r>
                        </m:num>
                        <m:den>
                          <m:r>
                            <a:rPr lang="en-GB" sz="2025" i="1" dirty="0">
                              <a:solidFill>
                                <a:srgbClr val="0B3D4F"/>
                              </a:solidFill>
                              <a:latin typeface="Cambria Math" panose="02040503050406030204" pitchFamily="18" charset="0"/>
                            </a:rPr>
                            <m:t>𝜕</m:t>
                          </m:r>
                          <m:r>
                            <a:rPr lang="en-GB" sz="2025" i="1" dirty="0">
                              <a:solidFill>
                                <a:srgbClr val="0B3D4F"/>
                              </a:solidFill>
                              <a:latin typeface="Cambria Math" panose="02040503050406030204" pitchFamily="18" charset="0"/>
                            </a:rPr>
                            <m:t>𝑞</m:t>
                          </m:r>
                          <m:r>
                            <a:rPr lang="en-GB" sz="2025" i="1" dirty="0">
                              <a:solidFill>
                                <a:srgbClr val="0B3D4F"/>
                              </a:solidFill>
                              <a:latin typeface="Cambria Math" panose="02040503050406030204" pitchFamily="18" charset="0"/>
                            </a:rPr>
                            <m:t>₂</m:t>
                          </m:r>
                        </m:den>
                      </m:f>
                      <m:r>
                        <a:rPr lang="en-GB" sz="2025" i="1" dirty="0" smtClean="0">
                          <a:solidFill>
                            <a:srgbClr val="0B3D4F"/>
                          </a:solidFill>
                          <a:latin typeface="Cambria Math" panose="02040503050406030204" pitchFamily="18" charset="0"/>
                        </a:rPr>
                        <m:t>= </m:t>
                      </m:r>
                      <m:f>
                        <m:fPr>
                          <m:ctrlPr>
                            <a:rPr lang="en-GB" sz="2025" i="1" dirty="0">
                              <a:solidFill>
                                <a:srgbClr val="0B3D4F"/>
                              </a:solidFill>
                              <a:latin typeface="Cambria Math" panose="02040503050406030204" pitchFamily="18" charset="0"/>
                            </a:rPr>
                          </m:ctrlPr>
                        </m:fPr>
                        <m:num>
                          <m:r>
                            <a:rPr lang="en-GB" sz="2025" i="1" dirty="0">
                              <a:solidFill>
                                <a:srgbClr val="0B3D4F"/>
                              </a:solidFill>
                              <a:latin typeface="Cambria Math" panose="02040503050406030204" pitchFamily="18" charset="0"/>
                            </a:rPr>
                            <m:t>𝑀𝑁𝐵</m:t>
                          </m:r>
                          <m:r>
                            <a:rPr lang="en-GB" sz="2025" i="1" dirty="0">
                              <a:solidFill>
                                <a:srgbClr val="0B3D4F"/>
                              </a:solidFill>
                              <a:latin typeface="Cambria Math" panose="02040503050406030204" pitchFamily="18" charset="0"/>
                            </a:rPr>
                            <m:t>₂(</m:t>
                          </m:r>
                          <m:r>
                            <a:rPr lang="en-GB" sz="2025" i="1" dirty="0">
                              <a:solidFill>
                                <a:srgbClr val="0B3D4F"/>
                              </a:solidFill>
                              <a:latin typeface="Cambria Math" panose="02040503050406030204" pitchFamily="18" charset="0"/>
                            </a:rPr>
                            <m:t>𝑞</m:t>
                          </m:r>
                          <m:r>
                            <a:rPr lang="en-GB" sz="2025" i="1" dirty="0">
                              <a:solidFill>
                                <a:srgbClr val="0B3D4F"/>
                              </a:solidFill>
                              <a:latin typeface="Cambria Math" panose="02040503050406030204" pitchFamily="18" charset="0"/>
                            </a:rPr>
                            <m:t>₂)</m:t>
                          </m:r>
                        </m:num>
                        <m:den>
                          <m:r>
                            <a:rPr lang="nb-NO" sz="2025" b="0" i="1" dirty="0" smtClean="0">
                              <a:solidFill>
                                <a:srgbClr val="0B3D4F"/>
                              </a:solidFill>
                              <a:latin typeface="Cambria Math" panose="02040503050406030204" pitchFamily="18" charset="0"/>
                            </a:rPr>
                            <m:t>(</m:t>
                          </m:r>
                          <m:r>
                            <a:rPr lang="en-GB" sz="2025" i="1" dirty="0">
                              <a:solidFill>
                                <a:srgbClr val="0B3D4F"/>
                              </a:solidFill>
                              <a:latin typeface="Cambria Math" panose="02040503050406030204" pitchFamily="18" charset="0"/>
                            </a:rPr>
                            <m:t>1+</m:t>
                          </m:r>
                          <m:r>
                            <a:rPr lang="en-GB" sz="2025" i="1" dirty="0">
                              <a:solidFill>
                                <a:srgbClr val="0B3D4F"/>
                              </a:solidFill>
                              <a:latin typeface="Cambria Math" panose="02040503050406030204" pitchFamily="18" charset="0"/>
                            </a:rPr>
                            <m:t>𝑟</m:t>
                          </m:r>
                          <m:r>
                            <a:rPr lang="en-GB" sz="2025" i="1" dirty="0">
                              <a:solidFill>
                                <a:srgbClr val="0B3D4F"/>
                              </a:solidFill>
                              <a:latin typeface="Cambria Math" panose="02040503050406030204" pitchFamily="18" charset="0"/>
                            </a:rPr>
                            <m:t>)</m:t>
                          </m:r>
                        </m:den>
                      </m:f>
                      <m:r>
                        <a:rPr lang="en-GB" sz="2025" i="1" dirty="0" smtClean="0">
                          <a:solidFill>
                            <a:srgbClr val="0B3D4F"/>
                          </a:solidFill>
                          <a:latin typeface="Cambria Math" panose="02040503050406030204" pitchFamily="18" charset="0"/>
                        </a:rPr>
                        <m:t>− </m:t>
                      </m:r>
                      <m:r>
                        <a:rPr lang="el-GR" sz="2025" i="1" dirty="0">
                          <a:solidFill>
                            <a:srgbClr val="0B3D4F"/>
                          </a:solidFill>
                          <a:latin typeface="Cambria Math" panose="02040503050406030204" pitchFamily="18" charset="0"/>
                        </a:rPr>
                        <m:t>𝜆</m:t>
                      </m:r>
                      <m:r>
                        <a:rPr lang="el-GR" sz="2025" i="1" dirty="0">
                          <a:solidFill>
                            <a:srgbClr val="0B3D4F"/>
                          </a:solidFill>
                          <a:latin typeface="Cambria Math" panose="02040503050406030204" pitchFamily="18" charset="0"/>
                        </a:rPr>
                        <m:t> = 0</m:t>
                      </m:r>
                    </m:oMath>
                  </m:oMathPara>
                </a14:m>
                <a:endParaRPr dirty="0"/>
              </a:p>
            </p:txBody>
          </p:sp>
        </mc:Choice>
        <mc:Fallback xmlns="">
          <p:sp>
            <p:nvSpPr>
              <p:cNvPr id="12" name="TextBox 11">
                <a:extLst>
                  <a:ext uri="{FF2B5EF4-FFF2-40B4-BE49-F238E27FC236}">
                    <a16:creationId xmlns:a16="http://schemas.microsoft.com/office/drawing/2014/main" id="{D20AEBE3-0E23-919D-82BF-61EF518A0175}"/>
                  </a:ext>
                </a:extLst>
              </p:cNvPr>
              <p:cNvSpPr txBox="1">
                <a:spLocks noRot="1" noChangeAspect="1" noMove="1" noResize="1" noEditPoints="1" noAdjustHandles="1" noChangeArrowheads="1" noChangeShapeType="1" noTextEdit="1"/>
              </p:cNvSpPr>
              <p:nvPr/>
            </p:nvSpPr>
            <p:spPr>
              <a:xfrm>
                <a:off x="4667251" y="2724103"/>
                <a:ext cx="4060203" cy="836050"/>
              </a:xfrm>
              <a:prstGeom prst="rect">
                <a:avLst/>
              </a:prstGeom>
              <a:blipFill>
                <a:blip r:embed="rId5"/>
                <a:stretch>
                  <a:fillRect/>
                </a:stretch>
              </a:blipFill>
            </p:spPr>
            <p:txBody>
              <a:bodyPr/>
              <a:lstStyle/>
              <a:p>
                <a:r>
                  <a:rPr lang="nb-NO">
                    <a:noFill/>
                  </a:rPr>
                  <a:t> </a:t>
                </a:r>
              </a:p>
            </p:txBody>
          </p:sp>
        </mc:Fallback>
      </mc:AlternateContent>
      <p:sp>
        <p:nvSpPr>
          <p:cNvPr id="13" name="Rectangle: Rounded Corners 12">
            <a:extLst>
              <a:ext uri="{FF2B5EF4-FFF2-40B4-BE49-F238E27FC236}">
                <a16:creationId xmlns:a16="http://schemas.microsoft.com/office/drawing/2014/main" id="{453F48FD-2C22-D22E-4928-116251CA044E}"/>
              </a:ext>
            </a:extLst>
          </p:cNvPr>
          <p:cNvSpPr/>
          <p:nvPr/>
        </p:nvSpPr>
        <p:spPr>
          <a:xfrm>
            <a:off x="252413" y="3824952"/>
            <a:ext cx="3252787" cy="853071"/>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5C7608E-7C04-5BF1-5DE7-6EA08B5F7347}"/>
                  </a:ext>
                </a:extLst>
              </p:cNvPr>
              <p:cNvSpPr txBox="1"/>
              <p:nvPr/>
            </p:nvSpPr>
            <p:spPr>
              <a:xfrm>
                <a:off x="366713" y="3864791"/>
                <a:ext cx="2986087"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1</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20+15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4" name="TextBox 13">
                <a:extLst>
                  <a:ext uri="{FF2B5EF4-FFF2-40B4-BE49-F238E27FC236}">
                    <a16:creationId xmlns:a16="http://schemas.microsoft.com/office/drawing/2014/main" id="{55C7608E-7C04-5BF1-5DE7-6EA08B5F7347}"/>
                  </a:ext>
                </a:extLst>
              </p:cNvPr>
              <p:cNvSpPr txBox="1">
                <a:spLocks noRot="1" noChangeAspect="1" noMove="1" noResize="1" noEditPoints="1" noAdjustHandles="1" noChangeArrowheads="1" noChangeShapeType="1" noTextEdit="1"/>
              </p:cNvSpPr>
              <p:nvPr/>
            </p:nvSpPr>
            <p:spPr>
              <a:xfrm>
                <a:off x="366713" y="3864791"/>
                <a:ext cx="2986087" cy="813232"/>
              </a:xfrm>
              <a:prstGeom prst="rect">
                <a:avLst/>
              </a:prstGeom>
              <a:blipFill>
                <a:blip r:embed="rId6"/>
                <a:stretch>
                  <a:fillRect/>
                </a:stretch>
              </a:blipFill>
            </p:spPr>
            <p:txBody>
              <a:bodyPr/>
              <a:lstStyle/>
              <a:p>
                <a:r>
                  <a:rPr lang="nb-NO">
                    <a:noFill/>
                  </a:rPr>
                  <a:t> </a:t>
                </a:r>
              </a:p>
            </p:txBody>
          </p:sp>
        </mc:Fallback>
      </mc:AlternateContent>
      <p:sp>
        <p:nvSpPr>
          <p:cNvPr id="15" name="Rectangle: Rounded Corners 14">
            <a:extLst>
              <a:ext uri="{FF2B5EF4-FFF2-40B4-BE49-F238E27FC236}">
                <a16:creationId xmlns:a16="http://schemas.microsoft.com/office/drawing/2014/main" id="{824C6F81-9019-94F1-8B71-78D939E48B0F}"/>
              </a:ext>
            </a:extLst>
          </p:cNvPr>
          <p:cNvSpPr/>
          <p:nvPr/>
        </p:nvSpPr>
        <p:spPr>
          <a:xfrm>
            <a:off x="2619375" y="4857750"/>
            <a:ext cx="6953250" cy="68580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0B5B28D1-8FD5-8C7E-276C-D5217A0184EC}"/>
              </a:ext>
            </a:extLst>
          </p:cNvPr>
          <p:cNvSpPr/>
          <p:nvPr/>
        </p:nvSpPr>
        <p:spPr>
          <a:xfrm>
            <a:off x="2619375" y="4857750"/>
            <a:ext cx="76200" cy="6858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D6E42D5-2D4A-AB78-CB0C-3E8094295604}"/>
                  </a:ext>
                </a:extLst>
              </p:cNvPr>
              <p:cNvSpPr txBox="1"/>
              <p:nvPr/>
            </p:nvSpPr>
            <p:spPr>
              <a:xfrm>
                <a:off x="2886075" y="4933950"/>
                <a:ext cx="6534150" cy="579142"/>
              </a:xfrm>
              <a:prstGeom prst="rect">
                <a:avLst/>
              </a:prstGeom>
              <a:noFill/>
            </p:spPr>
            <p:txBody>
              <a:bodyPr vert="horz" lIns="50800" tIns="25400" rIns="50800" bIns="25400" rtlCol="0" anchor="ctr">
                <a:noAutofit/>
              </a:bodyPr>
              <a:lstStyle/>
              <a:p>
                <a:pPr/>
                <a14:m>
                  <m:oMathPara xmlns:m="http://schemas.openxmlformats.org/officeDocument/2006/math">
                    <m:oMath>
                      <m:r>
                        <a:rPr lang="en-GB" b="1" i="1" dirty="0" smtClean="0">
                          <a:solidFill>
                            <a:srgbClr val="0B3D4F"/>
                          </a:solidFill>
                          <a:latin typeface="Cambria Math" panose="02040503050406030204" pitchFamily="18" charset="0"/>
                        </a:rPr>
                        <m:t>𝑴𝑵𝑩</m:t>
                      </m:r>
                      <m:r>
                        <a:rPr lang="en-GB" b="1" i="1" dirty="0" smtClean="0">
                          <a:solidFill>
                            <a:srgbClr val="0B3D4F"/>
                          </a:solidFill>
                          <a:latin typeface="Cambria Math" panose="02040503050406030204" pitchFamily="18" charset="0"/>
                        </a:rPr>
                        <m:t>₁(</m:t>
                      </m:r>
                      <m:r>
                        <a:rPr lang="en-GB" b="1" i="1" dirty="0" smtClean="0">
                          <a:solidFill>
                            <a:srgbClr val="0B3D4F"/>
                          </a:solidFill>
                          <a:latin typeface="Cambria Math" panose="02040503050406030204" pitchFamily="18" charset="0"/>
                        </a:rPr>
                        <m:t>𝒒</m:t>
                      </m:r>
                      <m:r>
                        <a:rPr lang="en-GB" b="1" i="1" dirty="0" smtClean="0">
                          <a:solidFill>
                            <a:srgbClr val="0B3D4F"/>
                          </a:solidFill>
                          <a:latin typeface="Cambria Math" panose="02040503050406030204" pitchFamily="18" charset="0"/>
                        </a:rPr>
                        <m:t>₁) =</m:t>
                      </m:r>
                      <m:f>
                        <m:fPr>
                          <m:ctrlPr>
                            <a:rPr lang="en-GB" b="1" i="1" dirty="0">
                              <a:solidFill>
                                <a:srgbClr val="0B3D4F"/>
                              </a:solidFill>
                              <a:latin typeface="Cambria Math" panose="02040503050406030204" pitchFamily="18" charset="0"/>
                            </a:rPr>
                          </m:ctrlPr>
                        </m:fPr>
                        <m:num>
                          <m:r>
                            <a:rPr lang="en-GB" b="1" i="1" dirty="0">
                              <a:solidFill>
                                <a:srgbClr val="0B3D4F"/>
                              </a:solidFill>
                              <a:latin typeface="Cambria Math" panose="02040503050406030204" pitchFamily="18" charset="0"/>
                            </a:rPr>
                            <m:t>𝑴𝑵𝑩</m:t>
                          </m:r>
                          <m:r>
                            <a:rPr lang="en-GB" b="1" i="1" dirty="0">
                              <a:solidFill>
                                <a:srgbClr val="0B3D4F"/>
                              </a:solidFill>
                              <a:latin typeface="Cambria Math" panose="02040503050406030204" pitchFamily="18" charset="0"/>
                            </a:rPr>
                            <m:t>₂(</m:t>
                          </m:r>
                          <m:r>
                            <a:rPr lang="en-GB" b="1" i="1" dirty="0">
                              <a:solidFill>
                                <a:srgbClr val="0B3D4F"/>
                              </a:solidFill>
                              <a:latin typeface="Cambria Math" panose="02040503050406030204" pitchFamily="18" charset="0"/>
                            </a:rPr>
                            <m:t>𝒒</m:t>
                          </m:r>
                          <m:r>
                            <a:rPr lang="en-GB" b="1" i="1" dirty="0">
                              <a:solidFill>
                                <a:srgbClr val="0B3D4F"/>
                              </a:solidFill>
                              <a:latin typeface="Cambria Math" panose="02040503050406030204" pitchFamily="18" charset="0"/>
                            </a:rPr>
                            <m:t>₂)</m:t>
                          </m:r>
                        </m:num>
                        <m:den>
                          <m:r>
                            <a:rPr lang="nb-NO" b="1" i="1" dirty="0">
                              <a:solidFill>
                                <a:srgbClr val="0B3D4F"/>
                              </a:solidFill>
                              <a:latin typeface="Cambria Math" panose="02040503050406030204" pitchFamily="18" charset="0"/>
                            </a:rPr>
                            <m:t>(</m:t>
                          </m:r>
                          <m:r>
                            <a:rPr lang="en-GB" b="1" i="1" dirty="0">
                              <a:solidFill>
                                <a:srgbClr val="0B3D4F"/>
                              </a:solidFill>
                              <a:latin typeface="Cambria Math" panose="02040503050406030204" pitchFamily="18" charset="0"/>
                            </a:rPr>
                            <m:t>𝟏</m:t>
                          </m:r>
                          <m:r>
                            <a:rPr lang="en-GB" b="1" i="1" dirty="0">
                              <a:solidFill>
                                <a:srgbClr val="0B3D4F"/>
                              </a:solidFill>
                              <a:latin typeface="Cambria Math" panose="02040503050406030204" pitchFamily="18" charset="0"/>
                            </a:rPr>
                            <m:t>+</m:t>
                          </m:r>
                          <m:r>
                            <a:rPr lang="en-GB" b="1" i="1" dirty="0">
                              <a:solidFill>
                                <a:srgbClr val="0B3D4F"/>
                              </a:solidFill>
                              <a:latin typeface="Cambria Math" panose="02040503050406030204" pitchFamily="18" charset="0"/>
                            </a:rPr>
                            <m:t>𝒓</m:t>
                          </m:r>
                          <m:r>
                            <a:rPr lang="en-GB" b="1" i="1" dirty="0">
                              <a:solidFill>
                                <a:srgbClr val="0B3D4F"/>
                              </a:solidFill>
                              <a:latin typeface="Cambria Math" panose="02040503050406030204" pitchFamily="18" charset="0"/>
                            </a:rPr>
                            <m:t>)</m:t>
                          </m:r>
                        </m:den>
                      </m:f>
                      <m:r>
                        <a:rPr lang="en-GB" b="1" i="1" dirty="0" smtClean="0">
                          <a:solidFill>
                            <a:srgbClr val="0B3D4F"/>
                          </a:solidFill>
                          <a:latin typeface="Cambria Math" panose="02040503050406030204" pitchFamily="18" charset="0"/>
                        </a:rPr>
                        <m:t> = </m:t>
                      </m:r>
                      <m:r>
                        <a:rPr lang="el-GR" b="1" i="1" dirty="0">
                          <a:solidFill>
                            <a:srgbClr val="0B3D4F"/>
                          </a:solidFill>
                          <a:latin typeface="Cambria Math" panose="02040503050406030204" pitchFamily="18" charset="0"/>
                        </a:rPr>
                        <m:t>𝝀</m:t>
                      </m:r>
                    </m:oMath>
                  </m:oMathPara>
                </a14:m>
                <a:endParaRPr b="1" dirty="0"/>
              </a:p>
            </p:txBody>
          </p:sp>
        </mc:Choice>
        <mc:Fallback xmlns="">
          <p:sp>
            <p:nvSpPr>
              <p:cNvPr id="17" name="TextBox 16">
                <a:extLst>
                  <a:ext uri="{FF2B5EF4-FFF2-40B4-BE49-F238E27FC236}">
                    <a16:creationId xmlns:a16="http://schemas.microsoft.com/office/drawing/2014/main" id="{CD6E42D5-2D4A-AB78-CB0C-3E8094295604}"/>
                  </a:ext>
                </a:extLst>
              </p:cNvPr>
              <p:cNvSpPr txBox="1">
                <a:spLocks noRot="1" noChangeAspect="1" noMove="1" noResize="1" noEditPoints="1" noAdjustHandles="1" noChangeArrowheads="1" noChangeShapeType="1" noTextEdit="1"/>
              </p:cNvSpPr>
              <p:nvPr/>
            </p:nvSpPr>
            <p:spPr>
              <a:xfrm>
                <a:off x="2886075" y="4933950"/>
                <a:ext cx="6534150" cy="579142"/>
              </a:xfrm>
              <a:prstGeom prst="rect">
                <a:avLst/>
              </a:prstGeom>
              <a:blipFill>
                <a:blip r:embed="rId7"/>
                <a:stretch>
                  <a:fillRect/>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5EAF70F2-AFA6-6AB4-4CA8-F80CA1864F3B}"/>
              </a:ext>
            </a:extLst>
          </p:cNvPr>
          <p:cNvSpPr txBox="1"/>
          <p:nvPr/>
        </p:nvSpPr>
        <p:spPr>
          <a:xfrm>
            <a:off x="1762125" y="5785708"/>
            <a:ext cx="8667750" cy="282129"/>
          </a:xfrm>
          <a:prstGeom prst="rect">
            <a:avLst/>
          </a:prstGeom>
          <a:noFill/>
        </p:spPr>
        <p:txBody>
          <a:bodyPr vert="horz" lIns="50800" tIns="25400" rIns="50800" bIns="25400" rtlCol="0" anchor="ctr">
            <a:noAutofit/>
          </a:bodyPr>
          <a:lstStyle/>
          <a:p>
            <a:pPr algn="ctr"/>
            <a:r>
              <a:rPr lang="nb-NO" sz="1500" b="1">
                <a:solidFill>
                  <a:srgbClr val="087E8B"/>
                </a:solidFill>
                <a:latin typeface="Aptos" panose="020B0004020202020204" pitchFamily="34" charset="0"/>
              </a:rPr>
              <a:t>λ er skyggeverdien av én ekstra lagerenhet, målt i periode 1.</a:t>
            </a:r>
            <a:endParaRPr lang="en-GB" sz="1500" b="1">
              <a:solidFill>
                <a:srgbClr val="087E8B"/>
              </a:solidFill>
              <a:latin typeface="Aptos" panose="020B0004020202020204" pitchFamily="34" charset="0"/>
            </a:endParaRPr>
          </a:p>
        </p:txBody>
      </p:sp>
      <p:sp>
        <p:nvSpPr>
          <p:cNvPr id="19" name="Rectangle: Rounded Corners 12">
            <a:extLst>
              <a:ext uri="{FF2B5EF4-FFF2-40B4-BE49-F238E27FC236}">
                <a16:creationId xmlns:a16="http://schemas.microsoft.com/office/drawing/2014/main" id="{80AA8C0C-296B-774B-4636-22AA457CF0BC}"/>
              </a:ext>
            </a:extLst>
          </p:cNvPr>
          <p:cNvSpPr/>
          <p:nvPr/>
        </p:nvSpPr>
        <p:spPr>
          <a:xfrm>
            <a:off x="3914775" y="3824952"/>
            <a:ext cx="3252787" cy="853071"/>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13">
                <a:extLst>
                  <a:ext uri="{FF2B5EF4-FFF2-40B4-BE49-F238E27FC236}">
                    <a16:creationId xmlns:a16="http://schemas.microsoft.com/office/drawing/2014/main" id="{38F8F79A-3141-CF71-3475-D014335A6C5D}"/>
                  </a:ext>
                </a:extLst>
              </p:cNvPr>
              <p:cNvSpPr txBox="1"/>
              <p:nvPr/>
            </p:nvSpPr>
            <p:spPr>
              <a:xfrm>
                <a:off x="4029075" y="3864791"/>
                <a:ext cx="2986087"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2</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21" name="TextBox 13">
                <a:extLst>
                  <a:ext uri="{FF2B5EF4-FFF2-40B4-BE49-F238E27FC236}">
                    <a16:creationId xmlns:a16="http://schemas.microsoft.com/office/drawing/2014/main" id="{38F8F79A-3141-CF71-3475-D014335A6C5D}"/>
                  </a:ext>
                </a:extLst>
              </p:cNvPr>
              <p:cNvSpPr txBox="1">
                <a:spLocks noRot="1" noChangeAspect="1" noMove="1" noResize="1" noEditPoints="1" noAdjustHandles="1" noChangeArrowheads="1" noChangeShapeType="1" noTextEdit="1"/>
              </p:cNvSpPr>
              <p:nvPr/>
            </p:nvSpPr>
            <p:spPr>
              <a:xfrm>
                <a:off x="4029075" y="3864791"/>
                <a:ext cx="2986087" cy="813232"/>
              </a:xfrm>
              <a:prstGeom prst="rect">
                <a:avLst/>
              </a:prstGeom>
              <a:blipFill>
                <a:blip r:embed="rId8"/>
                <a:stretch>
                  <a:fillRect/>
                </a:stretch>
              </a:blipFill>
            </p:spPr>
            <p:txBody>
              <a:bodyPr/>
              <a:lstStyle/>
              <a:p>
                <a:r>
                  <a:rPr lang="nb-NO">
                    <a:noFill/>
                  </a:rPr>
                  <a:t> </a:t>
                </a:r>
              </a:p>
            </p:txBody>
          </p:sp>
        </mc:Fallback>
      </mc:AlternateContent>
      <p:sp>
        <p:nvSpPr>
          <p:cNvPr id="23" name="Rectangle: Rounded Corners 12">
            <a:extLst>
              <a:ext uri="{FF2B5EF4-FFF2-40B4-BE49-F238E27FC236}">
                <a16:creationId xmlns:a16="http://schemas.microsoft.com/office/drawing/2014/main" id="{557B789A-8986-46BB-C0D6-7C70A8B98DF8}"/>
              </a:ext>
            </a:extLst>
          </p:cNvPr>
          <p:cNvSpPr/>
          <p:nvPr/>
        </p:nvSpPr>
        <p:spPr>
          <a:xfrm>
            <a:off x="7577138" y="3834389"/>
            <a:ext cx="3252787" cy="853071"/>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EE89509D-1E6A-A9CB-18E4-EA43DB169F92}"/>
                  </a:ext>
                </a:extLst>
              </p:cNvPr>
              <p:cNvSpPr txBox="1"/>
              <p:nvPr/>
            </p:nvSpPr>
            <p:spPr>
              <a:xfrm>
                <a:off x="7691438" y="3874228"/>
                <a:ext cx="2986087" cy="813232"/>
              </a:xfrm>
              <a:prstGeom prst="rect">
                <a:avLst/>
              </a:prstGeom>
              <a:noFill/>
            </p:spPr>
            <p:txBody>
              <a:bodyPr vert="horz" lIns="50800" tIns="25400" rIns="50800" bIns="25400" rtlCol="0" anchor="ctr">
                <a:noAutofit/>
              </a:bodyPr>
              <a:lstStyle/>
              <a:p>
                <a:pPr algn="ctr"/>
                <a14:m>
                  <m:oMathPara xmlns:m="http://schemas.openxmlformats.org/officeDocument/2006/math">
                    <m:oMath>
                      <m:r>
                        <a:rPr lang="nb-NO" b="0" i="1" smtClean="0">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4</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25" name="TextBox 13">
                <a:extLst>
                  <a:ext uri="{FF2B5EF4-FFF2-40B4-BE49-F238E27FC236}">
                    <a16:creationId xmlns:a16="http://schemas.microsoft.com/office/drawing/2014/main" id="{EE89509D-1E6A-A9CB-18E4-EA43DB169F92}"/>
                  </a:ext>
                </a:extLst>
              </p:cNvPr>
              <p:cNvSpPr txBox="1">
                <a:spLocks noRot="1" noChangeAspect="1" noMove="1" noResize="1" noEditPoints="1" noAdjustHandles="1" noChangeArrowheads="1" noChangeShapeType="1" noTextEdit="1"/>
              </p:cNvSpPr>
              <p:nvPr/>
            </p:nvSpPr>
            <p:spPr>
              <a:xfrm>
                <a:off x="7691438" y="3874228"/>
                <a:ext cx="2986087" cy="813232"/>
              </a:xfrm>
              <a:prstGeom prst="rect">
                <a:avLst/>
              </a:prstGeom>
              <a:blipFill>
                <a:blip r:embed="rId9"/>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2433268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D316CD-929C-CCDE-3CCB-83C2EA089AEE}"/>
              </a:ext>
            </a:extLst>
          </p:cNvPr>
          <p:cNvSpPr txBox="1"/>
          <p:nvPr/>
        </p:nvSpPr>
        <p:spPr>
          <a:xfrm>
            <a:off x="628650" y="260371"/>
            <a:ext cx="102870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Talløsningene</a:t>
            </a:r>
          </a:p>
        </p:txBody>
      </p:sp>
      <p:sp>
        <p:nvSpPr>
          <p:cNvPr id="3" name="Rectangle 2">
            <a:extLst>
              <a:ext uri="{FF2B5EF4-FFF2-40B4-BE49-F238E27FC236}">
                <a16:creationId xmlns:a16="http://schemas.microsoft.com/office/drawing/2014/main" id="{B280776D-BB48-045A-8030-E520A7A83FAA}"/>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25F2EE2-98B4-0E62-BD9E-15F707B0AF4E}"/>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B65888-0853-C695-6683-250B4F508DA2}"/>
                  </a:ext>
                </a:extLst>
              </p:cNvPr>
              <p:cNvSpPr txBox="1"/>
              <p:nvPr/>
            </p:nvSpPr>
            <p:spPr>
              <a:xfrm>
                <a:off x="1143000" y="1358042"/>
                <a:ext cx="4476750" cy="374461"/>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100" b="1" i="1" dirty="0" smtClean="0">
                          <a:solidFill>
                            <a:srgbClr val="087E8B"/>
                          </a:solidFill>
                          <a:latin typeface="Cambria Math" panose="02040503050406030204" pitchFamily="18" charset="0"/>
                        </a:rPr>
                        <m:t>𝒓</m:t>
                      </m:r>
                      <m:r>
                        <a:rPr lang="en-GB" sz="2100" b="1" i="1" dirty="0" smtClean="0">
                          <a:solidFill>
                            <a:srgbClr val="087E8B"/>
                          </a:solidFill>
                          <a:latin typeface="Cambria Math" panose="02040503050406030204" pitchFamily="18" charset="0"/>
                        </a:rPr>
                        <m:t> = </m:t>
                      </m:r>
                      <m:r>
                        <a:rPr lang="en-GB" sz="2100" b="1" i="1" dirty="0" smtClean="0">
                          <a:solidFill>
                            <a:srgbClr val="087E8B"/>
                          </a:solidFill>
                          <a:latin typeface="Cambria Math" panose="02040503050406030204" pitchFamily="18" charset="0"/>
                        </a:rPr>
                        <m:t>𝟎</m:t>
                      </m:r>
                      <m:r>
                        <a:rPr lang="en-GB" sz="2100" b="1" i="1" dirty="0" smtClean="0">
                          <a:solidFill>
                            <a:srgbClr val="087E8B"/>
                          </a:solidFill>
                          <a:latin typeface="Cambria Math" panose="02040503050406030204" pitchFamily="18" charset="0"/>
                        </a:rPr>
                        <m:t> </m:t>
                      </m:r>
                      <m:r>
                        <a:rPr lang="en-GB" sz="2100" b="1" i="1" dirty="0" err="1">
                          <a:solidFill>
                            <a:srgbClr val="087E8B"/>
                          </a:solidFill>
                          <a:latin typeface="Cambria Math" panose="02040503050406030204" pitchFamily="18" charset="0"/>
                        </a:rPr>
                        <m:t>𝒑𝒓𝒐𝒔𝒆𝒏𝒕</m:t>
                      </m:r>
                    </m:oMath>
                  </m:oMathPara>
                </a14:m>
                <a:endParaRPr/>
              </a:p>
            </p:txBody>
          </p:sp>
        </mc:Choice>
        <mc:Fallback xmlns="">
          <p:sp>
            <p:nvSpPr>
              <p:cNvPr id="6" name="TextBox 5">
                <a:extLst>
                  <a:ext uri="{FF2B5EF4-FFF2-40B4-BE49-F238E27FC236}">
                    <a16:creationId xmlns:a16="http://schemas.microsoft.com/office/drawing/2014/main" id="{A5B65888-0853-C695-6683-250B4F508DA2}"/>
                  </a:ext>
                </a:extLst>
              </p:cNvPr>
              <p:cNvSpPr txBox="1">
                <a:spLocks noRot="1" noChangeAspect="1" noMove="1" noResize="1" noEditPoints="1" noAdjustHandles="1" noChangeArrowheads="1" noChangeShapeType="1" noTextEdit="1"/>
              </p:cNvSpPr>
              <p:nvPr/>
            </p:nvSpPr>
            <p:spPr>
              <a:xfrm>
                <a:off x="1143000" y="1358042"/>
                <a:ext cx="4476750" cy="374461"/>
              </a:xfrm>
              <a:prstGeom prst="rect">
                <a:avLst/>
              </a:prstGeom>
              <a:blipFill>
                <a:blip r:embed="rId3"/>
                <a:stretch>
                  <a:fillRect t="-16393" b="-37705"/>
                </a:stretch>
              </a:blipFill>
            </p:spPr>
            <p:txBody>
              <a:bodyPr/>
              <a:lstStyle/>
              <a:p>
                <a:r>
                  <a:rPr lang="nb-NO">
                    <a:noFill/>
                  </a:rPr>
                  <a:t> </a:t>
                </a:r>
              </a:p>
            </p:txBody>
          </p:sp>
        </mc:Fallback>
      </mc:AlternateContent>
      <p:sp>
        <p:nvSpPr>
          <p:cNvPr id="7" name="Rectangle: Rounded Corners 6">
            <a:extLst>
              <a:ext uri="{FF2B5EF4-FFF2-40B4-BE49-F238E27FC236}">
                <a16:creationId xmlns:a16="http://schemas.microsoft.com/office/drawing/2014/main" id="{D59CF065-5D85-5827-12AA-B2D6F3FDC879}"/>
              </a:ext>
            </a:extLst>
          </p:cNvPr>
          <p:cNvSpPr/>
          <p:nvPr/>
        </p:nvSpPr>
        <p:spPr>
          <a:xfrm>
            <a:off x="904875" y="1952625"/>
            <a:ext cx="4953000" cy="6477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6391234-F9EE-4E13-8FCE-92475202B13D}"/>
                  </a:ext>
                </a:extLst>
              </p:cNvPr>
              <p:cNvSpPr txBox="1"/>
              <p:nvPr/>
            </p:nvSpPr>
            <p:spPr>
              <a:xfrm>
                <a:off x="1019175" y="1868659"/>
                <a:ext cx="4724400" cy="774143"/>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1950" i="1" dirty="0" smtClean="0">
                          <a:solidFill>
                            <a:srgbClr val="0B3D4F"/>
                          </a:solidFill>
                          <a:latin typeface="Cambria Math" panose="02040503050406030204" pitchFamily="18" charset="0"/>
                        </a:rPr>
                        <m:t>6 − 0,4</m:t>
                      </m:r>
                      <m:r>
                        <a:rPr lang="en-GB" sz="1950" i="1" dirty="0" smtClean="0">
                          <a:solidFill>
                            <a:srgbClr val="0B3D4F"/>
                          </a:solidFill>
                          <a:latin typeface="Cambria Math" panose="02040503050406030204" pitchFamily="18" charset="0"/>
                        </a:rPr>
                        <m:t>𝑞</m:t>
                      </m:r>
                      <m:r>
                        <a:rPr lang="en-GB" sz="1950" i="1" dirty="0" smtClean="0">
                          <a:solidFill>
                            <a:srgbClr val="0B3D4F"/>
                          </a:solidFill>
                          <a:latin typeface="Cambria Math" panose="02040503050406030204" pitchFamily="18" charset="0"/>
                        </a:rPr>
                        <m:t>₁ = </m:t>
                      </m:r>
                      <m:f>
                        <m:fPr>
                          <m:ctrlPr>
                            <a:rPr lang="en-GB" sz="1950" i="1" dirty="0">
                              <a:solidFill>
                                <a:srgbClr val="0B3D4F"/>
                              </a:solidFill>
                              <a:latin typeface="Cambria Math" panose="02040503050406030204" pitchFamily="18" charset="0"/>
                            </a:rPr>
                          </m:ctrlPr>
                        </m:fPr>
                        <m:num>
                          <m:r>
                            <a:rPr lang="en-GB" sz="1950" i="1" dirty="0">
                              <a:solidFill>
                                <a:srgbClr val="0B3D4F"/>
                              </a:solidFill>
                              <a:latin typeface="Cambria Math" panose="02040503050406030204" pitchFamily="18" charset="0"/>
                            </a:rPr>
                            <m:t>6 − 0,4</m:t>
                          </m:r>
                          <m:r>
                            <a:rPr lang="en-GB" sz="1950" i="1" dirty="0">
                              <a:solidFill>
                                <a:srgbClr val="0B3D4F"/>
                              </a:solidFill>
                              <a:latin typeface="Cambria Math" panose="02040503050406030204" pitchFamily="18" charset="0"/>
                            </a:rPr>
                            <m:t>𝑞</m:t>
                          </m:r>
                          <m:r>
                            <a:rPr lang="en-GB" sz="1950" i="1" dirty="0">
                              <a:solidFill>
                                <a:srgbClr val="0B3D4F"/>
                              </a:solidFill>
                              <a:latin typeface="Cambria Math" panose="02040503050406030204" pitchFamily="18" charset="0"/>
                            </a:rPr>
                            <m:t>₂</m:t>
                          </m:r>
                        </m:num>
                        <m:den>
                          <m:r>
                            <a:rPr lang="nb-NO" sz="1950" b="0" i="1" dirty="0" smtClean="0">
                              <a:solidFill>
                                <a:srgbClr val="0B3D4F"/>
                              </a:solidFill>
                              <a:latin typeface="Cambria Math" panose="02040503050406030204" pitchFamily="18" charset="0"/>
                            </a:rPr>
                            <m:t>1+</m:t>
                          </m:r>
                          <m:r>
                            <a:rPr lang="nb-NO" sz="1950" b="0" i="1" dirty="0" smtClean="0">
                              <a:solidFill>
                                <a:srgbClr val="0B3D4F"/>
                              </a:solidFill>
                              <a:latin typeface="Cambria Math" panose="02040503050406030204" pitchFamily="18" charset="0"/>
                            </a:rPr>
                            <m:t>𝑟</m:t>
                          </m:r>
                        </m:den>
                      </m:f>
                    </m:oMath>
                  </m:oMathPara>
                </a14:m>
                <a:endParaRPr dirty="0"/>
              </a:p>
            </p:txBody>
          </p:sp>
        </mc:Choice>
        <mc:Fallback xmlns="">
          <p:sp>
            <p:nvSpPr>
              <p:cNvPr id="8" name="TextBox 7">
                <a:extLst>
                  <a:ext uri="{FF2B5EF4-FFF2-40B4-BE49-F238E27FC236}">
                    <a16:creationId xmlns:a16="http://schemas.microsoft.com/office/drawing/2014/main" id="{16391234-F9EE-4E13-8FCE-92475202B13D}"/>
                  </a:ext>
                </a:extLst>
              </p:cNvPr>
              <p:cNvSpPr txBox="1">
                <a:spLocks noRot="1" noChangeAspect="1" noMove="1" noResize="1" noEditPoints="1" noAdjustHandles="1" noChangeArrowheads="1" noChangeShapeType="1" noTextEdit="1"/>
              </p:cNvSpPr>
              <p:nvPr/>
            </p:nvSpPr>
            <p:spPr>
              <a:xfrm>
                <a:off x="1019175" y="1868659"/>
                <a:ext cx="4724400" cy="774143"/>
              </a:xfrm>
              <a:prstGeom prst="rect">
                <a:avLst/>
              </a:prstGeom>
              <a:blipFill>
                <a:blip r:embed="rId4"/>
                <a:stretch>
                  <a:fillRect/>
                </a:stretch>
              </a:blipFill>
            </p:spPr>
            <p:txBody>
              <a:bodyPr/>
              <a:lstStyle/>
              <a:p>
                <a:r>
                  <a:rPr lang="en-GB">
                    <a:noFill/>
                  </a:rPr>
                  <a:t> </a:t>
                </a:r>
              </a:p>
            </p:txBody>
          </p:sp>
        </mc:Fallback>
      </mc:AlternateContent>
      <p:sp>
        <p:nvSpPr>
          <p:cNvPr id="10" name="Rectangle: Rounded Corners 9">
            <a:extLst>
              <a:ext uri="{FF2B5EF4-FFF2-40B4-BE49-F238E27FC236}">
                <a16:creationId xmlns:a16="http://schemas.microsoft.com/office/drawing/2014/main" id="{B6E53093-4BF6-CED5-91F6-88F1610272D1}"/>
              </a:ext>
            </a:extLst>
          </p:cNvPr>
          <p:cNvSpPr/>
          <p:nvPr/>
        </p:nvSpPr>
        <p:spPr>
          <a:xfrm>
            <a:off x="904875" y="3810000"/>
            <a:ext cx="4953000" cy="7239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F1D65F6-9659-E619-FE42-46A6F8BE7421}"/>
                  </a:ext>
                </a:extLst>
              </p:cNvPr>
              <p:cNvSpPr txBox="1"/>
              <p:nvPr/>
            </p:nvSpPr>
            <p:spPr>
              <a:xfrm>
                <a:off x="1019175" y="3946156"/>
                <a:ext cx="4724400" cy="374461"/>
              </a:xfrm>
              <a:prstGeom prst="rect">
                <a:avLst/>
              </a:prstGeom>
              <a:noFill/>
            </p:spPr>
            <p:txBody>
              <a:bodyPr vert="horz" lIns="50800" tIns="25400" rIns="50800" bIns="25400" rtlCol="0" anchor="ctr">
                <a:noAutofit/>
              </a:bodyPr>
              <a:lstStyle/>
              <a:p>
                <a:pPr algn="ctr"/>
                <a14:m>
                  <m:oMathPara xmlns:m="http://schemas.openxmlformats.org/officeDocument/2006/math">
                    <m:oMath>
                      <m:r>
                        <a:rPr lang="el-GR" sz="2100" b="1" i="1" dirty="0" smtClean="0">
                          <a:solidFill>
                            <a:srgbClr val="0B3D4F"/>
                          </a:solidFill>
                          <a:latin typeface="Cambria Math" panose="02040503050406030204" pitchFamily="18" charset="0"/>
                        </a:rPr>
                        <m:t>𝒒</m:t>
                      </m:r>
                      <m:r>
                        <a:rPr lang="el-GR" sz="2100" b="1" i="1" dirty="0" smtClean="0">
                          <a:solidFill>
                            <a:srgbClr val="0B3D4F"/>
                          </a:solidFill>
                          <a:latin typeface="Cambria Math" panose="02040503050406030204" pitchFamily="18" charset="0"/>
                        </a:rPr>
                        <m:t>₁ = </m:t>
                      </m:r>
                      <m:r>
                        <a:rPr lang="el-GR" sz="2100" b="1" i="1" dirty="0" smtClean="0">
                          <a:solidFill>
                            <a:srgbClr val="0B3D4F"/>
                          </a:solidFill>
                          <a:latin typeface="Cambria Math" panose="02040503050406030204" pitchFamily="18" charset="0"/>
                        </a:rPr>
                        <m:t>𝟏𝟎</m:t>
                      </m:r>
                      <m:r>
                        <a:rPr lang="el-GR" sz="2100" b="1" i="1" dirty="0" smtClean="0">
                          <a:solidFill>
                            <a:srgbClr val="0B3D4F"/>
                          </a:solidFill>
                          <a:latin typeface="Cambria Math" panose="02040503050406030204" pitchFamily="18" charset="0"/>
                        </a:rPr>
                        <m:t>,  </m:t>
                      </m:r>
                      <m:r>
                        <a:rPr lang="el-GR" sz="2100" b="1" i="1" dirty="0" smtClean="0">
                          <a:solidFill>
                            <a:srgbClr val="0B3D4F"/>
                          </a:solidFill>
                          <a:latin typeface="Cambria Math" panose="02040503050406030204" pitchFamily="18" charset="0"/>
                        </a:rPr>
                        <m:t>𝒒</m:t>
                      </m:r>
                      <m:r>
                        <a:rPr lang="el-GR" sz="2100" b="1" i="1" dirty="0" smtClean="0">
                          <a:solidFill>
                            <a:srgbClr val="0B3D4F"/>
                          </a:solidFill>
                          <a:latin typeface="Cambria Math" panose="02040503050406030204" pitchFamily="18" charset="0"/>
                        </a:rPr>
                        <m:t>₂ = </m:t>
                      </m:r>
                      <m:r>
                        <a:rPr lang="el-GR" sz="2100" b="1" i="1" dirty="0" smtClean="0">
                          <a:solidFill>
                            <a:srgbClr val="0B3D4F"/>
                          </a:solidFill>
                          <a:latin typeface="Cambria Math" panose="02040503050406030204" pitchFamily="18" charset="0"/>
                        </a:rPr>
                        <m:t>𝟏𝟎</m:t>
                      </m:r>
                      <m:r>
                        <a:rPr lang="el-GR" sz="2100" b="1" i="1" dirty="0" smtClean="0">
                          <a:solidFill>
                            <a:srgbClr val="0B3D4F"/>
                          </a:solidFill>
                          <a:latin typeface="Cambria Math" panose="02040503050406030204" pitchFamily="18" charset="0"/>
                        </a:rPr>
                        <m:t>,  </m:t>
                      </m:r>
                      <m:r>
                        <a:rPr lang="el-GR" sz="2100" b="1" i="1" dirty="0" smtClean="0">
                          <a:solidFill>
                            <a:srgbClr val="0B3D4F"/>
                          </a:solidFill>
                          <a:latin typeface="Cambria Math" panose="02040503050406030204" pitchFamily="18" charset="0"/>
                        </a:rPr>
                        <m:t>𝝀</m:t>
                      </m:r>
                      <m:r>
                        <a:rPr lang="el-GR" sz="2100" b="1" i="1" dirty="0" smtClean="0">
                          <a:solidFill>
                            <a:srgbClr val="0B3D4F"/>
                          </a:solidFill>
                          <a:latin typeface="Cambria Math" panose="02040503050406030204" pitchFamily="18" charset="0"/>
                        </a:rPr>
                        <m:t> = </m:t>
                      </m:r>
                      <m:r>
                        <a:rPr lang="el-GR" sz="2100" b="1" i="1" dirty="0" smtClean="0">
                          <a:solidFill>
                            <a:srgbClr val="0B3D4F"/>
                          </a:solidFill>
                          <a:latin typeface="Cambria Math" panose="02040503050406030204" pitchFamily="18" charset="0"/>
                        </a:rPr>
                        <m:t>𝟐</m:t>
                      </m:r>
                    </m:oMath>
                  </m:oMathPara>
                </a14:m>
                <a:endParaRPr dirty="0"/>
              </a:p>
            </p:txBody>
          </p:sp>
        </mc:Choice>
        <mc:Fallback xmlns="">
          <p:sp>
            <p:nvSpPr>
              <p:cNvPr id="11" name="TextBox 10">
                <a:extLst>
                  <a:ext uri="{FF2B5EF4-FFF2-40B4-BE49-F238E27FC236}">
                    <a16:creationId xmlns:a16="http://schemas.microsoft.com/office/drawing/2014/main" id="{1F1D65F6-9659-E619-FE42-46A6F8BE7421}"/>
                  </a:ext>
                </a:extLst>
              </p:cNvPr>
              <p:cNvSpPr txBox="1">
                <a:spLocks noRot="1" noChangeAspect="1" noMove="1" noResize="1" noEditPoints="1" noAdjustHandles="1" noChangeArrowheads="1" noChangeShapeType="1" noTextEdit="1"/>
              </p:cNvSpPr>
              <p:nvPr/>
            </p:nvSpPr>
            <p:spPr>
              <a:xfrm>
                <a:off x="1019175" y="3946156"/>
                <a:ext cx="4724400" cy="374461"/>
              </a:xfrm>
              <a:prstGeom prst="rect">
                <a:avLst/>
              </a:prstGeom>
              <a:blipFill>
                <a:blip r:embed="rId6"/>
                <a:stretch>
                  <a:fillRect t="-14516" b="-37097"/>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FD07E8C-CE34-ACFB-77A9-4277764019F5}"/>
                  </a:ext>
                </a:extLst>
              </p:cNvPr>
              <p:cNvSpPr txBox="1"/>
              <p:nvPr/>
            </p:nvSpPr>
            <p:spPr>
              <a:xfrm>
                <a:off x="6572250" y="1358042"/>
                <a:ext cx="4476750" cy="374461"/>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100" b="1" i="1" dirty="0" smtClean="0">
                          <a:solidFill>
                            <a:srgbClr val="087E8B"/>
                          </a:solidFill>
                          <a:latin typeface="Cambria Math" panose="02040503050406030204" pitchFamily="18" charset="0"/>
                        </a:rPr>
                        <m:t>𝒓</m:t>
                      </m:r>
                      <m:r>
                        <a:rPr lang="en-GB" sz="2100" b="1" i="1" dirty="0" smtClean="0">
                          <a:solidFill>
                            <a:srgbClr val="087E8B"/>
                          </a:solidFill>
                          <a:latin typeface="Cambria Math" panose="02040503050406030204" pitchFamily="18" charset="0"/>
                        </a:rPr>
                        <m:t> = </m:t>
                      </m:r>
                      <m:r>
                        <a:rPr lang="en-GB" sz="2100" b="1" i="1" dirty="0" smtClean="0">
                          <a:solidFill>
                            <a:srgbClr val="087E8B"/>
                          </a:solidFill>
                          <a:latin typeface="Cambria Math" panose="02040503050406030204" pitchFamily="18" charset="0"/>
                        </a:rPr>
                        <m:t>𝟓𝟎</m:t>
                      </m:r>
                      <m:r>
                        <a:rPr lang="en-GB" sz="2100" b="1" i="1" dirty="0" smtClean="0">
                          <a:solidFill>
                            <a:srgbClr val="087E8B"/>
                          </a:solidFill>
                          <a:latin typeface="Cambria Math" panose="02040503050406030204" pitchFamily="18" charset="0"/>
                        </a:rPr>
                        <m:t> </m:t>
                      </m:r>
                      <m:r>
                        <a:rPr lang="en-GB" sz="2100" b="1" i="1" dirty="0" err="1">
                          <a:solidFill>
                            <a:srgbClr val="087E8B"/>
                          </a:solidFill>
                          <a:latin typeface="Cambria Math" panose="02040503050406030204" pitchFamily="18" charset="0"/>
                        </a:rPr>
                        <m:t>𝒑𝒓𝒐𝒔𝒆𝒏𝒕</m:t>
                      </m:r>
                    </m:oMath>
                  </m:oMathPara>
                </a14:m>
                <a:endParaRPr dirty="0"/>
              </a:p>
            </p:txBody>
          </p:sp>
        </mc:Choice>
        <mc:Fallback xmlns="">
          <p:sp>
            <p:nvSpPr>
              <p:cNvPr id="12" name="TextBox 11">
                <a:extLst>
                  <a:ext uri="{FF2B5EF4-FFF2-40B4-BE49-F238E27FC236}">
                    <a16:creationId xmlns:a16="http://schemas.microsoft.com/office/drawing/2014/main" id="{EFD07E8C-CE34-ACFB-77A9-4277764019F5}"/>
                  </a:ext>
                </a:extLst>
              </p:cNvPr>
              <p:cNvSpPr txBox="1">
                <a:spLocks noRot="1" noChangeAspect="1" noMove="1" noResize="1" noEditPoints="1" noAdjustHandles="1" noChangeArrowheads="1" noChangeShapeType="1" noTextEdit="1"/>
              </p:cNvSpPr>
              <p:nvPr/>
            </p:nvSpPr>
            <p:spPr>
              <a:xfrm>
                <a:off x="6572250" y="1358042"/>
                <a:ext cx="4476750" cy="374461"/>
              </a:xfrm>
              <a:prstGeom prst="rect">
                <a:avLst/>
              </a:prstGeom>
              <a:blipFill>
                <a:blip r:embed="rId7"/>
                <a:stretch>
                  <a:fillRect t="-16393" b="-37705"/>
                </a:stretch>
              </a:blipFill>
            </p:spPr>
            <p:txBody>
              <a:bodyPr/>
              <a:lstStyle/>
              <a:p>
                <a:r>
                  <a:rPr lang="nb-NO">
                    <a:noFill/>
                  </a:rPr>
                  <a:t> </a:t>
                </a:r>
              </a:p>
            </p:txBody>
          </p:sp>
        </mc:Fallback>
      </mc:AlternateContent>
      <p:sp>
        <p:nvSpPr>
          <p:cNvPr id="13" name="Rectangle: Rounded Corners 12">
            <a:extLst>
              <a:ext uri="{FF2B5EF4-FFF2-40B4-BE49-F238E27FC236}">
                <a16:creationId xmlns:a16="http://schemas.microsoft.com/office/drawing/2014/main" id="{B1A09F0E-7C13-2674-179F-5C92D98555A8}"/>
              </a:ext>
            </a:extLst>
          </p:cNvPr>
          <p:cNvSpPr/>
          <p:nvPr/>
        </p:nvSpPr>
        <p:spPr>
          <a:xfrm>
            <a:off x="6334125" y="1952625"/>
            <a:ext cx="4953000" cy="6477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B98565B-9766-3DEC-C3FA-A913F9C03D4B}"/>
                  </a:ext>
                </a:extLst>
              </p:cNvPr>
              <p:cNvSpPr txBox="1"/>
              <p:nvPr/>
            </p:nvSpPr>
            <p:spPr>
              <a:xfrm>
                <a:off x="6448425" y="1952625"/>
                <a:ext cx="4724400" cy="616448"/>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1875" i="1" dirty="0" smtClean="0">
                          <a:solidFill>
                            <a:srgbClr val="0B3D4F"/>
                          </a:solidFill>
                          <a:latin typeface="Cambria Math" panose="02040503050406030204" pitchFamily="18" charset="0"/>
                        </a:rPr>
                        <m:t>6 − 0,4</m:t>
                      </m:r>
                      <m:r>
                        <a:rPr lang="en-GB" sz="1875" i="1" dirty="0" smtClean="0">
                          <a:solidFill>
                            <a:srgbClr val="0B3D4F"/>
                          </a:solidFill>
                          <a:latin typeface="Cambria Math" panose="02040503050406030204" pitchFamily="18" charset="0"/>
                        </a:rPr>
                        <m:t>𝑞</m:t>
                      </m:r>
                      <m:r>
                        <a:rPr lang="en-GB" sz="1875" i="1" dirty="0" smtClean="0">
                          <a:solidFill>
                            <a:srgbClr val="0B3D4F"/>
                          </a:solidFill>
                          <a:latin typeface="Cambria Math" panose="02040503050406030204" pitchFamily="18" charset="0"/>
                        </a:rPr>
                        <m:t>₁ =</m:t>
                      </m:r>
                      <m:f>
                        <m:fPr>
                          <m:ctrlPr>
                            <a:rPr lang="en-GB" i="1" dirty="0">
                              <a:solidFill>
                                <a:srgbClr val="0B3D4F"/>
                              </a:solidFill>
                              <a:latin typeface="Cambria Math" panose="02040503050406030204" pitchFamily="18" charset="0"/>
                            </a:rPr>
                          </m:ctrlPr>
                        </m:fPr>
                        <m:num>
                          <m:r>
                            <a:rPr lang="en-GB" i="1" dirty="0">
                              <a:solidFill>
                                <a:srgbClr val="0B3D4F"/>
                              </a:solidFill>
                              <a:latin typeface="Cambria Math" panose="02040503050406030204" pitchFamily="18" charset="0"/>
                            </a:rPr>
                            <m:t>6 − 0,4</m:t>
                          </m:r>
                          <m:r>
                            <a:rPr lang="en-GB" i="1" dirty="0">
                              <a:solidFill>
                                <a:srgbClr val="0B3D4F"/>
                              </a:solidFill>
                              <a:latin typeface="Cambria Math" panose="02040503050406030204" pitchFamily="18" charset="0"/>
                            </a:rPr>
                            <m:t>𝑞</m:t>
                          </m:r>
                          <m:r>
                            <a:rPr lang="en-GB" i="1" dirty="0">
                              <a:solidFill>
                                <a:srgbClr val="0B3D4F"/>
                              </a:solidFill>
                              <a:latin typeface="Cambria Math" panose="02040503050406030204" pitchFamily="18" charset="0"/>
                            </a:rPr>
                            <m:t>₂</m:t>
                          </m:r>
                        </m:num>
                        <m:den>
                          <m:r>
                            <a:rPr lang="nb-NO" i="1" dirty="0">
                              <a:solidFill>
                                <a:srgbClr val="0B3D4F"/>
                              </a:solidFill>
                              <a:latin typeface="Cambria Math" panose="02040503050406030204" pitchFamily="18" charset="0"/>
                            </a:rPr>
                            <m:t>1+</m:t>
                          </m:r>
                          <m:r>
                            <a:rPr lang="nb-NO" i="1" dirty="0">
                              <a:solidFill>
                                <a:srgbClr val="0B3D4F"/>
                              </a:solidFill>
                              <a:latin typeface="Cambria Math" panose="02040503050406030204" pitchFamily="18" charset="0"/>
                            </a:rPr>
                            <m:t>𝑟</m:t>
                          </m:r>
                        </m:den>
                      </m:f>
                    </m:oMath>
                  </m:oMathPara>
                </a14:m>
                <a:endParaRPr dirty="0"/>
              </a:p>
            </p:txBody>
          </p:sp>
        </mc:Choice>
        <mc:Fallback xmlns="">
          <p:sp>
            <p:nvSpPr>
              <p:cNvPr id="14" name="TextBox 13">
                <a:extLst>
                  <a:ext uri="{FF2B5EF4-FFF2-40B4-BE49-F238E27FC236}">
                    <a16:creationId xmlns:a16="http://schemas.microsoft.com/office/drawing/2014/main" id="{CB98565B-9766-3DEC-C3FA-A913F9C03D4B}"/>
                  </a:ext>
                </a:extLst>
              </p:cNvPr>
              <p:cNvSpPr txBox="1">
                <a:spLocks noRot="1" noChangeAspect="1" noMove="1" noResize="1" noEditPoints="1" noAdjustHandles="1" noChangeArrowheads="1" noChangeShapeType="1" noTextEdit="1"/>
              </p:cNvSpPr>
              <p:nvPr/>
            </p:nvSpPr>
            <p:spPr>
              <a:xfrm>
                <a:off x="6448425" y="1952625"/>
                <a:ext cx="4724400" cy="616448"/>
              </a:xfrm>
              <a:prstGeom prst="rect">
                <a:avLst/>
              </a:prstGeom>
              <a:blipFill>
                <a:blip r:embed="rId8"/>
                <a:stretch>
                  <a:fillRect/>
                </a:stretch>
              </a:blipFill>
            </p:spPr>
            <p:txBody>
              <a:bodyPr/>
              <a:lstStyle/>
              <a:p>
                <a:r>
                  <a:rPr lang="en-GB">
                    <a:noFill/>
                  </a:rPr>
                  <a:t> </a:t>
                </a:r>
              </a:p>
            </p:txBody>
          </p:sp>
        </mc:Fallback>
      </mc:AlternateContent>
      <p:sp>
        <p:nvSpPr>
          <p:cNvPr id="16" name="Rectangle: Rounded Corners 15">
            <a:extLst>
              <a:ext uri="{FF2B5EF4-FFF2-40B4-BE49-F238E27FC236}">
                <a16:creationId xmlns:a16="http://schemas.microsoft.com/office/drawing/2014/main" id="{9CD0E93D-9AD5-B41E-F564-BCD953E9902C}"/>
              </a:ext>
            </a:extLst>
          </p:cNvPr>
          <p:cNvSpPr/>
          <p:nvPr/>
        </p:nvSpPr>
        <p:spPr>
          <a:xfrm>
            <a:off x="6334125" y="3810000"/>
            <a:ext cx="4953000" cy="7239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CB975EB-EB6E-6D6A-F430-BB9DD8BD9ECF}"/>
                  </a:ext>
                </a:extLst>
              </p:cNvPr>
              <p:cNvSpPr txBox="1"/>
              <p:nvPr/>
            </p:nvSpPr>
            <p:spPr>
              <a:xfrm>
                <a:off x="6448425" y="3946155"/>
                <a:ext cx="4724400" cy="374461"/>
              </a:xfrm>
              <a:prstGeom prst="rect">
                <a:avLst/>
              </a:prstGeom>
              <a:noFill/>
            </p:spPr>
            <p:txBody>
              <a:bodyPr vert="horz" lIns="50800" tIns="25400" rIns="50800" bIns="25400" rtlCol="0" anchor="ctr">
                <a:noAutofit/>
              </a:bodyPr>
              <a:lstStyle/>
              <a:p>
                <a:pPr algn="ctr"/>
                <a14:m>
                  <m:oMathPara xmlns:m="http://schemas.openxmlformats.org/officeDocument/2006/math">
                    <m:oMath>
                      <m:r>
                        <a:rPr lang="el-GR" sz="2100" b="1" i="1" dirty="0" smtClean="0">
                          <a:solidFill>
                            <a:srgbClr val="0B3D4F"/>
                          </a:solidFill>
                          <a:latin typeface="Cambria Math" panose="02040503050406030204" pitchFamily="18" charset="0"/>
                        </a:rPr>
                        <m:t>𝒒</m:t>
                      </m:r>
                      <m:r>
                        <a:rPr lang="el-GR" sz="2100" b="1" i="1" dirty="0" smtClean="0">
                          <a:solidFill>
                            <a:srgbClr val="0B3D4F"/>
                          </a:solidFill>
                          <a:latin typeface="Cambria Math" panose="02040503050406030204" pitchFamily="18" charset="0"/>
                        </a:rPr>
                        <m:t>₁ = </m:t>
                      </m:r>
                      <m:r>
                        <a:rPr lang="el-GR" sz="2100" b="1" i="1" dirty="0" smtClean="0">
                          <a:solidFill>
                            <a:srgbClr val="0B3D4F"/>
                          </a:solidFill>
                          <a:latin typeface="Cambria Math" panose="02040503050406030204" pitchFamily="18" charset="0"/>
                        </a:rPr>
                        <m:t>𝟏𝟏</m:t>
                      </m:r>
                      <m:r>
                        <a:rPr lang="el-GR" sz="2100" b="1" i="1" dirty="0" smtClean="0">
                          <a:solidFill>
                            <a:srgbClr val="0B3D4F"/>
                          </a:solidFill>
                          <a:latin typeface="Cambria Math" panose="02040503050406030204" pitchFamily="18" charset="0"/>
                        </a:rPr>
                        <m:t>,  </m:t>
                      </m:r>
                      <m:r>
                        <a:rPr lang="el-GR" sz="2100" b="1" i="1" dirty="0" smtClean="0">
                          <a:solidFill>
                            <a:srgbClr val="0B3D4F"/>
                          </a:solidFill>
                          <a:latin typeface="Cambria Math" panose="02040503050406030204" pitchFamily="18" charset="0"/>
                        </a:rPr>
                        <m:t>𝒒</m:t>
                      </m:r>
                      <m:r>
                        <a:rPr lang="el-GR" sz="2100" b="1" i="1" dirty="0" smtClean="0">
                          <a:solidFill>
                            <a:srgbClr val="0B3D4F"/>
                          </a:solidFill>
                          <a:latin typeface="Cambria Math" panose="02040503050406030204" pitchFamily="18" charset="0"/>
                        </a:rPr>
                        <m:t>₂ = </m:t>
                      </m:r>
                      <m:r>
                        <a:rPr lang="el-GR" sz="2100" b="1" i="1" dirty="0" smtClean="0">
                          <a:solidFill>
                            <a:srgbClr val="0B3D4F"/>
                          </a:solidFill>
                          <a:latin typeface="Cambria Math" panose="02040503050406030204" pitchFamily="18" charset="0"/>
                        </a:rPr>
                        <m:t>𝟗</m:t>
                      </m:r>
                      <m:r>
                        <a:rPr lang="el-GR" sz="2100" b="1" i="1" dirty="0" smtClean="0">
                          <a:solidFill>
                            <a:srgbClr val="0B3D4F"/>
                          </a:solidFill>
                          <a:latin typeface="Cambria Math" panose="02040503050406030204" pitchFamily="18" charset="0"/>
                        </a:rPr>
                        <m:t>,  </m:t>
                      </m:r>
                      <m:r>
                        <a:rPr lang="el-GR" sz="2100" b="1" i="1" dirty="0" smtClean="0">
                          <a:solidFill>
                            <a:srgbClr val="0B3D4F"/>
                          </a:solidFill>
                          <a:latin typeface="Cambria Math" panose="02040503050406030204" pitchFamily="18" charset="0"/>
                        </a:rPr>
                        <m:t>𝝀</m:t>
                      </m:r>
                      <m:r>
                        <a:rPr lang="el-GR" sz="2100" b="1" i="1" dirty="0" smtClean="0">
                          <a:solidFill>
                            <a:srgbClr val="0B3D4F"/>
                          </a:solidFill>
                          <a:latin typeface="Cambria Math" panose="02040503050406030204" pitchFamily="18" charset="0"/>
                        </a:rPr>
                        <m:t> = </m:t>
                      </m:r>
                      <m:r>
                        <a:rPr lang="el-GR" sz="2100" b="1" i="1" dirty="0" smtClean="0">
                          <a:solidFill>
                            <a:srgbClr val="0B3D4F"/>
                          </a:solidFill>
                          <a:latin typeface="Cambria Math" panose="02040503050406030204" pitchFamily="18" charset="0"/>
                        </a:rPr>
                        <m:t>𝟏</m:t>
                      </m:r>
                      <m:r>
                        <a:rPr lang="el-GR" sz="2100" b="1" i="1" dirty="0" smtClean="0">
                          <a:solidFill>
                            <a:srgbClr val="0B3D4F"/>
                          </a:solidFill>
                          <a:latin typeface="Cambria Math" panose="02040503050406030204" pitchFamily="18" charset="0"/>
                        </a:rPr>
                        <m:t>,</m:t>
                      </m:r>
                      <m:r>
                        <a:rPr lang="el-GR" sz="2100" b="1" i="1" dirty="0" smtClean="0">
                          <a:solidFill>
                            <a:srgbClr val="0B3D4F"/>
                          </a:solidFill>
                          <a:latin typeface="Cambria Math" panose="02040503050406030204" pitchFamily="18" charset="0"/>
                        </a:rPr>
                        <m:t>𝟔</m:t>
                      </m:r>
                    </m:oMath>
                  </m:oMathPara>
                </a14:m>
                <a:endParaRPr dirty="0"/>
              </a:p>
            </p:txBody>
          </p:sp>
        </mc:Choice>
        <mc:Fallback xmlns="">
          <p:sp>
            <p:nvSpPr>
              <p:cNvPr id="17" name="TextBox 16">
                <a:extLst>
                  <a:ext uri="{FF2B5EF4-FFF2-40B4-BE49-F238E27FC236}">
                    <a16:creationId xmlns:a16="http://schemas.microsoft.com/office/drawing/2014/main" id="{BCB975EB-EB6E-6D6A-F430-BB9DD8BD9ECF}"/>
                  </a:ext>
                </a:extLst>
              </p:cNvPr>
              <p:cNvSpPr txBox="1">
                <a:spLocks noRot="1" noChangeAspect="1" noMove="1" noResize="1" noEditPoints="1" noAdjustHandles="1" noChangeArrowheads="1" noChangeShapeType="1" noTextEdit="1"/>
              </p:cNvSpPr>
              <p:nvPr/>
            </p:nvSpPr>
            <p:spPr>
              <a:xfrm>
                <a:off x="6448425" y="3946155"/>
                <a:ext cx="4724400" cy="374461"/>
              </a:xfrm>
              <a:prstGeom prst="rect">
                <a:avLst/>
              </a:prstGeom>
              <a:blipFill>
                <a:blip r:embed="rId10"/>
                <a:stretch>
                  <a:fillRect t="-14516" b="-37097"/>
                </a:stretch>
              </a:blipFill>
            </p:spPr>
            <p:txBody>
              <a:bodyPr/>
              <a:lstStyle/>
              <a:p>
                <a:r>
                  <a:rPr lang="nb-NO">
                    <a:noFill/>
                  </a:rPr>
                  <a:t> </a:t>
                </a:r>
              </a:p>
            </p:txBody>
          </p:sp>
        </mc:Fallback>
      </mc:AlternateContent>
      <p:sp>
        <p:nvSpPr>
          <p:cNvPr id="18" name="Rectangle: Rounded Corners 17">
            <a:extLst>
              <a:ext uri="{FF2B5EF4-FFF2-40B4-BE49-F238E27FC236}">
                <a16:creationId xmlns:a16="http://schemas.microsoft.com/office/drawing/2014/main" id="{F209C84B-1A24-CB23-11DA-0541B2348789}"/>
              </a:ext>
            </a:extLst>
          </p:cNvPr>
          <p:cNvSpPr/>
          <p:nvPr/>
        </p:nvSpPr>
        <p:spPr>
          <a:xfrm>
            <a:off x="1809750" y="5095875"/>
            <a:ext cx="8572500" cy="7810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EBB1A81-1604-A540-0DB9-99F86E818F17}"/>
              </a:ext>
            </a:extLst>
          </p:cNvPr>
          <p:cNvSpPr/>
          <p:nvPr/>
        </p:nvSpPr>
        <p:spPr>
          <a:xfrm>
            <a:off x="1809750" y="5095875"/>
            <a:ext cx="76200" cy="7810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ABF1B525-5745-873B-745A-2497B81B6C2E}"/>
              </a:ext>
            </a:extLst>
          </p:cNvPr>
          <p:cNvSpPr txBox="1"/>
          <p:nvPr/>
        </p:nvSpPr>
        <p:spPr>
          <a:xfrm>
            <a:off x="2057400" y="5183753"/>
            <a:ext cx="8153400" cy="605294"/>
          </a:xfrm>
          <a:prstGeom prst="rect">
            <a:avLst/>
          </a:prstGeom>
          <a:noFill/>
        </p:spPr>
        <p:txBody>
          <a:bodyPr vert="horz" lIns="50800" tIns="25400" rIns="50800" bIns="25400" rtlCol="0" anchor="ctr">
            <a:noAutofit/>
          </a:bodyPr>
          <a:lstStyle/>
          <a:p>
            <a:r>
              <a:rPr lang="en-GB" b="1" dirty="0">
                <a:solidFill>
                  <a:srgbClr val="0B3D4F"/>
                </a:solidFill>
                <a:latin typeface="Aptos" panose="020B0004020202020204" pitchFamily="34" charset="0"/>
              </a:rPr>
              <a:t>I </a:t>
            </a:r>
            <a:r>
              <a:rPr lang="en-GB" b="1" dirty="0" err="1">
                <a:solidFill>
                  <a:srgbClr val="0B3D4F"/>
                </a:solidFill>
                <a:latin typeface="Aptos" panose="020B0004020202020204" pitchFamily="34" charset="0"/>
              </a:rPr>
              <a:t>periode</a:t>
            </a:r>
            <a:r>
              <a:rPr lang="en-GB" b="1" dirty="0">
                <a:solidFill>
                  <a:srgbClr val="0B3D4F"/>
                </a:solidFill>
                <a:latin typeface="Aptos" panose="020B0004020202020204" pitchFamily="34" charset="0"/>
              </a:rPr>
              <a:t> 2-kroner er MUC₂ = (1+r)</a:t>
            </a:r>
            <a:r>
              <a:rPr lang="el-GR" b="1" dirty="0">
                <a:solidFill>
                  <a:srgbClr val="0B3D4F"/>
                </a:solidFill>
                <a:latin typeface="Aptos" panose="020B0004020202020204" pitchFamily="34" charset="0"/>
              </a:rPr>
              <a:t>λ = 2,4. </a:t>
            </a:r>
            <a:r>
              <a:rPr lang="en-GB" b="1" dirty="0">
                <a:solidFill>
                  <a:srgbClr val="0B3D4F"/>
                </a:solidFill>
                <a:latin typeface="Aptos" panose="020B0004020202020204" pitchFamily="34" charset="0"/>
              </a:rPr>
              <a:t>Dette er Hotelling-</a:t>
            </a:r>
            <a:r>
              <a:rPr lang="en-GB" b="1" dirty="0" err="1">
                <a:solidFill>
                  <a:srgbClr val="0B3D4F"/>
                </a:solidFill>
                <a:latin typeface="Aptos" panose="020B0004020202020204" pitchFamily="34" charset="0"/>
              </a:rPr>
              <a:t>veksten</a:t>
            </a:r>
            <a:r>
              <a:rPr lang="en-GB" b="1" dirty="0">
                <a:solidFill>
                  <a:srgbClr val="0B3D4F"/>
                </a:solidFill>
                <a:latin typeface="Aptos" panose="020B0004020202020204" pitchFamily="34" charset="0"/>
              </a:rPr>
              <a:t> </a:t>
            </a:r>
            <a:r>
              <a:rPr lang="en-GB" b="1" dirty="0" err="1">
                <a:solidFill>
                  <a:srgbClr val="0B3D4F"/>
                </a:solidFill>
                <a:latin typeface="Aptos" panose="020B0004020202020204" pitchFamily="34" charset="0"/>
              </a:rPr>
              <a:t>som</a:t>
            </a:r>
            <a:r>
              <a:rPr lang="en-GB" b="1" dirty="0">
                <a:solidFill>
                  <a:srgbClr val="0B3D4F"/>
                </a:solidFill>
                <a:latin typeface="Aptos" panose="020B0004020202020204" pitchFamily="34" charset="0"/>
              </a:rPr>
              <a:t> </a:t>
            </a:r>
            <a:r>
              <a:rPr lang="en-GB" b="1" dirty="0" err="1">
                <a:solidFill>
                  <a:srgbClr val="0B3D4F"/>
                </a:solidFill>
                <a:latin typeface="Aptos" panose="020B0004020202020204" pitchFamily="34" charset="0"/>
              </a:rPr>
              <a:t>brukes</a:t>
            </a:r>
            <a:r>
              <a:rPr lang="en-GB" b="1" dirty="0">
                <a:solidFill>
                  <a:srgbClr val="0B3D4F"/>
                </a:solidFill>
                <a:latin typeface="Aptos" panose="020B0004020202020204" pitchFamily="34" charset="0"/>
              </a:rPr>
              <a:t> </a:t>
            </a:r>
            <a:r>
              <a:rPr lang="en-GB" b="1" dirty="0" err="1">
                <a:solidFill>
                  <a:srgbClr val="0B3D4F"/>
                </a:solidFill>
                <a:latin typeface="Aptos" panose="020B0004020202020204" pitchFamily="34" charset="0"/>
              </a:rPr>
              <a:t>i</a:t>
            </a:r>
            <a:r>
              <a:rPr lang="en-GB" b="1" dirty="0">
                <a:solidFill>
                  <a:srgbClr val="0B3D4F"/>
                </a:solidFill>
                <a:latin typeface="Aptos" panose="020B0004020202020204" pitchFamily="34" charset="0"/>
              </a:rPr>
              <a:t> </a:t>
            </a:r>
            <a:r>
              <a:rPr lang="en-GB" b="1" dirty="0" err="1">
                <a:solidFill>
                  <a:srgbClr val="0B3D4F"/>
                </a:solidFill>
                <a:latin typeface="Aptos" panose="020B0004020202020204" pitchFamily="34" charset="0"/>
              </a:rPr>
              <a:t>kapittel</a:t>
            </a:r>
            <a:r>
              <a:rPr lang="en-GB" b="1" dirty="0">
                <a:solidFill>
                  <a:srgbClr val="0B3D4F"/>
                </a:solidFill>
                <a:latin typeface="Aptos" panose="020B0004020202020204" pitchFamily="34" charset="0"/>
              </a:rPr>
              <a:t> 6.</a:t>
            </a:r>
          </a:p>
        </p:txBody>
      </p:sp>
    </p:spTree>
    <p:extLst>
      <p:ext uri="{BB962C8B-B14F-4D97-AF65-F5344CB8AC3E}">
        <p14:creationId xmlns:p14="http://schemas.microsoft.com/office/powerpoint/2010/main" val="425493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0B15087-5220-209B-2506-9E7CBAF87FC8}"/>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Fordeling når renten er 0 prosent</a:t>
            </a:r>
            <a:endParaRPr lang="en-GB" sz="2625" b="1">
              <a:solidFill>
                <a:srgbClr val="0B3D4F"/>
              </a:solidFill>
              <a:latin typeface="Aptos" panose="020B0004020202020204" pitchFamily="34" charset="0"/>
            </a:endParaRPr>
          </a:p>
        </p:txBody>
      </p:sp>
      <p:sp>
        <p:nvSpPr>
          <p:cNvPr id="23" name="Rectangle 22">
            <a:extLst>
              <a:ext uri="{FF2B5EF4-FFF2-40B4-BE49-F238E27FC236}">
                <a16:creationId xmlns:a16="http://schemas.microsoft.com/office/drawing/2014/main" id="{5FC717CD-E902-72A1-17A3-0B4C7490C011}"/>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1025D244-6B39-716E-3A4D-40AC3E48964C}"/>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30" name="TextBox 29">
            <a:extLst>
              <a:ext uri="{FF2B5EF4-FFF2-40B4-BE49-F238E27FC236}">
                <a16:creationId xmlns:a16="http://schemas.microsoft.com/office/drawing/2014/main" id="{D59A4E9C-9370-4EF5-B491-6EA6240D081C}"/>
              </a:ext>
            </a:extLst>
          </p:cNvPr>
          <p:cNvSpPr txBox="1"/>
          <p:nvPr/>
        </p:nvSpPr>
        <p:spPr>
          <a:xfrm>
            <a:off x="2952751" y="1248676"/>
            <a:ext cx="1771650" cy="536044"/>
          </a:xfrm>
          <a:prstGeom prst="rect">
            <a:avLst/>
          </a:prstGeom>
          <a:noFill/>
        </p:spPr>
        <p:txBody>
          <a:bodyPr vert="horz" lIns="50800" tIns="25400" rIns="50800" bIns="25400" rtlCol="0" anchor="ctr">
            <a:noAutofit/>
          </a:bodyPr>
          <a:lstStyle/>
          <a:p>
            <a:r>
              <a:rPr lang="en-GB" sz="1575" dirty="0">
                <a:solidFill>
                  <a:srgbClr val="1C2930"/>
                </a:solidFill>
                <a:latin typeface="Aptos" panose="020B0004020202020204" pitchFamily="34" charset="0"/>
              </a:rPr>
              <a:t>Marginal </a:t>
            </a:r>
            <a:r>
              <a:rPr lang="en-GB" sz="1575" dirty="0" err="1">
                <a:solidFill>
                  <a:srgbClr val="1C2930"/>
                </a:solidFill>
                <a:latin typeface="Aptos" panose="020B0004020202020204" pitchFamily="34" charset="0"/>
              </a:rPr>
              <a:t>netto</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nytte</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i</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periode</a:t>
            </a:r>
            <a:r>
              <a:rPr lang="en-GB" sz="1575" dirty="0">
                <a:solidFill>
                  <a:srgbClr val="1C2930"/>
                </a:solidFill>
                <a:latin typeface="Aptos" panose="020B0004020202020204" pitchFamily="34" charset="0"/>
              </a:rPr>
              <a:t> 1</a:t>
            </a:r>
          </a:p>
        </p:txBody>
      </p:sp>
      <p:sp>
        <p:nvSpPr>
          <p:cNvPr id="31" name="TextBox 30">
            <a:extLst>
              <a:ext uri="{FF2B5EF4-FFF2-40B4-BE49-F238E27FC236}">
                <a16:creationId xmlns:a16="http://schemas.microsoft.com/office/drawing/2014/main" id="{AB24580B-C562-32EA-31A2-4506A6C8167E}"/>
              </a:ext>
            </a:extLst>
          </p:cNvPr>
          <p:cNvSpPr txBox="1"/>
          <p:nvPr/>
        </p:nvSpPr>
        <p:spPr>
          <a:xfrm>
            <a:off x="6958013" y="1328633"/>
            <a:ext cx="2047873" cy="536044"/>
          </a:xfrm>
          <a:prstGeom prst="rect">
            <a:avLst/>
          </a:prstGeom>
          <a:noFill/>
        </p:spPr>
        <p:txBody>
          <a:bodyPr vert="horz" lIns="50800" tIns="25400" rIns="50800" bIns="25400" rtlCol="0" anchor="ctr">
            <a:noAutofit/>
          </a:bodyPr>
          <a:lstStyle/>
          <a:p>
            <a:r>
              <a:rPr lang="nn-NO" sz="1575" dirty="0" err="1">
                <a:solidFill>
                  <a:srgbClr val="1C2930"/>
                </a:solidFill>
                <a:latin typeface="Aptos" panose="020B0004020202020204" pitchFamily="34" charset="0"/>
              </a:rPr>
              <a:t>Nåverdi</a:t>
            </a:r>
            <a:r>
              <a:rPr lang="nn-NO" sz="1575" dirty="0">
                <a:solidFill>
                  <a:srgbClr val="1C2930"/>
                </a:solidFill>
                <a:latin typeface="Aptos" panose="020B0004020202020204" pitchFamily="34" charset="0"/>
              </a:rPr>
              <a:t> av marginal netto nytte i periode 2</a:t>
            </a:r>
            <a:endParaRPr lang="en-GB" sz="1575" dirty="0">
              <a:solidFill>
                <a:srgbClr val="1C2930"/>
              </a:solidFill>
              <a:latin typeface="Aptos" panose="020B0004020202020204" pitchFamily="34" charset="0"/>
            </a:endParaRPr>
          </a:p>
        </p:txBody>
      </p:sp>
      <p:cxnSp>
        <p:nvCxnSpPr>
          <p:cNvPr id="33" name="Straight Connector 32">
            <a:extLst>
              <a:ext uri="{FF2B5EF4-FFF2-40B4-BE49-F238E27FC236}">
                <a16:creationId xmlns:a16="http://schemas.microsoft.com/office/drawing/2014/main" id="{0F1944C2-2B35-2BF1-B6B0-6370ECCBA108}"/>
              </a:ext>
            </a:extLst>
          </p:cNvPr>
          <p:cNvCxnSpPr/>
          <p:nvPr/>
        </p:nvCxnSpPr>
        <p:spPr>
          <a:xfrm>
            <a:off x="3571875" y="5572125"/>
            <a:ext cx="4524375" cy="0"/>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6F1542E-D3E0-7841-7E21-EC1D1059DB6F}"/>
              </a:ext>
            </a:extLst>
          </p:cNvPr>
          <p:cNvCxnSpPr/>
          <p:nvPr/>
        </p:nvCxnSpPr>
        <p:spPr>
          <a:xfrm flipV="1">
            <a:off x="3571875" y="2095500"/>
            <a:ext cx="0" cy="3476625"/>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08558AD-A25B-85C9-7812-EE28E2491EB3}"/>
              </a:ext>
            </a:extLst>
          </p:cNvPr>
          <p:cNvCxnSpPr/>
          <p:nvPr/>
        </p:nvCxnSpPr>
        <p:spPr>
          <a:xfrm flipV="1">
            <a:off x="8096250" y="2095500"/>
            <a:ext cx="0" cy="3476625"/>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6C0B8CE-BF5A-4244-07E9-FF7AEA0A822C}"/>
              </a:ext>
            </a:extLst>
          </p:cNvPr>
          <p:cNvCxnSpPr/>
          <p:nvPr/>
        </p:nvCxnSpPr>
        <p:spPr>
          <a:xfrm>
            <a:off x="3571875" y="2381250"/>
            <a:ext cx="3381375" cy="3190875"/>
          </a:xfrm>
          <a:prstGeom prst="line">
            <a:avLst/>
          </a:prstGeom>
          <a:ln w="23813">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7DB0150-42FF-2041-36D8-5423E9249F00}"/>
              </a:ext>
            </a:extLst>
          </p:cNvPr>
          <p:cNvCxnSpPr/>
          <p:nvPr/>
        </p:nvCxnSpPr>
        <p:spPr>
          <a:xfrm flipV="1">
            <a:off x="4714875" y="2381250"/>
            <a:ext cx="3381375" cy="3190875"/>
          </a:xfrm>
          <a:prstGeom prst="line">
            <a:avLst/>
          </a:prstGeom>
          <a:ln w="23813">
            <a:solidFill>
              <a:srgbClr val="35B85C"/>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7575D1A-4003-200F-AF00-3AC98B14CB7D}"/>
              </a:ext>
            </a:extLst>
          </p:cNvPr>
          <p:cNvSpPr txBox="1"/>
          <p:nvPr/>
        </p:nvSpPr>
        <p:spPr>
          <a:xfrm>
            <a:off x="3181350" y="2257425"/>
            <a:ext cx="323850" cy="305212"/>
          </a:xfrm>
          <a:prstGeom prst="rect">
            <a:avLst/>
          </a:prstGeom>
          <a:noFill/>
        </p:spPr>
        <p:txBody>
          <a:bodyPr vert="horz" lIns="50800" tIns="25400" rIns="50800" bIns="25400" rtlCol="0" anchor="t">
            <a:noAutofit/>
          </a:bodyPr>
          <a:lstStyle/>
          <a:p>
            <a:pPr algn="ctr"/>
            <a:r>
              <a:rPr lang="en-GB" sz="1650">
                <a:solidFill>
                  <a:srgbClr val="1C2930"/>
                </a:solidFill>
                <a:latin typeface="Aptos" panose="020B0004020202020204" pitchFamily="34" charset="0"/>
              </a:rPr>
              <a:t>6</a:t>
            </a:r>
          </a:p>
        </p:txBody>
      </p:sp>
      <p:sp>
        <p:nvSpPr>
          <p:cNvPr id="39" name="TextBox 38">
            <a:extLst>
              <a:ext uri="{FF2B5EF4-FFF2-40B4-BE49-F238E27FC236}">
                <a16:creationId xmlns:a16="http://schemas.microsoft.com/office/drawing/2014/main" id="{DC1BBFAF-014B-8889-F4FD-5F49ECAD452D}"/>
              </a:ext>
            </a:extLst>
          </p:cNvPr>
          <p:cNvSpPr txBox="1"/>
          <p:nvPr/>
        </p:nvSpPr>
        <p:spPr>
          <a:xfrm>
            <a:off x="8210550" y="2257425"/>
            <a:ext cx="323850" cy="305212"/>
          </a:xfrm>
          <a:prstGeom prst="rect">
            <a:avLst/>
          </a:prstGeom>
          <a:noFill/>
        </p:spPr>
        <p:txBody>
          <a:bodyPr vert="horz" lIns="50800" tIns="25400" rIns="50800" bIns="25400" rtlCol="0" anchor="t">
            <a:noAutofit/>
          </a:bodyPr>
          <a:lstStyle/>
          <a:p>
            <a:pPr algn="ctr"/>
            <a:r>
              <a:rPr lang="en-GB" sz="1650">
                <a:solidFill>
                  <a:srgbClr val="1C2930"/>
                </a:solidFill>
                <a:latin typeface="Aptos" panose="020B0004020202020204" pitchFamily="34" charset="0"/>
              </a:rPr>
              <a:t>6</a:t>
            </a:r>
          </a:p>
        </p:txBody>
      </p:sp>
      <p:sp>
        <p:nvSpPr>
          <p:cNvPr id="40" name="TextBox 39">
            <a:extLst>
              <a:ext uri="{FF2B5EF4-FFF2-40B4-BE49-F238E27FC236}">
                <a16:creationId xmlns:a16="http://schemas.microsoft.com/office/drawing/2014/main" id="{B628BF4A-7228-48D1-1751-BDD4E1D7CB0E}"/>
              </a:ext>
            </a:extLst>
          </p:cNvPr>
          <p:cNvSpPr txBox="1"/>
          <p:nvPr/>
        </p:nvSpPr>
        <p:spPr>
          <a:xfrm>
            <a:off x="8620125" y="3023458"/>
            <a:ext cx="2333625" cy="282129"/>
          </a:xfrm>
          <a:prstGeom prst="rect">
            <a:avLst/>
          </a:prstGeom>
          <a:noFill/>
        </p:spPr>
        <p:txBody>
          <a:bodyPr vert="horz" lIns="50800" tIns="25400" rIns="50800" bIns="25400" rtlCol="0" anchor="ctr">
            <a:noAutofit/>
          </a:bodyPr>
          <a:lstStyle/>
          <a:p>
            <a:r>
              <a:rPr lang="en-GB" sz="1500" b="1" dirty="0" err="1">
                <a:solidFill>
                  <a:srgbClr val="087E8B"/>
                </a:solidFill>
                <a:latin typeface="Aptos" panose="020B0004020202020204" pitchFamily="34" charset="0"/>
              </a:rPr>
              <a:t>Begge</a:t>
            </a:r>
            <a:r>
              <a:rPr lang="en-GB" sz="1500" b="1" dirty="0">
                <a:solidFill>
                  <a:srgbClr val="087E8B"/>
                </a:solidFill>
                <a:latin typeface="Aptos" panose="020B0004020202020204" pitchFamily="34" charset="0"/>
              </a:rPr>
              <a:t> </a:t>
            </a:r>
            <a:r>
              <a:rPr lang="en-GB" sz="1500" b="1" dirty="0" err="1">
                <a:solidFill>
                  <a:srgbClr val="087E8B"/>
                </a:solidFill>
                <a:latin typeface="Aptos" panose="020B0004020202020204" pitchFamily="34" charset="0"/>
              </a:rPr>
              <a:t>perioder</a:t>
            </a:r>
            <a:r>
              <a:rPr lang="en-GB" sz="1500" b="1" dirty="0">
                <a:solidFill>
                  <a:srgbClr val="087E8B"/>
                </a:solidFill>
                <a:latin typeface="Aptos" panose="020B0004020202020204" pitchFamily="34" charset="0"/>
              </a:rPr>
              <a:t> teller </a:t>
            </a:r>
            <a:r>
              <a:rPr lang="en-GB" sz="1500" b="1" dirty="0" err="1">
                <a:solidFill>
                  <a:srgbClr val="087E8B"/>
                </a:solidFill>
                <a:latin typeface="Aptos" panose="020B0004020202020204" pitchFamily="34" charset="0"/>
              </a:rPr>
              <a:t>likt</a:t>
            </a:r>
            <a:endParaRPr lang="en-GB" sz="1500" b="1" dirty="0">
              <a:solidFill>
                <a:srgbClr val="087E8B"/>
              </a:solidFill>
              <a:latin typeface="Aptos" panose="020B0004020202020204" pitchFamily="34" charset="0"/>
            </a:endParaRPr>
          </a:p>
        </p:txBody>
      </p:sp>
      <p:cxnSp>
        <p:nvCxnSpPr>
          <p:cNvPr id="41" name="Straight Connector 40">
            <a:extLst>
              <a:ext uri="{FF2B5EF4-FFF2-40B4-BE49-F238E27FC236}">
                <a16:creationId xmlns:a16="http://schemas.microsoft.com/office/drawing/2014/main" id="{35F9B9FE-7B3D-7645-7C62-CF2C21E24FA0}"/>
              </a:ext>
            </a:extLst>
          </p:cNvPr>
          <p:cNvCxnSpPr>
            <a:cxnSpLocks/>
          </p:cNvCxnSpPr>
          <p:nvPr/>
        </p:nvCxnSpPr>
        <p:spPr>
          <a:xfrm>
            <a:off x="5829300" y="4507706"/>
            <a:ext cx="0" cy="1064419"/>
          </a:xfrm>
          <a:prstGeom prst="line">
            <a:avLst/>
          </a:prstGeom>
          <a:ln w="14288">
            <a:solidFill>
              <a:srgbClr val="1C2930"/>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E6BD1448-8A4F-D2E2-A0A0-851BA4C1AB03}"/>
              </a:ext>
            </a:extLst>
          </p:cNvPr>
          <p:cNvSpPr txBox="1"/>
          <p:nvPr/>
        </p:nvSpPr>
        <p:spPr>
          <a:xfrm>
            <a:off x="3838576" y="2352964"/>
            <a:ext cx="1000125" cy="328295"/>
          </a:xfrm>
          <a:prstGeom prst="rect">
            <a:avLst/>
          </a:prstGeom>
          <a:noFill/>
        </p:spPr>
        <p:txBody>
          <a:bodyPr vert="horz" lIns="50800" tIns="25400" rIns="50800" bIns="25400" rtlCol="0" anchor="t">
            <a:noAutofit/>
          </a:bodyPr>
          <a:lstStyle/>
          <a:p>
            <a:pPr algn="ctr"/>
            <a:r>
              <a:rPr lang="en-GB" b="1" dirty="0">
                <a:solidFill>
                  <a:srgbClr val="A82AB3"/>
                </a:solidFill>
                <a:latin typeface="Aptos" panose="020B0004020202020204" pitchFamily="34" charset="0"/>
              </a:rPr>
              <a:t>MNB₁</a:t>
            </a:r>
          </a:p>
        </p:txBody>
      </p:sp>
      <p:sp>
        <p:nvSpPr>
          <p:cNvPr id="43" name="TextBox 42">
            <a:extLst>
              <a:ext uri="{FF2B5EF4-FFF2-40B4-BE49-F238E27FC236}">
                <a16:creationId xmlns:a16="http://schemas.microsoft.com/office/drawing/2014/main" id="{40834084-4A42-1995-895E-550E6EEC2183}"/>
              </a:ext>
            </a:extLst>
          </p:cNvPr>
          <p:cNvSpPr txBox="1"/>
          <p:nvPr/>
        </p:nvSpPr>
        <p:spPr>
          <a:xfrm>
            <a:off x="6543675" y="2352964"/>
            <a:ext cx="1285875" cy="328295"/>
          </a:xfrm>
          <a:prstGeom prst="rect">
            <a:avLst/>
          </a:prstGeom>
          <a:noFill/>
        </p:spPr>
        <p:txBody>
          <a:bodyPr vert="horz" lIns="50800" tIns="25400" rIns="50800" bIns="25400" rtlCol="0" anchor="t">
            <a:noAutofit/>
          </a:bodyPr>
          <a:lstStyle/>
          <a:p>
            <a:pPr algn="ctr"/>
            <a:r>
              <a:rPr lang="en-GB" sz="1725" b="1" dirty="0">
                <a:solidFill>
                  <a:srgbClr val="35B85C"/>
                </a:solidFill>
                <a:latin typeface="Aptos" panose="020B0004020202020204" pitchFamily="34" charset="0"/>
              </a:rPr>
              <a:t>PV(MNB₂)</a:t>
            </a:r>
          </a:p>
        </p:txBody>
      </p:sp>
      <p:sp>
        <p:nvSpPr>
          <p:cNvPr id="44" name="TextBox 43">
            <a:extLst>
              <a:ext uri="{FF2B5EF4-FFF2-40B4-BE49-F238E27FC236}">
                <a16:creationId xmlns:a16="http://schemas.microsoft.com/office/drawing/2014/main" id="{AC9EC766-1015-B747-6417-C0E7D3EC09D2}"/>
              </a:ext>
            </a:extLst>
          </p:cNvPr>
          <p:cNvSpPr txBox="1"/>
          <p:nvPr/>
        </p:nvSpPr>
        <p:spPr>
          <a:xfrm>
            <a:off x="3429000" y="5619750"/>
            <a:ext cx="333375" cy="235962"/>
          </a:xfrm>
          <a:prstGeom prst="rect">
            <a:avLst/>
          </a:prstGeom>
          <a:noFill/>
        </p:spPr>
        <p:txBody>
          <a:bodyPr vert="horz" lIns="50800" tIns="25400" rIns="50800" bIns="25400" rtlCol="0" anchor="t">
            <a:noAutofit/>
          </a:bodyPr>
          <a:lstStyle/>
          <a:p>
            <a:pPr algn="ctr"/>
            <a:r>
              <a:rPr lang="en-GB" sz="1200">
                <a:solidFill>
                  <a:srgbClr val="1C2930"/>
                </a:solidFill>
                <a:latin typeface="Aptos" panose="020B0004020202020204" pitchFamily="34" charset="0"/>
              </a:rPr>
              <a:t>0</a:t>
            </a:r>
          </a:p>
        </p:txBody>
      </p:sp>
      <p:sp>
        <p:nvSpPr>
          <p:cNvPr id="45" name="TextBox 44">
            <a:extLst>
              <a:ext uri="{FF2B5EF4-FFF2-40B4-BE49-F238E27FC236}">
                <a16:creationId xmlns:a16="http://schemas.microsoft.com/office/drawing/2014/main" id="{9656E0C9-E17E-46BE-133E-48C969E61121}"/>
              </a:ext>
            </a:extLst>
          </p:cNvPr>
          <p:cNvSpPr txBox="1"/>
          <p:nvPr/>
        </p:nvSpPr>
        <p:spPr>
          <a:xfrm>
            <a:off x="7886700" y="5619750"/>
            <a:ext cx="381000" cy="235962"/>
          </a:xfrm>
          <a:prstGeom prst="rect">
            <a:avLst/>
          </a:prstGeom>
          <a:noFill/>
        </p:spPr>
        <p:txBody>
          <a:bodyPr vert="horz" lIns="50800" tIns="25400" rIns="50800" bIns="25400" rtlCol="0" anchor="t">
            <a:noAutofit/>
          </a:bodyPr>
          <a:lstStyle/>
          <a:p>
            <a:pPr algn="ctr"/>
            <a:r>
              <a:rPr lang="en-GB" sz="1200">
                <a:solidFill>
                  <a:srgbClr val="1C2930"/>
                </a:solidFill>
                <a:latin typeface="Aptos" panose="020B0004020202020204" pitchFamily="34" charset="0"/>
              </a:rPr>
              <a:t>20</a:t>
            </a:r>
          </a:p>
        </p:txBody>
      </p:sp>
      <p:sp>
        <p:nvSpPr>
          <p:cNvPr id="46" name="TextBox 45">
            <a:extLst>
              <a:ext uri="{FF2B5EF4-FFF2-40B4-BE49-F238E27FC236}">
                <a16:creationId xmlns:a16="http://schemas.microsoft.com/office/drawing/2014/main" id="{8522203A-294C-E0EF-062C-C3CB20A56A0E}"/>
              </a:ext>
            </a:extLst>
          </p:cNvPr>
          <p:cNvSpPr txBox="1"/>
          <p:nvPr/>
        </p:nvSpPr>
        <p:spPr>
          <a:xfrm>
            <a:off x="3429000" y="6000750"/>
            <a:ext cx="381000" cy="235962"/>
          </a:xfrm>
          <a:prstGeom prst="rect">
            <a:avLst/>
          </a:prstGeom>
          <a:noFill/>
        </p:spPr>
        <p:txBody>
          <a:bodyPr vert="horz" lIns="50800" tIns="25400" rIns="50800" bIns="25400" rtlCol="0" anchor="t">
            <a:noAutofit/>
          </a:bodyPr>
          <a:lstStyle/>
          <a:p>
            <a:pPr algn="ctr"/>
            <a:r>
              <a:rPr lang="en-GB" sz="1200">
                <a:solidFill>
                  <a:srgbClr val="35B85C"/>
                </a:solidFill>
                <a:latin typeface="Aptos" panose="020B0004020202020204" pitchFamily="34" charset="0"/>
              </a:rPr>
              <a:t>20</a:t>
            </a:r>
          </a:p>
        </p:txBody>
      </p:sp>
      <p:sp>
        <p:nvSpPr>
          <p:cNvPr id="47" name="TextBox 46">
            <a:extLst>
              <a:ext uri="{FF2B5EF4-FFF2-40B4-BE49-F238E27FC236}">
                <a16:creationId xmlns:a16="http://schemas.microsoft.com/office/drawing/2014/main" id="{3EA07A12-E293-B608-C394-9067AE0C5640}"/>
              </a:ext>
            </a:extLst>
          </p:cNvPr>
          <p:cNvSpPr txBox="1"/>
          <p:nvPr/>
        </p:nvSpPr>
        <p:spPr>
          <a:xfrm>
            <a:off x="7981950" y="6000750"/>
            <a:ext cx="333375" cy="235962"/>
          </a:xfrm>
          <a:prstGeom prst="rect">
            <a:avLst/>
          </a:prstGeom>
          <a:noFill/>
        </p:spPr>
        <p:txBody>
          <a:bodyPr vert="horz" lIns="50800" tIns="25400" rIns="50800" bIns="25400" rtlCol="0" anchor="t">
            <a:noAutofit/>
          </a:bodyPr>
          <a:lstStyle/>
          <a:p>
            <a:pPr algn="ctr"/>
            <a:r>
              <a:rPr lang="en-GB" sz="1200">
                <a:solidFill>
                  <a:srgbClr val="35B85C"/>
                </a:solidFill>
                <a:latin typeface="Aptos" panose="020B0004020202020204" pitchFamily="34" charset="0"/>
              </a:rPr>
              <a:t>0</a:t>
            </a:r>
          </a:p>
        </p:txBody>
      </p:sp>
      <p:sp>
        <p:nvSpPr>
          <p:cNvPr id="48" name="TextBox 47">
            <a:extLst>
              <a:ext uri="{FF2B5EF4-FFF2-40B4-BE49-F238E27FC236}">
                <a16:creationId xmlns:a16="http://schemas.microsoft.com/office/drawing/2014/main" id="{C3B37156-A468-0D8C-803B-212E78A33926}"/>
              </a:ext>
            </a:extLst>
          </p:cNvPr>
          <p:cNvSpPr txBox="1"/>
          <p:nvPr/>
        </p:nvSpPr>
        <p:spPr>
          <a:xfrm>
            <a:off x="5114925" y="5667375"/>
            <a:ext cx="1428750" cy="282129"/>
          </a:xfrm>
          <a:prstGeom prst="rect">
            <a:avLst/>
          </a:prstGeom>
          <a:noFill/>
        </p:spPr>
        <p:txBody>
          <a:bodyPr vert="horz" lIns="50800" tIns="25400" rIns="50800" bIns="25400" rtlCol="0" anchor="t">
            <a:noAutofit/>
          </a:bodyPr>
          <a:lstStyle/>
          <a:p>
            <a:pPr algn="ctr"/>
            <a:r>
              <a:rPr lang="en-GB" sz="1500" b="1" dirty="0">
                <a:solidFill>
                  <a:srgbClr val="0B3D4F"/>
                </a:solidFill>
                <a:latin typeface="Aptos" panose="020B0004020202020204" pitchFamily="34" charset="0"/>
              </a:rPr>
              <a:t>q₁ = 10</a:t>
            </a:r>
          </a:p>
        </p:txBody>
      </p:sp>
      <p:sp>
        <p:nvSpPr>
          <p:cNvPr id="49" name="TextBox 48">
            <a:extLst>
              <a:ext uri="{FF2B5EF4-FFF2-40B4-BE49-F238E27FC236}">
                <a16:creationId xmlns:a16="http://schemas.microsoft.com/office/drawing/2014/main" id="{5C57247A-C7F9-64DB-50D4-54F67DAD3EE8}"/>
              </a:ext>
            </a:extLst>
          </p:cNvPr>
          <p:cNvSpPr txBox="1"/>
          <p:nvPr/>
        </p:nvSpPr>
        <p:spPr>
          <a:xfrm>
            <a:off x="5114925" y="6019800"/>
            <a:ext cx="1428750" cy="282129"/>
          </a:xfrm>
          <a:prstGeom prst="rect">
            <a:avLst/>
          </a:prstGeom>
          <a:noFill/>
        </p:spPr>
        <p:txBody>
          <a:bodyPr vert="horz" lIns="50800" tIns="25400" rIns="50800" bIns="25400" rtlCol="0" anchor="t">
            <a:noAutofit/>
          </a:bodyPr>
          <a:lstStyle/>
          <a:p>
            <a:pPr algn="ctr"/>
            <a:r>
              <a:rPr lang="en-GB" sz="1500" b="1">
                <a:solidFill>
                  <a:srgbClr val="0B3D4F"/>
                </a:solidFill>
                <a:latin typeface="Aptos" panose="020B0004020202020204" pitchFamily="34" charset="0"/>
              </a:rPr>
              <a:t>q₂ = 10</a:t>
            </a:r>
          </a:p>
        </p:txBody>
      </p:sp>
      <mc:AlternateContent xmlns:mc="http://schemas.openxmlformats.org/markup-compatibility/2006" xmlns:a14="http://schemas.microsoft.com/office/drawing/2010/main">
        <mc:Choice Requires="a14">
          <p:sp>
            <p:nvSpPr>
              <p:cNvPr id="8" name="Rectangle: Rounded Corners 8">
                <a:extLst>
                  <a:ext uri="{FF2B5EF4-FFF2-40B4-BE49-F238E27FC236}">
                    <a16:creationId xmlns:a16="http://schemas.microsoft.com/office/drawing/2014/main" id="{7AF15DF0-7024-3410-969D-BEE11CDE3689}"/>
                  </a:ext>
                </a:extLst>
              </p:cNvPr>
              <p:cNvSpPr/>
              <p:nvPr/>
            </p:nvSpPr>
            <p:spPr>
              <a:xfrm>
                <a:off x="647700" y="1372356"/>
                <a:ext cx="1621631" cy="461665"/>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nb-NO" b="1" i="1" dirty="0">
                          <a:solidFill>
                            <a:srgbClr val="0B3D4F"/>
                          </a:solidFill>
                          <a:latin typeface="Cambria Math" panose="02040503050406030204" pitchFamily="18" charset="0"/>
                        </a:rPr>
                        <m:t>𝒓</m:t>
                      </m:r>
                      <m:r>
                        <a:rPr lang="nb-NO" b="1" i="1" dirty="0">
                          <a:solidFill>
                            <a:srgbClr val="0B3D4F"/>
                          </a:solidFill>
                          <a:latin typeface="Cambria Math" panose="02040503050406030204" pitchFamily="18" charset="0"/>
                        </a:rPr>
                        <m:t>=</m:t>
                      </m:r>
                      <m:r>
                        <a:rPr lang="nb-NO" b="1" i="1" dirty="0">
                          <a:solidFill>
                            <a:srgbClr val="0B3D4F"/>
                          </a:solidFill>
                          <a:latin typeface="Cambria Math" panose="02040503050406030204" pitchFamily="18" charset="0"/>
                        </a:rPr>
                        <m:t>𝟎</m:t>
                      </m:r>
                    </m:oMath>
                  </m:oMathPara>
                </a14:m>
                <a:endParaRPr lang="nb-NO" dirty="0"/>
              </a:p>
            </p:txBody>
          </p:sp>
        </mc:Choice>
        <mc:Fallback xmlns="">
          <p:sp>
            <p:nvSpPr>
              <p:cNvPr id="8" name="Rectangle: Rounded Corners 8">
                <a:extLst>
                  <a:ext uri="{FF2B5EF4-FFF2-40B4-BE49-F238E27FC236}">
                    <a16:creationId xmlns:a16="http://schemas.microsoft.com/office/drawing/2014/main" id="{7AF15DF0-7024-3410-969D-BEE11CDE3689}"/>
                  </a:ext>
                </a:extLst>
              </p:cNvPr>
              <p:cNvSpPr>
                <a:spLocks noRot="1" noChangeAspect="1" noMove="1" noResize="1" noEditPoints="1" noAdjustHandles="1" noChangeArrowheads="1" noChangeShapeType="1" noTextEdit="1"/>
              </p:cNvSpPr>
              <p:nvPr/>
            </p:nvSpPr>
            <p:spPr>
              <a:xfrm>
                <a:off x="647700" y="1372356"/>
                <a:ext cx="1621631" cy="461665"/>
              </a:xfrm>
              <a:prstGeom prst="roundRect">
                <a:avLst/>
              </a:prstGeom>
              <a:blipFill>
                <a:blip r:embed="rId3"/>
                <a:stretch>
                  <a:fillRect/>
                </a:stretch>
              </a:blipFill>
              <a:ln w="14288">
                <a:solidFill>
                  <a:srgbClr val="087E8B"/>
                </a:solidFill>
              </a:ln>
            </p:spPr>
            <p:txBody>
              <a:bodyPr/>
              <a:lstStyle/>
              <a:p>
                <a:r>
                  <a:rPr lang="en-GB">
                    <a:noFill/>
                  </a:rPr>
                  <a:t> </a:t>
                </a:r>
              </a:p>
            </p:txBody>
          </p:sp>
        </mc:Fallback>
      </mc:AlternateContent>
    </p:spTree>
    <p:extLst>
      <p:ext uri="{BB962C8B-B14F-4D97-AF65-F5344CB8AC3E}">
        <p14:creationId xmlns:p14="http://schemas.microsoft.com/office/powerpoint/2010/main" val="3869658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955F9B-8C6D-B1DE-64D0-AFF39E41816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C8B9AA-1A25-C671-72A0-85616BD1DF8A}"/>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Høyere rente vrir uttaket mot nåtiden</a:t>
            </a:r>
            <a:endParaRPr lang="en-GB" sz="2625" b="1">
              <a:solidFill>
                <a:srgbClr val="0B3D4F"/>
              </a:solidFill>
              <a:latin typeface="Aptos" panose="020B0004020202020204" pitchFamily="34" charset="0"/>
            </a:endParaRPr>
          </a:p>
        </p:txBody>
      </p:sp>
      <p:sp>
        <p:nvSpPr>
          <p:cNvPr id="21" name="Rectangle 20">
            <a:extLst>
              <a:ext uri="{FF2B5EF4-FFF2-40B4-BE49-F238E27FC236}">
                <a16:creationId xmlns:a16="http://schemas.microsoft.com/office/drawing/2014/main" id="{98658114-57DE-0101-7F27-4196D01F627F}"/>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4FDD6354-7B2D-AF2A-8D1D-6FFEACF0DFD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30" name="TextBox 29">
            <a:extLst>
              <a:ext uri="{FF2B5EF4-FFF2-40B4-BE49-F238E27FC236}">
                <a16:creationId xmlns:a16="http://schemas.microsoft.com/office/drawing/2014/main" id="{D5EED0E1-789B-6BB5-BA90-B71FCBFEC7F5}"/>
              </a:ext>
            </a:extLst>
          </p:cNvPr>
          <p:cNvSpPr txBox="1"/>
          <p:nvPr/>
        </p:nvSpPr>
        <p:spPr>
          <a:xfrm>
            <a:off x="2952751" y="1248676"/>
            <a:ext cx="1554956" cy="536044"/>
          </a:xfrm>
          <a:prstGeom prst="rect">
            <a:avLst/>
          </a:prstGeom>
          <a:noFill/>
        </p:spPr>
        <p:txBody>
          <a:bodyPr vert="horz" lIns="50800" tIns="25400" rIns="50800" bIns="25400" rtlCol="0" anchor="ctr">
            <a:noAutofit/>
          </a:bodyPr>
          <a:lstStyle/>
          <a:p>
            <a:r>
              <a:rPr lang="en-GB" sz="1575" dirty="0">
                <a:solidFill>
                  <a:srgbClr val="1C2930"/>
                </a:solidFill>
                <a:latin typeface="Aptos" panose="020B0004020202020204" pitchFamily="34" charset="0"/>
              </a:rPr>
              <a:t>Marginal </a:t>
            </a:r>
            <a:r>
              <a:rPr lang="en-GB" sz="1575" dirty="0" err="1">
                <a:solidFill>
                  <a:srgbClr val="1C2930"/>
                </a:solidFill>
                <a:latin typeface="Aptos" panose="020B0004020202020204" pitchFamily="34" charset="0"/>
              </a:rPr>
              <a:t>netto</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nytte</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i</a:t>
            </a:r>
            <a:r>
              <a:rPr lang="en-GB" sz="1575" dirty="0">
                <a:solidFill>
                  <a:srgbClr val="1C2930"/>
                </a:solidFill>
                <a:latin typeface="Aptos" panose="020B0004020202020204" pitchFamily="34" charset="0"/>
              </a:rPr>
              <a:t> </a:t>
            </a:r>
            <a:r>
              <a:rPr lang="en-GB" sz="1575" dirty="0" err="1">
                <a:solidFill>
                  <a:srgbClr val="1C2930"/>
                </a:solidFill>
                <a:latin typeface="Aptos" panose="020B0004020202020204" pitchFamily="34" charset="0"/>
              </a:rPr>
              <a:t>periode</a:t>
            </a:r>
            <a:r>
              <a:rPr lang="en-GB" sz="1575" dirty="0">
                <a:solidFill>
                  <a:srgbClr val="1C2930"/>
                </a:solidFill>
                <a:latin typeface="Aptos" panose="020B0004020202020204" pitchFamily="34" charset="0"/>
              </a:rPr>
              <a:t> 1</a:t>
            </a:r>
          </a:p>
        </p:txBody>
      </p:sp>
      <p:sp>
        <p:nvSpPr>
          <p:cNvPr id="32" name="TextBox 31">
            <a:extLst>
              <a:ext uri="{FF2B5EF4-FFF2-40B4-BE49-F238E27FC236}">
                <a16:creationId xmlns:a16="http://schemas.microsoft.com/office/drawing/2014/main" id="{DCAB4199-AB20-B4E5-ADB7-284840C8BF24}"/>
              </a:ext>
            </a:extLst>
          </p:cNvPr>
          <p:cNvSpPr txBox="1"/>
          <p:nvPr/>
        </p:nvSpPr>
        <p:spPr>
          <a:xfrm>
            <a:off x="6659167" y="1233761"/>
            <a:ext cx="2041920" cy="536044"/>
          </a:xfrm>
          <a:prstGeom prst="rect">
            <a:avLst/>
          </a:prstGeom>
          <a:noFill/>
        </p:spPr>
        <p:txBody>
          <a:bodyPr vert="horz" lIns="50800" tIns="25400" rIns="50800" bIns="25400" rtlCol="0" anchor="ctr">
            <a:noAutofit/>
          </a:bodyPr>
          <a:lstStyle/>
          <a:p>
            <a:r>
              <a:rPr lang="nn-NO" sz="1575" dirty="0" err="1">
                <a:solidFill>
                  <a:srgbClr val="1C2930"/>
                </a:solidFill>
                <a:latin typeface="Aptos" panose="020B0004020202020204" pitchFamily="34" charset="0"/>
              </a:rPr>
              <a:t>Nåverdi</a:t>
            </a:r>
            <a:r>
              <a:rPr lang="nn-NO" sz="1575" dirty="0">
                <a:solidFill>
                  <a:srgbClr val="1C2930"/>
                </a:solidFill>
                <a:latin typeface="Aptos" panose="020B0004020202020204" pitchFamily="34" charset="0"/>
              </a:rPr>
              <a:t> av marginal netto nytte i periode 2</a:t>
            </a:r>
            <a:endParaRPr lang="en-GB" sz="1575" dirty="0">
              <a:solidFill>
                <a:srgbClr val="1C2930"/>
              </a:solidFill>
              <a:latin typeface="Aptos" panose="020B0004020202020204" pitchFamily="34" charset="0"/>
            </a:endParaRPr>
          </a:p>
        </p:txBody>
      </p:sp>
      <p:cxnSp>
        <p:nvCxnSpPr>
          <p:cNvPr id="34" name="Straight Connector 33">
            <a:extLst>
              <a:ext uri="{FF2B5EF4-FFF2-40B4-BE49-F238E27FC236}">
                <a16:creationId xmlns:a16="http://schemas.microsoft.com/office/drawing/2014/main" id="{033FE98D-82D7-310E-7B83-1825CF3D7A32}"/>
              </a:ext>
            </a:extLst>
          </p:cNvPr>
          <p:cNvCxnSpPr/>
          <p:nvPr/>
        </p:nvCxnSpPr>
        <p:spPr>
          <a:xfrm>
            <a:off x="3571875" y="5572125"/>
            <a:ext cx="4524375" cy="0"/>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7BD3294-AD79-3A39-2770-EE36A7822A44}"/>
              </a:ext>
            </a:extLst>
          </p:cNvPr>
          <p:cNvCxnSpPr/>
          <p:nvPr/>
        </p:nvCxnSpPr>
        <p:spPr>
          <a:xfrm flipV="1">
            <a:off x="3571875" y="2095500"/>
            <a:ext cx="0" cy="3476625"/>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E56F39F-770A-9005-976E-BD5E7227332A}"/>
              </a:ext>
            </a:extLst>
          </p:cNvPr>
          <p:cNvCxnSpPr/>
          <p:nvPr/>
        </p:nvCxnSpPr>
        <p:spPr>
          <a:xfrm flipV="1">
            <a:off x="8096250" y="2095500"/>
            <a:ext cx="0" cy="3476625"/>
          </a:xfrm>
          <a:prstGeom prst="line">
            <a:avLst/>
          </a:prstGeom>
          <a:ln w="13335">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30A86A2-6311-D323-782A-D8A628E913B3}"/>
              </a:ext>
            </a:extLst>
          </p:cNvPr>
          <p:cNvCxnSpPr/>
          <p:nvPr/>
        </p:nvCxnSpPr>
        <p:spPr>
          <a:xfrm>
            <a:off x="3571875" y="2381250"/>
            <a:ext cx="3381375" cy="3190875"/>
          </a:xfrm>
          <a:prstGeom prst="line">
            <a:avLst/>
          </a:prstGeom>
          <a:ln w="23813">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3DC712C-FDE9-C83B-B93F-84D3AC9FDF03}"/>
              </a:ext>
            </a:extLst>
          </p:cNvPr>
          <p:cNvCxnSpPr/>
          <p:nvPr/>
        </p:nvCxnSpPr>
        <p:spPr>
          <a:xfrm flipV="1">
            <a:off x="4714875" y="3400425"/>
            <a:ext cx="3381375" cy="2171700"/>
          </a:xfrm>
          <a:prstGeom prst="line">
            <a:avLst/>
          </a:prstGeom>
          <a:ln w="23813">
            <a:solidFill>
              <a:srgbClr val="35B85C"/>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A451B904-63C8-739A-B181-7218EDF5F1DE}"/>
              </a:ext>
            </a:extLst>
          </p:cNvPr>
          <p:cNvSpPr txBox="1"/>
          <p:nvPr/>
        </p:nvSpPr>
        <p:spPr>
          <a:xfrm>
            <a:off x="3181350" y="2257425"/>
            <a:ext cx="323850" cy="305212"/>
          </a:xfrm>
          <a:prstGeom prst="rect">
            <a:avLst/>
          </a:prstGeom>
          <a:noFill/>
        </p:spPr>
        <p:txBody>
          <a:bodyPr vert="horz" lIns="50800" tIns="25400" rIns="50800" bIns="25400" rtlCol="0" anchor="t">
            <a:noAutofit/>
          </a:bodyPr>
          <a:lstStyle/>
          <a:p>
            <a:pPr algn="ctr"/>
            <a:r>
              <a:rPr lang="en-GB" sz="1650">
                <a:solidFill>
                  <a:srgbClr val="1C2930"/>
                </a:solidFill>
                <a:latin typeface="Aptos" panose="020B0004020202020204" pitchFamily="34" charset="0"/>
              </a:rPr>
              <a:t>6</a:t>
            </a:r>
          </a:p>
        </p:txBody>
      </p:sp>
      <p:sp>
        <p:nvSpPr>
          <p:cNvPr id="40" name="TextBox 39">
            <a:extLst>
              <a:ext uri="{FF2B5EF4-FFF2-40B4-BE49-F238E27FC236}">
                <a16:creationId xmlns:a16="http://schemas.microsoft.com/office/drawing/2014/main" id="{D5AB01C7-81D5-CD15-02C7-B695E7B0F407}"/>
              </a:ext>
            </a:extLst>
          </p:cNvPr>
          <p:cNvSpPr txBox="1"/>
          <p:nvPr/>
        </p:nvSpPr>
        <p:spPr>
          <a:xfrm>
            <a:off x="8210550" y="3276600"/>
            <a:ext cx="323850" cy="305212"/>
          </a:xfrm>
          <a:prstGeom prst="rect">
            <a:avLst/>
          </a:prstGeom>
          <a:noFill/>
        </p:spPr>
        <p:txBody>
          <a:bodyPr vert="horz" lIns="50800" tIns="25400" rIns="50800" bIns="25400" rtlCol="0" anchor="t">
            <a:noAutofit/>
          </a:bodyPr>
          <a:lstStyle/>
          <a:p>
            <a:pPr algn="ctr"/>
            <a:r>
              <a:rPr lang="en-GB" sz="1650" dirty="0">
                <a:solidFill>
                  <a:srgbClr val="1C2930"/>
                </a:solidFill>
                <a:latin typeface="Aptos" panose="020B0004020202020204" pitchFamily="34" charset="0"/>
              </a:rPr>
              <a:t>3</a:t>
            </a:r>
          </a:p>
        </p:txBody>
      </p:sp>
      <p:sp>
        <p:nvSpPr>
          <p:cNvPr id="41" name="TextBox 40">
            <a:extLst>
              <a:ext uri="{FF2B5EF4-FFF2-40B4-BE49-F238E27FC236}">
                <a16:creationId xmlns:a16="http://schemas.microsoft.com/office/drawing/2014/main" id="{22430612-57D5-8C22-5D63-6CBE88AE8FEC}"/>
              </a:ext>
            </a:extLst>
          </p:cNvPr>
          <p:cNvSpPr txBox="1"/>
          <p:nvPr/>
        </p:nvSpPr>
        <p:spPr>
          <a:xfrm>
            <a:off x="8572501" y="2908042"/>
            <a:ext cx="2193130" cy="512961"/>
          </a:xfrm>
          <a:prstGeom prst="rect">
            <a:avLst/>
          </a:prstGeom>
          <a:noFill/>
        </p:spPr>
        <p:txBody>
          <a:bodyPr vert="horz" lIns="50800" tIns="25400" rIns="50800" bIns="25400" rtlCol="0" anchor="ctr">
            <a:noAutofit/>
          </a:bodyPr>
          <a:lstStyle/>
          <a:p>
            <a:r>
              <a:rPr lang="en-GB" sz="1500" b="1">
                <a:solidFill>
                  <a:srgbClr val="087E8B"/>
                </a:solidFill>
                <a:latin typeface="Aptos" panose="020B0004020202020204" pitchFamily="34" charset="0"/>
              </a:rPr>
              <a:t>Framtidens MNB deles på 1,5</a:t>
            </a:r>
          </a:p>
        </p:txBody>
      </p:sp>
      <p:cxnSp>
        <p:nvCxnSpPr>
          <p:cNvPr id="42" name="Straight Connector 41">
            <a:extLst>
              <a:ext uri="{FF2B5EF4-FFF2-40B4-BE49-F238E27FC236}">
                <a16:creationId xmlns:a16="http://schemas.microsoft.com/office/drawing/2014/main" id="{702DC595-BAF3-4E01-C49A-31F628F2269C}"/>
              </a:ext>
            </a:extLst>
          </p:cNvPr>
          <p:cNvCxnSpPr>
            <a:cxnSpLocks/>
          </p:cNvCxnSpPr>
          <p:nvPr/>
        </p:nvCxnSpPr>
        <p:spPr>
          <a:xfrm>
            <a:off x="6041231" y="4750594"/>
            <a:ext cx="0" cy="821531"/>
          </a:xfrm>
          <a:prstGeom prst="line">
            <a:avLst/>
          </a:prstGeom>
          <a:ln w="14288">
            <a:solidFill>
              <a:srgbClr val="1C2930"/>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22152F17-74A3-278A-2238-B8922EC2C81F}"/>
              </a:ext>
            </a:extLst>
          </p:cNvPr>
          <p:cNvSpPr txBox="1"/>
          <p:nvPr/>
        </p:nvSpPr>
        <p:spPr>
          <a:xfrm>
            <a:off x="4095750" y="2476500"/>
            <a:ext cx="1000125" cy="328295"/>
          </a:xfrm>
          <a:prstGeom prst="rect">
            <a:avLst/>
          </a:prstGeom>
          <a:noFill/>
        </p:spPr>
        <p:txBody>
          <a:bodyPr vert="horz" lIns="50800" tIns="25400" rIns="50800" bIns="25400" rtlCol="0" anchor="t">
            <a:noAutofit/>
          </a:bodyPr>
          <a:lstStyle/>
          <a:p>
            <a:pPr algn="ctr"/>
            <a:r>
              <a:rPr lang="en-GB" b="1">
                <a:solidFill>
                  <a:srgbClr val="A82AB3"/>
                </a:solidFill>
                <a:latin typeface="Aptos" panose="020B0004020202020204" pitchFamily="34" charset="0"/>
              </a:rPr>
              <a:t>MNB₁</a:t>
            </a:r>
          </a:p>
        </p:txBody>
      </p:sp>
      <p:sp>
        <p:nvSpPr>
          <p:cNvPr id="44" name="TextBox 43">
            <a:extLst>
              <a:ext uri="{FF2B5EF4-FFF2-40B4-BE49-F238E27FC236}">
                <a16:creationId xmlns:a16="http://schemas.microsoft.com/office/drawing/2014/main" id="{909ECE15-3457-F6D1-057F-67514A568EF5}"/>
              </a:ext>
            </a:extLst>
          </p:cNvPr>
          <p:cNvSpPr txBox="1"/>
          <p:nvPr/>
        </p:nvSpPr>
        <p:spPr>
          <a:xfrm>
            <a:off x="6810374" y="3091239"/>
            <a:ext cx="1285875" cy="328295"/>
          </a:xfrm>
          <a:prstGeom prst="rect">
            <a:avLst/>
          </a:prstGeom>
          <a:noFill/>
        </p:spPr>
        <p:txBody>
          <a:bodyPr vert="horz" lIns="50800" tIns="25400" rIns="50800" bIns="25400" rtlCol="0" anchor="t">
            <a:noAutofit/>
          </a:bodyPr>
          <a:lstStyle/>
          <a:p>
            <a:pPr algn="ctr"/>
            <a:r>
              <a:rPr lang="en-GB" sz="1725" b="1" dirty="0">
                <a:solidFill>
                  <a:srgbClr val="35B85C"/>
                </a:solidFill>
                <a:latin typeface="Aptos" panose="020B0004020202020204" pitchFamily="34" charset="0"/>
              </a:rPr>
              <a:t>PV(MNB₂)</a:t>
            </a:r>
          </a:p>
        </p:txBody>
      </p:sp>
      <p:sp>
        <p:nvSpPr>
          <p:cNvPr id="45" name="TextBox 44">
            <a:extLst>
              <a:ext uri="{FF2B5EF4-FFF2-40B4-BE49-F238E27FC236}">
                <a16:creationId xmlns:a16="http://schemas.microsoft.com/office/drawing/2014/main" id="{8B6B4245-F48F-8487-6EA6-48EA535856AC}"/>
              </a:ext>
            </a:extLst>
          </p:cNvPr>
          <p:cNvSpPr txBox="1"/>
          <p:nvPr/>
        </p:nvSpPr>
        <p:spPr>
          <a:xfrm>
            <a:off x="3429000" y="5619750"/>
            <a:ext cx="333375" cy="235962"/>
          </a:xfrm>
          <a:prstGeom prst="rect">
            <a:avLst/>
          </a:prstGeom>
          <a:noFill/>
        </p:spPr>
        <p:txBody>
          <a:bodyPr vert="horz" lIns="50800" tIns="25400" rIns="50800" bIns="25400" rtlCol="0" anchor="t">
            <a:noAutofit/>
          </a:bodyPr>
          <a:lstStyle/>
          <a:p>
            <a:pPr algn="ctr"/>
            <a:r>
              <a:rPr lang="en-GB" sz="1200">
                <a:solidFill>
                  <a:srgbClr val="1C2930"/>
                </a:solidFill>
                <a:latin typeface="Aptos" panose="020B0004020202020204" pitchFamily="34" charset="0"/>
              </a:rPr>
              <a:t>0</a:t>
            </a:r>
          </a:p>
        </p:txBody>
      </p:sp>
      <p:sp>
        <p:nvSpPr>
          <p:cNvPr id="46" name="TextBox 45">
            <a:extLst>
              <a:ext uri="{FF2B5EF4-FFF2-40B4-BE49-F238E27FC236}">
                <a16:creationId xmlns:a16="http://schemas.microsoft.com/office/drawing/2014/main" id="{110EFE95-3304-1551-AC4F-4458FC9B9982}"/>
              </a:ext>
            </a:extLst>
          </p:cNvPr>
          <p:cNvSpPr txBox="1"/>
          <p:nvPr/>
        </p:nvSpPr>
        <p:spPr>
          <a:xfrm>
            <a:off x="7886700" y="5619750"/>
            <a:ext cx="381000" cy="235962"/>
          </a:xfrm>
          <a:prstGeom prst="rect">
            <a:avLst/>
          </a:prstGeom>
          <a:noFill/>
        </p:spPr>
        <p:txBody>
          <a:bodyPr vert="horz" lIns="50800" tIns="25400" rIns="50800" bIns="25400" rtlCol="0" anchor="t">
            <a:noAutofit/>
          </a:bodyPr>
          <a:lstStyle/>
          <a:p>
            <a:pPr algn="ctr"/>
            <a:r>
              <a:rPr lang="en-GB" sz="1200">
                <a:solidFill>
                  <a:srgbClr val="1C2930"/>
                </a:solidFill>
                <a:latin typeface="Aptos" panose="020B0004020202020204" pitchFamily="34" charset="0"/>
              </a:rPr>
              <a:t>20</a:t>
            </a:r>
          </a:p>
        </p:txBody>
      </p:sp>
      <p:sp>
        <p:nvSpPr>
          <p:cNvPr id="47" name="TextBox 46">
            <a:extLst>
              <a:ext uri="{FF2B5EF4-FFF2-40B4-BE49-F238E27FC236}">
                <a16:creationId xmlns:a16="http://schemas.microsoft.com/office/drawing/2014/main" id="{F2CD6985-4489-30AA-271F-AB25F24D51CE}"/>
              </a:ext>
            </a:extLst>
          </p:cNvPr>
          <p:cNvSpPr txBox="1"/>
          <p:nvPr/>
        </p:nvSpPr>
        <p:spPr>
          <a:xfrm>
            <a:off x="3429000" y="6000750"/>
            <a:ext cx="381000" cy="235962"/>
          </a:xfrm>
          <a:prstGeom prst="rect">
            <a:avLst/>
          </a:prstGeom>
          <a:noFill/>
        </p:spPr>
        <p:txBody>
          <a:bodyPr vert="horz" lIns="50800" tIns="25400" rIns="50800" bIns="25400" rtlCol="0" anchor="t">
            <a:noAutofit/>
          </a:bodyPr>
          <a:lstStyle/>
          <a:p>
            <a:pPr algn="ctr"/>
            <a:r>
              <a:rPr lang="en-GB" sz="1200">
                <a:solidFill>
                  <a:srgbClr val="35B85C"/>
                </a:solidFill>
                <a:latin typeface="Aptos" panose="020B0004020202020204" pitchFamily="34" charset="0"/>
              </a:rPr>
              <a:t>20</a:t>
            </a:r>
          </a:p>
        </p:txBody>
      </p:sp>
      <p:sp>
        <p:nvSpPr>
          <p:cNvPr id="48" name="TextBox 47">
            <a:extLst>
              <a:ext uri="{FF2B5EF4-FFF2-40B4-BE49-F238E27FC236}">
                <a16:creationId xmlns:a16="http://schemas.microsoft.com/office/drawing/2014/main" id="{2470B3E8-3D83-F504-9C2B-E5B923FCBA77}"/>
              </a:ext>
            </a:extLst>
          </p:cNvPr>
          <p:cNvSpPr txBox="1"/>
          <p:nvPr/>
        </p:nvSpPr>
        <p:spPr>
          <a:xfrm>
            <a:off x="7981950" y="6000750"/>
            <a:ext cx="333375" cy="235962"/>
          </a:xfrm>
          <a:prstGeom prst="rect">
            <a:avLst/>
          </a:prstGeom>
          <a:noFill/>
        </p:spPr>
        <p:txBody>
          <a:bodyPr vert="horz" lIns="50800" tIns="25400" rIns="50800" bIns="25400" rtlCol="0" anchor="t">
            <a:noAutofit/>
          </a:bodyPr>
          <a:lstStyle/>
          <a:p>
            <a:pPr algn="ctr"/>
            <a:r>
              <a:rPr lang="en-GB" sz="1200">
                <a:solidFill>
                  <a:srgbClr val="35B85C"/>
                </a:solidFill>
                <a:latin typeface="Aptos" panose="020B0004020202020204" pitchFamily="34" charset="0"/>
              </a:rPr>
              <a:t>0</a:t>
            </a:r>
          </a:p>
        </p:txBody>
      </p:sp>
      <p:sp>
        <p:nvSpPr>
          <p:cNvPr id="49" name="TextBox 48">
            <a:extLst>
              <a:ext uri="{FF2B5EF4-FFF2-40B4-BE49-F238E27FC236}">
                <a16:creationId xmlns:a16="http://schemas.microsoft.com/office/drawing/2014/main" id="{4057C66A-B1F1-1C40-5722-6AEC31E278FD}"/>
              </a:ext>
            </a:extLst>
          </p:cNvPr>
          <p:cNvSpPr txBox="1"/>
          <p:nvPr/>
        </p:nvSpPr>
        <p:spPr>
          <a:xfrm>
            <a:off x="5362575" y="5667375"/>
            <a:ext cx="1428750" cy="282129"/>
          </a:xfrm>
          <a:prstGeom prst="rect">
            <a:avLst/>
          </a:prstGeom>
          <a:noFill/>
        </p:spPr>
        <p:txBody>
          <a:bodyPr vert="horz" lIns="50800" tIns="25400" rIns="50800" bIns="25400" rtlCol="0" anchor="t">
            <a:noAutofit/>
          </a:bodyPr>
          <a:lstStyle/>
          <a:p>
            <a:pPr algn="ctr"/>
            <a:r>
              <a:rPr lang="en-GB" sz="1500" b="1" dirty="0">
                <a:solidFill>
                  <a:srgbClr val="0B3D4F"/>
                </a:solidFill>
                <a:latin typeface="Aptos" panose="020B0004020202020204" pitchFamily="34" charset="0"/>
              </a:rPr>
              <a:t>q₁ = 11</a:t>
            </a:r>
          </a:p>
        </p:txBody>
      </p:sp>
      <p:sp>
        <p:nvSpPr>
          <p:cNvPr id="50" name="TextBox 49">
            <a:extLst>
              <a:ext uri="{FF2B5EF4-FFF2-40B4-BE49-F238E27FC236}">
                <a16:creationId xmlns:a16="http://schemas.microsoft.com/office/drawing/2014/main" id="{A54D8D8C-454C-F131-F479-06DA45187341}"/>
              </a:ext>
            </a:extLst>
          </p:cNvPr>
          <p:cNvSpPr txBox="1"/>
          <p:nvPr/>
        </p:nvSpPr>
        <p:spPr>
          <a:xfrm>
            <a:off x="5362575" y="6019800"/>
            <a:ext cx="1428750" cy="282129"/>
          </a:xfrm>
          <a:prstGeom prst="rect">
            <a:avLst/>
          </a:prstGeom>
          <a:noFill/>
        </p:spPr>
        <p:txBody>
          <a:bodyPr vert="horz" lIns="50800" tIns="25400" rIns="50800" bIns="25400" rtlCol="0" anchor="t">
            <a:noAutofit/>
          </a:bodyPr>
          <a:lstStyle/>
          <a:p>
            <a:pPr algn="ctr"/>
            <a:r>
              <a:rPr lang="en-GB" sz="1500" b="1">
                <a:solidFill>
                  <a:srgbClr val="0B3D4F"/>
                </a:solidFill>
                <a:latin typeface="Aptos" panose="020B0004020202020204" pitchFamily="34" charset="0"/>
              </a:rPr>
              <a:t>q₂ = 9</a:t>
            </a:r>
          </a:p>
        </p:txBody>
      </p:sp>
      <mc:AlternateContent xmlns:mc="http://schemas.openxmlformats.org/markup-compatibility/2006" xmlns:a14="http://schemas.microsoft.com/office/drawing/2010/main">
        <mc:Choice Requires="a14">
          <p:sp>
            <p:nvSpPr>
              <p:cNvPr id="3" name="Rectangle: Rounded Corners 8">
                <a:extLst>
                  <a:ext uri="{FF2B5EF4-FFF2-40B4-BE49-F238E27FC236}">
                    <a16:creationId xmlns:a16="http://schemas.microsoft.com/office/drawing/2014/main" id="{9D0B7A41-2F6A-ED43-AF1E-6EE48120F8D8}"/>
                  </a:ext>
                </a:extLst>
              </p:cNvPr>
              <p:cNvSpPr/>
              <p:nvPr/>
            </p:nvSpPr>
            <p:spPr>
              <a:xfrm>
                <a:off x="647700" y="1372356"/>
                <a:ext cx="1621631" cy="461665"/>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nb-NO" b="1" i="1" dirty="0" smtClean="0">
                          <a:solidFill>
                            <a:srgbClr val="0B3D4F"/>
                          </a:solidFill>
                          <a:latin typeface="Cambria Math" panose="02040503050406030204" pitchFamily="18" charset="0"/>
                        </a:rPr>
                        <m:t>𝒓</m:t>
                      </m:r>
                      <m:r>
                        <a:rPr lang="nb-NO" b="1" i="1" dirty="0" smtClean="0">
                          <a:solidFill>
                            <a:srgbClr val="0B3D4F"/>
                          </a:solidFill>
                          <a:latin typeface="Cambria Math" panose="02040503050406030204" pitchFamily="18" charset="0"/>
                        </a:rPr>
                        <m:t>=</m:t>
                      </m:r>
                      <m:r>
                        <a:rPr lang="nb-NO" b="1" i="1" dirty="0" smtClean="0">
                          <a:solidFill>
                            <a:srgbClr val="0B3D4F"/>
                          </a:solidFill>
                          <a:latin typeface="Cambria Math" panose="02040503050406030204" pitchFamily="18" charset="0"/>
                        </a:rPr>
                        <m:t>𝟓𝟎</m:t>
                      </m:r>
                      <m:r>
                        <a:rPr lang="nb-NO" b="1" i="1" dirty="0" smtClean="0">
                          <a:solidFill>
                            <a:srgbClr val="0B3D4F"/>
                          </a:solidFill>
                          <a:latin typeface="Cambria Math" panose="02040503050406030204" pitchFamily="18" charset="0"/>
                        </a:rPr>
                        <m:t>%</m:t>
                      </m:r>
                    </m:oMath>
                  </m:oMathPara>
                </a14:m>
                <a:endParaRPr lang="nb-NO" dirty="0"/>
              </a:p>
            </p:txBody>
          </p:sp>
        </mc:Choice>
        <mc:Fallback xmlns="">
          <p:sp>
            <p:nvSpPr>
              <p:cNvPr id="3" name="Rectangle: Rounded Corners 8">
                <a:extLst>
                  <a:ext uri="{FF2B5EF4-FFF2-40B4-BE49-F238E27FC236}">
                    <a16:creationId xmlns:a16="http://schemas.microsoft.com/office/drawing/2014/main" id="{9D0B7A41-2F6A-ED43-AF1E-6EE48120F8D8}"/>
                  </a:ext>
                </a:extLst>
              </p:cNvPr>
              <p:cNvSpPr>
                <a:spLocks noRot="1" noChangeAspect="1" noMove="1" noResize="1" noEditPoints="1" noAdjustHandles="1" noChangeArrowheads="1" noChangeShapeType="1" noTextEdit="1"/>
              </p:cNvSpPr>
              <p:nvPr/>
            </p:nvSpPr>
            <p:spPr>
              <a:xfrm>
                <a:off x="647700" y="1372356"/>
                <a:ext cx="1621631" cy="461665"/>
              </a:xfrm>
              <a:prstGeom prst="roundRect">
                <a:avLst/>
              </a:prstGeom>
              <a:blipFill>
                <a:blip r:embed="rId3"/>
                <a:stretch>
                  <a:fillRect/>
                </a:stretch>
              </a:blipFill>
              <a:ln w="14288">
                <a:solidFill>
                  <a:srgbClr val="087E8B"/>
                </a:solidFill>
              </a:ln>
            </p:spPr>
            <p:txBody>
              <a:bodyPr/>
              <a:lstStyle/>
              <a:p>
                <a:r>
                  <a:rPr lang="en-GB">
                    <a:noFill/>
                  </a:rPr>
                  <a:t> </a:t>
                </a:r>
              </a:p>
            </p:txBody>
          </p:sp>
        </mc:Fallback>
      </mc:AlternateContent>
    </p:spTree>
    <p:extLst>
      <p:ext uri="{BB962C8B-B14F-4D97-AF65-F5344CB8AC3E}">
        <p14:creationId xmlns:p14="http://schemas.microsoft.com/office/powerpoint/2010/main" val="3617690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36EE7C-B047-60B6-3B32-BE729A75A335}"/>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Oppgave 1: Ingen diskontering</a:t>
            </a:r>
          </a:p>
        </p:txBody>
      </p:sp>
      <p:sp>
        <p:nvSpPr>
          <p:cNvPr id="3" name="Rectangle 2">
            <a:extLst>
              <a:ext uri="{FF2B5EF4-FFF2-40B4-BE49-F238E27FC236}">
                <a16:creationId xmlns:a16="http://schemas.microsoft.com/office/drawing/2014/main" id="{8F0F5237-0451-9929-77FD-371ECC7B919B}"/>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42056C0B-5AF4-6943-BD34-6EE1C380A589}"/>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8C57ABD0-F537-4A97-BF0B-721853C0CA05}"/>
              </a:ext>
            </a:extLst>
          </p:cNvPr>
          <p:cNvSpPr/>
          <p:nvPr/>
        </p:nvSpPr>
        <p:spPr>
          <a:xfrm>
            <a:off x="723900" y="1381125"/>
            <a:ext cx="10744200" cy="361950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EB051C5-48DB-C62B-F40E-2E769E8BCA17}"/>
              </a:ext>
            </a:extLst>
          </p:cNvPr>
          <p:cNvSpPr/>
          <p:nvPr/>
        </p:nvSpPr>
        <p:spPr>
          <a:xfrm>
            <a:off x="723900" y="1381125"/>
            <a:ext cx="95250" cy="361950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077FA50-7AAC-3D45-1911-D7C48677C240}"/>
                  </a:ext>
                </a:extLst>
              </p:cNvPr>
              <p:cNvSpPr txBox="1"/>
              <p:nvPr/>
            </p:nvSpPr>
            <p:spPr>
              <a:xfrm>
                <a:off x="5372100" y="1018205"/>
                <a:ext cx="2593181" cy="362920"/>
              </a:xfrm>
              <a:prstGeom prst="rect">
                <a:avLst/>
              </a:prstGeom>
              <a:noFill/>
            </p:spPr>
            <p:txBody>
              <a:bodyPr vert="horz" lIns="50800" tIns="25400" rIns="50800" bIns="25400" rtlCol="0" anchor="t">
                <a:noAutofit/>
              </a:bodyPr>
              <a:lstStyle/>
              <a:p>
                <a:pPr/>
                <a14:m>
                  <m:oMathPara xmlns:m="http://schemas.openxmlformats.org/officeDocument/2006/math">
                    <m:oMath>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₁ + </m:t>
                      </m:r>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₂ = 20</m:t>
                      </m:r>
                    </m:oMath>
                  </m:oMathPara>
                </a14:m>
                <a:endParaRPr dirty="0"/>
              </a:p>
            </p:txBody>
          </p:sp>
        </mc:Choice>
        <mc:Fallback xmlns="">
          <p:sp>
            <p:nvSpPr>
              <p:cNvPr id="8" name="TextBox 7">
                <a:extLst>
                  <a:ext uri="{FF2B5EF4-FFF2-40B4-BE49-F238E27FC236}">
                    <a16:creationId xmlns:a16="http://schemas.microsoft.com/office/drawing/2014/main" id="{2077FA50-7AAC-3D45-1911-D7C48677C240}"/>
                  </a:ext>
                </a:extLst>
              </p:cNvPr>
              <p:cNvSpPr txBox="1">
                <a:spLocks noRot="1" noChangeAspect="1" noMove="1" noResize="1" noEditPoints="1" noAdjustHandles="1" noChangeArrowheads="1" noChangeShapeType="1" noTextEdit="1"/>
              </p:cNvSpPr>
              <p:nvPr/>
            </p:nvSpPr>
            <p:spPr>
              <a:xfrm>
                <a:off x="5372100" y="1018205"/>
                <a:ext cx="2593181" cy="362920"/>
              </a:xfrm>
              <a:prstGeom prst="rect">
                <a:avLst/>
              </a:prstGeom>
              <a:blipFill>
                <a:blip r:embed="rId3"/>
                <a:stretch>
                  <a:fillRect b="-11667"/>
                </a:stretch>
              </a:blipFill>
            </p:spPr>
            <p:txBody>
              <a:bodyPr/>
              <a:lstStyle/>
              <a:p>
                <a:r>
                  <a:rPr lang="nb-NO">
                    <a:noFill/>
                  </a:rPr>
                  <a:t> </a:t>
                </a:r>
              </a:p>
            </p:txBody>
          </p:sp>
        </mc:Fallback>
      </mc:AlternateContent>
      <p:sp>
        <p:nvSpPr>
          <p:cNvPr id="9" name="TextBox 8">
            <a:extLst>
              <a:ext uri="{FF2B5EF4-FFF2-40B4-BE49-F238E27FC236}">
                <a16:creationId xmlns:a16="http://schemas.microsoft.com/office/drawing/2014/main" id="{F3654ABC-0C8C-ED14-0C37-32727C522DFB}"/>
              </a:ext>
            </a:extLst>
          </p:cNvPr>
          <p:cNvSpPr txBox="1"/>
          <p:nvPr/>
        </p:nvSpPr>
        <p:spPr>
          <a:xfrm>
            <a:off x="947737" y="1552054"/>
            <a:ext cx="9953625" cy="328295"/>
          </a:xfrm>
          <a:prstGeom prst="rect">
            <a:avLst/>
          </a:prstGeom>
          <a:noFill/>
        </p:spPr>
        <p:txBody>
          <a:bodyPr vert="horz" lIns="50800" tIns="25400" rIns="50800" bIns="25400" rtlCol="0" anchor="t">
            <a:noAutofit/>
          </a:bodyPr>
          <a:lstStyle/>
          <a:p>
            <a:r>
              <a:rPr lang="en-GB" sz="1725" dirty="0">
                <a:solidFill>
                  <a:srgbClr val="1C2930"/>
                </a:solidFill>
                <a:latin typeface="Aptos" panose="020B0004020202020204" pitchFamily="34" charset="0"/>
              </a:rPr>
              <a:t>Finn </a:t>
            </a:r>
            <a:r>
              <a:rPr lang="en-GB" sz="1725" dirty="0" err="1">
                <a:solidFill>
                  <a:srgbClr val="1C2930"/>
                </a:solidFill>
                <a:latin typeface="Aptos" panose="020B0004020202020204" pitchFamily="34" charset="0"/>
              </a:rPr>
              <a:t>mengde</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og</a:t>
            </a:r>
            <a:r>
              <a:rPr lang="en-GB" sz="1725" dirty="0">
                <a:solidFill>
                  <a:srgbClr val="1C2930"/>
                </a:solidFill>
                <a:latin typeface="Aptos" panose="020B0004020202020204" pitchFamily="34" charset="0"/>
              </a:rPr>
              <a:t> pris </a:t>
            </a:r>
            <a:r>
              <a:rPr lang="en-GB" sz="1725" dirty="0" err="1">
                <a:solidFill>
                  <a:srgbClr val="1C2930"/>
                </a:solidFill>
                <a:latin typeface="Aptos" panose="020B0004020202020204" pitchFamily="34" charset="0"/>
              </a:rPr>
              <a:t>i</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begge</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perioder</a:t>
            </a:r>
            <a:r>
              <a:rPr lang="en-GB" sz="1725" dirty="0">
                <a:solidFill>
                  <a:srgbClr val="1C2930"/>
                </a:solidFill>
                <a:latin typeface="Aptos" panose="020B0004020202020204" pitchFamily="34" charset="0"/>
              </a:rPr>
              <a:t>.</a:t>
            </a:r>
          </a:p>
        </p:txBody>
      </p:sp>
      <mc:AlternateContent xmlns:mc="http://schemas.openxmlformats.org/markup-compatibility/2006" xmlns:a14="http://schemas.microsoft.com/office/drawing/2010/main">
        <mc:Choice Requires="a14">
          <p:sp>
            <p:nvSpPr>
              <p:cNvPr id="10" name="TextBox 13">
                <a:extLst>
                  <a:ext uri="{FF2B5EF4-FFF2-40B4-BE49-F238E27FC236}">
                    <a16:creationId xmlns:a16="http://schemas.microsoft.com/office/drawing/2014/main" id="{C8BF121E-2883-6784-CD2C-6E1EE0B5B0C8}"/>
                  </a:ext>
                </a:extLst>
              </p:cNvPr>
              <p:cNvSpPr txBox="1"/>
              <p:nvPr/>
            </p:nvSpPr>
            <p:spPr>
              <a:xfrm>
                <a:off x="5629275" y="109230"/>
                <a:ext cx="1809750"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1</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20+15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0" name="TextBox 13">
                <a:extLst>
                  <a:ext uri="{FF2B5EF4-FFF2-40B4-BE49-F238E27FC236}">
                    <a16:creationId xmlns:a16="http://schemas.microsoft.com/office/drawing/2014/main" id="{C8BF121E-2883-6784-CD2C-6E1EE0B5B0C8}"/>
                  </a:ext>
                </a:extLst>
              </p:cNvPr>
              <p:cNvSpPr txBox="1">
                <a:spLocks noRot="1" noChangeAspect="1" noMove="1" noResize="1" noEditPoints="1" noAdjustHandles="1" noChangeArrowheads="1" noChangeShapeType="1" noTextEdit="1"/>
              </p:cNvSpPr>
              <p:nvPr/>
            </p:nvSpPr>
            <p:spPr>
              <a:xfrm>
                <a:off x="5629275" y="109230"/>
                <a:ext cx="1809750" cy="813232"/>
              </a:xfrm>
              <a:prstGeom prst="rect">
                <a:avLst/>
              </a:prstGeom>
              <a:blipFill>
                <a:blip r:embed="rId4"/>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2" name="TextBox 13">
                <a:extLst>
                  <a:ext uri="{FF2B5EF4-FFF2-40B4-BE49-F238E27FC236}">
                    <a16:creationId xmlns:a16="http://schemas.microsoft.com/office/drawing/2014/main" id="{2C286EE9-CE0E-8183-364C-76C27A71BAFE}"/>
                  </a:ext>
                </a:extLst>
              </p:cNvPr>
              <p:cNvSpPr txBox="1"/>
              <p:nvPr/>
            </p:nvSpPr>
            <p:spPr>
              <a:xfrm>
                <a:off x="7629525" y="109230"/>
                <a:ext cx="1885950"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2</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2" name="TextBox 13">
                <a:extLst>
                  <a:ext uri="{FF2B5EF4-FFF2-40B4-BE49-F238E27FC236}">
                    <a16:creationId xmlns:a16="http://schemas.microsoft.com/office/drawing/2014/main" id="{2C286EE9-CE0E-8183-364C-76C27A71BAFE}"/>
                  </a:ext>
                </a:extLst>
              </p:cNvPr>
              <p:cNvSpPr txBox="1">
                <a:spLocks noRot="1" noChangeAspect="1" noMove="1" noResize="1" noEditPoints="1" noAdjustHandles="1" noChangeArrowheads="1" noChangeShapeType="1" noTextEdit="1"/>
              </p:cNvSpPr>
              <p:nvPr/>
            </p:nvSpPr>
            <p:spPr>
              <a:xfrm>
                <a:off x="7629525" y="109230"/>
                <a:ext cx="1885950" cy="813232"/>
              </a:xfrm>
              <a:prstGeom prst="rect">
                <a:avLst/>
              </a:prstGeom>
              <a:blipFill>
                <a:blip r:embed="rId5"/>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48070FC-1FBC-5DF0-EFBE-78B59A7A06B1}"/>
                  </a:ext>
                </a:extLst>
              </p:cNvPr>
              <p:cNvSpPr txBox="1"/>
              <p:nvPr/>
            </p:nvSpPr>
            <p:spPr>
              <a:xfrm>
                <a:off x="9944100" y="109230"/>
                <a:ext cx="1433513" cy="813232"/>
              </a:xfrm>
              <a:prstGeom prst="rect">
                <a:avLst/>
              </a:prstGeom>
              <a:noFill/>
            </p:spPr>
            <p:txBody>
              <a:bodyPr vert="horz" lIns="50800" tIns="25400" rIns="50800" bIns="25400" rtlCol="0" anchor="ctr">
                <a:noAutofit/>
              </a:bodyPr>
              <a:lstStyle/>
              <a:p>
                <a:pPr algn="ctr"/>
                <a14:m>
                  <m:oMathPara xmlns:m="http://schemas.openxmlformats.org/officeDocument/2006/math">
                    <m:oMath>
                      <m:r>
                        <a:rPr lang="nb-NO" b="0" i="1" smtClean="0">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4</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4" name="TextBox 13">
                <a:extLst>
                  <a:ext uri="{FF2B5EF4-FFF2-40B4-BE49-F238E27FC236}">
                    <a16:creationId xmlns:a16="http://schemas.microsoft.com/office/drawing/2014/main" id="{C48070FC-1FBC-5DF0-EFBE-78B59A7A06B1}"/>
                  </a:ext>
                </a:extLst>
              </p:cNvPr>
              <p:cNvSpPr txBox="1">
                <a:spLocks noRot="1" noChangeAspect="1" noMove="1" noResize="1" noEditPoints="1" noAdjustHandles="1" noChangeArrowheads="1" noChangeShapeType="1" noTextEdit="1"/>
              </p:cNvSpPr>
              <p:nvPr/>
            </p:nvSpPr>
            <p:spPr>
              <a:xfrm>
                <a:off x="9944100" y="109230"/>
                <a:ext cx="1433513" cy="813232"/>
              </a:xfrm>
              <a:prstGeom prst="rect">
                <a:avLst/>
              </a:prstGeom>
              <a:blipFill>
                <a:blip r:embed="rId6"/>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152089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0636CD-F2B8-4DE8-2920-B747584405BD}"/>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Skriveside: ingen diskontering</a:t>
            </a:r>
          </a:p>
        </p:txBody>
      </p:sp>
      <p:sp>
        <p:nvSpPr>
          <p:cNvPr id="3" name="Rectangle 2">
            <a:extLst>
              <a:ext uri="{FF2B5EF4-FFF2-40B4-BE49-F238E27FC236}">
                <a16:creationId xmlns:a16="http://schemas.microsoft.com/office/drawing/2014/main" id="{1C561BD2-BD9C-122F-814D-3F8C6C9DF429}"/>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7A91AC8-017F-C82F-A4D3-493AF43360DB}"/>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9B2A990-AAD5-DD57-CBB0-F893CB2515BE}"/>
                  </a:ext>
                </a:extLst>
              </p:cNvPr>
              <p:cNvSpPr txBox="1"/>
              <p:nvPr/>
            </p:nvSpPr>
            <p:spPr>
              <a:xfrm>
                <a:off x="781050" y="1173313"/>
                <a:ext cx="10629900" cy="362920"/>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025" b="1" i="1" dirty="0" smtClean="0">
                          <a:solidFill>
                            <a:srgbClr val="0B3D4F"/>
                          </a:solidFill>
                          <a:latin typeface="Cambria Math" panose="02040503050406030204" pitchFamily="18" charset="0"/>
                        </a:rPr>
                        <m:t>𝟔</m:t>
                      </m:r>
                      <m:r>
                        <a:rPr lang="en-GB" sz="2025" b="1" i="1" dirty="0" smtClean="0">
                          <a:solidFill>
                            <a:srgbClr val="0B3D4F"/>
                          </a:solidFill>
                          <a:latin typeface="Cambria Math" panose="02040503050406030204" pitchFamily="18" charset="0"/>
                        </a:rPr>
                        <m:t> − </m:t>
                      </m:r>
                      <m:r>
                        <a:rPr lang="en-GB" sz="2025" b="1" i="1" dirty="0" smtClean="0">
                          <a:solidFill>
                            <a:srgbClr val="0B3D4F"/>
                          </a:solidFill>
                          <a:latin typeface="Cambria Math" panose="02040503050406030204" pitchFamily="18" charset="0"/>
                        </a:rPr>
                        <m:t>𝟎</m:t>
                      </m:r>
                      <m:r>
                        <a:rPr lang="en-GB" sz="2025" b="1" i="1" dirty="0" smtClean="0">
                          <a:solidFill>
                            <a:srgbClr val="0B3D4F"/>
                          </a:solidFill>
                          <a:latin typeface="Cambria Math" panose="02040503050406030204" pitchFamily="18" charset="0"/>
                        </a:rPr>
                        <m:t>,</m:t>
                      </m:r>
                      <m:r>
                        <a:rPr lang="en-GB" sz="2025" b="1" i="1" dirty="0" smtClean="0">
                          <a:solidFill>
                            <a:srgbClr val="0B3D4F"/>
                          </a:solidFill>
                          <a:latin typeface="Cambria Math" panose="02040503050406030204" pitchFamily="18" charset="0"/>
                        </a:rPr>
                        <m:t>𝟒</m:t>
                      </m:r>
                      <m:r>
                        <a:rPr lang="en-GB" sz="2025" b="1" i="1" dirty="0" smtClean="0">
                          <a:solidFill>
                            <a:srgbClr val="0B3D4F"/>
                          </a:solidFill>
                          <a:latin typeface="Cambria Math" panose="02040503050406030204" pitchFamily="18" charset="0"/>
                        </a:rPr>
                        <m:t>𝒒</m:t>
                      </m:r>
                      <m:r>
                        <a:rPr lang="en-GB" sz="2025" b="1" i="1" dirty="0" smtClean="0">
                          <a:solidFill>
                            <a:srgbClr val="0B3D4F"/>
                          </a:solidFill>
                          <a:latin typeface="Cambria Math" panose="02040503050406030204" pitchFamily="18" charset="0"/>
                        </a:rPr>
                        <m:t>₁ = </m:t>
                      </m:r>
                      <m:r>
                        <a:rPr lang="en-GB" sz="2025" b="1" i="1" dirty="0" smtClean="0">
                          <a:solidFill>
                            <a:srgbClr val="0B3D4F"/>
                          </a:solidFill>
                          <a:latin typeface="Cambria Math" panose="02040503050406030204" pitchFamily="18" charset="0"/>
                        </a:rPr>
                        <m:t>𝟔</m:t>
                      </m:r>
                      <m:r>
                        <a:rPr lang="en-GB" sz="2025" b="1" i="1" dirty="0" smtClean="0">
                          <a:solidFill>
                            <a:srgbClr val="0B3D4F"/>
                          </a:solidFill>
                          <a:latin typeface="Cambria Math" panose="02040503050406030204" pitchFamily="18" charset="0"/>
                        </a:rPr>
                        <m:t> − </m:t>
                      </m:r>
                      <m:r>
                        <a:rPr lang="en-GB" sz="2025" b="1" i="1" dirty="0" smtClean="0">
                          <a:solidFill>
                            <a:srgbClr val="0B3D4F"/>
                          </a:solidFill>
                          <a:latin typeface="Cambria Math" panose="02040503050406030204" pitchFamily="18" charset="0"/>
                        </a:rPr>
                        <m:t>𝟎</m:t>
                      </m:r>
                      <m:r>
                        <a:rPr lang="en-GB" sz="2025" b="1" i="1" dirty="0" smtClean="0">
                          <a:solidFill>
                            <a:srgbClr val="0B3D4F"/>
                          </a:solidFill>
                          <a:latin typeface="Cambria Math" panose="02040503050406030204" pitchFamily="18" charset="0"/>
                        </a:rPr>
                        <m:t>,</m:t>
                      </m:r>
                      <m:r>
                        <a:rPr lang="en-GB" sz="2025" b="1" i="1" dirty="0" smtClean="0">
                          <a:solidFill>
                            <a:srgbClr val="0B3D4F"/>
                          </a:solidFill>
                          <a:latin typeface="Cambria Math" panose="02040503050406030204" pitchFamily="18" charset="0"/>
                        </a:rPr>
                        <m:t>𝟒</m:t>
                      </m:r>
                      <m:r>
                        <a:rPr lang="en-GB" sz="2025" b="1" i="1" dirty="0" smtClean="0">
                          <a:solidFill>
                            <a:srgbClr val="0B3D4F"/>
                          </a:solidFill>
                          <a:latin typeface="Cambria Math" panose="02040503050406030204" pitchFamily="18" charset="0"/>
                        </a:rPr>
                        <m:t>𝒒</m:t>
                      </m:r>
                      <m:r>
                        <a:rPr lang="en-GB" sz="2025" b="1" i="1" dirty="0" smtClean="0">
                          <a:solidFill>
                            <a:srgbClr val="0B3D4F"/>
                          </a:solidFill>
                          <a:latin typeface="Cambria Math" panose="02040503050406030204" pitchFamily="18" charset="0"/>
                        </a:rPr>
                        <m:t>₂     </m:t>
                      </m:r>
                      <m:r>
                        <a:rPr lang="en-GB" sz="2025" b="1" i="1" dirty="0" err="1">
                          <a:solidFill>
                            <a:srgbClr val="0B3D4F"/>
                          </a:solidFill>
                          <a:latin typeface="Cambria Math" panose="02040503050406030204" pitchFamily="18" charset="0"/>
                        </a:rPr>
                        <m:t>𝒐𝒈</m:t>
                      </m:r>
                      <m:r>
                        <a:rPr lang="en-GB" sz="2025" b="1" i="1" dirty="0">
                          <a:solidFill>
                            <a:srgbClr val="0B3D4F"/>
                          </a:solidFill>
                          <a:latin typeface="Cambria Math" panose="02040503050406030204" pitchFamily="18" charset="0"/>
                        </a:rPr>
                        <m:t>     </m:t>
                      </m:r>
                      <m:r>
                        <a:rPr lang="en-GB" sz="2025" b="1" i="1" dirty="0">
                          <a:solidFill>
                            <a:srgbClr val="0B3D4F"/>
                          </a:solidFill>
                          <a:latin typeface="Cambria Math" panose="02040503050406030204" pitchFamily="18" charset="0"/>
                        </a:rPr>
                        <m:t>𝒒</m:t>
                      </m:r>
                      <m:r>
                        <a:rPr lang="en-GB" sz="2025" b="1" i="1" dirty="0">
                          <a:solidFill>
                            <a:srgbClr val="0B3D4F"/>
                          </a:solidFill>
                          <a:latin typeface="Cambria Math" panose="02040503050406030204" pitchFamily="18" charset="0"/>
                        </a:rPr>
                        <m:t>₁ + </m:t>
                      </m:r>
                      <m:r>
                        <a:rPr lang="en-GB" sz="2025" b="1" i="1" dirty="0">
                          <a:solidFill>
                            <a:srgbClr val="0B3D4F"/>
                          </a:solidFill>
                          <a:latin typeface="Cambria Math" panose="02040503050406030204" pitchFamily="18" charset="0"/>
                        </a:rPr>
                        <m:t>𝒒</m:t>
                      </m:r>
                      <m:r>
                        <a:rPr lang="en-GB" sz="2025" b="1" i="1" dirty="0">
                          <a:solidFill>
                            <a:srgbClr val="0B3D4F"/>
                          </a:solidFill>
                          <a:latin typeface="Cambria Math" panose="02040503050406030204" pitchFamily="18" charset="0"/>
                        </a:rPr>
                        <m:t>₂ = </m:t>
                      </m:r>
                      <m:r>
                        <a:rPr lang="en-GB" sz="2025" b="1" i="1" dirty="0">
                          <a:solidFill>
                            <a:srgbClr val="0B3D4F"/>
                          </a:solidFill>
                          <a:latin typeface="Cambria Math" panose="02040503050406030204" pitchFamily="18" charset="0"/>
                        </a:rPr>
                        <m:t>𝟐𝟎</m:t>
                      </m:r>
                    </m:oMath>
                  </m:oMathPara>
                </a14:m>
                <a:endParaRPr/>
              </a:p>
            </p:txBody>
          </p:sp>
        </mc:Choice>
        <mc:Fallback xmlns="">
          <p:sp>
            <p:nvSpPr>
              <p:cNvPr id="6" name="TextBox 5">
                <a:extLst>
                  <a:ext uri="{FF2B5EF4-FFF2-40B4-BE49-F238E27FC236}">
                    <a16:creationId xmlns:a16="http://schemas.microsoft.com/office/drawing/2014/main" id="{69B2A990-AAD5-DD57-CBB0-F893CB2515BE}"/>
                  </a:ext>
                </a:extLst>
              </p:cNvPr>
              <p:cNvSpPr txBox="1">
                <a:spLocks noRot="1" noChangeAspect="1" noMove="1" noResize="1" noEditPoints="1" noAdjustHandles="1" noChangeArrowheads="1" noChangeShapeType="1" noTextEdit="1"/>
              </p:cNvSpPr>
              <p:nvPr/>
            </p:nvSpPr>
            <p:spPr>
              <a:xfrm>
                <a:off x="781050" y="1173313"/>
                <a:ext cx="10629900" cy="362920"/>
              </a:xfrm>
              <a:prstGeom prst="rect">
                <a:avLst/>
              </a:prstGeom>
              <a:blipFill>
                <a:blip r:embed="rId3"/>
                <a:stretch>
                  <a:fillRect t="-13333" b="-33333"/>
                </a:stretch>
              </a:blipFill>
            </p:spPr>
            <p:txBody>
              <a:bodyPr/>
              <a:lstStyle/>
              <a:p>
                <a:r>
                  <a:rPr lang="en-GB">
                    <a:noFill/>
                  </a:rPr>
                  <a:t> </a:t>
                </a:r>
              </a:p>
            </p:txBody>
          </p:sp>
        </mc:Fallback>
      </mc:AlternateContent>
      <p:sp>
        <p:nvSpPr>
          <p:cNvPr id="7" name="Rectangle: Rounded Corners 6">
            <a:extLst>
              <a:ext uri="{FF2B5EF4-FFF2-40B4-BE49-F238E27FC236}">
                <a16:creationId xmlns:a16="http://schemas.microsoft.com/office/drawing/2014/main" id="{17131950-CE55-A554-4247-D8EE89178331}"/>
              </a:ext>
            </a:extLst>
          </p:cNvPr>
          <p:cNvSpPr/>
          <p:nvPr/>
        </p:nvSpPr>
        <p:spPr>
          <a:xfrm>
            <a:off x="781050" y="1709421"/>
            <a:ext cx="10629900" cy="4481829"/>
          </a:xfrm>
          <a:prstGeom prst="roundRect">
            <a:avLst/>
          </a:prstGeom>
          <a:solidFill>
            <a:srgbClr val="FFFFFF"/>
          </a:solidFill>
          <a:ln w="19050">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46487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3528C3-25D7-B04B-B94A-9E01A76E3C12}"/>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Løsning uten diskontering</a:t>
            </a:r>
          </a:p>
        </p:txBody>
      </p:sp>
      <p:sp>
        <p:nvSpPr>
          <p:cNvPr id="3" name="Rectangle 2">
            <a:extLst>
              <a:ext uri="{FF2B5EF4-FFF2-40B4-BE49-F238E27FC236}">
                <a16:creationId xmlns:a16="http://schemas.microsoft.com/office/drawing/2014/main" id="{6995B6F1-B517-4576-447A-962D72237D48}"/>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0197BA9-6C1B-569F-D20D-D9CDF7A6E72B}"/>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14120E5D-0F82-F64D-2D60-8FE321FD1C13}"/>
              </a:ext>
            </a:extLst>
          </p:cNvPr>
          <p:cNvSpPr/>
          <p:nvPr/>
        </p:nvSpPr>
        <p:spPr>
          <a:xfrm>
            <a:off x="3524250" y="1381125"/>
            <a:ext cx="5143500" cy="8001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A82608-B85B-A347-E45B-2E6369B9153D}"/>
                  </a:ext>
                </a:extLst>
              </p:cNvPr>
              <p:cNvSpPr txBox="1"/>
              <p:nvPr/>
            </p:nvSpPr>
            <p:spPr>
              <a:xfrm>
                <a:off x="3638550" y="1554000"/>
                <a:ext cx="4914900" cy="478336"/>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sz="2775" b="1" i="1" dirty="0" smtClean="0">
                              <a:solidFill>
                                <a:srgbClr val="0B3D4F"/>
                              </a:solidFill>
                              <a:latin typeface="Cambria Math" panose="02040503050406030204" pitchFamily="18" charset="0"/>
                            </a:rPr>
                          </m:ctrlPr>
                        </m:sSubSupPr>
                        <m:e>
                          <m:r>
                            <a:rPr lang="nb-NO" sz="2775" b="1" i="1" dirty="0" smtClean="0">
                              <a:solidFill>
                                <a:srgbClr val="0B3D4F"/>
                              </a:solidFill>
                              <a:latin typeface="Cambria Math" panose="02040503050406030204" pitchFamily="18" charset="0"/>
                            </a:rPr>
                            <m:t>𝒒</m:t>
                          </m:r>
                        </m:e>
                        <m:sub>
                          <m:r>
                            <a:rPr lang="nb-NO" sz="2775" b="1" i="1" dirty="0" smtClean="0">
                              <a:solidFill>
                                <a:srgbClr val="0B3D4F"/>
                              </a:solidFill>
                              <a:latin typeface="Cambria Math" panose="02040503050406030204" pitchFamily="18" charset="0"/>
                            </a:rPr>
                            <m:t>𝟏</m:t>
                          </m:r>
                        </m:sub>
                        <m:sup>
                          <m:r>
                            <a:rPr lang="nb-NO" sz="2775" b="1" i="1" dirty="0" smtClean="0">
                              <a:solidFill>
                                <a:srgbClr val="0B3D4F"/>
                              </a:solidFill>
                              <a:latin typeface="Cambria Math" panose="02040503050406030204" pitchFamily="18" charset="0"/>
                            </a:rPr>
                            <m:t>∗</m:t>
                          </m:r>
                        </m:sup>
                      </m:sSubSup>
                      <m:r>
                        <a:rPr lang="en-GB" sz="2775" b="1" i="1" dirty="0" smtClean="0">
                          <a:solidFill>
                            <a:srgbClr val="0B3D4F"/>
                          </a:solidFill>
                          <a:latin typeface="Cambria Math" panose="02040503050406030204" pitchFamily="18" charset="0"/>
                        </a:rPr>
                        <m:t> =</m:t>
                      </m:r>
                      <m:sSubSup>
                        <m:sSubSupPr>
                          <m:ctrlPr>
                            <a:rPr lang="nb-NO" sz="2775" b="1" i="1" dirty="0">
                              <a:solidFill>
                                <a:srgbClr val="0B3D4F"/>
                              </a:solidFill>
                              <a:latin typeface="Cambria Math" panose="02040503050406030204" pitchFamily="18" charset="0"/>
                            </a:rPr>
                          </m:ctrlPr>
                        </m:sSubSupPr>
                        <m:e>
                          <m:r>
                            <a:rPr lang="nb-NO" sz="2775" b="1" i="1" dirty="0">
                              <a:solidFill>
                                <a:srgbClr val="0B3D4F"/>
                              </a:solidFill>
                              <a:latin typeface="Cambria Math" panose="02040503050406030204" pitchFamily="18" charset="0"/>
                            </a:rPr>
                            <m:t>𝒒</m:t>
                          </m:r>
                        </m:e>
                        <m:sub>
                          <m:r>
                            <a:rPr lang="nb-NO" sz="2775" b="1" i="1" dirty="0" smtClean="0">
                              <a:solidFill>
                                <a:srgbClr val="0B3D4F"/>
                              </a:solidFill>
                              <a:latin typeface="Cambria Math" panose="02040503050406030204" pitchFamily="18" charset="0"/>
                            </a:rPr>
                            <m:t>𝟐</m:t>
                          </m:r>
                        </m:sub>
                        <m:sup>
                          <m:r>
                            <a:rPr lang="nb-NO" sz="2775" b="1" i="1" dirty="0">
                              <a:solidFill>
                                <a:srgbClr val="0B3D4F"/>
                              </a:solidFill>
                              <a:latin typeface="Cambria Math" panose="02040503050406030204" pitchFamily="18" charset="0"/>
                            </a:rPr>
                            <m:t>∗</m:t>
                          </m:r>
                        </m:sup>
                      </m:sSubSup>
                      <m:r>
                        <a:rPr lang="en-GB" sz="2775" b="1" i="1" dirty="0" smtClean="0">
                          <a:solidFill>
                            <a:srgbClr val="0B3D4F"/>
                          </a:solidFill>
                          <a:latin typeface="Cambria Math" panose="02040503050406030204" pitchFamily="18" charset="0"/>
                        </a:rPr>
                        <m:t>= </m:t>
                      </m:r>
                      <m:r>
                        <a:rPr lang="en-GB" sz="2775" b="1" i="1" dirty="0" smtClean="0">
                          <a:solidFill>
                            <a:srgbClr val="0B3D4F"/>
                          </a:solidFill>
                          <a:latin typeface="Cambria Math" panose="02040503050406030204" pitchFamily="18" charset="0"/>
                        </a:rPr>
                        <m:t>𝟏𝟎</m:t>
                      </m:r>
                    </m:oMath>
                  </m:oMathPara>
                </a14:m>
                <a:endParaRPr dirty="0"/>
              </a:p>
            </p:txBody>
          </p:sp>
        </mc:Choice>
        <mc:Fallback xmlns="">
          <p:sp>
            <p:nvSpPr>
              <p:cNvPr id="7" name="TextBox 6">
                <a:extLst>
                  <a:ext uri="{FF2B5EF4-FFF2-40B4-BE49-F238E27FC236}">
                    <a16:creationId xmlns:a16="http://schemas.microsoft.com/office/drawing/2014/main" id="{04A82608-B85B-A347-E45B-2E6369B9153D}"/>
                  </a:ext>
                </a:extLst>
              </p:cNvPr>
              <p:cNvSpPr txBox="1">
                <a:spLocks noRot="1" noChangeAspect="1" noMove="1" noResize="1" noEditPoints="1" noAdjustHandles="1" noChangeArrowheads="1" noChangeShapeType="1" noTextEdit="1"/>
              </p:cNvSpPr>
              <p:nvPr/>
            </p:nvSpPr>
            <p:spPr>
              <a:xfrm>
                <a:off x="3638550" y="1554000"/>
                <a:ext cx="4914900" cy="478336"/>
              </a:xfrm>
              <a:prstGeom prst="rect">
                <a:avLst/>
              </a:prstGeom>
              <a:blipFill>
                <a:blip r:embed="rId2"/>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FB30E7E9-BFDA-3A4C-FCD8-8CE307DC293D}"/>
              </a:ext>
            </a:extLst>
          </p:cNvPr>
          <p:cNvSpPr/>
          <p:nvPr/>
        </p:nvSpPr>
        <p:spPr>
          <a:xfrm>
            <a:off x="2667000" y="2667000"/>
            <a:ext cx="6858000" cy="8001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ADE6763-F2F7-1CF9-5ECE-A0CABC9DC306}"/>
                  </a:ext>
                </a:extLst>
              </p:cNvPr>
              <p:cNvSpPr txBox="1"/>
              <p:nvPr/>
            </p:nvSpPr>
            <p:spPr>
              <a:xfrm>
                <a:off x="2819400" y="2884191"/>
                <a:ext cx="6629400" cy="409086"/>
              </a:xfrm>
              <a:prstGeom prst="rect">
                <a:avLst/>
              </a:prstGeom>
              <a:noFill/>
            </p:spPr>
            <p:txBody>
              <a:bodyPr vert="horz" lIns="50800" tIns="25400" rIns="50800" bIns="25400" rtlCol="0" anchor="ctr">
                <a:noAutofit/>
              </a:bodyPr>
              <a:lstStyle/>
              <a:p>
                <a:pPr algn="ctr"/>
                <a14:m>
                  <m:oMathPara xmlns:m="http://schemas.openxmlformats.org/officeDocument/2006/math">
                    <m:oMath>
                      <m:r>
                        <a:rPr lang="pl-PL" sz="2325" i="1" dirty="0" smtClean="0">
                          <a:solidFill>
                            <a:srgbClr val="0B3D4F"/>
                          </a:solidFill>
                          <a:latin typeface="Cambria Math" panose="02040503050406030204" pitchFamily="18" charset="0"/>
                        </a:rPr>
                        <m:t>𝑃</m:t>
                      </m:r>
                      <m:r>
                        <a:rPr lang="pl-PL" sz="2325" i="1" dirty="0" smtClean="0">
                          <a:solidFill>
                            <a:srgbClr val="0B3D4F"/>
                          </a:solidFill>
                          <a:latin typeface="Cambria Math" panose="02040503050406030204" pitchFamily="18" charset="0"/>
                        </a:rPr>
                        <m:t>₁ = </m:t>
                      </m:r>
                      <m:r>
                        <a:rPr lang="pl-PL" sz="2325" i="1" dirty="0" smtClean="0">
                          <a:solidFill>
                            <a:srgbClr val="0B3D4F"/>
                          </a:solidFill>
                          <a:latin typeface="Cambria Math" panose="02040503050406030204" pitchFamily="18" charset="0"/>
                        </a:rPr>
                        <m:t>𝑃</m:t>
                      </m:r>
                      <m:r>
                        <a:rPr lang="pl-PL" sz="2325" i="1" dirty="0" smtClean="0">
                          <a:solidFill>
                            <a:srgbClr val="0B3D4F"/>
                          </a:solidFill>
                          <a:latin typeface="Cambria Math" panose="02040503050406030204" pitchFamily="18" charset="0"/>
                        </a:rPr>
                        <m:t>₂ = 8 − 0,4∙(10) = 4</m:t>
                      </m:r>
                    </m:oMath>
                  </m:oMathPara>
                </a14:m>
                <a:endParaRPr dirty="0"/>
              </a:p>
            </p:txBody>
          </p:sp>
        </mc:Choice>
        <mc:Fallback xmlns="">
          <p:sp>
            <p:nvSpPr>
              <p:cNvPr id="9" name="TextBox 8">
                <a:extLst>
                  <a:ext uri="{FF2B5EF4-FFF2-40B4-BE49-F238E27FC236}">
                    <a16:creationId xmlns:a16="http://schemas.microsoft.com/office/drawing/2014/main" id="{0ADE6763-F2F7-1CF9-5ECE-A0CABC9DC306}"/>
                  </a:ext>
                </a:extLst>
              </p:cNvPr>
              <p:cNvSpPr txBox="1">
                <a:spLocks noRot="1" noChangeAspect="1" noMove="1" noResize="1" noEditPoints="1" noAdjustHandles="1" noChangeArrowheads="1" noChangeShapeType="1" noTextEdit="1"/>
              </p:cNvSpPr>
              <p:nvPr/>
            </p:nvSpPr>
            <p:spPr>
              <a:xfrm>
                <a:off x="2819400" y="2884191"/>
                <a:ext cx="6629400" cy="409086"/>
              </a:xfrm>
              <a:prstGeom prst="rect">
                <a:avLst/>
              </a:prstGeom>
              <a:blipFill>
                <a:blip r:embed="rId3"/>
                <a:stretch>
                  <a:fillRect b="-25373"/>
                </a:stretch>
              </a:blipFill>
            </p:spPr>
            <p:txBody>
              <a:bodyPr/>
              <a:lstStyle/>
              <a:p>
                <a:r>
                  <a:rPr lang="en-GB">
                    <a:noFill/>
                  </a:rPr>
                  <a:t> </a:t>
                </a:r>
              </a:p>
            </p:txBody>
          </p:sp>
        </mc:Fallback>
      </mc:AlternateContent>
      <p:sp>
        <p:nvSpPr>
          <p:cNvPr id="10" name="Rectangle: Rounded Corners 9">
            <a:extLst>
              <a:ext uri="{FF2B5EF4-FFF2-40B4-BE49-F238E27FC236}">
                <a16:creationId xmlns:a16="http://schemas.microsoft.com/office/drawing/2014/main" id="{465D4AB2-1D10-E207-06C9-507D59166919}"/>
              </a:ext>
            </a:extLst>
          </p:cNvPr>
          <p:cNvSpPr/>
          <p:nvPr/>
        </p:nvSpPr>
        <p:spPr>
          <a:xfrm>
            <a:off x="2667000" y="3857625"/>
            <a:ext cx="6858000" cy="800100"/>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F075F0-2EC0-5335-52C0-5B94A0234BFB}"/>
                  </a:ext>
                </a:extLst>
              </p:cNvPr>
              <p:cNvSpPr txBox="1"/>
              <p:nvPr/>
            </p:nvSpPr>
            <p:spPr>
              <a:xfrm>
                <a:off x="2781300" y="4031448"/>
                <a:ext cx="6629400" cy="409086"/>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325" i="1" dirty="0" smtClean="0">
                          <a:solidFill>
                            <a:srgbClr val="0B3D4F"/>
                          </a:solidFill>
                          <a:latin typeface="Cambria Math" panose="02040503050406030204" pitchFamily="18" charset="0"/>
                        </a:rPr>
                        <m:t>𝑀𝑁𝐵</m:t>
                      </m:r>
                      <m:r>
                        <a:rPr lang="en-GB" sz="2325" i="1" dirty="0" smtClean="0">
                          <a:solidFill>
                            <a:srgbClr val="0B3D4F"/>
                          </a:solidFill>
                          <a:latin typeface="Cambria Math" panose="02040503050406030204" pitchFamily="18" charset="0"/>
                        </a:rPr>
                        <m:t>₁ = </m:t>
                      </m:r>
                      <m:r>
                        <a:rPr lang="en-GB" sz="2325" i="1" dirty="0" smtClean="0">
                          <a:solidFill>
                            <a:srgbClr val="0B3D4F"/>
                          </a:solidFill>
                          <a:latin typeface="Cambria Math" panose="02040503050406030204" pitchFamily="18" charset="0"/>
                        </a:rPr>
                        <m:t>𝑀𝑁𝐵</m:t>
                      </m:r>
                      <m:r>
                        <a:rPr lang="en-GB" sz="2325" i="1" dirty="0" smtClean="0">
                          <a:solidFill>
                            <a:srgbClr val="0B3D4F"/>
                          </a:solidFill>
                          <a:latin typeface="Cambria Math" panose="02040503050406030204" pitchFamily="18" charset="0"/>
                        </a:rPr>
                        <m:t>₂ = 4 − 2 = 2</m:t>
                      </m:r>
                    </m:oMath>
                  </m:oMathPara>
                </a14:m>
                <a:endParaRPr dirty="0"/>
              </a:p>
            </p:txBody>
          </p:sp>
        </mc:Choice>
        <mc:Fallback xmlns="">
          <p:sp>
            <p:nvSpPr>
              <p:cNvPr id="11" name="TextBox 10">
                <a:extLst>
                  <a:ext uri="{FF2B5EF4-FFF2-40B4-BE49-F238E27FC236}">
                    <a16:creationId xmlns:a16="http://schemas.microsoft.com/office/drawing/2014/main" id="{BAF075F0-2EC0-5335-52C0-5B94A0234BFB}"/>
                  </a:ext>
                </a:extLst>
              </p:cNvPr>
              <p:cNvSpPr txBox="1">
                <a:spLocks noRot="1" noChangeAspect="1" noMove="1" noResize="1" noEditPoints="1" noAdjustHandles="1" noChangeArrowheads="1" noChangeShapeType="1" noTextEdit="1"/>
              </p:cNvSpPr>
              <p:nvPr/>
            </p:nvSpPr>
            <p:spPr>
              <a:xfrm>
                <a:off x="2781300" y="4031448"/>
                <a:ext cx="6629400" cy="409086"/>
              </a:xfrm>
              <a:prstGeom prst="rect">
                <a:avLst/>
              </a:prstGeom>
              <a:blipFill>
                <a:blip r:embed="rId4"/>
                <a:stretch>
                  <a:fillRect b="-14925"/>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D0EBB63E-C585-C47D-AC67-88E2BABE73D7}"/>
              </a:ext>
            </a:extLst>
          </p:cNvPr>
          <p:cNvSpPr txBox="1"/>
          <p:nvPr/>
        </p:nvSpPr>
        <p:spPr>
          <a:xfrm>
            <a:off x="1571625" y="5286375"/>
            <a:ext cx="9048750" cy="328295"/>
          </a:xfrm>
          <a:prstGeom prst="rect">
            <a:avLst/>
          </a:prstGeom>
          <a:noFill/>
        </p:spPr>
        <p:txBody>
          <a:bodyPr vert="horz" lIns="50800" tIns="25400" rIns="50800" bIns="25400" rtlCol="0" anchor="t">
            <a:noAutofit/>
          </a:bodyPr>
          <a:lstStyle/>
          <a:p>
            <a:pPr algn="ctr"/>
            <a:r>
              <a:rPr lang="en-GB" b="1">
                <a:solidFill>
                  <a:srgbClr val="0B3D4F"/>
                </a:solidFill>
                <a:latin typeface="Aptos" panose="020B0004020202020204" pitchFamily="34" charset="0"/>
              </a:rPr>
              <a:t>Lik etterspørsel, lik kostnad og lik vekt gir lik fordeling.</a:t>
            </a:r>
          </a:p>
        </p:txBody>
      </p:sp>
    </p:spTree>
    <p:extLst>
      <p:ext uri="{BB962C8B-B14F-4D97-AF65-F5344CB8AC3E}">
        <p14:creationId xmlns:p14="http://schemas.microsoft.com/office/powerpoint/2010/main" val="3723843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C23FF-ABC7-E5CA-A0AB-9DA72AEC7D91}"/>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Oppgave 2: Ti prosent rente</a:t>
            </a:r>
            <a:endParaRPr lang="en-GB" sz="2625" b="1">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2B33C13A-1F5A-64B6-02FB-71DB3ABDBB9A}"/>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613B30B-7DA4-DA46-E3F6-216034872871}"/>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A005899F-50E1-E6C0-3513-6EE2095555CD}"/>
              </a:ext>
            </a:extLst>
          </p:cNvPr>
          <p:cNvSpPr/>
          <p:nvPr/>
        </p:nvSpPr>
        <p:spPr>
          <a:xfrm>
            <a:off x="723900" y="1381125"/>
            <a:ext cx="10744200" cy="361950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C8EEE7F-E030-8E94-D575-89CE8426980E}"/>
              </a:ext>
            </a:extLst>
          </p:cNvPr>
          <p:cNvSpPr/>
          <p:nvPr/>
        </p:nvSpPr>
        <p:spPr>
          <a:xfrm>
            <a:off x="723900" y="1381125"/>
            <a:ext cx="95250" cy="361950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FA22712D-9DAC-39E7-34AE-18E5013FAE70}"/>
              </a:ext>
            </a:extLst>
          </p:cNvPr>
          <p:cNvSpPr txBox="1"/>
          <p:nvPr/>
        </p:nvSpPr>
        <p:spPr>
          <a:xfrm>
            <a:off x="959643" y="1552054"/>
            <a:ext cx="9953625" cy="328295"/>
          </a:xfrm>
          <a:prstGeom prst="rect">
            <a:avLst/>
          </a:prstGeom>
          <a:noFill/>
        </p:spPr>
        <p:txBody>
          <a:bodyPr vert="horz" lIns="50800" tIns="25400" rIns="50800" bIns="25400" rtlCol="0" anchor="t">
            <a:noAutofit/>
          </a:bodyPr>
          <a:lstStyle/>
          <a:p>
            <a:r>
              <a:rPr lang="en-GB" sz="1725" dirty="0">
                <a:solidFill>
                  <a:srgbClr val="1C2930"/>
                </a:solidFill>
                <a:latin typeface="Aptos" panose="020B0004020202020204" pitchFamily="34" charset="0"/>
              </a:rPr>
              <a:t>Finn </a:t>
            </a:r>
            <a:r>
              <a:rPr lang="en-GB" sz="1725" dirty="0" err="1">
                <a:solidFill>
                  <a:srgbClr val="1C2930"/>
                </a:solidFill>
                <a:latin typeface="Aptos" panose="020B0004020202020204" pitchFamily="34" charset="0"/>
              </a:rPr>
              <a:t>mengdene</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og</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prisene</a:t>
            </a:r>
            <a:r>
              <a:rPr lang="en-GB" sz="1725" dirty="0">
                <a:solidFill>
                  <a:srgbClr val="1C2930"/>
                </a:solidFill>
                <a:latin typeface="Aptos" panose="020B0004020202020204" pitchFamily="34" charset="0"/>
              </a:rPr>
              <a:t>. </a:t>
            </a:r>
            <a:r>
              <a:rPr lang="en-GB" sz="1725" dirty="0" err="1">
                <a:solidFill>
                  <a:srgbClr val="1C2930"/>
                </a:solidFill>
                <a:latin typeface="Aptos" panose="020B0004020202020204" pitchFamily="34" charset="0"/>
              </a:rPr>
              <a:t>Sammenlign</a:t>
            </a:r>
            <a:r>
              <a:rPr lang="en-GB" sz="1725" dirty="0">
                <a:solidFill>
                  <a:srgbClr val="1C2930"/>
                </a:solidFill>
                <a:latin typeface="Aptos" panose="020B0004020202020204" pitchFamily="34" charset="0"/>
              </a:rPr>
              <a:t> med r = 0.</a:t>
            </a:r>
          </a:p>
        </p:txBody>
      </p:sp>
      <p:sp>
        <p:nvSpPr>
          <p:cNvPr id="10" name="TextBox 9">
            <a:extLst>
              <a:ext uri="{FF2B5EF4-FFF2-40B4-BE49-F238E27FC236}">
                <a16:creationId xmlns:a16="http://schemas.microsoft.com/office/drawing/2014/main" id="{FE6EFED8-EC12-8BF9-E364-0F6899F8C08A}"/>
              </a:ext>
            </a:extLst>
          </p:cNvPr>
          <p:cNvSpPr txBox="1"/>
          <p:nvPr/>
        </p:nvSpPr>
        <p:spPr>
          <a:xfrm>
            <a:off x="1009650" y="5452333"/>
            <a:ext cx="10096500" cy="282129"/>
          </a:xfrm>
          <a:prstGeom prst="rect">
            <a:avLst/>
          </a:prstGeom>
          <a:noFill/>
        </p:spPr>
        <p:txBody>
          <a:bodyPr vert="horz" lIns="50800" tIns="25400" rIns="50800" bIns="25400" rtlCol="0" anchor="ctr">
            <a:noAutofit/>
          </a:bodyPr>
          <a:lstStyle/>
          <a:p>
            <a:pPr algn="ctr"/>
            <a:r>
              <a:rPr lang="nb-NO" sz="1500" i="1">
                <a:solidFill>
                  <a:srgbClr val="51656D"/>
                </a:solidFill>
                <a:latin typeface="Aptos" panose="020B0004020202020204" pitchFamily="34" charset="0"/>
              </a:rPr>
              <a:t>Arbeid først selv – sammenlign deretter med sidemannen.</a:t>
            </a:r>
            <a:endParaRPr lang="en-GB" sz="1500" i="1">
              <a:solidFill>
                <a:srgbClr val="51656D"/>
              </a:solidFill>
              <a:latin typeface="Aptos" panose="020B0004020202020204" pitchFamily="34" charset="0"/>
            </a:endParaRPr>
          </a:p>
        </p:txBody>
      </p:sp>
      <mc:AlternateContent xmlns:mc="http://schemas.openxmlformats.org/markup-compatibility/2006" xmlns:a14="http://schemas.microsoft.com/office/drawing/2010/main">
        <mc:Choice Requires="a14">
          <p:sp>
            <p:nvSpPr>
              <p:cNvPr id="11" name="TextBox 7">
                <a:extLst>
                  <a:ext uri="{FF2B5EF4-FFF2-40B4-BE49-F238E27FC236}">
                    <a16:creationId xmlns:a16="http://schemas.microsoft.com/office/drawing/2014/main" id="{116ED4E0-AFC4-A4A6-9809-C4107B9758A9}"/>
                  </a:ext>
                </a:extLst>
              </p:cNvPr>
              <p:cNvSpPr txBox="1"/>
              <p:nvPr/>
            </p:nvSpPr>
            <p:spPr>
              <a:xfrm>
                <a:off x="5372100" y="1018205"/>
                <a:ext cx="2593181" cy="362920"/>
              </a:xfrm>
              <a:prstGeom prst="rect">
                <a:avLst/>
              </a:prstGeom>
              <a:noFill/>
            </p:spPr>
            <p:txBody>
              <a:bodyPr vert="horz" lIns="50800" tIns="25400" rIns="50800" bIns="25400" rtlCol="0" anchor="t">
                <a:noAutofit/>
              </a:bodyPr>
              <a:lstStyle/>
              <a:p>
                <a:pPr/>
                <a14:m>
                  <m:oMathPara xmlns:m="http://schemas.openxmlformats.org/officeDocument/2006/math">
                    <m:oMath>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₁ + </m:t>
                      </m:r>
                      <m:r>
                        <a:rPr lang="en-GB" sz="2025" b="0" i="1" dirty="0">
                          <a:solidFill>
                            <a:srgbClr val="0B3D4F"/>
                          </a:solidFill>
                          <a:latin typeface="Cambria Math" panose="02040503050406030204" pitchFamily="18" charset="0"/>
                        </a:rPr>
                        <m:t>𝑞</m:t>
                      </m:r>
                      <m:r>
                        <a:rPr lang="en-GB" sz="2025" b="0" i="1" dirty="0">
                          <a:solidFill>
                            <a:srgbClr val="0B3D4F"/>
                          </a:solidFill>
                          <a:latin typeface="Cambria Math" panose="02040503050406030204" pitchFamily="18" charset="0"/>
                        </a:rPr>
                        <m:t>₂ = 20</m:t>
                      </m:r>
                    </m:oMath>
                  </m:oMathPara>
                </a14:m>
                <a:endParaRPr dirty="0"/>
              </a:p>
            </p:txBody>
          </p:sp>
        </mc:Choice>
        <mc:Fallback xmlns="">
          <p:sp>
            <p:nvSpPr>
              <p:cNvPr id="11" name="TextBox 7">
                <a:extLst>
                  <a:ext uri="{FF2B5EF4-FFF2-40B4-BE49-F238E27FC236}">
                    <a16:creationId xmlns:a16="http://schemas.microsoft.com/office/drawing/2014/main" id="{116ED4E0-AFC4-A4A6-9809-C4107B9758A9}"/>
                  </a:ext>
                </a:extLst>
              </p:cNvPr>
              <p:cNvSpPr txBox="1">
                <a:spLocks noRot="1" noChangeAspect="1" noMove="1" noResize="1" noEditPoints="1" noAdjustHandles="1" noChangeArrowheads="1" noChangeShapeType="1" noTextEdit="1"/>
              </p:cNvSpPr>
              <p:nvPr/>
            </p:nvSpPr>
            <p:spPr>
              <a:xfrm>
                <a:off x="5372100" y="1018205"/>
                <a:ext cx="2593181" cy="362920"/>
              </a:xfrm>
              <a:prstGeom prst="rect">
                <a:avLst/>
              </a:prstGeom>
              <a:blipFill>
                <a:blip r:embed="rId3"/>
                <a:stretch>
                  <a:fillRect b="-11667"/>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3" name="TextBox 13">
                <a:extLst>
                  <a:ext uri="{FF2B5EF4-FFF2-40B4-BE49-F238E27FC236}">
                    <a16:creationId xmlns:a16="http://schemas.microsoft.com/office/drawing/2014/main" id="{E4A1E5D3-2606-83AC-148C-5AC57152E5BE}"/>
                  </a:ext>
                </a:extLst>
              </p:cNvPr>
              <p:cNvSpPr txBox="1"/>
              <p:nvPr/>
            </p:nvSpPr>
            <p:spPr>
              <a:xfrm>
                <a:off x="5629275" y="109230"/>
                <a:ext cx="1809750"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1</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20+15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3" name="TextBox 13">
                <a:extLst>
                  <a:ext uri="{FF2B5EF4-FFF2-40B4-BE49-F238E27FC236}">
                    <a16:creationId xmlns:a16="http://schemas.microsoft.com/office/drawing/2014/main" id="{E4A1E5D3-2606-83AC-148C-5AC57152E5BE}"/>
                  </a:ext>
                </a:extLst>
              </p:cNvPr>
              <p:cNvSpPr txBox="1">
                <a:spLocks noRot="1" noChangeAspect="1" noMove="1" noResize="1" noEditPoints="1" noAdjustHandles="1" noChangeArrowheads="1" noChangeShapeType="1" noTextEdit="1"/>
              </p:cNvSpPr>
              <p:nvPr/>
            </p:nvSpPr>
            <p:spPr>
              <a:xfrm>
                <a:off x="5629275" y="109230"/>
                <a:ext cx="1809750" cy="813232"/>
              </a:xfrm>
              <a:prstGeom prst="rect">
                <a:avLst/>
              </a:prstGeom>
              <a:blipFill>
                <a:blip r:embed="rId4"/>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5" name="TextBox 13">
                <a:extLst>
                  <a:ext uri="{FF2B5EF4-FFF2-40B4-BE49-F238E27FC236}">
                    <a16:creationId xmlns:a16="http://schemas.microsoft.com/office/drawing/2014/main" id="{77C961D6-8C06-A809-E713-37AA0EB3E398}"/>
                  </a:ext>
                </a:extLst>
              </p:cNvPr>
              <p:cNvSpPr txBox="1"/>
              <p:nvPr/>
            </p:nvSpPr>
            <p:spPr>
              <a:xfrm>
                <a:off x="7629525" y="109230"/>
                <a:ext cx="1885950" cy="813232"/>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2</m:t>
                          </m:r>
                        </m:sub>
                        <m:sup>
                          <m:r>
                            <a:rPr lang="nb-NO" b="0" i="1" smtClean="0">
                              <a:latin typeface="Cambria Math" panose="02040503050406030204" pitchFamily="18" charset="0"/>
                            </a:rPr>
                            <m:t>∗</m:t>
                          </m:r>
                        </m:sup>
                      </m:sSubSup>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20+5</m:t>
                          </m:r>
                          <m:r>
                            <a:rPr lang="nb-NO" b="0" i="1" smtClean="0">
                              <a:latin typeface="Cambria Math" panose="02040503050406030204" pitchFamily="18" charset="0"/>
                            </a:rPr>
                            <m:t>𝑟</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5" name="TextBox 13">
                <a:extLst>
                  <a:ext uri="{FF2B5EF4-FFF2-40B4-BE49-F238E27FC236}">
                    <a16:creationId xmlns:a16="http://schemas.microsoft.com/office/drawing/2014/main" id="{77C961D6-8C06-A809-E713-37AA0EB3E398}"/>
                  </a:ext>
                </a:extLst>
              </p:cNvPr>
              <p:cNvSpPr txBox="1">
                <a:spLocks noRot="1" noChangeAspect="1" noMove="1" noResize="1" noEditPoints="1" noAdjustHandles="1" noChangeArrowheads="1" noChangeShapeType="1" noTextEdit="1"/>
              </p:cNvSpPr>
              <p:nvPr/>
            </p:nvSpPr>
            <p:spPr>
              <a:xfrm>
                <a:off x="7629525" y="109230"/>
                <a:ext cx="1885950" cy="813232"/>
              </a:xfrm>
              <a:prstGeom prst="rect">
                <a:avLst/>
              </a:prstGeom>
              <a:blipFill>
                <a:blip r:embed="rId5"/>
                <a:stretch>
                  <a:fillRect/>
                </a:stretch>
              </a:blipFill>
            </p:spPr>
            <p:txBody>
              <a:bodyPr/>
              <a:lstStyle/>
              <a:p>
                <a:r>
                  <a:rPr lang="nb-NO">
                    <a:noFill/>
                  </a:rPr>
                  <a:t> </a:t>
                </a:r>
              </a:p>
            </p:txBody>
          </p:sp>
        </mc:Fallback>
      </mc:AlternateContent>
      <mc:AlternateContent xmlns:mc="http://schemas.openxmlformats.org/markup-compatibility/2006" xmlns:a14="http://schemas.microsoft.com/office/drawing/2010/main">
        <mc:Choice Requires="a14">
          <p:sp>
            <p:nvSpPr>
              <p:cNvPr id="17" name="TextBox 13">
                <a:extLst>
                  <a:ext uri="{FF2B5EF4-FFF2-40B4-BE49-F238E27FC236}">
                    <a16:creationId xmlns:a16="http://schemas.microsoft.com/office/drawing/2014/main" id="{4341927E-58AB-396C-3553-D0EA46409A4F}"/>
                  </a:ext>
                </a:extLst>
              </p:cNvPr>
              <p:cNvSpPr txBox="1"/>
              <p:nvPr/>
            </p:nvSpPr>
            <p:spPr>
              <a:xfrm>
                <a:off x="9944100" y="109230"/>
                <a:ext cx="1433513" cy="813232"/>
              </a:xfrm>
              <a:prstGeom prst="rect">
                <a:avLst/>
              </a:prstGeom>
              <a:noFill/>
            </p:spPr>
            <p:txBody>
              <a:bodyPr vert="horz" lIns="50800" tIns="25400" rIns="50800" bIns="25400" rtlCol="0" anchor="ctr">
                <a:noAutofit/>
              </a:bodyPr>
              <a:lstStyle/>
              <a:p>
                <a:pPr algn="ctr"/>
                <a14:m>
                  <m:oMathPara xmlns:m="http://schemas.openxmlformats.org/officeDocument/2006/math">
                    <m:oMath>
                      <m:r>
                        <a:rPr lang="nb-NO" b="0" i="1" smtClean="0">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4</m:t>
                          </m:r>
                        </m:num>
                        <m:den>
                          <m:r>
                            <a:rPr lang="nb-NO" b="0" i="1" smtClean="0">
                              <a:latin typeface="Cambria Math" panose="02040503050406030204" pitchFamily="18" charset="0"/>
                            </a:rPr>
                            <m:t>2+</m:t>
                          </m:r>
                          <m:r>
                            <a:rPr lang="nb-NO" b="0" i="1" smtClean="0">
                              <a:latin typeface="Cambria Math" panose="02040503050406030204" pitchFamily="18" charset="0"/>
                            </a:rPr>
                            <m:t>𝑟</m:t>
                          </m:r>
                        </m:den>
                      </m:f>
                    </m:oMath>
                  </m:oMathPara>
                </a14:m>
                <a:endParaRPr dirty="0"/>
              </a:p>
            </p:txBody>
          </p:sp>
        </mc:Choice>
        <mc:Fallback xmlns="">
          <p:sp>
            <p:nvSpPr>
              <p:cNvPr id="17" name="TextBox 13">
                <a:extLst>
                  <a:ext uri="{FF2B5EF4-FFF2-40B4-BE49-F238E27FC236}">
                    <a16:creationId xmlns:a16="http://schemas.microsoft.com/office/drawing/2014/main" id="{4341927E-58AB-396C-3553-D0EA46409A4F}"/>
                  </a:ext>
                </a:extLst>
              </p:cNvPr>
              <p:cNvSpPr txBox="1">
                <a:spLocks noRot="1" noChangeAspect="1" noMove="1" noResize="1" noEditPoints="1" noAdjustHandles="1" noChangeArrowheads="1" noChangeShapeType="1" noTextEdit="1"/>
              </p:cNvSpPr>
              <p:nvPr/>
            </p:nvSpPr>
            <p:spPr>
              <a:xfrm>
                <a:off x="9944100" y="109230"/>
                <a:ext cx="1433513" cy="813232"/>
              </a:xfrm>
              <a:prstGeom prst="rect">
                <a:avLst/>
              </a:prstGeom>
              <a:blipFill>
                <a:blip r:embed="rId6"/>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1463956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F13BC6-8713-AD5D-CAA4-58991523ED51}"/>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Skriveside: ti prosent rente</a:t>
            </a:r>
          </a:p>
        </p:txBody>
      </p:sp>
      <p:sp>
        <p:nvSpPr>
          <p:cNvPr id="3" name="Rectangle 2">
            <a:extLst>
              <a:ext uri="{FF2B5EF4-FFF2-40B4-BE49-F238E27FC236}">
                <a16:creationId xmlns:a16="http://schemas.microsoft.com/office/drawing/2014/main" id="{A50885B3-5397-388A-FD83-5CF1FB3CFE37}"/>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BA6DC967-E032-B6AF-E9F6-9135FB650B07}"/>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7" name="Rectangle: Rounded Corners 6">
            <a:extLst>
              <a:ext uri="{FF2B5EF4-FFF2-40B4-BE49-F238E27FC236}">
                <a16:creationId xmlns:a16="http://schemas.microsoft.com/office/drawing/2014/main" id="{4AF61783-D06B-A026-A721-903E98470152}"/>
              </a:ext>
            </a:extLst>
          </p:cNvPr>
          <p:cNvSpPr/>
          <p:nvPr/>
        </p:nvSpPr>
        <p:spPr>
          <a:xfrm>
            <a:off x="781050" y="1246527"/>
            <a:ext cx="10629900" cy="4944724"/>
          </a:xfrm>
          <a:prstGeom prst="roundRect">
            <a:avLst/>
          </a:prstGeom>
          <a:solidFill>
            <a:srgbClr val="FFFFFF"/>
          </a:solidFill>
          <a:ln w="19050">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43452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6FCDF6-5874-C57C-7226-BCEBF76F20DD}"/>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Løsning med ti prosent rente</a:t>
            </a:r>
            <a:endParaRPr lang="en-GB" sz="2625" b="1">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255F967D-A5DB-D056-8E1F-EB779F2BD29F}"/>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D20BFBAD-CBD5-068F-65E3-C0E755F2C1ED}"/>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9E803BCD-6C1B-4D5B-1FF0-5448D51AD582}"/>
              </a:ext>
            </a:extLst>
          </p:cNvPr>
          <p:cNvSpPr/>
          <p:nvPr/>
        </p:nvSpPr>
        <p:spPr>
          <a:xfrm>
            <a:off x="1285875" y="1381125"/>
            <a:ext cx="40957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1E3B524-2B2A-DC0F-D651-8ADF634A0179}"/>
              </a:ext>
            </a:extLst>
          </p:cNvPr>
          <p:cNvSpPr txBox="1"/>
          <p:nvPr/>
        </p:nvSpPr>
        <p:spPr>
          <a:xfrm>
            <a:off x="1343025" y="1442308"/>
            <a:ext cx="3981450" cy="282129"/>
          </a:xfrm>
          <a:prstGeom prst="rect">
            <a:avLst/>
          </a:prstGeom>
          <a:noFill/>
        </p:spPr>
        <p:txBody>
          <a:bodyPr vert="horz" lIns="50800" tIns="25400" rIns="50800" bIns="25400" rtlCol="0" anchor="ctr">
            <a:noAutofit/>
          </a:bodyPr>
          <a:lstStyle/>
          <a:p>
            <a:r>
              <a:rPr lang="en-GB" sz="1500" b="1">
                <a:solidFill>
                  <a:srgbClr val="FFFFFF"/>
                </a:solidFill>
                <a:latin typeface="Aptos" panose="020B0004020202020204" pitchFamily="34" charset="0"/>
              </a:rPr>
              <a:t>Størrelse</a:t>
            </a:r>
          </a:p>
        </p:txBody>
      </p:sp>
      <p:sp>
        <p:nvSpPr>
          <p:cNvPr id="8" name="Rectangle 7">
            <a:extLst>
              <a:ext uri="{FF2B5EF4-FFF2-40B4-BE49-F238E27FC236}">
                <a16:creationId xmlns:a16="http://schemas.microsoft.com/office/drawing/2014/main" id="{E6B6FE66-A1FC-9732-BB85-36849801381D}"/>
              </a:ext>
            </a:extLst>
          </p:cNvPr>
          <p:cNvSpPr/>
          <p:nvPr/>
        </p:nvSpPr>
        <p:spPr>
          <a:xfrm>
            <a:off x="5381625" y="1381125"/>
            <a:ext cx="266700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A6DA65B-0CB9-1C69-C652-19F403BA5E2C}"/>
              </a:ext>
            </a:extLst>
          </p:cNvPr>
          <p:cNvSpPr txBox="1"/>
          <p:nvPr/>
        </p:nvSpPr>
        <p:spPr>
          <a:xfrm>
            <a:off x="5438775" y="1442308"/>
            <a:ext cx="2552700" cy="282129"/>
          </a:xfrm>
          <a:prstGeom prst="rect">
            <a:avLst/>
          </a:prstGeom>
          <a:noFill/>
        </p:spPr>
        <p:txBody>
          <a:bodyPr vert="horz" lIns="50800" tIns="25400" rIns="50800" bIns="25400" rtlCol="0" anchor="ctr">
            <a:noAutofit/>
          </a:bodyPr>
          <a:lstStyle/>
          <a:p>
            <a:pPr algn="ctr"/>
            <a:r>
              <a:rPr lang="en-GB" sz="1500" b="1">
                <a:solidFill>
                  <a:srgbClr val="FFFFFF"/>
                </a:solidFill>
                <a:latin typeface="Aptos" panose="020B0004020202020204" pitchFamily="34" charset="0"/>
              </a:rPr>
              <a:t>Periode 1</a:t>
            </a:r>
          </a:p>
        </p:txBody>
      </p:sp>
      <p:sp>
        <p:nvSpPr>
          <p:cNvPr id="10" name="Rectangle 9">
            <a:extLst>
              <a:ext uri="{FF2B5EF4-FFF2-40B4-BE49-F238E27FC236}">
                <a16:creationId xmlns:a16="http://schemas.microsoft.com/office/drawing/2014/main" id="{30C85EFE-5F06-D1D7-9B57-80FDFB17E58A}"/>
              </a:ext>
            </a:extLst>
          </p:cNvPr>
          <p:cNvSpPr/>
          <p:nvPr/>
        </p:nvSpPr>
        <p:spPr>
          <a:xfrm>
            <a:off x="8048625" y="1381125"/>
            <a:ext cx="266700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FA7D119-10F0-76A4-35E2-5D99B17EA9B0}"/>
              </a:ext>
            </a:extLst>
          </p:cNvPr>
          <p:cNvSpPr txBox="1"/>
          <p:nvPr/>
        </p:nvSpPr>
        <p:spPr>
          <a:xfrm>
            <a:off x="8105775" y="1442308"/>
            <a:ext cx="2552700" cy="282129"/>
          </a:xfrm>
          <a:prstGeom prst="rect">
            <a:avLst/>
          </a:prstGeom>
          <a:noFill/>
        </p:spPr>
        <p:txBody>
          <a:bodyPr vert="horz" lIns="50800" tIns="25400" rIns="50800" bIns="25400" rtlCol="0" anchor="ctr">
            <a:noAutofit/>
          </a:bodyPr>
          <a:lstStyle/>
          <a:p>
            <a:pPr algn="ctr"/>
            <a:r>
              <a:rPr lang="en-GB" sz="1500" b="1">
                <a:solidFill>
                  <a:srgbClr val="FFFFFF"/>
                </a:solidFill>
                <a:latin typeface="Aptos" panose="020B0004020202020204" pitchFamily="34" charset="0"/>
              </a:rPr>
              <a:t>Periode 2</a:t>
            </a:r>
          </a:p>
        </p:txBody>
      </p:sp>
      <p:sp>
        <p:nvSpPr>
          <p:cNvPr id="12" name="Rectangle 11">
            <a:extLst>
              <a:ext uri="{FF2B5EF4-FFF2-40B4-BE49-F238E27FC236}">
                <a16:creationId xmlns:a16="http://schemas.microsoft.com/office/drawing/2014/main" id="{0A125A21-840C-8EE7-7B2D-FF3CD35941DA}"/>
              </a:ext>
            </a:extLst>
          </p:cNvPr>
          <p:cNvSpPr/>
          <p:nvPr/>
        </p:nvSpPr>
        <p:spPr>
          <a:xfrm>
            <a:off x="1285875" y="1933575"/>
            <a:ext cx="409575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18DB457D-F78E-41DD-5CE1-06DBBCFB2E6C}"/>
              </a:ext>
            </a:extLst>
          </p:cNvPr>
          <p:cNvSpPr txBox="1"/>
          <p:nvPr/>
        </p:nvSpPr>
        <p:spPr>
          <a:xfrm>
            <a:off x="1343025" y="1994758"/>
            <a:ext cx="3981450" cy="282129"/>
          </a:xfrm>
          <a:prstGeom prst="rect">
            <a:avLst/>
          </a:prstGeom>
          <a:noFill/>
        </p:spPr>
        <p:txBody>
          <a:bodyPr vert="horz" lIns="50800" tIns="25400" rIns="50800" bIns="25400" rtlCol="0" anchor="ctr">
            <a:noAutofit/>
          </a:bodyPr>
          <a:lstStyle/>
          <a:p>
            <a:r>
              <a:rPr lang="en-GB" sz="1500" b="1">
                <a:solidFill>
                  <a:srgbClr val="1C2930"/>
                </a:solidFill>
                <a:latin typeface="Aptos" panose="020B0004020202020204" pitchFamily="34" charset="0"/>
              </a:rPr>
              <a:t>Effektiv mengde</a:t>
            </a:r>
          </a:p>
        </p:txBody>
      </p:sp>
      <p:sp>
        <p:nvSpPr>
          <p:cNvPr id="14" name="Rectangle 13">
            <a:extLst>
              <a:ext uri="{FF2B5EF4-FFF2-40B4-BE49-F238E27FC236}">
                <a16:creationId xmlns:a16="http://schemas.microsoft.com/office/drawing/2014/main" id="{1E7EFEAC-0616-BA96-425A-21AF03CC68D9}"/>
              </a:ext>
            </a:extLst>
          </p:cNvPr>
          <p:cNvSpPr/>
          <p:nvPr/>
        </p:nvSpPr>
        <p:spPr>
          <a:xfrm>
            <a:off x="5381625" y="1933575"/>
            <a:ext cx="266700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0379C138-9F80-02E4-99EE-1FDECDD22D22}"/>
              </a:ext>
            </a:extLst>
          </p:cNvPr>
          <p:cNvSpPr txBox="1"/>
          <p:nvPr/>
        </p:nvSpPr>
        <p:spPr>
          <a:xfrm>
            <a:off x="5438775" y="199475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10,238</a:t>
            </a:r>
          </a:p>
        </p:txBody>
      </p:sp>
      <p:sp>
        <p:nvSpPr>
          <p:cNvPr id="16" name="Rectangle 15">
            <a:extLst>
              <a:ext uri="{FF2B5EF4-FFF2-40B4-BE49-F238E27FC236}">
                <a16:creationId xmlns:a16="http://schemas.microsoft.com/office/drawing/2014/main" id="{017BD646-8EFC-7D65-BBA6-EFB23102D1CA}"/>
              </a:ext>
            </a:extLst>
          </p:cNvPr>
          <p:cNvSpPr/>
          <p:nvPr/>
        </p:nvSpPr>
        <p:spPr>
          <a:xfrm>
            <a:off x="8048625" y="1933575"/>
            <a:ext cx="266700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1EBB437-60B1-0B21-1021-533291056FF2}"/>
              </a:ext>
            </a:extLst>
          </p:cNvPr>
          <p:cNvSpPr txBox="1"/>
          <p:nvPr/>
        </p:nvSpPr>
        <p:spPr>
          <a:xfrm>
            <a:off x="8105775" y="199475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9,762</a:t>
            </a:r>
          </a:p>
        </p:txBody>
      </p:sp>
      <p:sp>
        <p:nvSpPr>
          <p:cNvPr id="18" name="Rectangle 17">
            <a:extLst>
              <a:ext uri="{FF2B5EF4-FFF2-40B4-BE49-F238E27FC236}">
                <a16:creationId xmlns:a16="http://schemas.microsoft.com/office/drawing/2014/main" id="{30C05A90-08FD-9122-678E-7EA0593C550F}"/>
              </a:ext>
            </a:extLst>
          </p:cNvPr>
          <p:cNvSpPr/>
          <p:nvPr/>
        </p:nvSpPr>
        <p:spPr>
          <a:xfrm>
            <a:off x="1285875" y="2638425"/>
            <a:ext cx="409575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A8F05F36-8E40-0002-A652-8D120FA7EE67}"/>
              </a:ext>
            </a:extLst>
          </p:cNvPr>
          <p:cNvSpPr txBox="1"/>
          <p:nvPr/>
        </p:nvSpPr>
        <p:spPr>
          <a:xfrm>
            <a:off x="1343025" y="2699608"/>
            <a:ext cx="3981450" cy="282129"/>
          </a:xfrm>
          <a:prstGeom prst="rect">
            <a:avLst/>
          </a:prstGeom>
          <a:noFill/>
        </p:spPr>
        <p:txBody>
          <a:bodyPr vert="horz" lIns="50800" tIns="25400" rIns="50800" bIns="25400" rtlCol="0" anchor="ctr">
            <a:noAutofit/>
          </a:bodyPr>
          <a:lstStyle/>
          <a:p>
            <a:r>
              <a:rPr lang="en-GB" sz="1500" b="1">
                <a:solidFill>
                  <a:srgbClr val="1C2930"/>
                </a:solidFill>
                <a:latin typeface="Aptos" panose="020B0004020202020204" pitchFamily="34" charset="0"/>
              </a:rPr>
              <a:t>Pris</a:t>
            </a:r>
          </a:p>
        </p:txBody>
      </p:sp>
      <p:sp>
        <p:nvSpPr>
          <p:cNvPr id="20" name="Rectangle 19">
            <a:extLst>
              <a:ext uri="{FF2B5EF4-FFF2-40B4-BE49-F238E27FC236}">
                <a16:creationId xmlns:a16="http://schemas.microsoft.com/office/drawing/2014/main" id="{85BD38AF-D2EE-958F-3D57-64248FB6D8DF}"/>
              </a:ext>
            </a:extLst>
          </p:cNvPr>
          <p:cNvSpPr/>
          <p:nvPr/>
        </p:nvSpPr>
        <p:spPr>
          <a:xfrm>
            <a:off x="5381625" y="2638425"/>
            <a:ext cx="266700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1B83390A-6D00-BA59-7684-2B19B70C96F6}"/>
              </a:ext>
            </a:extLst>
          </p:cNvPr>
          <p:cNvSpPr txBox="1"/>
          <p:nvPr/>
        </p:nvSpPr>
        <p:spPr>
          <a:xfrm>
            <a:off x="5438775" y="269960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3,905</a:t>
            </a:r>
          </a:p>
        </p:txBody>
      </p:sp>
      <p:sp>
        <p:nvSpPr>
          <p:cNvPr id="22" name="Rectangle 21">
            <a:extLst>
              <a:ext uri="{FF2B5EF4-FFF2-40B4-BE49-F238E27FC236}">
                <a16:creationId xmlns:a16="http://schemas.microsoft.com/office/drawing/2014/main" id="{22C2C572-C613-A4D0-84AB-29F03D4CE2E5}"/>
              </a:ext>
            </a:extLst>
          </p:cNvPr>
          <p:cNvSpPr/>
          <p:nvPr/>
        </p:nvSpPr>
        <p:spPr>
          <a:xfrm>
            <a:off x="8048625" y="2638425"/>
            <a:ext cx="266700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F269D6F6-8287-8470-DB09-B8175FF8F4B8}"/>
              </a:ext>
            </a:extLst>
          </p:cNvPr>
          <p:cNvSpPr txBox="1"/>
          <p:nvPr/>
        </p:nvSpPr>
        <p:spPr>
          <a:xfrm>
            <a:off x="8105775" y="269960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4,095</a:t>
            </a:r>
          </a:p>
        </p:txBody>
      </p:sp>
      <p:sp>
        <p:nvSpPr>
          <p:cNvPr id="24" name="Rectangle 23">
            <a:extLst>
              <a:ext uri="{FF2B5EF4-FFF2-40B4-BE49-F238E27FC236}">
                <a16:creationId xmlns:a16="http://schemas.microsoft.com/office/drawing/2014/main" id="{D997E9A1-A154-D7A7-82D8-E496AD97D135}"/>
              </a:ext>
            </a:extLst>
          </p:cNvPr>
          <p:cNvSpPr/>
          <p:nvPr/>
        </p:nvSpPr>
        <p:spPr>
          <a:xfrm>
            <a:off x="1285875" y="3343275"/>
            <a:ext cx="409575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4E42B333-56F3-488D-F9EC-2D5880411A5B}"/>
              </a:ext>
            </a:extLst>
          </p:cNvPr>
          <p:cNvSpPr txBox="1"/>
          <p:nvPr/>
        </p:nvSpPr>
        <p:spPr>
          <a:xfrm>
            <a:off x="1343025" y="3404458"/>
            <a:ext cx="3981450" cy="282129"/>
          </a:xfrm>
          <a:prstGeom prst="rect">
            <a:avLst/>
          </a:prstGeom>
          <a:noFill/>
        </p:spPr>
        <p:txBody>
          <a:bodyPr vert="horz" lIns="50800" tIns="25400" rIns="50800" bIns="25400" rtlCol="0" anchor="ctr">
            <a:noAutofit/>
          </a:bodyPr>
          <a:lstStyle/>
          <a:p>
            <a:r>
              <a:rPr lang="en-GB" sz="1500" b="1">
                <a:solidFill>
                  <a:srgbClr val="1C2930"/>
                </a:solidFill>
                <a:latin typeface="Aptos" panose="020B0004020202020204" pitchFamily="34" charset="0"/>
              </a:rPr>
              <a:t>Marginal netto nytte</a:t>
            </a:r>
          </a:p>
        </p:txBody>
      </p:sp>
      <p:sp>
        <p:nvSpPr>
          <p:cNvPr id="26" name="Rectangle 25">
            <a:extLst>
              <a:ext uri="{FF2B5EF4-FFF2-40B4-BE49-F238E27FC236}">
                <a16:creationId xmlns:a16="http://schemas.microsoft.com/office/drawing/2014/main" id="{E0B20F08-2CE1-FF54-57E5-16D6A92050AD}"/>
              </a:ext>
            </a:extLst>
          </p:cNvPr>
          <p:cNvSpPr/>
          <p:nvPr/>
        </p:nvSpPr>
        <p:spPr>
          <a:xfrm>
            <a:off x="5381625" y="3343275"/>
            <a:ext cx="266700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D6D3703-1C41-1F2E-CE45-C2A993B3E46B}"/>
              </a:ext>
            </a:extLst>
          </p:cNvPr>
          <p:cNvSpPr txBox="1"/>
          <p:nvPr/>
        </p:nvSpPr>
        <p:spPr>
          <a:xfrm>
            <a:off x="5438775" y="340445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1,905</a:t>
            </a:r>
          </a:p>
        </p:txBody>
      </p:sp>
      <p:sp>
        <p:nvSpPr>
          <p:cNvPr id="28" name="Rectangle 27">
            <a:extLst>
              <a:ext uri="{FF2B5EF4-FFF2-40B4-BE49-F238E27FC236}">
                <a16:creationId xmlns:a16="http://schemas.microsoft.com/office/drawing/2014/main" id="{26156F75-90EF-CA93-B37C-AB3B734ECB70}"/>
              </a:ext>
            </a:extLst>
          </p:cNvPr>
          <p:cNvSpPr/>
          <p:nvPr/>
        </p:nvSpPr>
        <p:spPr>
          <a:xfrm>
            <a:off x="8048625" y="3343275"/>
            <a:ext cx="2667000" cy="704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DA02945C-6905-9C13-E751-9E33156D6DEF}"/>
              </a:ext>
            </a:extLst>
          </p:cNvPr>
          <p:cNvSpPr txBox="1"/>
          <p:nvPr/>
        </p:nvSpPr>
        <p:spPr>
          <a:xfrm>
            <a:off x="8105775" y="340445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2,095</a:t>
            </a:r>
          </a:p>
        </p:txBody>
      </p:sp>
      <p:sp>
        <p:nvSpPr>
          <p:cNvPr id="30" name="Rectangle 29">
            <a:extLst>
              <a:ext uri="{FF2B5EF4-FFF2-40B4-BE49-F238E27FC236}">
                <a16:creationId xmlns:a16="http://schemas.microsoft.com/office/drawing/2014/main" id="{105B206E-215D-917D-495E-4B48EE328849}"/>
              </a:ext>
            </a:extLst>
          </p:cNvPr>
          <p:cNvSpPr/>
          <p:nvPr/>
        </p:nvSpPr>
        <p:spPr>
          <a:xfrm>
            <a:off x="1285875" y="4048125"/>
            <a:ext cx="409575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73F0D4EA-165A-618E-C76F-1D0228FFA16B}"/>
              </a:ext>
            </a:extLst>
          </p:cNvPr>
          <p:cNvSpPr txBox="1"/>
          <p:nvPr/>
        </p:nvSpPr>
        <p:spPr>
          <a:xfrm>
            <a:off x="1343025" y="4109308"/>
            <a:ext cx="3981450" cy="282129"/>
          </a:xfrm>
          <a:prstGeom prst="rect">
            <a:avLst/>
          </a:prstGeom>
          <a:noFill/>
        </p:spPr>
        <p:txBody>
          <a:bodyPr vert="horz" lIns="50800" tIns="25400" rIns="50800" bIns="25400" rtlCol="0" anchor="ctr">
            <a:noAutofit/>
          </a:bodyPr>
          <a:lstStyle/>
          <a:p>
            <a:r>
              <a:rPr lang="nn-NO" sz="1500" b="1">
                <a:solidFill>
                  <a:srgbClr val="1C2930"/>
                </a:solidFill>
                <a:latin typeface="Aptos" panose="020B0004020202020204" pitchFamily="34" charset="0"/>
              </a:rPr>
              <a:t>Nåverdi av marginal netto nytte</a:t>
            </a:r>
            <a:endParaRPr lang="en-GB" sz="1500" b="1">
              <a:solidFill>
                <a:srgbClr val="1C2930"/>
              </a:solidFill>
              <a:latin typeface="Aptos" panose="020B0004020202020204" pitchFamily="34" charset="0"/>
            </a:endParaRPr>
          </a:p>
        </p:txBody>
      </p:sp>
      <p:sp>
        <p:nvSpPr>
          <p:cNvPr id="32" name="Rectangle 31">
            <a:extLst>
              <a:ext uri="{FF2B5EF4-FFF2-40B4-BE49-F238E27FC236}">
                <a16:creationId xmlns:a16="http://schemas.microsoft.com/office/drawing/2014/main" id="{7AABBD5B-F236-C303-0A94-21196A861C9E}"/>
              </a:ext>
            </a:extLst>
          </p:cNvPr>
          <p:cNvSpPr/>
          <p:nvPr/>
        </p:nvSpPr>
        <p:spPr>
          <a:xfrm>
            <a:off x="5381625" y="4048125"/>
            <a:ext cx="266700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C45E2CC3-F639-88A2-065F-86D0645496F0}"/>
              </a:ext>
            </a:extLst>
          </p:cNvPr>
          <p:cNvSpPr txBox="1"/>
          <p:nvPr/>
        </p:nvSpPr>
        <p:spPr>
          <a:xfrm>
            <a:off x="5438775" y="410930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1,905</a:t>
            </a:r>
          </a:p>
        </p:txBody>
      </p:sp>
      <p:sp>
        <p:nvSpPr>
          <p:cNvPr id="34" name="Rectangle 33">
            <a:extLst>
              <a:ext uri="{FF2B5EF4-FFF2-40B4-BE49-F238E27FC236}">
                <a16:creationId xmlns:a16="http://schemas.microsoft.com/office/drawing/2014/main" id="{928681E9-5E29-2625-A07F-62B3EB3ACB9D}"/>
              </a:ext>
            </a:extLst>
          </p:cNvPr>
          <p:cNvSpPr/>
          <p:nvPr/>
        </p:nvSpPr>
        <p:spPr>
          <a:xfrm>
            <a:off x="8048625" y="4048125"/>
            <a:ext cx="2667000" cy="704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1E772872-5C9A-7D11-2364-6EE110907433}"/>
              </a:ext>
            </a:extLst>
          </p:cNvPr>
          <p:cNvSpPr txBox="1"/>
          <p:nvPr/>
        </p:nvSpPr>
        <p:spPr>
          <a:xfrm>
            <a:off x="8105775" y="4109308"/>
            <a:ext cx="25527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1,905</a:t>
            </a:r>
          </a:p>
        </p:txBody>
      </p:sp>
      <p:sp>
        <p:nvSpPr>
          <p:cNvPr id="36" name="Rectangle: Rounded Corners 35">
            <a:extLst>
              <a:ext uri="{FF2B5EF4-FFF2-40B4-BE49-F238E27FC236}">
                <a16:creationId xmlns:a16="http://schemas.microsoft.com/office/drawing/2014/main" id="{60783791-24B8-BB35-FC34-E36B58270184}"/>
              </a:ext>
            </a:extLst>
          </p:cNvPr>
          <p:cNvSpPr/>
          <p:nvPr/>
        </p:nvSpPr>
        <p:spPr>
          <a:xfrm>
            <a:off x="2381250" y="5334000"/>
            <a:ext cx="7429500" cy="62865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84EE8653-4CFA-3761-E577-7951BD1469CB}"/>
              </a:ext>
            </a:extLst>
          </p:cNvPr>
          <p:cNvSpPr/>
          <p:nvPr/>
        </p:nvSpPr>
        <p:spPr>
          <a:xfrm>
            <a:off x="2381250" y="5334000"/>
            <a:ext cx="76200" cy="62865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8E3361DE-2831-061A-0251-6BA373020E78}"/>
              </a:ext>
            </a:extLst>
          </p:cNvPr>
          <p:cNvSpPr txBox="1"/>
          <p:nvPr/>
        </p:nvSpPr>
        <p:spPr>
          <a:xfrm>
            <a:off x="2647950" y="5417709"/>
            <a:ext cx="7010400" cy="351378"/>
          </a:xfrm>
          <a:prstGeom prst="rect">
            <a:avLst/>
          </a:prstGeom>
          <a:noFill/>
        </p:spPr>
        <p:txBody>
          <a:bodyPr vert="horz" lIns="50800" tIns="25400" rIns="50800" bIns="25400" rtlCol="0" anchor="ctr">
            <a:noAutofit/>
          </a:bodyPr>
          <a:lstStyle/>
          <a:p>
            <a:r>
              <a:rPr lang="en-GB" sz="1950" b="1">
                <a:solidFill>
                  <a:srgbClr val="0B3D4F"/>
                </a:solidFill>
                <a:latin typeface="Aptos" panose="020B0004020202020204" pitchFamily="34" charset="0"/>
              </a:rPr>
              <a:t>Periode 1 får litt mer fordi framtidig nytte diskonteres.</a:t>
            </a:r>
          </a:p>
        </p:txBody>
      </p:sp>
    </p:spTree>
    <p:extLst>
      <p:ext uri="{BB962C8B-B14F-4D97-AF65-F5344CB8AC3E}">
        <p14:creationId xmlns:p14="http://schemas.microsoft.com/office/powerpoint/2010/main" val="304497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030C85-E25E-A75B-89BA-6A94A386FAC0}"/>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Marginal brukerkostnad og skyggepris</a:t>
            </a:r>
          </a:p>
        </p:txBody>
      </p:sp>
      <p:sp>
        <p:nvSpPr>
          <p:cNvPr id="3" name="Rectangle 2">
            <a:extLst>
              <a:ext uri="{FF2B5EF4-FFF2-40B4-BE49-F238E27FC236}">
                <a16:creationId xmlns:a16="http://schemas.microsoft.com/office/drawing/2014/main" id="{FDCDF73C-BA04-09D1-569F-EA2033C4B194}"/>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5ADB3F96-EC45-7609-1777-40A88FC697F7}"/>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3E81870A-CE95-1C0B-D80C-FA734EBB0880}"/>
              </a:ext>
            </a:extLst>
          </p:cNvPr>
          <p:cNvSpPr txBox="1"/>
          <p:nvPr/>
        </p:nvSpPr>
        <p:spPr>
          <a:xfrm>
            <a:off x="1000125" y="1323696"/>
            <a:ext cx="10191750" cy="386003"/>
          </a:xfrm>
          <a:prstGeom prst="rect">
            <a:avLst/>
          </a:prstGeom>
          <a:noFill/>
        </p:spPr>
        <p:txBody>
          <a:bodyPr vert="horz" lIns="50800" tIns="25400" rIns="50800" bIns="25400" rtlCol="0" anchor="ctr">
            <a:noAutofit/>
          </a:bodyPr>
          <a:lstStyle/>
          <a:p>
            <a:pPr algn="ctr"/>
            <a:r>
              <a:rPr lang="nb-NO" sz="2175" b="1">
                <a:solidFill>
                  <a:srgbClr val="0B3D4F"/>
                </a:solidFill>
                <a:latin typeface="Aptos" panose="020B0004020202020204" pitchFamily="34" charset="0"/>
              </a:rPr>
              <a:t>Alternativkostnaden ved at en ekstra enhet brukt nå ikke kan brukes senere.</a:t>
            </a:r>
            <a:endParaRPr lang="en-GB" sz="2175" b="1">
              <a:solidFill>
                <a:srgbClr val="0B3D4F"/>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7C406B70-64CD-9F1A-D559-0595509D70D3}"/>
              </a:ext>
            </a:extLst>
          </p:cNvPr>
          <p:cNvSpPr/>
          <p:nvPr/>
        </p:nvSpPr>
        <p:spPr>
          <a:xfrm>
            <a:off x="3333750" y="2571750"/>
            <a:ext cx="5524500" cy="9525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574D66-3C90-5DC0-554B-A75AFEA2321E}"/>
                  </a:ext>
                </a:extLst>
              </p:cNvPr>
              <p:cNvSpPr txBox="1"/>
              <p:nvPr/>
            </p:nvSpPr>
            <p:spPr>
              <a:xfrm>
                <a:off x="3448050" y="2776848"/>
                <a:ext cx="5295900" cy="489878"/>
              </a:xfrm>
              <a:prstGeom prst="rect">
                <a:avLst/>
              </a:prstGeom>
              <a:noFill/>
            </p:spPr>
            <p:txBody>
              <a:bodyPr vert="horz" lIns="50800" tIns="25400" rIns="50800" bIns="25400" rtlCol="0" anchor="ctr">
                <a:noAutofit/>
              </a:bodyPr>
              <a:lstStyle/>
              <a:p>
                <a:pPr algn="ctr"/>
                <a14:m>
                  <m:oMathPara xmlns:m="http://schemas.openxmlformats.org/officeDocument/2006/math">
                    <m:oMath>
                      <m:r>
                        <a:rPr lang="en-GB" sz="2850" b="1" i="1" dirty="0" smtClean="0">
                          <a:solidFill>
                            <a:srgbClr val="0B3D4F"/>
                          </a:solidFill>
                          <a:latin typeface="Cambria Math" panose="02040503050406030204" pitchFamily="18" charset="0"/>
                        </a:rPr>
                        <m:t>𝑷</m:t>
                      </m:r>
                      <m:r>
                        <a:rPr lang="en-GB" sz="2850" b="1" i="1" dirty="0" smtClean="0">
                          <a:solidFill>
                            <a:srgbClr val="0B3D4F"/>
                          </a:solidFill>
                          <a:latin typeface="Cambria Math" panose="02040503050406030204" pitchFamily="18" charset="0"/>
                        </a:rPr>
                        <m:t>ₜ = </m:t>
                      </m:r>
                      <m:r>
                        <a:rPr lang="en-GB" sz="2850" b="1" i="1" dirty="0" smtClean="0">
                          <a:solidFill>
                            <a:srgbClr val="0B3D4F"/>
                          </a:solidFill>
                          <a:latin typeface="Cambria Math" panose="02040503050406030204" pitchFamily="18" charset="0"/>
                        </a:rPr>
                        <m:t>𝑴𝑪</m:t>
                      </m:r>
                      <m:r>
                        <a:rPr lang="en-GB" sz="2850" b="1" i="1" dirty="0" smtClean="0">
                          <a:solidFill>
                            <a:srgbClr val="0B3D4F"/>
                          </a:solidFill>
                          <a:latin typeface="Cambria Math" panose="02040503050406030204" pitchFamily="18" charset="0"/>
                        </a:rPr>
                        <m:t>ₜ + </m:t>
                      </m:r>
                      <m:r>
                        <a:rPr lang="en-GB" sz="2850" b="1" i="1" dirty="0" smtClean="0">
                          <a:solidFill>
                            <a:srgbClr val="0B3D4F"/>
                          </a:solidFill>
                          <a:latin typeface="Cambria Math" panose="02040503050406030204" pitchFamily="18" charset="0"/>
                        </a:rPr>
                        <m:t>𝑴𝑼𝑪</m:t>
                      </m:r>
                      <m:r>
                        <a:rPr lang="en-GB" sz="2850" b="1" i="1" dirty="0" smtClean="0">
                          <a:solidFill>
                            <a:srgbClr val="0B3D4F"/>
                          </a:solidFill>
                          <a:latin typeface="Cambria Math" panose="02040503050406030204" pitchFamily="18" charset="0"/>
                        </a:rPr>
                        <m:t>ₜ</m:t>
                      </m:r>
                    </m:oMath>
                  </m:oMathPara>
                </a14:m>
                <a:endParaRPr/>
              </a:p>
            </p:txBody>
          </p:sp>
        </mc:Choice>
        <mc:Fallback xmlns="">
          <p:sp>
            <p:nvSpPr>
              <p:cNvPr id="8" name="TextBox 7">
                <a:extLst>
                  <a:ext uri="{FF2B5EF4-FFF2-40B4-BE49-F238E27FC236}">
                    <a16:creationId xmlns:a16="http://schemas.microsoft.com/office/drawing/2014/main" id="{69574D66-3C90-5DC0-554B-A75AFEA2321E}"/>
                  </a:ext>
                </a:extLst>
              </p:cNvPr>
              <p:cNvSpPr txBox="1">
                <a:spLocks noRot="1" noChangeAspect="1" noMove="1" noResize="1" noEditPoints="1" noAdjustHandles="1" noChangeArrowheads="1" noChangeShapeType="1" noTextEdit="1"/>
              </p:cNvSpPr>
              <p:nvPr/>
            </p:nvSpPr>
            <p:spPr>
              <a:xfrm>
                <a:off x="3448050" y="2776848"/>
                <a:ext cx="5295900" cy="489878"/>
              </a:xfrm>
              <a:prstGeom prst="rect">
                <a:avLst/>
              </a:prstGeom>
              <a:blipFill>
                <a:blip r:embed="rId3"/>
                <a:stretch>
                  <a:fillRect/>
                </a:stretch>
              </a:blipFill>
            </p:spPr>
            <p:txBody>
              <a:bodyPr/>
              <a:lstStyle/>
              <a:p>
                <a:r>
                  <a:rPr lang="en-GB">
                    <a:noFill/>
                  </a:rPr>
                  <a:t> </a:t>
                </a:r>
              </a:p>
            </p:txBody>
          </p:sp>
        </mc:Fallback>
      </mc:AlternateContent>
      <p:sp>
        <p:nvSpPr>
          <p:cNvPr id="9" name="Rectangle: Rounded Corners 8">
            <a:extLst>
              <a:ext uri="{FF2B5EF4-FFF2-40B4-BE49-F238E27FC236}">
                <a16:creationId xmlns:a16="http://schemas.microsoft.com/office/drawing/2014/main" id="{9E638040-E8D3-B3CB-79A2-A9F135463EE7}"/>
              </a:ext>
            </a:extLst>
          </p:cNvPr>
          <p:cNvSpPr/>
          <p:nvPr/>
        </p:nvSpPr>
        <p:spPr>
          <a:xfrm>
            <a:off x="2238375" y="4333875"/>
            <a:ext cx="3333750" cy="1000125"/>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32BFB8F-B727-7398-1E62-1D44829669E0}"/>
              </a:ext>
            </a:extLst>
          </p:cNvPr>
          <p:cNvSpPr txBox="1"/>
          <p:nvPr/>
        </p:nvSpPr>
        <p:spPr>
          <a:xfrm>
            <a:off x="2352675" y="4635164"/>
            <a:ext cx="3105150" cy="397545"/>
          </a:xfrm>
          <a:prstGeom prst="rect">
            <a:avLst/>
          </a:prstGeom>
          <a:noFill/>
        </p:spPr>
        <p:txBody>
          <a:bodyPr vert="horz" lIns="50800" tIns="25400" rIns="50800" bIns="25400" rtlCol="0" anchor="ctr">
            <a:noAutofit/>
          </a:bodyPr>
          <a:lstStyle/>
          <a:p>
            <a:pPr algn="ctr"/>
            <a:r>
              <a:rPr lang="en-GB" sz="2250" dirty="0">
                <a:solidFill>
                  <a:srgbClr val="0B3D4F"/>
                </a:solidFill>
                <a:latin typeface="Aptos" panose="020B0004020202020204" pitchFamily="34" charset="0"/>
              </a:rPr>
              <a:t>MUC₁ = 1,905</a:t>
            </a:r>
          </a:p>
        </p:txBody>
      </p:sp>
      <p:sp>
        <p:nvSpPr>
          <p:cNvPr id="11" name="Rectangle: Rounded Corners 10">
            <a:extLst>
              <a:ext uri="{FF2B5EF4-FFF2-40B4-BE49-F238E27FC236}">
                <a16:creationId xmlns:a16="http://schemas.microsoft.com/office/drawing/2014/main" id="{0271ACE6-B82B-D793-CE15-33D5B9ABA91D}"/>
              </a:ext>
            </a:extLst>
          </p:cNvPr>
          <p:cNvSpPr/>
          <p:nvPr/>
        </p:nvSpPr>
        <p:spPr>
          <a:xfrm>
            <a:off x="6619875" y="4333875"/>
            <a:ext cx="3333750" cy="1000125"/>
          </a:xfrm>
          <a:prstGeom prst="roundRect">
            <a:avLst/>
          </a:prstGeom>
          <a:solidFill>
            <a:srgbClr val="F5F8F9"/>
          </a:solidFill>
          <a:ln w="14288">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6ABF34B6-F75A-5E8D-E751-78FEEDDD3A94}"/>
              </a:ext>
            </a:extLst>
          </p:cNvPr>
          <p:cNvSpPr txBox="1"/>
          <p:nvPr/>
        </p:nvSpPr>
        <p:spPr>
          <a:xfrm>
            <a:off x="6734175" y="4635163"/>
            <a:ext cx="3105150" cy="397545"/>
          </a:xfrm>
          <a:prstGeom prst="rect">
            <a:avLst/>
          </a:prstGeom>
          <a:noFill/>
        </p:spPr>
        <p:txBody>
          <a:bodyPr vert="horz" lIns="50800" tIns="25400" rIns="50800" bIns="25400" rtlCol="0" anchor="ctr">
            <a:noAutofit/>
          </a:bodyPr>
          <a:lstStyle/>
          <a:p>
            <a:pPr algn="ctr"/>
            <a:r>
              <a:rPr lang="en-GB" sz="2250" dirty="0">
                <a:solidFill>
                  <a:srgbClr val="0B3D4F"/>
                </a:solidFill>
                <a:latin typeface="Aptos" panose="020B0004020202020204" pitchFamily="34" charset="0"/>
              </a:rPr>
              <a:t>MUC₂ = 2,095</a:t>
            </a:r>
          </a:p>
        </p:txBody>
      </p:sp>
      <p:sp>
        <p:nvSpPr>
          <p:cNvPr id="13" name="TextBox 12">
            <a:extLst>
              <a:ext uri="{FF2B5EF4-FFF2-40B4-BE49-F238E27FC236}">
                <a16:creationId xmlns:a16="http://schemas.microsoft.com/office/drawing/2014/main" id="{57C417D7-C0C4-B058-76CA-572F2256D524}"/>
              </a:ext>
            </a:extLst>
          </p:cNvPr>
          <p:cNvSpPr txBox="1"/>
          <p:nvPr/>
        </p:nvSpPr>
        <p:spPr>
          <a:xfrm>
            <a:off x="5350668" y="5635288"/>
            <a:ext cx="1762125" cy="397545"/>
          </a:xfrm>
          <a:prstGeom prst="rect">
            <a:avLst/>
          </a:prstGeom>
          <a:noFill/>
        </p:spPr>
        <p:txBody>
          <a:bodyPr vert="horz" lIns="50800" tIns="25400" rIns="50800" bIns="25400" rtlCol="0" anchor="ctr">
            <a:noAutofit/>
          </a:bodyPr>
          <a:lstStyle/>
          <a:p>
            <a:pPr algn="ctr"/>
            <a:r>
              <a:rPr lang="el-GR" sz="2250" b="1" dirty="0">
                <a:solidFill>
                  <a:srgbClr val="A82AB3"/>
                </a:solidFill>
                <a:latin typeface="Aptos" panose="020B0004020202020204" pitchFamily="34" charset="0"/>
              </a:rPr>
              <a:t>λ</a:t>
            </a:r>
            <a:r>
              <a:rPr lang="en-GB" sz="2250" b="1" dirty="0">
                <a:solidFill>
                  <a:srgbClr val="A82AB3"/>
                </a:solidFill>
                <a:latin typeface="Aptos" panose="020B0004020202020204" pitchFamily="34" charset="0"/>
              </a:rPr>
              <a:t>ₜ = MUCₜ</a:t>
            </a:r>
          </a:p>
        </p:txBody>
      </p:sp>
    </p:spTree>
    <p:extLst>
      <p:ext uri="{BB962C8B-B14F-4D97-AF65-F5344CB8AC3E}">
        <p14:creationId xmlns:p14="http://schemas.microsoft.com/office/powerpoint/2010/main" val="2718992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68E762-C14B-04E4-A8A7-29E64E8709F2}"/>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Prisen inkluderer knapphet</a:t>
            </a:r>
          </a:p>
        </p:txBody>
      </p:sp>
      <p:sp>
        <p:nvSpPr>
          <p:cNvPr id="8" name="Rectangle 7">
            <a:extLst>
              <a:ext uri="{FF2B5EF4-FFF2-40B4-BE49-F238E27FC236}">
                <a16:creationId xmlns:a16="http://schemas.microsoft.com/office/drawing/2014/main" id="{CDFC3FD0-019E-7290-6612-22A6AA26F4B1}"/>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C627C70-EEF8-1BF6-18C3-842E4244CDAD}"/>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11" name="TextBox 10">
            <a:extLst>
              <a:ext uri="{FF2B5EF4-FFF2-40B4-BE49-F238E27FC236}">
                <a16:creationId xmlns:a16="http://schemas.microsoft.com/office/drawing/2014/main" id="{D66EA48D-6E0D-04D5-D94E-E23324F79B4F}"/>
              </a:ext>
            </a:extLst>
          </p:cNvPr>
          <p:cNvSpPr txBox="1"/>
          <p:nvPr/>
        </p:nvSpPr>
        <p:spPr>
          <a:xfrm>
            <a:off x="2333625" y="1138688"/>
            <a:ext cx="7524750" cy="432170"/>
          </a:xfrm>
          <a:prstGeom prst="rect">
            <a:avLst/>
          </a:prstGeom>
          <a:noFill/>
        </p:spPr>
        <p:txBody>
          <a:bodyPr vert="horz" lIns="50800" tIns="25400" rIns="50800" bIns="25400" rtlCol="0" anchor="ctr">
            <a:noAutofit/>
          </a:bodyPr>
          <a:lstStyle/>
          <a:p>
            <a:pPr algn="ctr"/>
            <a:r>
              <a:rPr lang="en-GB" sz="2475" b="1">
                <a:solidFill>
                  <a:srgbClr val="0B3D4F"/>
                </a:solidFill>
                <a:latin typeface="Aptos" panose="020B0004020202020204" pitchFamily="34" charset="0"/>
              </a:rPr>
              <a:t>Pₜ = MCₜ + </a:t>
            </a:r>
            <a:r>
              <a:rPr lang="el-GR" sz="2475" b="1">
                <a:solidFill>
                  <a:srgbClr val="0B3D4F"/>
                </a:solidFill>
                <a:latin typeface="Aptos" panose="020B0004020202020204" pitchFamily="34" charset="0"/>
              </a:rPr>
              <a:t>λ</a:t>
            </a:r>
            <a:r>
              <a:rPr lang="en-GB" sz="2475" b="1">
                <a:solidFill>
                  <a:srgbClr val="0B3D4F"/>
                </a:solidFill>
                <a:latin typeface="Aptos" panose="020B0004020202020204" pitchFamily="34" charset="0"/>
              </a:rPr>
              <a:t>ₜ     og     </a:t>
            </a:r>
            <a:r>
              <a:rPr lang="el-GR" sz="2475" b="1">
                <a:solidFill>
                  <a:srgbClr val="0B3D4F"/>
                </a:solidFill>
                <a:latin typeface="Aptos" panose="020B0004020202020204" pitchFamily="34" charset="0"/>
              </a:rPr>
              <a:t>λ</a:t>
            </a:r>
            <a:r>
              <a:rPr lang="en-GB" sz="2475" b="1">
                <a:solidFill>
                  <a:srgbClr val="0B3D4F"/>
                </a:solidFill>
                <a:latin typeface="Aptos" panose="020B0004020202020204" pitchFamily="34" charset="0"/>
              </a:rPr>
              <a:t>ₜ = MUCₜ</a:t>
            </a:r>
          </a:p>
        </p:txBody>
      </p:sp>
      <p:sp>
        <p:nvSpPr>
          <p:cNvPr id="12" name="TextBox 11">
            <a:extLst>
              <a:ext uri="{FF2B5EF4-FFF2-40B4-BE49-F238E27FC236}">
                <a16:creationId xmlns:a16="http://schemas.microsoft.com/office/drawing/2014/main" id="{1AF333A3-D73F-5ED5-21E5-5F7391B8D27A}"/>
              </a:ext>
            </a:extLst>
          </p:cNvPr>
          <p:cNvSpPr txBox="1"/>
          <p:nvPr/>
        </p:nvSpPr>
        <p:spPr>
          <a:xfrm>
            <a:off x="1428750" y="1952625"/>
            <a:ext cx="266700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Periode 1</a:t>
            </a:r>
          </a:p>
        </p:txBody>
      </p:sp>
      <p:cxnSp>
        <p:nvCxnSpPr>
          <p:cNvPr id="13" name="Straight Connector 12">
            <a:extLst>
              <a:ext uri="{FF2B5EF4-FFF2-40B4-BE49-F238E27FC236}">
                <a16:creationId xmlns:a16="http://schemas.microsoft.com/office/drawing/2014/main" id="{32A61AFD-621D-2097-4A60-465AA58AC4B1}"/>
              </a:ext>
            </a:extLst>
          </p:cNvPr>
          <p:cNvCxnSpPr/>
          <p:nvPr/>
        </p:nvCxnSpPr>
        <p:spPr>
          <a:xfrm>
            <a:off x="1238250" y="5143500"/>
            <a:ext cx="3333750" cy="0"/>
          </a:xfrm>
          <a:prstGeom prst="line">
            <a:avLst/>
          </a:prstGeom>
          <a:ln w="12383">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E26E3A8-3DC5-1C38-3756-6BAED5786DFA}"/>
              </a:ext>
            </a:extLst>
          </p:cNvPr>
          <p:cNvCxnSpPr/>
          <p:nvPr/>
        </p:nvCxnSpPr>
        <p:spPr>
          <a:xfrm flipV="1">
            <a:off x="1238250" y="2476500"/>
            <a:ext cx="0" cy="2667000"/>
          </a:xfrm>
          <a:prstGeom prst="line">
            <a:avLst/>
          </a:prstGeom>
          <a:ln w="12383">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ED5AF42-3E11-8B81-F4F9-E063726028FB}"/>
              </a:ext>
            </a:extLst>
          </p:cNvPr>
          <p:cNvCxnSpPr/>
          <p:nvPr/>
        </p:nvCxnSpPr>
        <p:spPr>
          <a:xfrm>
            <a:off x="1285875" y="2667000"/>
            <a:ext cx="3000375" cy="2286000"/>
          </a:xfrm>
          <a:prstGeom prst="line">
            <a:avLst/>
          </a:prstGeom>
          <a:ln w="23813">
            <a:solidFill>
              <a:srgbClr val="1C293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5579CB4-CD4B-E77D-95B2-5E2EC2E15C09}"/>
              </a:ext>
            </a:extLst>
          </p:cNvPr>
          <p:cNvCxnSpPr/>
          <p:nvPr/>
        </p:nvCxnSpPr>
        <p:spPr>
          <a:xfrm>
            <a:off x="1238250" y="4333875"/>
            <a:ext cx="3238500" cy="0"/>
          </a:xfrm>
          <a:prstGeom prst="line">
            <a:avLst/>
          </a:prstGeom>
          <a:ln w="20955">
            <a:solidFill>
              <a:srgbClr val="087E8B"/>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5FCDAA9-7A2C-3193-D8B2-2205E250B40D}"/>
              </a:ext>
            </a:extLst>
          </p:cNvPr>
          <p:cNvSpPr txBox="1"/>
          <p:nvPr/>
        </p:nvSpPr>
        <p:spPr>
          <a:xfrm>
            <a:off x="3619500" y="4048125"/>
            <a:ext cx="952500" cy="270587"/>
          </a:xfrm>
          <a:prstGeom prst="rect">
            <a:avLst/>
          </a:prstGeom>
          <a:noFill/>
        </p:spPr>
        <p:txBody>
          <a:bodyPr vert="horz" lIns="50800" tIns="25400" rIns="50800" bIns="25400" rtlCol="0" anchor="t">
            <a:noAutofit/>
          </a:bodyPr>
          <a:lstStyle/>
          <a:p>
            <a:pPr algn="ctr"/>
            <a:r>
              <a:rPr lang="en-GB" sz="1425" b="1">
                <a:solidFill>
                  <a:srgbClr val="087E8B"/>
                </a:solidFill>
                <a:latin typeface="Aptos" panose="020B0004020202020204" pitchFamily="34" charset="0"/>
              </a:rPr>
              <a:t>MC = 2</a:t>
            </a:r>
          </a:p>
        </p:txBody>
      </p:sp>
      <p:cxnSp>
        <p:nvCxnSpPr>
          <p:cNvPr id="18" name="Straight Connector 17">
            <a:extLst>
              <a:ext uri="{FF2B5EF4-FFF2-40B4-BE49-F238E27FC236}">
                <a16:creationId xmlns:a16="http://schemas.microsoft.com/office/drawing/2014/main" id="{45833258-8EF5-DF13-1E8C-CEE7F75027EE}"/>
              </a:ext>
            </a:extLst>
          </p:cNvPr>
          <p:cNvCxnSpPr/>
          <p:nvPr/>
        </p:nvCxnSpPr>
        <p:spPr>
          <a:xfrm>
            <a:off x="1238250" y="3543300"/>
            <a:ext cx="1857375" cy="0"/>
          </a:xfrm>
          <a:prstGeom prst="line">
            <a:avLst/>
          </a:prstGeom>
          <a:ln w="20955">
            <a:solidFill>
              <a:srgbClr val="E1B655"/>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D8EC91D-EFD3-2E75-857C-2820D550C3B6}"/>
              </a:ext>
            </a:extLst>
          </p:cNvPr>
          <p:cNvCxnSpPr/>
          <p:nvPr/>
        </p:nvCxnSpPr>
        <p:spPr>
          <a:xfrm>
            <a:off x="3095625" y="3543300"/>
            <a:ext cx="0" cy="1600200"/>
          </a:xfrm>
          <a:prstGeom prst="line">
            <a:avLst/>
          </a:prstGeom>
          <a:ln w="13335">
            <a:solidFill>
              <a:srgbClr val="51656D"/>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9147BD5-288E-A405-A996-69D08E3F0ACA}"/>
              </a:ext>
            </a:extLst>
          </p:cNvPr>
          <p:cNvCxnSpPr/>
          <p:nvPr/>
        </p:nvCxnSpPr>
        <p:spPr>
          <a:xfrm>
            <a:off x="1552575" y="3543300"/>
            <a:ext cx="0" cy="790575"/>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0EAC0BA-C9E4-5E08-D0D4-855639E1FA45}"/>
              </a:ext>
            </a:extLst>
          </p:cNvPr>
          <p:cNvCxnSpPr/>
          <p:nvPr/>
        </p:nvCxnSpPr>
        <p:spPr>
          <a:xfrm>
            <a:off x="1457325" y="3543300"/>
            <a:ext cx="190500" cy="0"/>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E910FD4-CA24-363E-983D-DC779CA6FECA}"/>
              </a:ext>
            </a:extLst>
          </p:cNvPr>
          <p:cNvCxnSpPr/>
          <p:nvPr/>
        </p:nvCxnSpPr>
        <p:spPr>
          <a:xfrm>
            <a:off x="1457325" y="4333875"/>
            <a:ext cx="190500" cy="0"/>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46FC204-66B5-1900-C73F-789E17225101}"/>
              </a:ext>
            </a:extLst>
          </p:cNvPr>
          <p:cNvSpPr txBox="1"/>
          <p:nvPr/>
        </p:nvSpPr>
        <p:spPr>
          <a:xfrm>
            <a:off x="1695450" y="3767138"/>
            <a:ext cx="1952625" cy="259045"/>
          </a:xfrm>
          <a:prstGeom prst="rect">
            <a:avLst/>
          </a:prstGeom>
          <a:noFill/>
        </p:spPr>
        <p:txBody>
          <a:bodyPr vert="horz" lIns="50800" tIns="25400" rIns="50800" bIns="25400" rtlCol="0" anchor="t">
            <a:noAutofit/>
          </a:bodyPr>
          <a:lstStyle/>
          <a:p>
            <a:r>
              <a:rPr lang="el-GR" sz="1350" b="1">
                <a:solidFill>
                  <a:srgbClr val="A82AB3"/>
                </a:solidFill>
                <a:latin typeface="Aptos" panose="020B0004020202020204" pitchFamily="34" charset="0"/>
              </a:rPr>
              <a:t>λ = </a:t>
            </a:r>
            <a:r>
              <a:rPr lang="en-GB" sz="1350" b="1">
                <a:solidFill>
                  <a:srgbClr val="A82AB3"/>
                </a:solidFill>
                <a:latin typeface="Aptos" panose="020B0004020202020204" pitchFamily="34" charset="0"/>
              </a:rPr>
              <a:t>MUC = 1,905</a:t>
            </a:r>
          </a:p>
        </p:txBody>
      </p:sp>
      <p:sp>
        <p:nvSpPr>
          <p:cNvPr id="24" name="TextBox 23">
            <a:extLst>
              <a:ext uri="{FF2B5EF4-FFF2-40B4-BE49-F238E27FC236}">
                <a16:creationId xmlns:a16="http://schemas.microsoft.com/office/drawing/2014/main" id="{779A9D80-9645-940A-3833-E1F1FA293D9D}"/>
              </a:ext>
            </a:extLst>
          </p:cNvPr>
          <p:cNvSpPr txBox="1"/>
          <p:nvPr/>
        </p:nvSpPr>
        <p:spPr>
          <a:xfrm>
            <a:off x="666750" y="3381375"/>
            <a:ext cx="952500" cy="259045"/>
          </a:xfrm>
          <a:prstGeom prst="rect">
            <a:avLst/>
          </a:prstGeom>
          <a:noFill/>
        </p:spPr>
        <p:txBody>
          <a:bodyPr vert="horz" lIns="50800" tIns="25400" rIns="50800" bIns="25400" rtlCol="0" anchor="t">
            <a:noAutofit/>
          </a:bodyPr>
          <a:lstStyle/>
          <a:p>
            <a:pPr algn="r"/>
            <a:r>
              <a:rPr lang="en-GB" sz="1350" b="1">
                <a:solidFill>
                  <a:srgbClr val="E1B655"/>
                </a:solidFill>
                <a:latin typeface="Aptos" panose="020B0004020202020204" pitchFamily="34" charset="0"/>
              </a:rPr>
              <a:t>P = 3,905</a:t>
            </a:r>
          </a:p>
        </p:txBody>
      </p:sp>
      <p:sp>
        <p:nvSpPr>
          <p:cNvPr id="25" name="TextBox 24">
            <a:extLst>
              <a:ext uri="{FF2B5EF4-FFF2-40B4-BE49-F238E27FC236}">
                <a16:creationId xmlns:a16="http://schemas.microsoft.com/office/drawing/2014/main" id="{B9CF1317-1E26-F61B-F3BC-50F4797CCDFD}"/>
              </a:ext>
            </a:extLst>
          </p:cNvPr>
          <p:cNvSpPr txBox="1"/>
          <p:nvPr/>
        </p:nvSpPr>
        <p:spPr>
          <a:xfrm>
            <a:off x="2409825" y="5219700"/>
            <a:ext cx="1428750" cy="247504"/>
          </a:xfrm>
          <a:prstGeom prst="rect">
            <a:avLst/>
          </a:prstGeom>
          <a:noFill/>
        </p:spPr>
        <p:txBody>
          <a:bodyPr vert="horz" lIns="50800" tIns="25400" rIns="50800" bIns="25400" rtlCol="0" anchor="t">
            <a:noAutofit/>
          </a:bodyPr>
          <a:lstStyle/>
          <a:p>
            <a:pPr algn="ctr"/>
            <a:r>
              <a:rPr lang="en-GB" sz="1275" b="1">
                <a:solidFill>
                  <a:srgbClr val="0B3D4F"/>
                </a:solidFill>
                <a:latin typeface="Aptos" panose="020B0004020202020204" pitchFamily="34" charset="0"/>
              </a:rPr>
              <a:t>q = 10,238</a:t>
            </a:r>
          </a:p>
        </p:txBody>
      </p:sp>
      <p:sp>
        <p:nvSpPr>
          <p:cNvPr id="26" name="TextBox 25">
            <a:extLst>
              <a:ext uri="{FF2B5EF4-FFF2-40B4-BE49-F238E27FC236}">
                <a16:creationId xmlns:a16="http://schemas.microsoft.com/office/drawing/2014/main" id="{E7F76638-6C33-1F70-A566-0DD744C6ED5C}"/>
              </a:ext>
            </a:extLst>
          </p:cNvPr>
          <p:cNvSpPr txBox="1"/>
          <p:nvPr/>
        </p:nvSpPr>
        <p:spPr>
          <a:xfrm>
            <a:off x="7239000" y="1952625"/>
            <a:ext cx="2667000" cy="339837"/>
          </a:xfrm>
          <a:prstGeom prst="rect">
            <a:avLst/>
          </a:prstGeom>
          <a:noFill/>
        </p:spPr>
        <p:txBody>
          <a:bodyPr vert="horz" lIns="50800" tIns="25400" rIns="50800" bIns="25400" rtlCol="0" anchor="t">
            <a:noAutofit/>
          </a:bodyPr>
          <a:lstStyle/>
          <a:p>
            <a:pPr algn="ctr"/>
            <a:r>
              <a:rPr lang="en-GB" sz="1875" b="1">
                <a:solidFill>
                  <a:srgbClr val="0B3D4F"/>
                </a:solidFill>
                <a:latin typeface="Aptos" panose="020B0004020202020204" pitchFamily="34" charset="0"/>
              </a:rPr>
              <a:t>Periode 2</a:t>
            </a:r>
          </a:p>
        </p:txBody>
      </p:sp>
      <p:cxnSp>
        <p:nvCxnSpPr>
          <p:cNvPr id="27" name="Straight Connector 26">
            <a:extLst>
              <a:ext uri="{FF2B5EF4-FFF2-40B4-BE49-F238E27FC236}">
                <a16:creationId xmlns:a16="http://schemas.microsoft.com/office/drawing/2014/main" id="{4C6BB770-AFB4-C89C-DD13-A28DF6F70EAD}"/>
              </a:ext>
            </a:extLst>
          </p:cNvPr>
          <p:cNvCxnSpPr/>
          <p:nvPr/>
        </p:nvCxnSpPr>
        <p:spPr>
          <a:xfrm>
            <a:off x="7048500" y="5143500"/>
            <a:ext cx="3333750" cy="0"/>
          </a:xfrm>
          <a:prstGeom prst="line">
            <a:avLst/>
          </a:prstGeom>
          <a:ln w="12383">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A15CD62-62CF-0ABD-EE41-2AB2E602DC9D}"/>
              </a:ext>
            </a:extLst>
          </p:cNvPr>
          <p:cNvCxnSpPr/>
          <p:nvPr/>
        </p:nvCxnSpPr>
        <p:spPr>
          <a:xfrm flipV="1">
            <a:off x="7048500" y="2476500"/>
            <a:ext cx="0" cy="2667000"/>
          </a:xfrm>
          <a:prstGeom prst="line">
            <a:avLst/>
          </a:prstGeom>
          <a:ln w="12383">
            <a:solidFill>
              <a:srgbClr val="0B3D4F"/>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EB66503-B87F-7CE5-6BD3-810F234DA1BF}"/>
              </a:ext>
            </a:extLst>
          </p:cNvPr>
          <p:cNvCxnSpPr/>
          <p:nvPr/>
        </p:nvCxnSpPr>
        <p:spPr>
          <a:xfrm>
            <a:off x="7096125" y="2667000"/>
            <a:ext cx="3000375" cy="2286000"/>
          </a:xfrm>
          <a:prstGeom prst="line">
            <a:avLst/>
          </a:prstGeom>
          <a:ln w="23813">
            <a:solidFill>
              <a:srgbClr val="1C293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7B0262-F6B6-176C-3CEE-0FCAEBFB7842}"/>
              </a:ext>
            </a:extLst>
          </p:cNvPr>
          <p:cNvCxnSpPr/>
          <p:nvPr/>
        </p:nvCxnSpPr>
        <p:spPr>
          <a:xfrm>
            <a:off x="7048500" y="4333875"/>
            <a:ext cx="3238500" cy="0"/>
          </a:xfrm>
          <a:prstGeom prst="line">
            <a:avLst/>
          </a:prstGeom>
          <a:ln w="20955">
            <a:solidFill>
              <a:srgbClr val="087E8B"/>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C1696C7-1B1E-1185-65C8-AA44A8D68C93}"/>
              </a:ext>
            </a:extLst>
          </p:cNvPr>
          <p:cNvSpPr txBox="1"/>
          <p:nvPr/>
        </p:nvSpPr>
        <p:spPr>
          <a:xfrm>
            <a:off x="9429750" y="4048125"/>
            <a:ext cx="952500" cy="270587"/>
          </a:xfrm>
          <a:prstGeom prst="rect">
            <a:avLst/>
          </a:prstGeom>
          <a:noFill/>
        </p:spPr>
        <p:txBody>
          <a:bodyPr vert="horz" lIns="50800" tIns="25400" rIns="50800" bIns="25400" rtlCol="0" anchor="t">
            <a:noAutofit/>
          </a:bodyPr>
          <a:lstStyle/>
          <a:p>
            <a:pPr algn="ctr"/>
            <a:r>
              <a:rPr lang="en-GB" sz="1425" b="1">
                <a:solidFill>
                  <a:srgbClr val="087E8B"/>
                </a:solidFill>
                <a:latin typeface="Aptos" panose="020B0004020202020204" pitchFamily="34" charset="0"/>
              </a:rPr>
              <a:t>MC = 2</a:t>
            </a:r>
          </a:p>
        </p:txBody>
      </p:sp>
      <p:cxnSp>
        <p:nvCxnSpPr>
          <p:cNvPr id="32" name="Straight Connector 31">
            <a:extLst>
              <a:ext uri="{FF2B5EF4-FFF2-40B4-BE49-F238E27FC236}">
                <a16:creationId xmlns:a16="http://schemas.microsoft.com/office/drawing/2014/main" id="{FEE7FEE0-FBC9-41B2-0E1D-5F5DE80C0755}"/>
              </a:ext>
            </a:extLst>
          </p:cNvPr>
          <p:cNvCxnSpPr/>
          <p:nvPr/>
        </p:nvCxnSpPr>
        <p:spPr>
          <a:xfrm>
            <a:off x="7048500" y="3429000"/>
            <a:ext cx="1762125" cy="0"/>
          </a:xfrm>
          <a:prstGeom prst="line">
            <a:avLst/>
          </a:prstGeom>
          <a:ln w="20955">
            <a:solidFill>
              <a:srgbClr val="E1B655"/>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1E025D4-3A5D-9DA3-C7BB-93E876BE4D6A}"/>
              </a:ext>
            </a:extLst>
          </p:cNvPr>
          <p:cNvCxnSpPr/>
          <p:nvPr/>
        </p:nvCxnSpPr>
        <p:spPr>
          <a:xfrm>
            <a:off x="8810625" y="3429000"/>
            <a:ext cx="0" cy="1714500"/>
          </a:xfrm>
          <a:prstGeom prst="line">
            <a:avLst/>
          </a:prstGeom>
          <a:ln w="13335">
            <a:solidFill>
              <a:srgbClr val="51656D"/>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24826DD-B39D-5A86-A45D-912156EF801F}"/>
              </a:ext>
            </a:extLst>
          </p:cNvPr>
          <p:cNvCxnSpPr/>
          <p:nvPr/>
        </p:nvCxnSpPr>
        <p:spPr>
          <a:xfrm>
            <a:off x="7362825" y="3429000"/>
            <a:ext cx="0" cy="904875"/>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D1FEB85-671C-F932-7783-ED9D1EB35DB8}"/>
              </a:ext>
            </a:extLst>
          </p:cNvPr>
          <p:cNvCxnSpPr/>
          <p:nvPr/>
        </p:nvCxnSpPr>
        <p:spPr>
          <a:xfrm>
            <a:off x="7267575" y="3429000"/>
            <a:ext cx="190500" cy="0"/>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0BEBC73-80C9-1615-0BD1-A7CBEF2B77B0}"/>
              </a:ext>
            </a:extLst>
          </p:cNvPr>
          <p:cNvCxnSpPr/>
          <p:nvPr/>
        </p:nvCxnSpPr>
        <p:spPr>
          <a:xfrm>
            <a:off x="7267575" y="4333875"/>
            <a:ext cx="190500" cy="0"/>
          </a:xfrm>
          <a:prstGeom prst="line">
            <a:avLst/>
          </a:prstGeom>
          <a:ln w="20955">
            <a:solidFill>
              <a:srgbClr val="A82AB3"/>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6F78BBD-84B3-F4AA-CE16-84059C6FB586}"/>
              </a:ext>
            </a:extLst>
          </p:cNvPr>
          <p:cNvSpPr txBox="1"/>
          <p:nvPr/>
        </p:nvSpPr>
        <p:spPr>
          <a:xfrm>
            <a:off x="7505700" y="3709988"/>
            <a:ext cx="1952625" cy="259045"/>
          </a:xfrm>
          <a:prstGeom prst="rect">
            <a:avLst/>
          </a:prstGeom>
          <a:noFill/>
        </p:spPr>
        <p:txBody>
          <a:bodyPr vert="horz" lIns="50800" tIns="25400" rIns="50800" bIns="25400" rtlCol="0" anchor="t">
            <a:noAutofit/>
          </a:bodyPr>
          <a:lstStyle/>
          <a:p>
            <a:r>
              <a:rPr lang="el-GR" sz="1350" b="1">
                <a:solidFill>
                  <a:srgbClr val="A82AB3"/>
                </a:solidFill>
                <a:latin typeface="Aptos" panose="020B0004020202020204" pitchFamily="34" charset="0"/>
              </a:rPr>
              <a:t>λ = </a:t>
            </a:r>
            <a:r>
              <a:rPr lang="en-GB" sz="1350" b="1">
                <a:solidFill>
                  <a:srgbClr val="A82AB3"/>
                </a:solidFill>
                <a:latin typeface="Aptos" panose="020B0004020202020204" pitchFamily="34" charset="0"/>
              </a:rPr>
              <a:t>MUC = 2,095</a:t>
            </a:r>
          </a:p>
        </p:txBody>
      </p:sp>
      <p:sp>
        <p:nvSpPr>
          <p:cNvPr id="38" name="TextBox 37">
            <a:extLst>
              <a:ext uri="{FF2B5EF4-FFF2-40B4-BE49-F238E27FC236}">
                <a16:creationId xmlns:a16="http://schemas.microsoft.com/office/drawing/2014/main" id="{2FB05A75-D650-822E-36BB-969443E76F51}"/>
              </a:ext>
            </a:extLst>
          </p:cNvPr>
          <p:cNvSpPr txBox="1"/>
          <p:nvPr/>
        </p:nvSpPr>
        <p:spPr>
          <a:xfrm>
            <a:off x="6477000" y="3267075"/>
            <a:ext cx="952500" cy="259045"/>
          </a:xfrm>
          <a:prstGeom prst="rect">
            <a:avLst/>
          </a:prstGeom>
          <a:noFill/>
        </p:spPr>
        <p:txBody>
          <a:bodyPr vert="horz" lIns="50800" tIns="25400" rIns="50800" bIns="25400" rtlCol="0" anchor="t">
            <a:noAutofit/>
          </a:bodyPr>
          <a:lstStyle/>
          <a:p>
            <a:pPr algn="r"/>
            <a:r>
              <a:rPr lang="en-GB" sz="1350" b="1">
                <a:solidFill>
                  <a:srgbClr val="E1B655"/>
                </a:solidFill>
                <a:latin typeface="Aptos" panose="020B0004020202020204" pitchFamily="34" charset="0"/>
              </a:rPr>
              <a:t>P = 4,095</a:t>
            </a:r>
          </a:p>
        </p:txBody>
      </p:sp>
      <p:sp>
        <p:nvSpPr>
          <p:cNvPr id="39" name="TextBox 38">
            <a:extLst>
              <a:ext uri="{FF2B5EF4-FFF2-40B4-BE49-F238E27FC236}">
                <a16:creationId xmlns:a16="http://schemas.microsoft.com/office/drawing/2014/main" id="{02AB1951-5C72-8A2E-F646-7A72860DAF66}"/>
              </a:ext>
            </a:extLst>
          </p:cNvPr>
          <p:cNvSpPr txBox="1"/>
          <p:nvPr/>
        </p:nvSpPr>
        <p:spPr>
          <a:xfrm>
            <a:off x="8124825" y="5219700"/>
            <a:ext cx="1428750" cy="247504"/>
          </a:xfrm>
          <a:prstGeom prst="rect">
            <a:avLst/>
          </a:prstGeom>
          <a:noFill/>
        </p:spPr>
        <p:txBody>
          <a:bodyPr vert="horz" lIns="50800" tIns="25400" rIns="50800" bIns="25400" rtlCol="0" anchor="t">
            <a:noAutofit/>
          </a:bodyPr>
          <a:lstStyle/>
          <a:p>
            <a:pPr algn="ctr"/>
            <a:r>
              <a:rPr lang="en-GB" sz="1275" b="1">
                <a:solidFill>
                  <a:srgbClr val="0B3D4F"/>
                </a:solidFill>
                <a:latin typeface="Aptos" panose="020B0004020202020204" pitchFamily="34" charset="0"/>
              </a:rPr>
              <a:t>q = 9,762</a:t>
            </a:r>
          </a:p>
        </p:txBody>
      </p:sp>
      <p:sp>
        <p:nvSpPr>
          <p:cNvPr id="40" name="Rectangle: Rounded Corners 39">
            <a:extLst>
              <a:ext uri="{FF2B5EF4-FFF2-40B4-BE49-F238E27FC236}">
                <a16:creationId xmlns:a16="http://schemas.microsoft.com/office/drawing/2014/main" id="{9C503788-1CD6-1B6B-3005-133ACB31E3F7}"/>
              </a:ext>
            </a:extLst>
          </p:cNvPr>
          <p:cNvSpPr/>
          <p:nvPr/>
        </p:nvSpPr>
        <p:spPr>
          <a:xfrm>
            <a:off x="1714500" y="5905500"/>
            <a:ext cx="8763000" cy="523875"/>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C0BADF64-E668-3283-D341-1B7CD688A813}"/>
              </a:ext>
            </a:extLst>
          </p:cNvPr>
          <p:cNvSpPr/>
          <p:nvPr/>
        </p:nvSpPr>
        <p:spPr>
          <a:xfrm>
            <a:off x="1714500" y="5905500"/>
            <a:ext cx="76200" cy="523875"/>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9E9D66D4-7BE8-C26B-32D1-6C74E5DC3440}"/>
              </a:ext>
            </a:extLst>
          </p:cNvPr>
          <p:cNvSpPr txBox="1"/>
          <p:nvPr/>
        </p:nvSpPr>
        <p:spPr>
          <a:xfrm>
            <a:off x="1981200" y="5994979"/>
            <a:ext cx="8343900" cy="339837"/>
          </a:xfrm>
          <a:prstGeom prst="rect">
            <a:avLst/>
          </a:prstGeom>
          <a:noFill/>
        </p:spPr>
        <p:txBody>
          <a:bodyPr vert="horz" lIns="50800" tIns="25400" rIns="50800" bIns="25400" rtlCol="0" anchor="ctr">
            <a:noAutofit/>
          </a:bodyPr>
          <a:lstStyle/>
          <a:p>
            <a:r>
              <a:rPr lang="el-GR" sz="1875" b="1">
                <a:solidFill>
                  <a:srgbClr val="0B3D4F"/>
                </a:solidFill>
                <a:latin typeface="Aptos" panose="020B0004020202020204" pitchFamily="34" charset="0"/>
              </a:rPr>
              <a:t>λ </a:t>
            </a:r>
            <a:r>
              <a:rPr lang="en-GB" sz="1875" b="1">
                <a:solidFill>
                  <a:srgbClr val="0B3D4F"/>
                </a:solidFill>
                <a:latin typeface="Aptos" panose="020B0004020202020204" pitchFamily="34" charset="0"/>
              </a:rPr>
              <a:t>er skyggeprisen på lagerbegrensningen. Den blir startpunktet for kapittel 6.</a:t>
            </a:r>
          </a:p>
        </p:txBody>
      </p:sp>
    </p:spTree>
    <p:extLst>
      <p:ext uri="{BB962C8B-B14F-4D97-AF65-F5344CB8AC3E}">
        <p14:creationId xmlns:p14="http://schemas.microsoft.com/office/powerpoint/2010/main" val="3737181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EB0F4-0D9F-E346-DD50-EE72FDCED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17DC7-ABBC-62B9-E659-CBDC40EC2A5D}"/>
              </a:ext>
            </a:extLst>
          </p:cNvPr>
          <p:cNvSpPr>
            <a:spLocks noGrp="1"/>
          </p:cNvSpPr>
          <p:nvPr>
            <p:ph type="title"/>
          </p:nvPr>
        </p:nvSpPr>
        <p:spPr>
          <a:xfrm>
            <a:off x="838200" y="365125"/>
            <a:ext cx="10515600" cy="1325563"/>
          </a:xfrm>
        </p:spPr>
        <p:txBody>
          <a:bodyPr anchor="ctr">
            <a:normAutofit/>
          </a:bodyPr>
          <a:lstStyle/>
          <a:p>
            <a:r>
              <a:rPr lang="nb-NO" dirty="0"/>
              <a:t>Intuisjon fra to-periodemodellen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35E00-7DC1-3BCF-26BE-0B4F7C9794A7}"/>
                  </a:ext>
                </a:extLst>
              </p:cNvPr>
              <p:cNvSpPr>
                <a:spLocks noGrp="1"/>
              </p:cNvSpPr>
              <p:nvPr>
                <p:ph sz="half" idx="1"/>
              </p:nvPr>
            </p:nvSpPr>
            <p:spPr>
              <a:xfrm>
                <a:off x="838200" y="1825625"/>
                <a:ext cx="5181600" cy="4351338"/>
              </a:xfrm>
            </p:spPr>
            <p:txBody>
              <a:bodyPr>
                <a:normAutofit/>
              </a:bodyPr>
              <a:lstStyle/>
              <a:p>
                <a14:m>
                  <m:oMath xmlns:m="http://schemas.openxmlformats.org/officeDocument/2006/math">
                    <m:r>
                      <m:rPr>
                        <m:sty m:val="p"/>
                      </m:rPr>
                      <a:rPr lang="nb-NO">
                        <a:latin typeface="Cambria Math" panose="02040503050406030204" pitchFamily="18" charset="0"/>
                      </a:rPr>
                      <m:t>MB</m:t>
                    </m:r>
                    <m:r>
                      <a:rPr lang="nb-NO">
                        <a:latin typeface="Cambria Math" panose="02040503050406030204" pitchFamily="18" charset="0"/>
                      </a:rPr>
                      <m:t>=8−0.4</m:t>
                    </m:r>
                    <m:r>
                      <a:rPr lang="nb-NO" i="1">
                        <a:latin typeface="Cambria Math" panose="02040503050406030204" pitchFamily="18" charset="0"/>
                      </a:rPr>
                      <m:t>𝑞</m:t>
                    </m:r>
                  </m:oMath>
                </a14:m>
                <a:endParaRPr lang="nb-NO" dirty="0"/>
              </a:p>
              <a:p>
                <a14:m>
                  <m:oMath xmlns:m="http://schemas.openxmlformats.org/officeDocument/2006/math">
                    <m:r>
                      <a:rPr lang="nb-NO" i="1">
                        <a:latin typeface="Cambria Math" panose="02040503050406030204" pitchFamily="18" charset="0"/>
                      </a:rPr>
                      <m:t>𝑀𝐶</m:t>
                    </m:r>
                    <m:r>
                      <a:rPr lang="nb-NO" i="1">
                        <a:latin typeface="Cambria Math" panose="02040503050406030204" pitchFamily="18" charset="0"/>
                      </a:rPr>
                      <m:t>=2</m:t>
                    </m:r>
                  </m:oMath>
                </a14:m>
                <a:endParaRPr lang="nb-NO" dirty="0"/>
              </a:p>
              <a:p>
                <a:r>
                  <a:rPr lang="nb-NO" dirty="0"/>
                  <a:t>Tilpasning: </a:t>
                </a:r>
                <a14:m>
                  <m:oMath xmlns:m="http://schemas.openxmlformats.org/officeDocument/2006/math">
                    <m:r>
                      <a:rPr lang="nb-NO" i="1">
                        <a:latin typeface="Cambria Math" panose="02040503050406030204" pitchFamily="18" charset="0"/>
                      </a:rPr>
                      <m:t>𝑀𝐵</m:t>
                    </m:r>
                    <m:r>
                      <a:rPr lang="nb-NO" i="1">
                        <a:latin typeface="Cambria Math" panose="02040503050406030204" pitchFamily="18" charset="0"/>
                      </a:rPr>
                      <m:t>=</m:t>
                    </m:r>
                    <m:r>
                      <a:rPr lang="nb-NO" i="1">
                        <a:latin typeface="Cambria Math" panose="02040503050406030204" pitchFamily="18" charset="0"/>
                      </a:rPr>
                      <m:t>𝑀𝐶</m:t>
                    </m:r>
                  </m:oMath>
                </a14:m>
                <a:endParaRPr lang="nb-NO" dirty="0"/>
              </a:p>
              <a:p>
                <a14:m>
                  <m:oMath xmlns:m="http://schemas.openxmlformats.org/officeDocument/2006/math">
                    <m:r>
                      <a:rPr lang="nb-NO" b="0" i="1" smtClean="0">
                        <a:latin typeface="Cambria Math" panose="02040503050406030204" pitchFamily="18" charset="0"/>
                      </a:rPr>
                      <m:t>𝑃</m:t>
                    </m:r>
                    <m:r>
                      <a:rPr lang="nb-NO" i="1">
                        <a:latin typeface="Cambria Math" panose="02040503050406030204" pitchFamily="18" charset="0"/>
                      </a:rPr>
                      <m:t>=2</m:t>
                    </m:r>
                  </m:oMath>
                </a14:m>
                <a:endParaRPr lang="nb-NO" dirty="0"/>
              </a:p>
              <a:p>
                <a:endParaRPr lang="nb-NO" dirty="0"/>
              </a:p>
              <a:p>
                <a:endParaRPr lang="nb-NO" dirty="0"/>
              </a:p>
            </p:txBody>
          </p:sp>
        </mc:Choice>
        <mc:Fallback xmlns="">
          <p:sp>
            <p:nvSpPr>
              <p:cNvPr id="3" name="Content Placeholder 2">
                <a:extLst>
                  <a:ext uri="{FF2B5EF4-FFF2-40B4-BE49-F238E27FC236}">
                    <a16:creationId xmlns:a16="http://schemas.microsoft.com/office/drawing/2014/main" id="{71235E00-7DC1-3BCF-26BE-0B4F7C9794A7}"/>
                  </a:ext>
                </a:extLst>
              </p:cNvPr>
              <p:cNvSpPr>
                <a:spLocks noGrp="1" noRot="1" noChangeAspect="1" noMove="1" noResize="1" noEditPoints="1" noAdjustHandles="1" noChangeArrowheads="1" noChangeShapeType="1" noTextEdit="1"/>
              </p:cNvSpPr>
              <p:nvPr>
                <p:ph sz="half" idx="1"/>
              </p:nvPr>
            </p:nvSpPr>
            <p:spPr>
              <a:xfrm>
                <a:off x="838200" y="1825625"/>
                <a:ext cx="5181600" cy="4351338"/>
              </a:xfrm>
              <a:blipFill>
                <a:blip r:embed="rId3"/>
                <a:stretch>
                  <a:fillRect l="-2118"/>
                </a:stretch>
              </a:blipFill>
            </p:spPr>
            <p:txBody>
              <a:bodyPr/>
              <a:lstStyle/>
              <a:p>
                <a:r>
                  <a:rPr lang="nb-NO">
                    <a:noFill/>
                  </a:rPr>
                  <a:t> </a:t>
                </a:r>
              </a:p>
            </p:txBody>
          </p:sp>
        </mc:Fallback>
      </mc:AlternateContent>
      <p:cxnSp>
        <p:nvCxnSpPr>
          <p:cNvPr id="6" name="Straight Arrow Connector 5">
            <a:extLst>
              <a:ext uri="{FF2B5EF4-FFF2-40B4-BE49-F238E27FC236}">
                <a16:creationId xmlns:a16="http://schemas.microsoft.com/office/drawing/2014/main" id="{3293764A-1D75-19F3-73A6-E8202FD483EB}"/>
              </a:ext>
            </a:extLst>
          </p:cNvPr>
          <p:cNvCxnSpPr>
            <a:cxnSpLocks/>
          </p:cNvCxnSpPr>
          <p:nvPr/>
        </p:nvCxnSpPr>
        <p:spPr>
          <a:xfrm flipV="1">
            <a:off x="6571049" y="1910427"/>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9CB2A40-121B-0624-B41B-89C8BF308449}"/>
              </a:ext>
            </a:extLst>
          </p:cNvPr>
          <p:cNvCxnSpPr/>
          <p:nvPr/>
        </p:nvCxnSpPr>
        <p:spPr>
          <a:xfrm>
            <a:off x="6571049" y="5741557"/>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3FB665E-5BC0-3AEA-969B-3B639EA4E33B}"/>
              </a:ext>
            </a:extLst>
          </p:cNvPr>
          <p:cNvCxnSpPr>
            <a:cxnSpLocks/>
          </p:cNvCxnSpPr>
          <p:nvPr/>
        </p:nvCxnSpPr>
        <p:spPr>
          <a:xfrm>
            <a:off x="6571049" y="2358276"/>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BDBEA13B-A1D0-95C8-6857-1491BA707F40}"/>
              </a:ext>
            </a:extLst>
          </p:cNvPr>
          <p:cNvSpPr txBox="1"/>
          <p:nvPr/>
        </p:nvSpPr>
        <p:spPr>
          <a:xfrm>
            <a:off x="8762686" y="1551450"/>
            <a:ext cx="2821557" cy="646331"/>
          </a:xfrm>
          <a:prstGeom prst="rect">
            <a:avLst/>
          </a:prstGeom>
          <a:noFill/>
        </p:spPr>
        <p:txBody>
          <a:bodyPr wrap="square" rtlCol="0">
            <a:spAutoFit/>
          </a:bodyPr>
          <a:lstStyle/>
          <a:p>
            <a:r>
              <a:rPr lang="nb-NO" dirty="0"/>
              <a:t>Marginal nytte = MB</a:t>
            </a:r>
            <a:br>
              <a:rPr lang="nb-NO" dirty="0"/>
            </a:br>
            <a:r>
              <a:rPr lang="nb-NO" dirty="0"/>
              <a:t>Marginal kostnad = MC</a:t>
            </a:r>
          </a:p>
        </p:txBody>
      </p:sp>
      <p:sp>
        <p:nvSpPr>
          <p:cNvPr id="11" name="TextBox 10">
            <a:extLst>
              <a:ext uri="{FF2B5EF4-FFF2-40B4-BE49-F238E27FC236}">
                <a16:creationId xmlns:a16="http://schemas.microsoft.com/office/drawing/2014/main" id="{D8C5D47C-EB48-FBF7-D912-DEC179C1E385}"/>
              </a:ext>
            </a:extLst>
          </p:cNvPr>
          <p:cNvSpPr txBox="1"/>
          <p:nvPr/>
        </p:nvSpPr>
        <p:spPr>
          <a:xfrm>
            <a:off x="5754320" y="1583985"/>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p:sp>
        <p:nvSpPr>
          <p:cNvPr id="12" name="TextBox 11">
            <a:extLst>
              <a:ext uri="{FF2B5EF4-FFF2-40B4-BE49-F238E27FC236}">
                <a16:creationId xmlns:a16="http://schemas.microsoft.com/office/drawing/2014/main" id="{F8A05D8D-E792-FF61-A91E-961155C834EF}"/>
              </a:ext>
            </a:extLst>
          </p:cNvPr>
          <p:cNvSpPr txBox="1"/>
          <p:nvPr/>
        </p:nvSpPr>
        <p:spPr>
          <a:xfrm>
            <a:off x="10381976" y="5846544"/>
            <a:ext cx="1532117" cy="369332"/>
          </a:xfrm>
          <a:prstGeom prst="rect">
            <a:avLst/>
          </a:prstGeom>
          <a:noFill/>
        </p:spPr>
        <p:txBody>
          <a:bodyPr wrap="square" rtlCol="0">
            <a:spAutoFit/>
          </a:bodyPr>
          <a:lstStyle/>
          <a:p>
            <a:r>
              <a:rPr lang="nb-NO" dirty="0"/>
              <a:t>Kvantum (q)</a:t>
            </a:r>
          </a:p>
        </p:txBody>
      </p:sp>
      <p:cxnSp>
        <p:nvCxnSpPr>
          <p:cNvPr id="13" name="Straight Connector 12">
            <a:extLst>
              <a:ext uri="{FF2B5EF4-FFF2-40B4-BE49-F238E27FC236}">
                <a16:creationId xmlns:a16="http://schemas.microsoft.com/office/drawing/2014/main" id="{37EA6A25-8CB4-EEFF-8F42-DFA3D7D98405}"/>
              </a:ext>
            </a:extLst>
          </p:cNvPr>
          <p:cNvCxnSpPr>
            <a:cxnSpLocks/>
          </p:cNvCxnSpPr>
          <p:nvPr/>
        </p:nvCxnSpPr>
        <p:spPr>
          <a:xfrm>
            <a:off x="6571049" y="5206464"/>
            <a:ext cx="4273282" cy="0"/>
          </a:xfrm>
          <a:prstGeom prst="line">
            <a:avLst/>
          </a:prstGeom>
          <a:ln>
            <a:solidFill>
              <a:schemeClr val="tx1"/>
            </a:solidFill>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E6AC490A-8395-4AD5-278D-025FF9D01521}"/>
              </a:ext>
            </a:extLst>
          </p:cNvPr>
          <p:cNvSpPr txBox="1"/>
          <p:nvPr/>
        </p:nvSpPr>
        <p:spPr>
          <a:xfrm>
            <a:off x="10538611" y="4765458"/>
            <a:ext cx="1045632" cy="369332"/>
          </a:xfrm>
          <a:prstGeom prst="rect">
            <a:avLst/>
          </a:prstGeom>
          <a:noFill/>
        </p:spPr>
        <p:txBody>
          <a:bodyPr wrap="square">
            <a:spAutoFit/>
          </a:bodyPr>
          <a:lstStyle/>
          <a:p>
            <a:r>
              <a:rPr lang="nb-NO" dirty="0"/>
              <a:t>MC</a:t>
            </a:r>
          </a:p>
        </p:txBody>
      </p:sp>
      <p:cxnSp>
        <p:nvCxnSpPr>
          <p:cNvPr id="15" name="Straight Connector 14">
            <a:extLst>
              <a:ext uri="{FF2B5EF4-FFF2-40B4-BE49-F238E27FC236}">
                <a16:creationId xmlns:a16="http://schemas.microsoft.com/office/drawing/2014/main" id="{B0F2A57C-1D7A-9AA1-EF0A-94EA51115159}"/>
              </a:ext>
            </a:extLst>
          </p:cNvPr>
          <p:cNvCxnSpPr>
            <a:cxnSpLocks/>
          </p:cNvCxnSpPr>
          <p:nvPr/>
        </p:nvCxnSpPr>
        <p:spPr>
          <a:xfrm flipH="1">
            <a:off x="9492734" y="5228876"/>
            <a:ext cx="1792" cy="51268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4EEB940A-804E-027D-6B7C-5708D36BE1B6}"/>
              </a:ext>
            </a:extLst>
          </p:cNvPr>
          <p:cNvSpPr txBox="1"/>
          <p:nvPr/>
        </p:nvSpPr>
        <p:spPr>
          <a:xfrm>
            <a:off x="9097514" y="5846544"/>
            <a:ext cx="1086674" cy="369332"/>
          </a:xfrm>
          <a:prstGeom prst="rect">
            <a:avLst/>
          </a:prstGeom>
          <a:noFill/>
        </p:spPr>
        <p:txBody>
          <a:bodyPr wrap="square" rtlCol="0">
            <a:spAutoFit/>
          </a:bodyPr>
          <a:lstStyle/>
          <a:p>
            <a:r>
              <a:rPr lang="nb-NO" dirty="0"/>
              <a:t>q*=15</a:t>
            </a:r>
          </a:p>
        </p:txBody>
      </p:sp>
      <p:sp>
        <p:nvSpPr>
          <p:cNvPr id="17" name="TextBox 16">
            <a:extLst>
              <a:ext uri="{FF2B5EF4-FFF2-40B4-BE49-F238E27FC236}">
                <a16:creationId xmlns:a16="http://schemas.microsoft.com/office/drawing/2014/main" id="{BD297E15-CDA5-54F0-FFC3-1859ECBA8D4C}"/>
              </a:ext>
            </a:extLst>
          </p:cNvPr>
          <p:cNvSpPr txBox="1"/>
          <p:nvPr/>
        </p:nvSpPr>
        <p:spPr>
          <a:xfrm>
            <a:off x="8571905" y="3680584"/>
            <a:ext cx="754379" cy="369332"/>
          </a:xfrm>
          <a:prstGeom prst="rect">
            <a:avLst/>
          </a:prstGeom>
          <a:noFill/>
        </p:spPr>
        <p:txBody>
          <a:bodyPr wrap="square">
            <a:spAutoFit/>
          </a:bodyPr>
          <a:lstStyle/>
          <a:p>
            <a:r>
              <a:rPr lang="nb-NO" dirty="0"/>
              <a:t>MB</a:t>
            </a:r>
          </a:p>
        </p:txBody>
      </p:sp>
      <p:sp>
        <p:nvSpPr>
          <p:cNvPr id="18" name="Isosceles Triangle 17">
            <a:extLst>
              <a:ext uri="{FF2B5EF4-FFF2-40B4-BE49-F238E27FC236}">
                <a16:creationId xmlns:a16="http://schemas.microsoft.com/office/drawing/2014/main" id="{F0FD97A4-D01C-6DCF-38AF-AC141F8CACC9}"/>
              </a:ext>
            </a:extLst>
          </p:cNvPr>
          <p:cNvSpPr/>
          <p:nvPr/>
        </p:nvSpPr>
        <p:spPr>
          <a:xfrm rot="5400000">
            <a:off x="6578809" y="2345437"/>
            <a:ext cx="2853264" cy="2868787"/>
          </a:xfrm>
          <a:prstGeom prst="triangle">
            <a:avLst>
              <a:gd name="adj" fmla="val 100000"/>
            </a:avLst>
          </a:prstGeom>
          <a:solidFill>
            <a:srgbClr val="92D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9" name="TextBox 18">
            <a:extLst>
              <a:ext uri="{FF2B5EF4-FFF2-40B4-BE49-F238E27FC236}">
                <a16:creationId xmlns:a16="http://schemas.microsoft.com/office/drawing/2014/main" id="{FC60D19C-6C1E-ADA0-E8A1-2ABD76EB14DE}"/>
              </a:ext>
            </a:extLst>
          </p:cNvPr>
          <p:cNvSpPr txBox="1"/>
          <p:nvPr/>
        </p:nvSpPr>
        <p:spPr>
          <a:xfrm>
            <a:off x="7975643" y="2954005"/>
            <a:ext cx="2243742" cy="369332"/>
          </a:xfrm>
          <a:prstGeom prst="rect">
            <a:avLst/>
          </a:prstGeom>
          <a:noFill/>
        </p:spPr>
        <p:txBody>
          <a:bodyPr wrap="square" rtlCol="0">
            <a:spAutoFit/>
          </a:bodyPr>
          <a:lstStyle/>
          <a:p>
            <a:r>
              <a:rPr lang="nb-NO" dirty="0"/>
              <a:t>Net </a:t>
            </a:r>
            <a:r>
              <a:rPr lang="nb-NO" dirty="0" err="1"/>
              <a:t>benefit</a:t>
            </a:r>
            <a:r>
              <a:rPr lang="nb-NO" dirty="0"/>
              <a:t>: 45</a:t>
            </a:r>
          </a:p>
        </p:txBody>
      </p:sp>
      <p:sp>
        <p:nvSpPr>
          <p:cNvPr id="4" name="TextBox 3">
            <a:extLst>
              <a:ext uri="{FF2B5EF4-FFF2-40B4-BE49-F238E27FC236}">
                <a16:creationId xmlns:a16="http://schemas.microsoft.com/office/drawing/2014/main" id="{FC9EFCA1-782A-A75C-29F8-71F6AF2650F6}"/>
              </a:ext>
            </a:extLst>
          </p:cNvPr>
          <p:cNvSpPr txBox="1"/>
          <p:nvPr/>
        </p:nvSpPr>
        <p:spPr>
          <a:xfrm>
            <a:off x="6156511" y="2197781"/>
            <a:ext cx="293594" cy="369332"/>
          </a:xfrm>
          <a:prstGeom prst="rect">
            <a:avLst/>
          </a:prstGeom>
          <a:noFill/>
        </p:spPr>
        <p:txBody>
          <a:bodyPr wrap="square" rtlCol="0">
            <a:spAutoFit/>
          </a:bodyPr>
          <a:lstStyle/>
          <a:p>
            <a:r>
              <a:rPr lang="nb-NO" dirty="0"/>
              <a:t>8</a:t>
            </a:r>
          </a:p>
        </p:txBody>
      </p:sp>
      <p:sp>
        <p:nvSpPr>
          <p:cNvPr id="5" name="TextBox 4">
            <a:extLst>
              <a:ext uri="{FF2B5EF4-FFF2-40B4-BE49-F238E27FC236}">
                <a16:creationId xmlns:a16="http://schemas.microsoft.com/office/drawing/2014/main" id="{E7549F15-40C7-2F25-7A98-03149D2F83C2}"/>
              </a:ext>
            </a:extLst>
          </p:cNvPr>
          <p:cNvSpPr txBox="1"/>
          <p:nvPr/>
        </p:nvSpPr>
        <p:spPr>
          <a:xfrm>
            <a:off x="6183916" y="5021797"/>
            <a:ext cx="293594" cy="369332"/>
          </a:xfrm>
          <a:prstGeom prst="rect">
            <a:avLst/>
          </a:prstGeom>
          <a:noFill/>
        </p:spPr>
        <p:txBody>
          <a:bodyPr wrap="square" rtlCol="0">
            <a:spAutoFit/>
          </a:bodyPr>
          <a:lstStyle/>
          <a:p>
            <a:r>
              <a:rPr lang="nb-NO" dirty="0"/>
              <a:t>2</a:t>
            </a:r>
          </a:p>
        </p:txBody>
      </p:sp>
      <p:cxnSp>
        <p:nvCxnSpPr>
          <p:cNvPr id="20" name="Straight Connector 19">
            <a:extLst>
              <a:ext uri="{FF2B5EF4-FFF2-40B4-BE49-F238E27FC236}">
                <a16:creationId xmlns:a16="http://schemas.microsoft.com/office/drawing/2014/main" id="{20F4C9A8-1683-9892-0CB8-EE7AF4DE830E}"/>
              </a:ext>
            </a:extLst>
          </p:cNvPr>
          <p:cNvCxnSpPr>
            <a:cxnSpLocks/>
          </p:cNvCxnSpPr>
          <p:nvPr/>
        </p:nvCxnSpPr>
        <p:spPr>
          <a:xfrm flipV="1">
            <a:off x="8351210" y="4108361"/>
            <a:ext cx="0" cy="16331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B540EDD-0DE5-AB5E-EC0C-906E53701A6A}"/>
              </a:ext>
            </a:extLst>
          </p:cNvPr>
          <p:cNvCxnSpPr>
            <a:cxnSpLocks/>
          </p:cNvCxnSpPr>
          <p:nvPr/>
        </p:nvCxnSpPr>
        <p:spPr>
          <a:xfrm>
            <a:off x="6571046" y="4108360"/>
            <a:ext cx="178016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Right Brace 26">
            <a:extLst>
              <a:ext uri="{FF2B5EF4-FFF2-40B4-BE49-F238E27FC236}">
                <a16:creationId xmlns:a16="http://schemas.microsoft.com/office/drawing/2014/main" id="{61D1E6B9-D8E0-C072-96E3-600740C189EF}"/>
              </a:ext>
            </a:extLst>
          </p:cNvPr>
          <p:cNvSpPr/>
          <p:nvPr/>
        </p:nvSpPr>
        <p:spPr>
          <a:xfrm>
            <a:off x="8371268" y="4121239"/>
            <a:ext cx="276895" cy="1085223"/>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b-NO"/>
          </a:p>
        </p:txBody>
      </p:sp>
      <p:sp>
        <p:nvSpPr>
          <p:cNvPr id="28" name="TextBox 27">
            <a:extLst>
              <a:ext uri="{FF2B5EF4-FFF2-40B4-BE49-F238E27FC236}">
                <a16:creationId xmlns:a16="http://schemas.microsoft.com/office/drawing/2014/main" id="{5845F0AC-4845-61F1-3727-C7E81481504E}"/>
              </a:ext>
            </a:extLst>
          </p:cNvPr>
          <p:cNvSpPr txBox="1"/>
          <p:nvPr/>
        </p:nvSpPr>
        <p:spPr>
          <a:xfrm>
            <a:off x="8667847" y="4518371"/>
            <a:ext cx="3324137" cy="261610"/>
          </a:xfrm>
          <a:prstGeom prst="rect">
            <a:avLst/>
          </a:prstGeom>
          <a:noFill/>
        </p:spPr>
        <p:txBody>
          <a:bodyPr wrap="square" rtlCol="0">
            <a:spAutoFit/>
          </a:bodyPr>
          <a:lstStyle/>
          <a:p>
            <a:r>
              <a:rPr lang="nb-NO" sz="1100" dirty="0">
                <a:solidFill>
                  <a:srgbClr val="FF0000"/>
                </a:solidFill>
              </a:rPr>
              <a:t>Kostnad av at det blir spart/brukt til neste periode</a:t>
            </a:r>
          </a:p>
        </p:txBody>
      </p:sp>
      <p:sp>
        <p:nvSpPr>
          <p:cNvPr id="33" name="Arrow: Right 32">
            <a:extLst>
              <a:ext uri="{FF2B5EF4-FFF2-40B4-BE49-F238E27FC236}">
                <a16:creationId xmlns:a16="http://schemas.microsoft.com/office/drawing/2014/main" id="{771AAE26-603E-1B9F-996E-73AFF629404E}"/>
              </a:ext>
            </a:extLst>
          </p:cNvPr>
          <p:cNvSpPr/>
          <p:nvPr/>
        </p:nvSpPr>
        <p:spPr>
          <a:xfrm rot="10800000">
            <a:off x="8418015" y="5383597"/>
            <a:ext cx="955016" cy="24957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17038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1AC0-A209-C267-4B15-971192DBFA0D}"/>
              </a:ext>
            </a:extLst>
          </p:cNvPr>
          <p:cNvSpPr>
            <a:spLocks noGrp="1"/>
          </p:cNvSpPr>
          <p:nvPr>
            <p:ph type="title"/>
          </p:nvPr>
        </p:nvSpPr>
        <p:spPr/>
        <p:txBody>
          <a:bodyPr/>
          <a:lstStyle/>
          <a:p>
            <a:r>
              <a:rPr lang="nb-NO" dirty="0"/>
              <a:t>Fra matematikk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883599-4F75-CB8D-E8C4-E165AB10C404}"/>
                  </a:ext>
                </a:extLst>
              </p:cNvPr>
              <p:cNvSpPr>
                <a:spLocks noGrp="1"/>
              </p:cNvSpPr>
              <p:nvPr>
                <p:ph idx="1"/>
              </p:nvPr>
            </p:nvSpPr>
            <p:spPr/>
            <p:txBody>
              <a:bodyPr>
                <a:normAutofit fontScale="92500" lnSpcReduction="10000"/>
              </a:bodyPr>
              <a:lstStyle/>
              <a:p>
                <a:r>
                  <a:rPr lang="nb-NO" dirty="0"/>
                  <a:t>Netto nytte</a:t>
                </a:r>
              </a:p>
              <a:p>
                <a:pPr lvl="1"/>
                <a14:m>
                  <m:oMath xmlns:m="http://schemas.openxmlformats.org/officeDocument/2006/math">
                    <m:r>
                      <a:rPr lang="nb-NO" b="0" i="1" smtClean="0">
                        <a:latin typeface="Cambria Math" panose="02040503050406030204" pitchFamily="18" charset="0"/>
                      </a:rPr>
                      <m:t>𝑁𝐵</m:t>
                    </m:r>
                    <m:r>
                      <a:rPr lang="nb-NO" b="0" i="1" smtClean="0">
                        <a:latin typeface="Cambria Math" panose="02040503050406030204" pitchFamily="18" charset="0"/>
                      </a:rPr>
                      <m:t>=6</m:t>
                    </m:r>
                    <m:sSub>
                      <m:sSubPr>
                        <m:ctrlPr>
                          <a:rPr lang="nb-NO" b="0" i="1" smtClean="0">
                            <a:latin typeface="Cambria Math" panose="02040503050406030204" pitchFamily="18" charset="0"/>
                          </a:rPr>
                        </m:ctrlPr>
                      </m:sSubPr>
                      <m:e>
                        <m:r>
                          <a:rPr lang="nb-NO" b="0" i="1" smtClean="0">
                            <a:latin typeface="Cambria Math" panose="02040503050406030204" pitchFamily="18" charset="0"/>
                          </a:rPr>
                          <m:t>𝑞</m:t>
                        </m:r>
                      </m:e>
                      <m:sub>
                        <m:r>
                          <a:rPr lang="nb-NO" b="0" i="1" smtClean="0">
                            <a:latin typeface="Cambria Math" panose="02040503050406030204" pitchFamily="18" charset="0"/>
                          </a:rPr>
                          <m:t>𝑡</m:t>
                        </m:r>
                      </m:sub>
                    </m:sSub>
                    <m:r>
                      <a:rPr lang="nb-NO" b="0" i="1" smtClean="0">
                        <a:latin typeface="Cambria Math" panose="02040503050406030204" pitchFamily="18" charset="0"/>
                      </a:rPr>
                      <m:t>−0.2</m:t>
                    </m:r>
                    <m:sSubSup>
                      <m:sSubSupPr>
                        <m:ctrlPr>
                          <a:rPr lang="nb-NO" b="0" i="1" smtClean="0">
                            <a:latin typeface="Cambria Math" panose="02040503050406030204" pitchFamily="18" charset="0"/>
                          </a:rPr>
                        </m:ctrlPr>
                      </m:sSubSupPr>
                      <m:e>
                        <m:r>
                          <a:rPr lang="nb-NO" b="0" i="1" smtClean="0">
                            <a:latin typeface="Cambria Math" panose="02040503050406030204" pitchFamily="18" charset="0"/>
                          </a:rPr>
                          <m:t>𝑞</m:t>
                        </m:r>
                      </m:e>
                      <m:sub>
                        <m:r>
                          <a:rPr lang="nb-NO" b="0" i="1" smtClean="0">
                            <a:latin typeface="Cambria Math" panose="02040503050406030204" pitchFamily="18" charset="0"/>
                          </a:rPr>
                          <m:t>𝑡</m:t>
                        </m:r>
                      </m:sub>
                      <m:sup>
                        <m:r>
                          <a:rPr lang="nb-NO" b="0" i="1" smtClean="0">
                            <a:latin typeface="Cambria Math" panose="02040503050406030204" pitchFamily="18" charset="0"/>
                          </a:rPr>
                          <m:t>2</m:t>
                        </m:r>
                      </m:sup>
                    </m:sSubSup>
                  </m:oMath>
                </a14:m>
                <a:endParaRPr lang="nb-NO" dirty="0"/>
              </a:p>
              <a:p>
                <a:pPr marL="0" indent="0">
                  <a:buNone/>
                </a:pPr>
                <a:endParaRPr lang="nb-NO" i="1" dirty="0">
                  <a:latin typeface="Cambria Math" panose="02040503050406030204" pitchFamily="18" charset="0"/>
                </a:endParaRPr>
              </a:p>
              <a:p>
                <a:pPr marL="0" indent="0">
                  <a:buNone/>
                </a:pPr>
                <a14:m>
                  <m:oMathPara xmlns:m="http://schemas.openxmlformats.org/officeDocument/2006/math">
                    <m:oMathParaPr>
                      <m:jc m:val="left"/>
                    </m:oMathParaPr>
                    <m:oMath>
                      <m:r>
                        <a:rPr lang="nb-NO" b="0" i="1" smtClean="0">
                          <a:latin typeface="Cambria Math" panose="02040503050406030204" pitchFamily="18" charset="0"/>
                        </a:rPr>
                        <m:t>𝐿</m:t>
                      </m:r>
                      <m:d>
                        <m:dPr>
                          <m:ctrlPr>
                            <a:rPr lang="nb-NO" b="0" i="1" smtClean="0">
                              <a:solidFill>
                                <a:srgbClr val="FF0000"/>
                              </a:solidFill>
                              <a:latin typeface="Cambria Math" panose="02040503050406030204" pitchFamily="18" charset="0"/>
                            </a:rPr>
                          </m:ctrlPr>
                        </m:dPr>
                        <m:e>
                          <m:sSub>
                            <m:sSubPr>
                              <m:ctrlPr>
                                <a:rPr lang="nb-NO" b="0" i="1" smtClean="0">
                                  <a:solidFill>
                                    <a:srgbClr val="FF0000"/>
                                  </a:solidFill>
                                  <a:latin typeface="Cambria Math" panose="02040503050406030204" pitchFamily="18" charset="0"/>
                                </a:rPr>
                              </m:ctrlPr>
                            </m:sSubPr>
                            <m:e>
                              <m:r>
                                <a:rPr lang="nb-NO" b="0" i="1" smtClean="0">
                                  <a:solidFill>
                                    <a:srgbClr val="FF0000"/>
                                  </a:solidFill>
                                  <a:latin typeface="Cambria Math" panose="02040503050406030204" pitchFamily="18" charset="0"/>
                                </a:rPr>
                                <m:t>𝑞</m:t>
                              </m:r>
                            </m:e>
                            <m:sub>
                              <m:r>
                                <a:rPr lang="nb-NO" b="0" i="1" smtClean="0">
                                  <a:solidFill>
                                    <a:srgbClr val="FF0000"/>
                                  </a:solidFill>
                                  <a:latin typeface="Cambria Math" panose="02040503050406030204" pitchFamily="18" charset="0"/>
                                </a:rPr>
                                <m:t>1</m:t>
                              </m:r>
                            </m:sub>
                          </m:sSub>
                          <m:r>
                            <a:rPr lang="nb-NO" b="0" i="1" smtClean="0">
                              <a:solidFill>
                                <a:schemeClr val="tx1"/>
                              </a:solidFill>
                              <a:latin typeface="Cambria Math" panose="02040503050406030204" pitchFamily="18" charset="0"/>
                            </a:rPr>
                            <m:t>,</m:t>
                          </m:r>
                          <m:sSub>
                            <m:sSubPr>
                              <m:ctrlPr>
                                <a:rPr lang="nb-NO" b="0" i="1" smtClean="0">
                                  <a:solidFill>
                                    <a:srgbClr val="00B050"/>
                                  </a:solidFill>
                                  <a:latin typeface="Cambria Math" panose="02040503050406030204" pitchFamily="18" charset="0"/>
                                </a:rPr>
                              </m:ctrlPr>
                            </m:sSubPr>
                            <m:e>
                              <m:r>
                                <a:rPr lang="nb-NO" b="0" i="1" smtClean="0">
                                  <a:solidFill>
                                    <a:srgbClr val="00B050"/>
                                  </a:solidFill>
                                  <a:latin typeface="Cambria Math" panose="02040503050406030204" pitchFamily="18" charset="0"/>
                                </a:rPr>
                                <m:t>𝑞</m:t>
                              </m:r>
                            </m:e>
                            <m:sub>
                              <m:r>
                                <a:rPr lang="nb-NO" b="0" i="1" smtClean="0">
                                  <a:solidFill>
                                    <a:srgbClr val="00B050"/>
                                  </a:solidFill>
                                  <a:latin typeface="Cambria Math" panose="02040503050406030204" pitchFamily="18" charset="0"/>
                                </a:rPr>
                                <m:t>2</m:t>
                              </m:r>
                            </m:sub>
                          </m:sSub>
                        </m:e>
                      </m:d>
                      <m:r>
                        <a:rPr lang="nb-NO" b="0" i="1" smtClean="0">
                          <a:latin typeface="Cambria Math" panose="02040503050406030204" pitchFamily="18" charset="0"/>
                        </a:rPr>
                        <m:t>=</m:t>
                      </m:r>
                      <m:r>
                        <a:rPr lang="nb-NO" i="1" smtClean="0">
                          <a:solidFill>
                            <a:srgbClr val="FF0000"/>
                          </a:solidFill>
                          <a:latin typeface="Cambria Math" panose="02040503050406030204" pitchFamily="18" charset="0"/>
                        </a:rPr>
                        <m:t>6</m:t>
                      </m:r>
                      <m:sSub>
                        <m:sSubPr>
                          <m:ctrlPr>
                            <a:rPr lang="nb-NO" i="1">
                              <a:solidFill>
                                <a:srgbClr val="FF0000"/>
                              </a:solidFill>
                              <a:latin typeface="Cambria Math" panose="02040503050406030204" pitchFamily="18" charset="0"/>
                            </a:rPr>
                          </m:ctrlPr>
                        </m:sSubPr>
                        <m:e>
                          <m:r>
                            <a:rPr lang="nb-NO" i="1">
                              <a:solidFill>
                                <a:srgbClr val="FF0000"/>
                              </a:solidFill>
                              <a:latin typeface="Cambria Math" panose="02040503050406030204" pitchFamily="18" charset="0"/>
                            </a:rPr>
                            <m:t>𝑞</m:t>
                          </m:r>
                        </m:e>
                        <m:sub>
                          <m:r>
                            <a:rPr lang="nb-NO" b="0" i="1" smtClean="0">
                              <a:solidFill>
                                <a:srgbClr val="FF0000"/>
                              </a:solidFill>
                              <a:latin typeface="Cambria Math" panose="02040503050406030204" pitchFamily="18" charset="0"/>
                            </a:rPr>
                            <m:t>1</m:t>
                          </m:r>
                        </m:sub>
                      </m:sSub>
                      <m:r>
                        <a:rPr lang="nb-NO" i="1">
                          <a:solidFill>
                            <a:srgbClr val="FF0000"/>
                          </a:solidFill>
                          <a:latin typeface="Cambria Math" panose="02040503050406030204" pitchFamily="18" charset="0"/>
                        </a:rPr>
                        <m:t>−0.2</m:t>
                      </m:r>
                      <m:sSubSup>
                        <m:sSubSupPr>
                          <m:ctrlPr>
                            <a:rPr lang="nb-NO" i="1">
                              <a:solidFill>
                                <a:srgbClr val="FF0000"/>
                              </a:solidFill>
                              <a:latin typeface="Cambria Math" panose="02040503050406030204" pitchFamily="18" charset="0"/>
                            </a:rPr>
                          </m:ctrlPr>
                        </m:sSubSupPr>
                        <m:e>
                          <m:r>
                            <a:rPr lang="nb-NO" i="1">
                              <a:solidFill>
                                <a:srgbClr val="FF0000"/>
                              </a:solidFill>
                              <a:latin typeface="Cambria Math" panose="02040503050406030204" pitchFamily="18" charset="0"/>
                            </a:rPr>
                            <m:t>𝑞</m:t>
                          </m:r>
                        </m:e>
                        <m:sub>
                          <m:r>
                            <a:rPr lang="nb-NO" b="0" i="1" smtClean="0">
                              <a:solidFill>
                                <a:srgbClr val="FF0000"/>
                              </a:solidFill>
                              <a:latin typeface="Cambria Math" panose="02040503050406030204" pitchFamily="18" charset="0"/>
                            </a:rPr>
                            <m:t>1</m:t>
                          </m:r>
                        </m:sub>
                        <m:sup>
                          <m:r>
                            <a:rPr lang="nb-NO" i="1">
                              <a:solidFill>
                                <a:srgbClr val="FF0000"/>
                              </a:solidFill>
                              <a:latin typeface="Cambria Math" panose="02040503050406030204" pitchFamily="18" charset="0"/>
                            </a:rPr>
                            <m:t>2</m:t>
                          </m:r>
                        </m:sup>
                      </m:sSubSup>
                      <m:r>
                        <a:rPr lang="nb-NO" b="0" i="1" smtClean="0">
                          <a:latin typeface="Cambria Math" panose="02040503050406030204" pitchFamily="18" charset="0"/>
                        </a:rPr>
                        <m:t>+</m:t>
                      </m:r>
                      <m:f>
                        <m:fPr>
                          <m:ctrlPr>
                            <a:rPr lang="nb-NO" i="1">
                              <a:solidFill>
                                <a:srgbClr val="00B050"/>
                              </a:solidFill>
                              <a:latin typeface="Cambria Math" panose="02040503050406030204" pitchFamily="18" charset="0"/>
                            </a:rPr>
                          </m:ctrlPr>
                        </m:fPr>
                        <m:num>
                          <m:r>
                            <a:rPr lang="nb-NO" i="1">
                              <a:solidFill>
                                <a:srgbClr val="00B050"/>
                              </a:solidFill>
                              <a:latin typeface="Cambria Math" panose="02040503050406030204" pitchFamily="18" charset="0"/>
                            </a:rPr>
                            <m:t>6</m:t>
                          </m:r>
                          <m:sSub>
                            <m:sSubPr>
                              <m:ctrlPr>
                                <a:rPr lang="nb-NO" i="1">
                                  <a:solidFill>
                                    <a:srgbClr val="00B050"/>
                                  </a:solidFill>
                                  <a:latin typeface="Cambria Math" panose="02040503050406030204" pitchFamily="18" charset="0"/>
                                </a:rPr>
                              </m:ctrlPr>
                            </m:sSubPr>
                            <m:e>
                              <m:r>
                                <a:rPr lang="nb-NO" i="1">
                                  <a:solidFill>
                                    <a:srgbClr val="00B050"/>
                                  </a:solidFill>
                                  <a:latin typeface="Cambria Math" panose="02040503050406030204" pitchFamily="18" charset="0"/>
                                </a:rPr>
                                <m:t>𝑞</m:t>
                              </m:r>
                            </m:e>
                            <m:sub>
                              <m:r>
                                <a:rPr lang="nb-NO" i="1">
                                  <a:solidFill>
                                    <a:srgbClr val="00B050"/>
                                  </a:solidFill>
                                  <a:latin typeface="Cambria Math" panose="02040503050406030204" pitchFamily="18" charset="0"/>
                                </a:rPr>
                                <m:t>2</m:t>
                              </m:r>
                            </m:sub>
                          </m:sSub>
                          <m:r>
                            <a:rPr lang="nb-NO" i="1">
                              <a:solidFill>
                                <a:srgbClr val="00B050"/>
                              </a:solidFill>
                              <a:latin typeface="Cambria Math" panose="02040503050406030204" pitchFamily="18" charset="0"/>
                            </a:rPr>
                            <m:t>−0.2</m:t>
                          </m:r>
                          <m:sSubSup>
                            <m:sSubSupPr>
                              <m:ctrlPr>
                                <a:rPr lang="nb-NO" i="1">
                                  <a:solidFill>
                                    <a:srgbClr val="00B050"/>
                                  </a:solidFill>
                                  <a:latin typeface="Cambria Math" panose="02040503050406030204" pitchFamily="18" charset="0"/>
                                </a:rPr>
                              </m:ctrlPr>
                            </m:sSubSupPr>
                            <m:e>
                              <m:r>
                                <a:rPr lang="nb-NO" i="1">
                                  <a:solidFill>
                                    <a:srgbClr val="00B050"/>
                                  </a:solidFill>
                                  <a:latin typeface="Cambria Math" panose="02040503050406030204" pitchFamily="18" charset="0"/>
                                </a:rPr>
                                <m:t>𝑞</m:t>
                              </m:r>
                            </m:e>
                            <m:sub>
                              <m:r>
                                <a:rPr lang="nb-NO" i="1">
                                  <a:solidFill>
                                    <a:srgbClr val="00B050"/>
                                  </a:solidFill>
                                  <a:latin typeface="Cambria Math" panose="02040503050406030204" pitchFamily="18" charset="0"/>
                                </a:rPr>
                                <m:t>2</m:t>
                              </m:r>
                            </m:sub>
                            <m:sup>
                              <m:r>
                                <a:rPr lang="nb-NO" i="1">
                                  <a:solidFill>
                                    <a:srgbClr val="00B050"/>
                                  </a:solidFill>
                                  <a:latin typeface="Cambria Math" panose="02040503050406030204" pitchFamily="18" charset="0"/>
                                </a:rPr>
                                <m:t>2</m:t>
                              </m:r>
                            </m:sup>
                          </m:sSubSup>
                        </m:num>
                        <m:den>
                          <m:r>
                            <a:rPr lang="nb-NO" b="0" i="1" smtClean="0">
                              <a:solidFill>
                                <a:srgbClr val="00B050"/>
                              </a:solidFill>
                              <a:latin typeface="Cambria Math" panose="02040503050406030204" pitchFamily="18" charset="0"/>
                            </a:rPr>
                            <m:t>1+</m:t>
                          </m:r>
                          <m:r>
                            <a:rPr lang="nb-NO" b="0" i="1" smtClean="0">
                              <a:solidFill>
                                <a:srgbClr val="00B050"/>
                              </a:solidFill>
                              <a:latin typeface="Cambria Math" panose="02040503050406030204" pitchFamily="18" charset="0"/>
                            </a:rPr>
                            <m:t>𝑟</m:t>
                          </m:r>
                        </m:den>
                      </m:f>
                      <m:r>
                        <a:rPr lang="nb-NO" b="0" i="1" smtClean="0">
                          <a:latin typeface="Cambria Math" panose="02040503050406030204" pitchFamily="18" charset="0"/>
                        </a:rPr>
                        <m:t>−</m:t>
                      </m:r>
                      <m:r>
                        <a:rPr lang="nb-NO" b="0" i="1" smtClean="0">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ea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𝑞</m:t>
                          </m:r>
                        </m:e>
                        <m:sub>
                          <m:r>
                            <a:rPr lang="nb-NO" b="0" i="1" smtClean="0">
                              <a:latin typeface="Cambria Math" panose="02040503050406030204" pitchFamily="18" charset="0"/>
                            </a:rPr>
                            <m:t>1</m:t>
                          </m:r>
                        </m:sub>
                      </m:sSub>
                      <m:r>
                        <a:rPr lang="nb-NO" b="0" i="1" smtClean="0">
                          <a:latin typeface="Cambria Math" panose="02040503050406030204" pitchFamily="18" charset="0"/>
                        </a:rPr>
                        <m:t>+</m:t>
                      </m:r>
                      <m:sSub>
                        <m:sSubPr>
                          <m:ctrlPr>
                            <a:rPr lang="nb-NO" i="1">
                              <a:latin typeface="Cambria Math" panose="02040503050406030204" pitchFamily="18" charset="0"/>
                            </a:rPr>
                          </m:ctrlPr>
                        </m:sSubPr>
                        <m:e>
                          <m:r>
                            <a:rPr lang="nb-NO" i="1">
                              <a:latin typeface="Cambria Math" panose="02040503050406030204" pitchFamily="18" charset="0"/>
                            </a:rPr>
                            <m:t>𝑞</m:t>
                          </m:r>
                        </m:e>
                        <m:sub>
                          <m:r>
                            <a:rPr lang="nb-NO" b="0" i="1" smtClean="0">
                              <a:latin typeface="Cambria Math" panose="02040503050406030204" pitchFamily="18" charset="0"/>
                            </a:rPr>
                            <m:t>2</m:t>
                          </m:r>
                        </m:sub>
                      </m:sSub>
                      <m:r>
                        <a:rPr lang="nb-NO" b="0" i="1" smtClean="0">
                          <a:latin typeface="Cambria Math" panose="02040503050406030204" pitchFamily="18" charset="0"/>
                        </a:rPr>
                        <m:t>−20</m:t>
                      </m:r>
                      <m:r>
                        <a:rPr lang="nb-NO" b="0" i="1" smtClean="0">
                          <a:latin typeface="Cambria Math" panose="02040503050406030204" pitchFamily="18" charset="0"/>
                          <a:ea typeface="Cambria Math" panose="02040503050406030204" pitchFamily="18" charset="0"/>
                        </a:rPr>
                        <m:t>)</m:t>
                      </m:r>
                    </m:oMath>
                  </m:oMathPara>
                </a14:m>
                <a:endParaRPr lang="nb-NO" dirty="0"/>
              </a:p>
              <a:p>
                <a:pPr marL="0" indent="0">
                  <a:buNone/>
                </a:pPr>
                <a:endParaRPr lang="nb-NO" dirty="0"/>
              </a:p>
              <a:p>
                <a:pPr marL="0" indent="0">
                  <a:buNone/>
                </a:pPr>
                <a14:m>
                  <m:oMathPara xmlns:m="http://schemas.openxmlformats.org/officeDocument/2006/math">
                    <m:oMathParaPr>
                      <m:jc m:val="left"/>
                    </m:oMathParaPr>
                    <m:oMath>
                      <m:f>
                        <m:fPr>
                          <m:ctrlPr>
                            <a:rPr lang="nb-NO" i="1" smtClean="0">
                              <a:latin typeface="Cambria Math" panose="02040503050406030204" pitchFamily="18" charset="0"/>
                              <a:ea typeface="Cambria Math" panose="02040503050406030204" pitchFamily="18" charset="0"/>
                            </a:rPr>
                          </m:ctrlPr>
                        </m:fPr>
                        <m:num>
                          <m:r>
                            <a:rPr lang="nb-NO" i="1" smtClean="0">
                              <a:latin typeface="Cambria Math" panose="02040503050406030204" pitchFamily="18" charset="0"/>
                              <a:ea typeface="Cambria Math" panose="02040503050406030204" pitchFamily="18" charset="0"/>
                            </a:rPr>
                            <m:t>𝛿</m:t>
                          </m:r>
                          <m:r>
                            <a:rPr lang="nb-NO" b="0" i="1" smtClean="0">
                              <a:latin typeface="Cambria Math" panose="02040503050406030204" pitchFamily="18" charset="0"/>
                              <a:ea typeface="Cambria Math" panose="02040503050406030204" pitchFamily="18" charset="0"/>
                            </a:rPr>
                            <m:t>𝐿</m:t>
                          </m:r>
                        </m:num>
                        <m:den>
                          <m:r>
                            <a:rPr lang="nb-NO" i="1" smtClean="0">
                              <a:latin typeface="Cambria Math" panose="02040503050406030204" pitchFamily="18" charset="0"/>
                              <a:ea typeface="Cambria Math" panose="02040503050406030204" pitchFamily="18" charset="0"/>
                            </a:rPr>
                            <m:t>𝛿</m:t>
                          </m:r>
                          <m:sSub>
                            <m:sSubPr>
                              <m:ctrlPr>
                                <a:rPr lang="nb-NO" b="0" i="1" smtClean="0">
                                  <a:latin typeface="Cambria Math" panose="02040503050406030204" pitchFamily="18" charset="0"/>
                                  <a:ea typeface="Cambria Math" panose="02040503050406030204" pitchFamily="18" charset="0"/>
                                </a:rPr>
                              </m:ctrlPr>
                            </m:sSubPr>
                            <m:e>
                              <m:r>
                                <a:rPr lang="nb-NO" b="0" i="1" smtClean="0">
                                  <a:latin typeface="Cambria Math" panose="02040503050406030204" pitchFamily="18" charset="0"/>
                                  <a:ea typeface="Cambria Math" panose="02040503050406030204" pitchFamily="18" charset="0"/>
                                </a:rPr>
                                <m:t>𝑞</m:t>
                              </m:r>
                            </m:e>
                            <m:sub>
                              <m:r>
                                <a:rPr lang="nb-NO" b="0" i="1" smtClean="0">
                                  <a:latin typeface="Cambria Math" panose="02040503050406030204" pitchFamily="18" charset="0"/>
                                  <a:ea typeface="Cambria Math" panose="02040503050406030204" pitchFamily="18" charset="0"/>
                                </a:rPr>
                                <m:t>1</m:t>
                              </m:r>
                            </m:sub>
                          </m:sSub>
                        </m:den>
                      </m:f>
                      <m:r>
                        <a:rPr lang="nb-NO" b="0" i="1" smtClean="0">
                          <a:latin typeface="Cambria Math" panose="02040503050406030204" pitchFamily="18" charset="0"/>
                        </a:rPr>
                        <m:t>⇒6−0.4</m:t>
                      </m:r>
                      <m:sSub>
                        <m:sSubPr>
                          <m:ctrlPr>
                            <a:rPr lang="nb-NO" b="0" i="1" smtClean="0">
                              <a:latin typeface="Cambria Math" panose="02040503050406030204" pitchFamily="18" charset="0"/>
                            </a:rPr>
                          </m:ctrlPr>
                        </m:sSubPr>
                        <m:e>
                          <m:r>
                            <a:rPr lang="nb-NO" b="0" i="1" smtClean="0">
                              <a:latin typeface="Cambria Math" panose="02040503050406030204" pitchFamily="18" charset="0"/>
                            </a:rPr>
                            <m:t>𝑞</m:t>
                          </m:r>
                        </m:e>
                        <m:sub>
                          <m:r>
                            <a:rPr lang="nb-NO" b="0" i="1" smtClean="0">
                              <a:latin typeface="Cambria Math" panose="02040503050406030204" pitchFamily="18" charset="0"/>
                            </a:rPr>
                            <m:t>1</m:t>
                          </m:r>
                        </m:sub>
                      </m:sSub>
                      <m:r>
                        <a:rPr lang="nb-NO" b="0" i="1" smtClean="0">
                          <a:latin typeface="Cambria Math" panose="02040503050406030204" pitchFamily="18" charset="0"/>
                        </a:rPr>
                        <m:t>−</m:t>
                      </m:r>
                      <m:r>
                        <a:rPr lang="nb-NO" b="0" i="1" smtClean="0">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ea typeface="Cambria Math" panose="02040503050406030204" pitchFamily="18" charset="0"/>
                        </a:rPr>
                        <m:t>=0</m:t>
                      </m:r>
                    </m:oMath>
                  </m:oMathPara>
                </a14:m>
                <a:endParaRPr lang="nb-NO" dirty="0"/>
              </a:p>
              <a:p>
                <a:pPr marL="0" indent="0">
                  <a:buNone/>
                </a:pPr>
                <a:endParaRPr lang="nb-NO" dirty="0"/>
              </a:p>
              <a:p>
                <a:pPr marL="0" indent="0">
                  <a:buNone/>
                </a:pPr>
                <a14:m>
                  <m:oMathPara xmlns:m="http://schemas.openxmlformats.org/officeDocument/2006/math">
                    <m:oMathParaPr>
                      <m:jc m:val="left"/>
                    </m:oMathParaPr>
                    <m:oMath>
                      <m:f>
                        <m:fPr>
                          <m:ctrlPr>
                            <a:rPr lang="nb-NO" i="1">
                              <a:latin typeface="Cambria Math" panose="02040503050406030204" pitchFamily="18" charset="0"/>
                              <a:ea typeface="Cambria Math" panose="02040503050406030204" pitchFamily="18" charset="0"/>
                            </a:rPr>
                          </m:ctrlPr>
                        </m:fPr>
                        <m:num>
                          <m:r>
                            <a:rPr lang="nb-NO" i="1">
                              <a:latin typeface="Cambria Math" panose="02040503050406030204" pitchFamily="18" charset="0"/>
                              <a:ea typeface="Cambria Math" panose="02040503050406030204" pitchFamily="18" charset="0"/>
                            </a:rPr>
                            <m:t>𝛿</m:t>
                          </m:r>
                          <m:r>
                            <a:rPr lang="nb-NO" i="1">
                              <a:latin typeface="Cambria Math" panose="02040503050406030204" pitchFamily="18" charset="0"/>
                              <a:ea typeface="Cambria Math" panose="02040503050406030204" pitchFamily="18" charset="0"/>
                            </a:rPr>
                            <m:t>𝐿</m:t>
                          </m:r>
                        </m:num>
                        <m:den>
                          <m:r>
                            <a:rPr lang="nb-NO" i="1">
                              <a:latin typeface="Cambria Math" panose="02040503050406030204" pitchFamily="18" charset="0"/>
                              <a:ea typeface="Cambria Math" panose="02040503050406030204" pitchFamily="18" charset="0"/>
                            </a:rPr>
                            <m:t>𝛿</m:t>
                          </m:r>
                          <m:sSub>
                            <m:sSubPr>
                              <m:ctrlPr>
                                <a:rPr lang="nb-NO" i="1">
                                  <a:latin typeface="Cambria Math" panose="02040503050406030204" pitchFamily="18" charset="0"/>
                                  <a:ea typeface="Cambria Math" panose="02040503050406030204" pitchFamily="18" charset="0"/>
                                </a:rPr>
                              </m:ctrlPr>
                            </m:sSubPr>
                            <m:e>
                              <m:r>
                                <a:rPr lang="nb-NO" i="1">
                                  <a:latin typeface="Cambria Math" panose="02040503050406030204" pitchFamily="18" charset="0"/>
                                  <a:ea typeface="Cambria Math" panose="02040503050406030204" pitchFamily="18" charset="0"/>
                                </a:rPr>
                                <m:t>𝑞</m:t>
                              </m:r>
                            </m:e>
                            <m:sub>
                              <m:r>
                                <a:rPr lang="nb-NO" b="0" i="1" smtClean="0">
                                  <a:latin typeface="Cambria Math" panose="02040503050406030204" pitchFamily="18" charset="0"/>
                                  <a:ea typeface="Cambria Math" panose="02040503050406030204" pitchFamily="18" charset="0"/>
                                </a:rPr>
                                <m:t>2</m:t>
                              </m:r>
                            </m:sub>
                          </m:sSub>
                        </m:den>
                      </m:f>
                      <m:r>
                        <a:rPr lang="nb-NO" i="1">
                          <a:latin typeface="Cambria Math" panose="02040503050406030204" pitchFamily="18" charset="0"/>
                        </a:rPr>
                        <m:t>⇒</m:t>
                      </m:r>
                      <m:f>
                        <m:fPr>
                          <m:ctrlPr>
                            <a:rPr lang="nb-NO" i="1">
                              <a:latin typeface="Cambria Math" panose="02040503050406030204" pitchFamily="18" charset="0"/>
                            </a:rPr>
                          </m:ctrlPr>
                        </m:fPr>
                        <m:num>
                          <m:r>
                            <a:rPr lang="nb-NO" i="1">
                              <a:latin typeface="Cambria Math" panose="02040503050406030204" pitchFamily="18" charset="0"/>
                            </a:rPr>
                            <m:t>6−0.4</m:t>
                          </m:r>
                          <m:sSub>
                            <m:sSubPr>
                              <m:ctrlPr>
                                <a:rPr lang="nb-NO" i="1">
                                  <a:latin typeface="Cambria Math" panose="02040503050406030204" pitchFamily="18" charset="0"/>
                                </a:rPr>
                              </m:ctrlPr>
                            </m:sSubPr>
                            <m:e>
                              <m:r>
                                <a:rPr lang="nb-NO" i="1">
                                  <a:latin typeface="Cambria Math" panose="02040503050406030204" pitchFamily="18" charset="0"/>
                                </a:rPr>
                                <m:t>𝑞</m:t>
                              </m:r>
                            </m:e>
                            <m:sub>
                              <m:r>
                                <a:rPr lang="nb-NO" b="0" i="1" smtClean="0">
                                  <a:latin typeface="Cambria Math" panose="02040503050406030204" pitchFamily="18" charset="0"/>
                                </a:rPr>
                                <m:t>2</m:t>
                              </m:r>
                            </m:sub>
                          </m:sSub>
                        </m:num>
                        <m:den>
                          <m:r>
                            <a:rPr lang="nb-NO" i="1">
                              <a:latin typeface="Cambria Math" panose="02040503050406030204" pitchFamily="18" charset="0"/>
                            </a:rPr>
                            <m:t>1+</m:t>
                          </m:r>
                          <m:r>
                            <a:rPr lang="nb-NO" i="1">
                              <a:latin typeface="Cambria Math" panose="02040503050406030204" pitchFamily="18" charset="0"/>
                            </a:rPr>
                            <m:t>𝑟</m:t>
                          </m:r>
                        </m:den>
                      </m:f>
                      <m:r>
                        <a:rPr lang="nb-NO" i="1">
                          <a:latin typeface="Cambria Math" panose="02040503050406030204" pitchFamily="18" charset="0"/>
                        </a:rPr>
                        <m:t>−</m:t>
                      </m:r>
                      <m:r>
                        <a:rPr lang="nb-NO" i="1">
                          <a:latin typeface="Cambria Math" panose="02040503050406030204" pitchFamily="18" charset="0"/>
                          <a:ea typeface="Cambria Math" panose="02040503050406030204" pitchFamily="18" charset="0"/>
                        </a:rPr>
                        <m:t>𝜆</m:t>
                      </m:r>
                      <m:r>
                        <a:rPr lang="nb-NO" b="0" i="1" smtClean="0">
                          <a:latin typeface="Cambria Math" panose="02040503050406030204" pitchFamily="18" charset="0"/>
                          <a:ea typeface="Cambria Math" panose="02040503050406030204" pitchFamily="18" charset="0"/>
                        </a:rPr>
                        <m:t>=0</m:t>
                      </m:r>
                    </m:oMath>
                  </m:oMathPara>
                </a14:m>
                <a:endParaRPr lang="nb-NO" dirty="0"/>
              </a:p>
              <a:p>
                <a:pPr marL="0" indent="0">
                  <a:buNone/>
                </a:pPr>
                <a:endParaRPr lang="nb-NO" dirty="0"/>
              </a:p>
            </p:txBody>
          </p:sp>
        </mc:Choice>
        <mc:Fallback xmlns="">
          <p:sp>
            <p:nvSpPr>
              <p:cNvPr id="3" name="Content Placeholder 2">
                <a:extLst>
                  <a:ext uri="{FF2B5EF4-FFF2-40B4-BE49-F238E27FC236}">
                    <a16:creationId xmlns:a16="http://schemas.microsoft.com/office/drawing/2014/main" id="{A6883599-4F75-CB8D-E8C4-E165AB10C404}"/>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63C574C-7ED8-0F21-36A9-3A7C13FFD189}"/>
                  </a:ext>
                </a:extLst>
              </p:cNvPr>
              <p:cNvSpPr txBox="1"/>
              <p:nvPr/>
            </p:nvSpPr>
            <p:spPr>
              <a:xfrm>
                <a:off x="7647709" y="4390631"/>
                <a:ext cx="2350235" cy="2249975"/>
              </a:xfrm>
              <a:prstGeom prst="rect">
                <a:avLst/>
              </a:prstGeom>
              <a:noFill/>
            </p:spPr>
            <p:txBody>
              <a:bodyPr wrap="square" rtlCol="0">
                <a:spAutoFit/>
              </a:bodyPr>
              <a:lstStyle/>
              <a:p>
                <a:pPr/>
                <a14:m>
                  <m:oMathPara xmlns:m="http://schemas.openxmlformats.org/officeDocument/2006/math">
                    <m:oMath>
                      <m:sSubSup>
                        <m:sSubSupPr>
                          <m:ctrlPr>
                            <a:rPr lang="nb-NO" b="0" i="1" smtClean="0">
                              <a:latin typeface="Cambria Math" panose="02040503050406030204" pitchFamily="18" charset="0"/>
                              <a:ea typeface="Cambria Math" panose="02040503050406030204" pitchFamily="18" charset="0"/>
                            </a:rPr>
                          </m:ctrlPr>
                        </m:sSubSupPr>
                        <m:e>
                          <m:r>
                            <a:rPr lang="nb-NO" b="0" i="1" smtClean="0">
                              <a:latin typeface="Cambria Math" panose="02040503050406030204" pitchFamily="18" charset="0"/>
                              <a:ea typeface="Cambria Math" panose="02040503050406030204" pitchFamily="18" charset="0"/>
                            </a:rPr>
                            <m:t>𝑞</m:t>
                          </m:r>
                        </m:e>
                        <m:sub>
                          <m:r>
                            <a:rPr lang="nb-NO" b="0" i="1" smtClean="0">
                              <a:latin typeface="Cambria Math" panose="02040503050406030204" pitchFamily="18" charset="0"/>
                              <a:ea typeface="Cambria Math" panose="02040503050406030204" pitchFamily="18" charset="0"/>
                            </a:rPr>
                            <m:t>1</m:t>
                          </m:r>
                        </m:sub>
                        <m:sup>
                          <m:r>
                            <a:rPr lang="nb-NO" b="0" i="1" smtClean="0">
                              <a:latin typeface="Cambria Math" panose="02040503050406030204" pitchFamily="18" charset="0"/>
                              <a:ea typeface="Cambria Math" panose="02040503050406030204" pitchFamily="18" charset="0"/>
                            </a:rPr>
                            <m:t>∗</m:t>
                          </m:r>
                        </m:sup>
                      </m:sSubSup>
                      <m:r>
                        <a:rPr lang="nb-NO" b="0" i="1" smtClean="0">
                          <a:latin typeface="Cambria Math" panose="02040503050406030204" pitchFamily="18" charset="0"/>
                          <a:ea typeface="Cambria Math" panose="02040503050406030204" pitchFamily="18" charset="0"/>
                        </a:rPr>
                        <m:t>=</m:t>
                      </m:r>
                      <m:f>
                        <m:fPr>
                          <m:ctrlPr>
                            <a:rPr lang="nb-NO" b="0" i="1" smtClean="0">
                              <a:latin typeface="Cambria Math" panose="02040503050406030204" pitchFamily="18" charset="0"/>
                              <a:ea typeface="Cambria Math" panose="02040503050406030204" pitchFamily="18" charset="0"/>
                            </a:rPr>
                          </m:ctrlPr>
                        </m:fPr>
                        <m:num>
                          <m:r>
                            <a:rPr lang="nb-NO" b="0" i="1" smtClean="0">
                              <a:latin typeface="Cambria Math" panose="02040503050406030204" pitchFamily="18" charset="0"/>
                              <a:ea typeface="Cambria Math" panose="02040503050406030204" pitchFamily="18" charset="0"/>
                            </a:rPr>
                            <m:t>20+15</m:t>
                          </m:r>
                          <m:r>
                            <a:rPr lang="nb-NO" b="0" i="1" smtClean="0">
                              <a:latin typeface="Cambria Math" panose="02040503050406030204" pitchFamily="18" charset="0"/>
                              <a:ea typeface="Cambria Math" panose="02040503050406030204" pitchFamily="18" charset="0"/>
                            </a:rPr>
                            <m:t>𝑟</m:t>
                          </m:r>
                        </m:num>
                        <m:den>
                          <m:r>
                            <a:rPr lang="nb-NO" b="0" i="1" smtClean="0">
                              <a:latin typeface="Cambria Math" panose="02040503050406030204" pitchFamily="18" charset="0"/>
                              <a:ea typeface="Cambria Math" panose="02040503050406030204" pitchFamily="18" charset="0"/>
                            </a:rPr>
                            <m:t>2+</m:t>
                          </m:r>
                          <m:r>
                            <a:rPr lang="nb-NO" b="0" i="1" smtClean="0">
                              <a:latin typeface="Cambria Math" panose="02040503050406030204" pitchFamily="18" charset="0"/>
                              <a:ea typeface="Cambria Math" panose="02040503050406030204" pitchFamily="18" charset="0"/>
                            </a:rPr>
                            <m:t>𝑟</m:t>
                          </m:r>
                        </m:den>
                      </m:f>
                    </m:oMath>
                  </m:oMathPara>
                </a14:m>
                <a:endParaRPr lang="nb-NO" b="0" dirty="0">
                  <a:ea typeface="Cambria Math" panose="02040503050406030204" pitchFamily="18" charset="0"/>
                </a:endParaRPr>
              </a:p>
              <a:p>
                <a:endParaRPr lang="nb-NO" b="0" dirty="0">
                  <a:ea typeface="Cambria Math" panose="02040503050406030204" pitchFamily="18" charset="0"/>
                </a:endParaRPr>
              </a:p>
              <a:p>
                <a:pPr/>
                <a14:m>
                  <m:oMathPara xmlns:m="http://schemas.openxmlformats.org/officeDocument/2006/math">
                    <m:oMath>
                      <m:sSubSup>
                        <m:sSubSupPr>
                          <m:ctrlPr>
                            <a:rPr lang="nb-NO" b="0" i="1" smtClean="0">
                              <a:latin typeface="Cambria Math" panose="02040503050406030204" pitchFamily="18" charset="0"/>
                              <a:ea typeface="Cambria Math" panose="02040503050406030204" pitchFamily="18" charset="0"/>
                            </a:rPr>
                          </m:ctrlPr>
                        </m:sSubSupPr>
                        <m:e>
                          <m:r>
                            <a:rPr lang="nb-NO" b="0" i="1" smtClean="0">
                              <a:latin typeface="Cambria Math" panose="02040503050406030204" pitchFamily="18" charset="0"/>
                              <a:ea typeface="Cambria Math" panose="02040503050406030204" pitchFamily="18" charset="0"/>
                            </a:rPr>
                            <m:t>𝑞</m:t>
                          </m:r>
                        </m:e>
                        <m:sub>
                          <m:r>
                            <a:rPr lang="nb-NO" b="0" i="1" smtClean="0">
                              <a:latin typeface="Cambria Math" panose="02040503050406030204" pitchFamily="18" charset="0"/>
                              <a:ea typeface="Cambria Math" panose="02040503050406030204" pitchFamily="18" charset="0"/>
                            </a:rPr>
                            <m:t>2</m:t>
                          </m:r>
                        </m:sub>
                        <m:sup>
                          <m:r>
                            <a:rPr lang="nb-NO" b="0" i="1" smtClean="0">
                              <a:latin typeface="Cambria Math" panose="02040503050406030204" pitchFamily="18" charset="0"/>
                              <a:ea typeface="Cambria Math" panose="02040503050406030204" pitchFamily="18" charset="0"/>
                            </a:rPr>
                            <m:t>∗</m:t>
                          </m:r>
                        </m:sup>
                      </m:sSubSup>
                      <m:r>
                        <a:rPr lang="nb-NO" i="1">
                          <a:latin typeface="Cambria Math" panose="02040503050406030204" pitchFamily="18" charset="0"/>
                          <a:ea typeface="Cambria Math" panose="02040503050406030204" pitchFamily="18" charset="0"/>
                        </a:rPr>
                        <m:t>=</m:t>
                      </m:r>
                      <m:f>
                        <m:fPr>
                          <m:ctrlPr>
                            <a:rPr lang="nb-NO" i="1">
                              <a:latin typeface="Cambria Math" panose="02040503050406030204" pitchFamily="18" charset="0"/>
                              <a:ea typeface="Cambria Math" panose="02040503050406030204" pitchFamily="18" charset="0"/>
                            </a:rPr>
                          </m:ctrlPr>
                        </m:fPr>
                        <m:num>
                          <m:r>
                            <a:rPr lang="nb-NO" i="1">
                              <a:latin typeface="Cambria Math" panose="02040503050406030204" pitchFamily="18" charset="0"/>
                              <a:ea typeface="Cambria Math" panose="02040503050406030204" pitchFamily="18" charset="0"/>
                            </a:rPr>
                            <m:t>20+5</m:t>
                          </m:r>
                          <m:r>
                            <a:rPr lang="nb-NO" i="1">
                              <a:latin typeface="Cambria Math" panose="02040503050406030204" pitchFamily="18" charset="0"/>
                              <a:ea typeface="Cambria Math" panose="02040503050406030204" pitchFamily="18" charset="0"/>
                            </a:rPr>
                            <m:t>𝑟</m:t>
                          </m:r>
                        </m:num>
                        <m:den>
                          <m:r>
                            <a:rPr lang="nb-NO" i="1">
                              <a:latin typeface="Cambria Math" panose="02040503050406030204" pitchFamily="18" charset="0"/>
                              <a:ea typeface="Cambria Math" panose="02040503050406030204" pitchFamily="18" charset="0"/>
                            </a:rPr>
                            <m:t>2+</m:t>
                          </m:r>
                          <m:r>
                            <a:rPr lang="nb-NO" i="1">
                              <a:latin typeface="Cambria Math" panose="02040503050406030204" pitchFamily="18" charset="0"/>
                              <a:ea typeface="Cambria Math" panose="02040503050406030204" pitchFamily="18" charset="0"/>
                            </a:rPr>
                            <m:t>𝑟</m:t>
                          </m:r>
                        </m:den>
                      </m:f>
                    </m:oMath>
                  </m:oMathPara>
                </a14:m>
                <a:endParaRPr lang="nb-NO" dirty="0">
                  <a:ea typeface="Cambria Math" panose="02040503050406030204" pitchFamily="18" charset="0"/>
                </a:endParaRPr>
              </a:p>
              <a:p>
                <a:endParaRPr lang="nb-NO" b="0" dirty="0">
                  <a:ea typeface="Cambria Math" panose="02040503050406030204" pitchFamily="18" charset="0"/>
                </a:endParaRPr>
              </a:p>
              <a:p>
                <a:pPr/>
                <a14:m>
                  <m:oMathPara xmlns:m="http://schemas.openxmlformats.org/officeDocument/2006/math">
                    <m:oMath>
                      <m:sSup>
                        <m:sSupPr>
                          <m:ctrlPr>
                            <a:rPr lang="nb-NO" i="1">
                              <a:latin typeface="Cambria Math" panose="02040503050406030204" pitchFamily="18" charset="0"/>
                              <a:ea typeface="Cambria Math" panose="02040503050406030204" pitchFamily="18" charset="0"/>
                            </a:rPr>
                          </m:ctrlPr>
                        </m:sSupPr>
                        <m:e>
                          <m:r>
                            <a:rPr lang="nb-NO" i="1">
                              <a:latin typeface="Cambria Math" panose="02040503050406030204" pitchFamily="18" charset="0"/>
                              <a:ea typeface="Cambria Math" panose="02040503050406030204" pitchFamily="18" charset="0"/>
                            </a:rPr>
                            <m:t>𝜆</m:t>
                          </m:r>
                        </m:e>
                        <m:sup>
                          <m:r>
                            <a:rPr lang="nb-NO" b="0" i="1" smtClean="0">
                              <a:latin typeface="Cambria Math" panose="02040503050406030204" pitchFamily="18" charset="0"/>
                              <a:ea typeface="Cambria Math" panose="02040503050406030204" pitchFamily="18" charset="0"/>
                            </a:rPr>
                            <m:t>∗</m:t>
                          </m:r>
                        </m:sup>
                      </m:sSup>
                      <m:r>
                        <a:rPr lang="nb-NO" b="0" i="1" smtClean="0">
                          <a:latin typeface="Cambria Math" panose="02040503050406030204" pitchFamily="18" charset="0"/>
                          <a:ea typeface="Cambria Math" panose="02040503050406030204" pitchFamily="18" charset="0"/>
                        </a:rPr>
                        <m:t>=</m:t>
                      </m:r>
                      <m:f>
                        <m:fPr>
                          <m:ctrlPr>
                            <a:rPr lang="nb-NO" b="0" i="1" smtClean="0">
                              <a:latin typeface="Cambria Math" panose="02040503050406030204" pitchFamily="18" charset="0"/>
                              <a:ea typeface="Cambria Math" panose="02040503050406030204" pitchFamily="18" charset="0"/>
                            </a:rPr>
                          </m:ctrlPr>
                        </m:fPr>
                        <m:num>
                          <m:r>
                            <a:rPr lang="nb-NO" b="0" i="1" smtClean="0">
                              <a:latin typeface="Cambria Math" panose="02040503050406030204" pitchFamily="18" charset="0"/>
                              <a:ea typeface="Cambria Math" panose="02040503050406030204" pitchFamily="18" charset="0"/>
                            </a:rPr>
                            <m:t>4</m:t>
                          </m:r>
                        </m:num>
                        <m:den>
                          <m:r>
                            <a:rPr lang="nb-NO" b="0" i="1" smtClean="0">
                              <a:latin typeface="Cambria Math" panose="02040503050406030204" pitchFamily="18" charset="0"/>
                              <a:ea typeface="Cambria Math" panose="02040503050406030204" pitchFamily="18" charset="0"/>
                            </a:rPr>
                            <m:t>2+</m:t>
                          </m:r>
                          <m:r>
                            <a:rPr lang="nb-NO" b="0" i="1" smtClean="0">
                              <a:latin typeface="Cambria Math" panose="02040503050406030204" pitchFamily="18" charset="0"/>
                              <a:ea typeface="Cambria Math" panose="02040503050406030204" pitchFamily="18" charset="0"/>
                            </a:rPr>
                            <m:t>𝑟</m:t>
                          </m:r>
                        </m:den>
                      </m:f>
                    </m:oMath>
                  </m:oMathPara>
                </a14:m>
                <a:endParaRPr lang="nb-NO" dirty="0"/>
              </a:p>
            </p:txBody>
          </p:sp>
        </mc:Choice>
        <mc:Fallback xmlns="">
          <p:sp>
            <p:nvSpPr>
              <p:cNvPr id="4" name="TextBox 3">
                <a:extLst>
                  <a:ext uri="{FF2B5EF4-FFF2-40B4-BE49-F238E27FC236}">
                    <a16:creationId xmlns:a16="http://schemas.microsoft.com/office/drawing/2014/main" id="{163C574C-7ED8-0F21-36A9-3A7C13FFD189}"/>
                  </a:ext>
                </a:extLst>
              </p:cNvPr>
              <p:cNvSpPr txBox="1">
                <a:spLocks noRot="1" noChangeAspect="1" noMove="1" noResize="1" noEditPoints="1" noAdjustHandles="1" noChangeArrowheads="1" noChangeShapeType="1" noTextEdit="1"/>
              </p:cNvSpPr>
              <p:nvPr/>
            </p:nvSpPr>
            <p:spPr>
              <a:xfrm>
                <a:off x="7647709" y="4390631"/>
                <a:ext cx="2350235" cy="2249975"/>
              </a:xfrm>
              <a:prstGeom prst="rect">
                <a:avLst/>
              </a:prstGeom>
              <a:blipFill>
                <a:blip r:embed="rId3"/>
                <a:stretch>
                  <a:fillRect/>
                </a:stretch>
              </a:blipFill>
            </p:spPr>
            <p:txBody>
              <a:bodyPr/>
              <a:lstStyle/>
              <a:p>
                <a:r>
                  <a:rPr lang="nb-NO">
                    <a:noFill/>
                  </a:rPr>
                  <a:t> </a:t>
                </a:r>
              </a:p>
            </p:txBody>
          </p:sp>
        </mc:Fallback>
      </mc:AlternateContent>
    </p:spTree>
    <p:extLst>
      <p:ext uri="{BB962C8B-B14F-4D97-AF65-F5344CB8AC3E}">
        <p14:creationId xmlns:p14="http://schemas.microsoft.com/office/powerpoint/2010/main" val="1689788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811E5-D4B3-ED3B-01B7-12ADCA08F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0ED23-DB38-32BD-ED85-1BA4E84AC57A}"/>
              </a:ext>
            </a:extLst>
          </p:cNvPr>
          <p:cNvSpPr>
            <a:spLocks noGrp="1"/>
          </p:cNvSpPr>
          <p:nvPr>
            <p:ph type="title"/>
          </p:nvPr>
        </p:nvSpPr>
        <p:spPr/>
        <p:txBody>
          <a:bodyPr/>
          <a:lstStyle/>
          <a:p>
            <a:r>
              <a:rPr lang="nb-NO" dirty="0"/>
              <a:t>To-periodemodellen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004C9A-0F36-432A-FBAA-5678E9156BD1}"/>
                  </a:ext>
                </a:extLst>
              </p:cNvPr>
              <p:cNvSpPr>
                <a:spLocks noGrp="1"/>
              </p:cNvSpPr>
              <p:nvPr>
                <p:ph sz="half" idx="1"/>
              </p:nvPr>
            </p:nvSpPr>
            <p:spPr/>
            <p:txBody>
              <a:bodyPr/>
              <a:lstStyle/>
              <a:p>
                <a:r>
                  <a:rPr lang="nb-NO" dirty="0"/>
                  <a:t>Diskontering: 10%</a:t>
                </a:r>
              </a:p>
              <a:p>
                <a:endParaRPr lang="nb-NO" dirty="0"/>
              </a:p>
              <a:p>
                <a14:m>
                  <m:oMath xmlns:m="http://schemas.openxmlformats.org/officeDocument/2006/math">
                    <m:sSubSup>
                      <m:sSubSupPr>
                        <m:ctrlPr>
                          <a:rPr lang="nb-NO" i="1">
                            <a:latin typeface="Cambria Math" panose="02040503050406030204" pitchFamily="18" charset="0"/>
                            <a:ea typeface="Cambria Math" panose="02040503050406030204" pitchFamily="18" charset="0"/>
                          </a:rPr>
                        </m:ctrlPr>
                      </m:sSubSupPr>
                      <m:e>
                        <m:r>
                          <a:rPr lang="nb-NO" i="1">
                            <a:latin typeface="Cambria Math" panose="02040503050406030204" pitchFamily="18" charset="0"/>
                            <a:ea typeface="Cambria Math" panose="02040503050406030204" pitchFamily="18" charset="0"/>
                          </a:rPr>
                          <m:t>𝑞</m:t>
                        </m:r>
                      </m:e>
                      <m:sub>
                        <m:r>
                          <a:rPr lang="nb-NO" i="1">
                            <a:latin typeface="Cambria Math" panose="02040503050406030204" pitchFamily="18" charset="0"/>
                            <a:ea typeface="Cambria Math" panose="02040503050406030204" pitchFamily="18" charset="0"/>
                          </a:rPr>
                          <m:t>1</m:t>
                        </m:r>
                      </m:sub>
                      <m:sup>
                        <m:r>
                          <a:rPr lang="nb-NO" i="1">
                            <a:latin typeface="Cambria Math" panose="02040503050406030204" pitchFamily="18" charset="0"/>
                            <a:ea typeface="Cambria Math" panose="02040503050406030204" pitchFamily="18" charset="0"/>
                          </a:rPr>
                          <m:t>∗</m:t>
                        </m:r>
                      </m:sup>
                    </m:sSubSup>
                    <m:r>
                      <a:rPr lang="nb-NO" i="1">
                        <a:latin typeface="Cambria Math" panose="02040503050406030204" pitchFamily="18" charset="0"/>
                        <a:ea typeface="Cambria Math" panose="02040503050406030204" pitchFamily="18" charset="0"/>
                      </a:rPr>
                      <m:t>=</m:t>
                    </m:r>
                    <m:f>
                      <m:fPr>
                        <m:ctrlPr>
                          <a:rPr lang="nb-NO" i="1">
                            <a:latin typeface="Cambria Math" panose="02040503050406030204" pitchFamily="18" charset="0"/>
                            <a:ea typeface="Cambria Math" panose="02040503050406030204" pitchFamily="18" charset="0"/>
                          </a:rPr>
                        </m:ctrlPr>
                      </m:fPr>
                      <m:num>
                        <m:r>
                          <a:rPr lang="nb-NO" i="1">
                            <a:latin typeface="Cambria Math" panose="02040503050406030204" pitchFamily="18" charset="0"/>
                            <a:ea typeface="Cambria Math" panose="02040503050406030204" pitchFamily="18" charset="0"/>
                          </a:rPr>
                          <m:t>20+15</m:t>
                        </m:r>
                        <m:r>
                          <a:rPr lang="nb-NO" i="1">
                            <a:latin typeface="Cambria Math" panose="02040503050406030204" pitchFamily="18" charset="0"/>
                            <a:ea typeface="Cambria Math" panose="02040503050406030204" pitchFamily="18" charset="0"/>
                          </a:rPr>
                          <m:t>𝑟</m:t>
                        </m:r>
                      </m:num>
                      <m:den>
                        <m:r>
                          <a:rPr lang="nb-NO" i="1">
                            <a:latin typeface="Cambria Math" panose="02040503050406030204" pitchFamily="18" charset="0"/>
                            <a:ea typeface="Cambria Math" panose="02040503050406030204" pitchFamily="18" charset="0"/>
                          </a:rPr>
                          <m:t>2+</m:t>
                        </m:r>
                        <m:r>
                          <a:rPr lang="nb-NO" i="1">
                            <a:latin typeface="Cambria Math" panose="02040503050406030204" pitchFamily="18" charset="0"/>
                            <a:ea typeface="Cambria Math" panose="02040503050406030204" pitchFamily="18" charset="0"/>
                          </a:rPr>
                          <m:t>𝑟</m:t>
                        </m:r>
                      </m:den>
                    </m:f>
                    <m:r>
                      <a:rPr lang="nb-NO" b="0" i="1" smtClean="0">
                        <a:latin typeface="Cambria Math" panose="02040503050406030204" pitchFamily="18" charset="0"/>
                        <a:ea typeface="Cambria Math" panose="02040503050406030204" pitchFamily="18" charset="0"/>
                      </a:rPr>
                      <m:t>=10.24</m:t>
                    </m:r>
                  </m:oMath>
                </a14:m>
                <a:endParaRPr lang="nb-NO" dirty="0">
                  <a:ea typeface="Cambria Math" panose="02040503050406030204" pitchFamily="18" charset="0"/>
                </a:endParaRPr>
              </a:p>
              <a:p>
                <a:endParaRPr lang="nb-NO" dirty="0">
                  <a:ea typeface="Cambria Math" panose="02040503050406030204" pitchFamily="18" charset="0"/>
                </a:endParaRPr>
              </a:p>
              <a:p>
                <a14:m>
                  <m:oMath xmlns:m="http://schemas.openxmlformats.org/officeDocument/2006/math">
                    <m:sSubSup>
                      <m:sSubSupPr>
                        <m:ctrlPr>
                          <a:rPr lang="nb-NO" i="1">
                            <a:latin typeface="Cambria Math" panose="02040503050406030204" pitchFamily="18" charset="0"/>
                            <a:ea typeface="Cambria Math" panose="02040503050406030204" pitchFamily="18" charset="0"/>
                          </a:rPr>
                        </m:ctrlPr>
                      </m:sSubSupPr>
                      <m:e>
                        <m:r>
                          <a:rPr lang="nb-NO" i="1">
                            <a:latin typeface="Cambria Math" panose="02040503050406030204" pitchFamily="18" charset="0"/>
                            <a:ea typeface="Cambria Math" panose="02040503050406030204" pitchFamily="18" charset="0"/>
                          </a:rPr>
                          <m:t>𝑞</m:t>
                        </m:r>
                      </m:e>
                      <m:sub>
                        <m:r>
                          <a:rPr lang="nb-NO" i="1">
                            <a:latin typeface="Cambria Math" panose="02040503050406030204" pitchFamily="18" charset="0"/>
                            <a:ea typeface="Cambria Math" panose="02040503050406030204" pitchFamily="18" charset="0"/>
                          </a:rPr>
                          <m:t>2</m:t>
                        </m:r>
                      </m:sub>
                      <m:sup>
                        <m:r>
                          <a:rPr lang="nb-NO" i="1">
                            <a:latin typeface="Cambria Math" panose="02040503050406030204" pitchFamily="18" charset="0"/>
                            <a:ea typeface="Cambria Math" panose="02040503050406030204" pitchFamily="18" charset="0"/>
                          </a:rPr>
                          <m:t>∗</m:t>
                        </m:r>
                      </m:sup>
                    </m:sSubSup>
                    <m:r>
                      <a:rPr lang="nb-NO" i="1">
                        <a:latin typeface="Cambria Math" panose="02040503050406030204" pitchFamily="18" charset="0"/>
                        <a:ea typeface="Cambria Math" panose="02040503050406030204" pitchFamily="18" charset="0"/>
                      </a:rPr>
                      <m:t>=</m:t>
                    </m:r>
                    <m:f>
                      <m:fPr>
                        <m:ctrlPr>
                          <a:rPr lang="nb-NO" i="1">
                            <a:latin typeface="Cambria Math" panose="02040503050406030204" pitchFamily="18" charset="0"/>
                            <a:ea typeface="Cambria Math" panose="02040503050406030204" pitchFamily="18" charset="0"/>
                          </a:rPr>
                        </m:ctrlPr>
                      </m:fPr>
                      <m:num>
                        <m:r>
                          <a:rPr lang="nb-NO" i="1">
                            <a:latin typeface="Cambria Math" panose="02040503050406030204" pitchFamily="18" charset="0"/>
                            <a:ea typeface="Cambria Math" panose="02040503050406030204" pitchFamily="18" charset="0"/>
                          </a:rPr>
                          <m:t>20+5</m:t>
                        </m:r>
                        <m:r>
                          <a:rPr lang="nb-NO" i="1">
                            <a:latin typeface="Cambria Math" panose="02040503050406030204" pitchFamily="18" charset="0"/>
                            <a:ea typeface="Cambria Math" panose="02040503050406030204" pitchFamily="18" charset="0"/>
                          </a:rPr>
                          <m:t>𝑟</m:t>
                        </m:r>
                      </m:num>
                      <m:den>
                        <m:r>
                          <a:rPr lang="nb-NO" i="1">
                            <a:latin typeface="Cambria Math" panose="02040503050406030204" pitchFamily="18" charset="0"/>
                            <a:ea typeface="Cambria Math" panose="02040503050406030204" pitchFamily="18" charset="0"/>
                          </a:rPr>
                          <m:t>2+</m:t>
                        </m:r>
                        <m:r>
                          <a:rPr lang="nb-NO" i="1">
                            <a:latin typeface="Cambria Math" panose="02040503050406030204" pitchFamily="18" charset="0"/>
                            <a:ea typeface="Cambria Math" panose="02040503050406030204" pitchFamily="18" charset="0"/>
                          </a:rPr>
                          <m:t>𝑟</m:t>
                        </m:r>
                      </m:den>
                    </m:f>
                    <m:r>
                      <a:rPr lang="nb-NO" b="0" i="1" smtClean="0">
                        <a:latin typeface="Cambria Math" panose="02040503050406030204" pitchFamily="18" charset="0"/>
                        <a:ea typeface="Cambria Math" panose="02040503050406030204" pitchFamily="18" charset="0"/>
                      </a:rPr>
                      <m:t>=9.76</m:t>
                    </m:r>
                  </m:oMath>
                </a14:m>
                <a:endParaRPr lang="nb-NO" dirty="0">
                  <a:ea typeface="Cambria Math" panose="02040503050406030204" pitchFamily="18" charset="0"/>
                </a:endParaRPr>
              </a:p>
              <a:p>
                <a:endParaRPr lang="nb-NO" dirty="0">
                  <a:ea typeface="Cambria Math" panose="02040503050406030204" pitchFamily="18" charset="0"/>
                </a:endParaRPr>
              </a:p>
              <a:p>
                <a14:m>
                  <m:oMath xmlns:m="http://schemas.openxmlformats.org/officeDocument/2006/math">
                    <m:sSup>
                      <m:sSupPr>
                        <m:ctrlPr>
                          <a:rPr lang="nb-NO" i="1">
                            <a:latin typeface="Cambria Math" panose="02040503050406030204" pitchFamily="18" charset="0"/>
                            <a:ea typeface="Cambria Math" panose="02040503050406030204" pitchFamily="18" charset="0"/>
                          </a:rPr>
                        </m:ctrlPr>
                      </m:sSupPr>
                      <m:e>
                        <m:r>
                          <a:rPr lang="nb-NO" i="1">
                            <a:latin typeface="Cambria Math" panose="02040503050406030204" pitchFamily="18" charset="0"/>
                            <a:ea typeface="Cambria Math" panose="02040503050406030204" pitchFamily="18" charset="0"/>
                          </a:rPr>
                          <m:t>𝜆</m:t>
                        </m:r>
                      </m:e>
                      <m:sup>
                        <m:r>
                          <a:rPr lang="nb-NO" i="1">
                            <a:latin typeface="Cambria Math" panose="02040503050406030204" pitchFamily="18" charset="0"/>
                            <a:ea typeface="Cambria Math" panose="02040503050406030204" pitchFamily="18" charset="0"/>
                          </a:rPr>
                          <m:t>∗</m:t>
                        </m:r>
                      </m:sup>
                    </m:sSup>
                    <m:r>
                      <a:rPr lang="nb-NO" i="1">
                        <a:latin typeface="Cambria Math" panose="02040503050406030204" pitchFamily="18" charset="0"/>
                        <a:ea typeface="Cambria Math" panose="02040503050406030204" pitchFamily="18" charset="0"/>
                      </a:rPr>
                      <m:t>=</m:t>
                    </m:r>
                    <m:f>
                      <m:fPr>
                        <m:ctrlPr>
                          <a:rPr lang="nb-NO" i="1">
                            <a:latin typeface="Cambria Math" panose="02040503050406030204" pitchFamily="18" charset="0"/>
                            <a:ea typeface="Cambria Math" panose="02040503050406030204" pitchFamily="18" charset="0"/>
                          </a:rPr>
                        </m:ctrlPr>
                      </m:fPr>
                      <m:num>
                        <m:r>
                          <a:rPr lang="nb-NO" i="1">
                            <a:latin typeface="Cambria Math" panose="02040503050406030204" pitchFamily="18" charset="0"/>
                            <a:ea typeface="Cambria Math" panose="02040503050406030204" pitchFamily="18" charset="0"/>
                          </a:rPr>
                          <m:t>4</m:t>
                        </m:r>
                      </m:num>
                      <m:den>
                        <m:r>
                          <a:rPr lang="nb-NO" i="1">
                            <a:latin typeface="Cambria Math" panose="02040503050406030204" pitchFamily="18" charset="0"/>
                            <a:ea typeface="Cambria Math" panose="02040503050406030204" pitchFamily="18" charset="0"/>
                          </a:rPr>
                          <m:t>2+</m:t>
                        </m:r>
                        <m:r>
                          <a:rPr lang="nb-NO" i="1">
                            <a:latin typeface="Cambria Math" panose="02040503050406030204" pitchFamily="18" charset="0"/>
                            <a:ea typeface="Cambria Math" panose="02040503050406030204" pitchFamily="18" charset="0"/>
                          </a:rPr>
                          <m:t>𝑟</m:t>
                        </m:r>
                      </m:den>
                    </m:f>
                    <m:r>
                      <a:rPr lang="nb-NO" b="0" i="1" smtClean="0">
                        <a:latin typeface="Cambria Math" panose="02040503050406030204" pitchFamily="18" charset="0"/>
                        <a:ea typeface="Cambria Math" panose="02040503050406030204" pitchFamily="18" charset="0"/>
                      </a:rPr>
                      <m:t>=1.904</m:t>
                    </m:r>
                  </m:oMath>
                </a14:m>
                <a:endParaRPr lang="nb-NO" dirty="0"/>
              </a:p>
              <a:p>
                <a:endParaRPr lang="nb-NO" dirty="0"/>
              </a:p>
              <a:p>
                <a:endParaRPr lang="nb-NO" dirty="0"/>
              </a:p>
            </p:txBody>
          </p:sp>
        </mc:Choice>
        <mc:Fallback xmlns="">
          <p:sp>
            <p:nvSpPr>
              <p:cNvPr id="3" name="Content Placeholder 2">
                <a:extLst>
                  <a:ext uri="{FF2B5EF4-FFF2-40B4-BE49-F238E27FC236}">
                    <a16:creationId xmlns:a16="http://schemas.microsoft.com/office/drawing/2014/main" id="{DD004C9A-0F36-432A-FBAA-5678E9156BD1}"/>
                  </a:ext>
                </a:extLst>
              </p:cNvPr>
              <p:cNvSpPr>
                <a:spLocks noGrp="1" noRot="1" noChangeAspect="1" noMove="1" noResize="1" noEditPoints="1" noAdjustHandles="1" noChangeArrowheads="1" noChangeShapeType="1" noTextEdit="1"/>
              </p:cNvSpPr>
              <p:nvPr>
                <p:ph sz="half" idx="1"/>
              </p:nvPr>
            </p:nvSpPr>
            <p:spPr>
              <a:blipFill>
                <a:blip r:embed="rId2"/>
                <a:stretch>
                  <a:fillRect l="-2118" t="-2381"/>
                </a:stretch>
              </a:blipFill>
            </p:spPr>
            <p:txBody>
              <a:bodyPr/>
              <a:lstStyle/>
              <a:p>
                <a:r>
                  <a:rPr lang="nb-NO">
                    <a:noFill/>
                  </a:rPr>
                  <a:t> </a:t>
                </a:r>
              </a:p>
            </p:txBody>
          </p:sp>
        </mc:Fallback>
      </mc:AlternateContent>
      <p:cxnSp>
        <p:nvCxnSpPr>
          <p:cNvPr id="5" name="Straight Arrow Connector 4">
            <a:extLst>
              <a:ext uri="{FF2B5EF4-FFF2-40B4-BE49-F238E27FC236}">
                <a16:creationId xmlns:a16="http://schemas.microsoft.com/office/drawing/2014/main" id="{E0977751-4A75-863A-B11E-17131B289E07}"/>
              </a:ext>
            </a:extLst>
          </p:cNvPr>
          <p:cNvCxnSpPr>
            <a:cxnSpLocks/>
          </p:cNvCxnSpPr>
          <p:nvPr/>
        </p:nvCxnSpPr>
        <p:spPr>
          <a:xfrm flipV="1">
            <a:off x="6586738" y="2177045"/>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1CBADCC-7695-A267-B800-DF0751B4C6B7}"/>
              </a:ext>
            </a:extLst>
          </p:cNvPr>
          <p:cNvCxnSpPr>
            <a:cxnSpLocks/>
          </p:cNvCxnSpPr>
          <p:nvPr/>
        </p:nvCxnSpPr>
        <p:spPr>
          <a:xfrm>
            <a:off x="6602348" y="2892350"/>
            <a:ext cx="3039193" cy="3115824"/>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CCD52FC-D684-FF3F-F6FA-E6E591FBB48E}"/>
              </a:ext>
            </a:extLst>
          </p:cNvPr>
          <p:cNvSpPr txBox="1"/>
          <p:nvPr/>
        </p:nvSpPr>
        <p:spPr>
          <a:xfrm>
            <a:off x="6981454" y="2644022"/>
            <a:ext cx="1127119" cy="369332"/>
          </a:xfrm>
          <a:prstGeom prst="rect">
            <a:avLst/>
          </a:prstGeom>
          <a:noFill/>
          <a:ln>
            <a:solidFill>
              <a:srgbClr val="FF0000"/>
            </a:solidFill>
          </a:ln>
        </p:spPr>
        <p:txBody>
          <a:bodyPr wrap="square">
            <a:spAutoFit/>
          </a:bodyPr>
          <a:lstStyle/>
          <a:p>
            <a:r>
              <a:rPr lang="nb-NO" dirty="0">
                <a:solidFill>
                  <a:srgbClr val="FF0000"/>
                </a:solidFill>
              </a:rPr>
              <a:t>NMB P1</a:t>
            </a:r>
          </a:p>
        </p:txBody>
      </p:sp>
      <p:sp>
        <p:nvSpPr>
          <p:cNvPr id="8" name="TextBox 7">
            <a:extLst>
              <a:ext uri="{FF2B5EF4-FFF2-40B4-BE49-F238E27FC236}">
                <a16:creationId xmlns:a16="http://schemas.microsoft.com/office/drawing/2014/main" id="{430EFB77-7930-D659-BC35-6868F7161FB6}"/>
              </a:ext>
            </a:extLst>
          </p:cNvPr>
          <p:cNvSpPr txBox="1"/>
          <p:nvPr/>
        </p:nvSpPr>
        <p:spPr>
          <a:xfrm>
            <a:off x="6212209" y="2707684"/>
            <a:ext cx="293594" cy="369332"/>
          </a:xfrm>
          <a:prstGeom prst="rect">
            <a:avLst/>
          </a:prstGeom>
          <a:noFill/>
        </p:spPr>
        <p:txBody>
          <a:bodyPr wrap="square" rtlCol="0">
            <a:spAutoFit/>
          </a:bodyPr>
          <a:lstStyle/>
          <a:p>
            <a:r>
              <a:rPr lang="nb-NO" dirty="0"/>
              <a:t>6</a:t>
            </a:r>
          </a:p>
        </p:txBody>
      </p:sp>
      <p:cxnSp>
        <p:nvCxnSpPr>
          <p:cNvPr id="9" name="Straight Arrow Connector 8">
            <a:extLst>
              <a:ext uri="{FF2B5EF4-FFF2-40B4-BE49-F238E27FC236}">
                <a16:creationId xmlns:a16="http://schemas.microsoft.com/office/drawing/2014/main" id="{544F4ECE-02FD-F03B-56DD-65FA595DD8C5}"/>
              </a:ext>
            </a:extLst>
          </p:cNvPr>
          <p:cNvCxnSpPr>
            <a:cxnSpLocks/>
          </p:cNvCxnSpPr>
          <p:nvPr/>
        </p:nvCxnSpPr>
        <p:spPr>
          <a:xfrm flipV="1">
            <a:off x="11107191" y="2177044"/>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42D3C1B-1C63-DE3B-2F3F-C10A53D3B288}"/>
              </a:ext>
            </a:extLst>
          </p:cNvPr>
          <p:cNvSpPr txBox="1"/>
          <p:nvPr/>
        </p:nvSpPr>
        <p:spPr>
          <a:xfrm>
            <a:off x="5993868" y="1616848"/>
            <a:ext cx="1216959" cy="461665"/>
          </a:xfrm>
          <a:prstGeom prst="rect">
            <a:avLst/>
          </a:prstGeom>
          <a:noFill/>
        </p:spPr>
        <p:txBody>
          <a:bodyPr wrap="square" rtlCol="0">
            <a:spAutoFit/>
          </a:bodyPr>
          <a:lstStyle/>
          <a:p>
            <a:r>
              <a:rPr lang="nb-NO" sz="1200" dirty="0"/>
              <a:t>Marginal nytte periode 1</a:t>
            </a:r>
          </a:p>
        </p:txBody>
      </p:sp>
      <p:sp>
        <p:nvSpPr>
          <p:cNvPr id="11" name="TextBox 10">
            <a:extLst>
              <a:ext uri="{FF2B5EF4-FFF2-40B4-BE49-F238E27FC236}">
                <a16:creationId xmlns:a16="http://schemas.microsoft.com/office/drawing/2014/main" id="{2F5769A8-9DA0-07E2-77CC-9956B761414B}"/>
              </a:ext>
            </a:extLst>
          </p:cNvPr>
          <p:cNvSpPr txBox="1"/>
          <p:nvPr/>
        </p:nvSpPr>
        <p:spPr>
          <a:xfrm>
            <a:off x="10514321" y="1607839"/>
            <a:ext cx="1216959" cy="461665"/>
          </a:xfrm>
          <a:prstGeom prst="rect">
            <a:avLst/>
          </a:prstGeom>
          <a:noFill/>
        </p:spPr>
        <p:txBody>
          <a:bodyPr wrap="square" rtlCol="0">
            <a:spAutoFit/>
          </a:bodyPr>
          <a:lstStyle/>
          <a:p>
            <a:r>
              <a:rPr lang="nb-NO" sz="1200" dirty="0"/>
              <a:t>Marginal nytte periode 2</a:t>
            </a:r>
          </a:p>
        </p:txBody>
      </p:sp>
      <p:cxnSp>
        <p:nvCxnSpPr>
          <p:cNvPr id="12" name="Straight Connector 11">
            <a:extLst>
              <a:ext uri="{FF2B5EF4-FFF2-40B4-BE49-F238E27FC236}">
                <a16:creationId xmlns:a16="http://schemas.microsoft.com/office/drawing/2014/main" id="{6C2C225F-A020-73D1-3206-5EBF1DBCB280}"/>
              </a:ext>
            </a:extLst>
          </p:cNvPr>
          <p:cNvCxnSpPr>
            <a:cxnSpLocks/>
          </p:cNvCxnSpPr>
          <p:nvPr/>
        </p:nvCxnSpPr>
        <p:spPr>
          <a:xfrm flipV="1">
            <a:off x="7597588" y="4303059"/>
            <a:ext cx="3493994" cy="1705115"/>
          </a:xfrm>
          <a:prstGeom prst="line">
            <a:avLst/>
          </a:prstGeom>
          <a:ln>
            <a:solidFill>
              <a:srgbClr val="92D050"/>
            </a:solidFil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CD7102F-9944-A82D-21BE-52BF380170A0}"/>
              </a:ext>
            </a:extLst>
          </p:cNvPr>
          <p:cNvSpPr txBox="1"/>
          <p:nvPr/>
        </p:nvSpPr>
        <p:spPr>
          <a:xfrm>
            <a:off x="9897129" y="2644020"/>
            <a:ext cx="1127115" cy="369332"/>
          </a:xfrm>
          <a:prstGeom prst="rect">
            <a:avLst/>
          </a:prstGeom>
          <a:noFill/>
          <a:ln>
            <a:solidFill>
              <a:srgbClr val="92D050"/>
            </a:solidFill>
          </a:ln>
        </p:spPr>
        <p:txBody>
          <a:bodyPr wrap="square">
            <a:spAutoFit/>
          </a:bodyPr>
          <a:lstStyle/>
          <a:p>
            <a:r>
              <a:rPr lang="nb-NO" dirty="0">
                <a:solidFill>
                  <a:srgbClr val="92D050"/>
                </a:solidFill>
              </a:rPr>
              <a:t>NMB P1</a:t>
            </a:r>
          </a:p>
        </p:txBody>
      </p:sp>
      <p:sp>
        <p:nvSpPr>
          <p:cNvPr id="14" name="TextBox 13">
            <a:extLst>
              <a:ext uri="{FF2B5EF4-FFF2-40B4-BE49-F238E27FC236}">
                <a16:creationId xmlns:a16="http://schemas.microsoft.com/office/drawing/2014/main" id="{7D0A346A-7BAB-3926-8AB1-4F1D855273E6}"/>
              </a:ext>
            </a:extLst>
          </p:cNvPr>
          <p:cNvSpPr txBox="1"/>
          <p:nvPr/>
        </p:nvSpPr>
        <p:spPr>
          <a:xfrm>
            <a:off x="11144362" y="4118393"/>
            <a:ext cx="830239" cy="369332"/>
          </a:xfrm>
          <a:prstGeom prst="rect">
            <a:avLst/>
          </a:prstGeom>
          <a:noFill/>
        </p:spPr>
        <p:txBody>
          <a:bodyPr wrap="square" rtlCol="0">
            <a:spAutoFit/>
          </a:bodyPr>
          <a:lstStyle/>
          <a:p>
            <a:r>
              <a:rPr lang="nb-NO" dirty="0"/>
              <a:t>5.45</a:t>
            </a:r>
          </a:p>
        </p:txBody>
      </p:sp>
      <p:cxnSp>
        <p:nvCxnSpPr>
          <p:cNvPr id="15" name="Straight Connector 14">
            <a:extLst>
              <a:ext uri="{FF2B5EF4-FFF2-40B4-BE49-F238E27FC236}">
                <a16:creationId xmlns:a16="http://schemas.microsoft.com/office/drawing/2014/main" id="{3788D6B1-868A-1E20-D0BE-85ACA9733983}"/>
              </a:ext>
            </a:extLst>
          </p:cNvPr>
          <p:cNvCxnSpPr>
            <a:cxnSpLocks/>
          </p:cNvCxnSpPr>
          <p:nvPr/>
        </p:nvCxnSpPr>
        <p:spPr>
          <a:xfrm>
            <a:off x="8989358" y="5351929"/>
            <a:ext cx="0" cy="10883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6E01C3B6-ACBF-D825-A5AF-0955CDF46FCC}"/>
              </a:ext>
            </a:extLst>
          </p:cNvPr>
          <p:cNvSpPr txBox="1"/>
          <p:nvPr/>
        </p:nvSpPr>
        <p:spPr>
          <a:xfrm>
            <a:off x="6443303" y="5994892"/>
            <a:ext cx="271262" cy="261610"/>
          </a:xfrm>
          <a:prstGeom prst="rect">
            <a:avLst/>
          </a:prstGeom>
          <a:noFill/>
        </p:spPr>
        <p:txBody>
          <a:bodyPr wrap="square" rtlCol="0">
            <a:spAutoFit/>
          </a:bodyPr>
          <a:lstStyle/>
          <a:p>
            <a:r>
              <a:rPr lang="nb-NO" sz="1050" dirty="0"/>
              <a:t>0</a:t>
            </a:r>
          </a:p>
        </p:txBody>
      </p:sp>
      <p:cxnSp>
        <p:nvCxnSpPr>
          <p:cNvPr id="17" name="Straight Arrow Connector 16">
            <a:extLst>
              <a:ext uri="{FF2B5EF4-FFF2-40B4-BE49-F238E27FC236}">
                <a16:creationId xmlns:a16="http://schemas.microsoft.com/office/drawing/2014/main" id="{0464F4D7-4F73-1CEA-2BEB-DD183EE2C179}"/>
              </a:ext>
            </a:extLst>
          </p:cNvPr>
          <p:cNvCxnSpPr>
            <a:cxnSpLocks/>
          </p:cNvCxnSpPr>
          <p:nvPr/>
        </p:nvCxnSpPr>
        <p:spPr>
          <a:xfrm>
            <a:off x="6578934" y="6008174"/>
            <a:ext cx="4543867" cy="2335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B3AE94-D058-0B7F-6CE2-A53D0F81E005}"/>
              </a:ext>
            </a:extLst>
          </p:cNvPr>
          <p:cNvSpPr txBox="1"/>
          <p:nvPr/>
        </p:nvSpPr>
        <p:spPr>
          <a:xfrm>
            <a:off x="10873101" y="6058050"/>
            <a:ext cx="342883" cy="246221"/>
          </a:xfrm>
          <a:prstGeom prst="rect">
            <a:avLst/>
          </a:prstGeom>
          <a:noFill/>
        </p:spPr>
        <p:txBody>
          <a:bodyPr wrap="square" rtlCol="0">
            <a:spAutoFit/>
          </a:bodyPr>
          <a:lstStyle/>
          <a:p>
            <a:r>
              <a:rPr lang="nb-NO" sz="1000" dirty="0"/>
              <a:t>20</a:t>
            </a:r>
          </a:p>
        </p:txBody>
      </p:sp>
      <p:sp>
        <p:nvSpPr>
          <p:cNvPr id="19" name="TextBox 18">
            <a:extLst>
              <a:ext uri="{FF2B5EF4-FFF2-40B4-BE49-F238E27FC236}">
                <a16:creationId xmlns:a16="http://schemas.microsoft.com/office/drawing/2014/main" id="{DB4C7FA6-3E8F-3F6C-64F0-09A194AFC331}"/>
              </a:ext>
            </a:extLst>
          </p:cNvPr>
          <p:cNvSpPr txBox="1"/>
          <p:nvPr/>
        </p:nvSpPr>
        <p:spPr>
          <a:xfrm>
            <a:off x="8507985" y="6017060"/>
            <a:ext cx="342882" cy="253916"/>
          </a:xfrm>
          <a:prstGeom prst="rect">
            <a:avLst/>
          </a:prstGeom>
          <a:noFill/>
        </p:spPr>
        <p:txBody>
          <a:bodyPr wrap="square" rtlCol="0">
            <a:spAutoFit/>
          </a:bodyPr>
          <a:lstStyle/>
          <a:p>
            <a:r>
              <a:rPr lang="nb-NO" sz="1050" dirty="0"/>
              <a:t>10</a:t>
            </a:r>
          </a:p>
        </p:txBody>
      </p:sp>
      <p:cxnSp>
        <p:nvCxnSpPr>
          <p:cNvPr id="20" name="Straight Arrow Connector 19">
            <a:extLst>
              <a:ext uri="{FF2B5EF4-FFF2-40B4-BE49-F238E27FC236}">
                <a16:creationId xmlns:a16="http://schemas.microsoft.com/office/drawing/2014/main" id="{2EB11189-6A42-FE5E-4D43-A514F646DF68}"/>
              </a:ext>
            </a:extLst>
          </p:cNvPr>
          <p:cNvCxnSpPr>
            <a:cxnSpLocks/>
          </p:cNvCxnSpPr>
          <p:nvPr/>
        </p:nvCxnSpPr>
        <p:spPr>
          <a:xfrm flipH="1" flipV="1">
            <a:off x="6547715" y="6411811"/>
            <a:ext cx="4543867" cy="28509"/>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CDC886B-E5C7-7023-EBFF-F3B5BE9DAA96}"/>
              </a:ext>
            </a:extLst>
          </p:cNvPr>
          <p:cNvSpPr txBox="1"/>
          <p:nvPr/>
        </p:nvSpPr>
        <p:spPr>
          <a:xfrm>
            <a:off x="8507985" y="6492921"/>
            <a:ext cx="342882" cy="253916"/>
          </a:xfrm>
          <a:prstGeom prst="rect">
            <a:avLst/>
          </a:prstGeom>
          <a:noFill/>
        </p:spPr>
        <p:txBody>
          <a:bodyPr wrap="square" rtlCol="0">
            <a:spAutoFit/>
          </a:bodyPr>
          <a:lstStyle/>
          <a:p>
            <a:r>
              <a:rPr lang="nb-NO" sz="1050" dirty="0"/>
              <a:t>10</a:t>
            </a:r>
          </a:p>
        </p:txBody>
      </p:sp>
      <p:sp>
        <p:nvSpPr>
          <p:cNvPr id="22" name="TextBox 21">
            <a:extLst>
              <a:ext uri="{FF2B5EF4-FFF2-40B4-BE49-F238E27FC236}">
                <a16:creationId xmlns:a16="http://schemas.microsoft.com/office/drawing/2014/main" id="{F1176AFD-9E55-25C8-D48D-79D5D95E5000}"/>
              </a:ext>
            </a:extLst>
          </p:cNvPr>
          <p:cNvSpPr txBox="1"/>
          <p:nvPr/>
        </p:nvSpPr>
        <p:spPr>
          <a:xfrm>
            <a:off x="10873101" y="6478420"/>
            <a:ext cx="271262" cy="261610"/>
          </a:xfrm>
          <a:prstGeom prst="rect">
            <a:avLst/>
          </a:prstGeom>
          <a:noFill/>
        </p:spPr>
        <p:txBody>
          <a:bodyPr wrap="square" rtlCol="0">
            <a:spAutoFit/>
          </a:bodyPr>
          <a:lstStyle/>
          <a:p>
            <a:r>
              <a:rPr lang="nb-NO" sz="1050" dirty="0"/>
              <a:t>0</a:t>
            </a:r>
          </a:p>
        </p:txBody>
      </p:sp>
      <p:sp>
        <p:nvSpPr>
          <p:cNvPr id="23" name="TextBox 22">
            <a:extLst>
              <a:ext uri="{FF2B5EF4-FFF2-40B4-BE49-F238E27FC236}">
                <a16:creationId xmlns:a16="http://schemas.microsoft.com/office/drawing/2014/main" id="{3187A842-0946-E551-9962-0CC27CE2C0AA}"/>
              </a:ext>
            </a:extLst>
          </p:cNvPr>
          <p:cNvSpPr txBox="1"/>
          <p:nvPr/>
        </p:nvSpPr>
        <p:spPr>
          <a:xfrm>
            <a:off x="6443303" y="6492921"/>
            <a:ext cx="342883" cy="246221"/>
          </a:xfrm>
          <a:prstGeom prst="rect">
            <a:avLst/>
          </a:prstGeom>
          <a:noFill/>
        </p:spPr>
        <p:txBody>
          <a:bodyPr wrap="square" rtlCol="0">
            <a:spAutoFit/>
          </a:bodyPr>
          <a:lstStyle/>
          <a:p>
            <a:r>
              <a:rPr lang="nb-NO" sz="1000" dirty="0"/>
              <a:t>20</a:t>
            </a:r>
          </a:p>
        </p:txBody>
      </p:sp>
      <p:sp>
        <p:nvSpPr>
          <p:cNvPr id="28" name="TextBox 27">
            <a:extLst>
              <a:ext uri="{FF2B5EF4-FFF2-40B4-BE49-F238E27FC236}">
                <a16:creationId xmlns:a16="http://schemas.microsoft.com/office/drawing/2014/main" id="{F12A111D-8E2B-71D1-4610-896F955FF83E}"/>
              </a:ext>
            </a:extLst>
          </p:cNvPr>
          <p:cNvSpPr txBox="1"/>
          <p:nvPr/>
        </p:nvSpPr>
        <p:spPr>
          <a:xfrm>
            <a:off x="9005516" y="6049534"/>
            <a:ext cx="1030213" cy="253916"/>
          </a:xfrm>
          <a:prstGeom prst="rect">
            <a:avLst/>
          </a:prstGeom>
          <a:noFill/>
        </p:spPr>
        <p:txBody>
          <a:bodyPr wrap="square" rtlCol="0">
            <a:spAutoFit/>
          </a:bodyPr>
          <a:lstStyle/>
          <a:p>
            <a:r>
              <a:rPr lang="nb-NO" sz="1050" dirty="0"/>
              <a:t>q1*= 10.24</a:t>
            </a:r>
          </a:p>
        </p:txBody>
      </p:sp>
      <p:sp>
        <p:nvSpPr>
          <p:cNvPr id="29" name="TextBox 28">
            <a:extLst>
              <a:ext uri="{FF2B5EF4-FFF2-40B4-BE49-F238E27FC236}">
                <a16:creationId xmlns:a16="http://schemas.microsoft.com/office/drawing/2014/main" id="{0D54BD75-6D41-56A8-6704-94C9C3C31A96}"/>
              </a:ext>
            </a:extLst>
          </p:cNvPr>
          <p:cNvSpPr txBox="1"/>
          <p:nvPr/>
        </p:nvSpPr>
        <p:spPr>
          <a:xfrm>
            <a:off x="8989358" y="6537461"/>
            <a:ext cx="831007" cy="253916"/>
          </a:xfrm>
          <a:prstGeom prst="rect">
            <a:avLst/>
          </a:prstGeom>
          <a:noFill/>
        </p:spPr>
        <p:txBody>
          <a:bodyPr wrap="square" rtlCol="0">
            <a:spAutoFit/>
          </a:bodyPr>
          <a:lstStyle/>
          <a:p>
            <a:r>
              <a:rPr lang="nb-NO" sz="1050" dirty="0"/>
              <a:t>q2*= 9.76</a:t>
            </a:r>
          </a:p>
        </p:txBody>
      </p:sp>
      <p:sp>
        <p:nvSpPr>
          <p:cNvPr id="4" name="TextBox 3">
            <a:extLst>
              <a:ext uri="{FF2B5EF4-FFF2-40B4-BE49-F238E27FC236}">
                <a16:creationId xmlns:a16="http://schemas.microsoft.com/office/drawing/2014/main" id="{59E41485-7D63-34F4-22D7-F2A5362CDE58}"/>
              </a:ext>
            </a:extLst>
          </p:cNvPr>
          <p:cNvSpPr txBox="1"/>
          <p:nvPr/>
        </p:nvSpPr>
        <p:spPr>
          <a:xfrm>
            <a:off x="3946119" y="5351929"/>
            <a:ext cx="1871004" cy="369332"/>
          </a:xfrm>
          <a:prstGeom prst="rect">
            <a:avLst/>
          </a:prstGeom>
          <a:noFill/>
        </p:spPr>
        <p:txBody>
          <a:bodyPr wrap="square" rtlCol="0">
            <a:spAutoFit/>
          </a:bodyPr>
          <a:lstStyle/>
          <a:p>
            <a:r>
              <a:rPr lang="nb-NO" dirty="0" err="1"/>
              <a:t>Shadow</a:t>
            </a:r>
            <a:r>
              <a:rPr lang="nb-NO" dirty="0"/>
              <a:t> </a:t>
            </a:r>
            <a:r>
              <a:rPr lang="nb-NO" dirty="0" err="1"/>
              <a:t>price</a:t>
            </a:r>
            <a:endParaRPr lang="nb-NO" dirty="0"/>
          </a:p>
        </p:txBody>
      </p:sp>
    </p:spTree>
    <p:extLst>
      <p:ext uri="{BB962C8B-B14F-4D97-AF65-F5344CB8AC3E}">
        <p14:creationId xmlns:p14="http://schemas.microsoft.com/office/powerpoint/2010/main" val="901084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3290-8D2F-550C-C2D0-1404A5A19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317A6-7260-56CA-1EAE-A5C3B829CD6B}"/>
              </a:ext>
            </a:extLst>
          </p:cNvPr>
          <p:cNvSpPr>
            <a:spLocks noGrp="1"/>
          </p:cNvSpPr>
          <p:nvPr>
            <p:ph type="title"/>
          </p:nvPr>
        </p:nvSpPr>
        <p:spPr/>
        <p:txBody>
          <a:bodyPr/>
          <a:lstStyle/>
          <a:p>
            <a:r>
              <a:rPr lang="nb-NO" dirty="0"/>
              <a:t>Marginal User </a:t>
            </a:r>
            <a:r>
              <a:rPr lang="nb-NO" dirty="0" err="1"/>
              <a:t>Cost</a:t>
            </a:r>
            <a:endParaRPr lang="nb-NO" dirty="0"/>
          </a:p>
        </p:txBody>
      </p:sp>
      <p:cxnSp>
        <p:nvCxnSpPr>
          <p:cNvPr id="4" name="Straight Arrow Connector 3">
            <a:extLst>
              <a:ext uri="{FF2B5EF4-FFF2-40B4-BE49-F238E27FC236}">
                <a16:creationId xmlns:a16="http://schemas.microsoft.com/office/drawing/2014/main" id="{654F1AEA-4629-DCD2-6644-9CF5AAE74079}"/>
              </a:ext>
            </a:extLst>
          </p:cNvPr>
          <p:cNvCxnSpPr>
            <a:cxnSpLocks/>
          </p:cNvCxnSpPr>
          <p:nvPr/>
        </p:nvCxnSpPr>
        <p:spPr>
          <a:xfrm flipV="1">
            <a:off x="1235789" y="2187426"/>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6C26D844-EBF2-981B-FB18-7E217EA8DE11}"/>
              </a:ext>
            </a:extLst>
          </p:cNvPr>
          <p:cNvCxnSpPr/>
          <p:nvPr/>
        </p:nvCxnSpPr>
        <p:spPr>
          <a:xfrm>
            <a:off x="1235789" y="6018556"/>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D24047F-5059-7A0C-12A1-D6FE16576CFB}"/>
              </a:ext>
            </a:extLst>
          </p:cNvPr>
          <p:cNvCxnSpPr>
            <a:cxnSpLocks/>
          </p:cNvCxnSpPr>
          <p:nvPr/>
        </p:nvCxnSpPr>
        <p:spPr>
          <a:xfrm>
            <a:off x="1235789" y="2635275"/>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9506543-D411-CF08-1E19-D890E24DC6D9}"/>
              </a:ext>
            </a:extLst>
          </p:cNvPr>
          <p:cNvSpPr txBox="1"/>
          <p:nvPr/>
        </p:nvSpPr>
        <p:spPr>
          <a:xfrm>
            <a:off x="419060" y="1860984"/>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p:sp>
        <p:nvSpPr>
          <p:cNvPr id="9" name="TextBox 8">
            <a:extLst>
              <a:ext uri="{FF2B5EF4-FFF2-40B4-BE49-F238E27FC236}">
                <a16:creationId xmlns:a16="http://schemas.microsoft.com/office/drawing/2014/main" id="{137E2740-2FE6-30EA-619C-DEB3DA3E9477}"/>
              </a:ext>
            </a:extLst>
          </p:cNvPr>
          <p:cNvSpPr txBox="1"/>
          <p:nvPr/>
        </p:nvSpPr>
        <p:spPr>
          <a:xfrm>
            <a:off x="5046716" y="6123543"/>
            <a:ext cx="1532117" cy="369332"/>
          </a:xfrm>
          <a:prstGeom prst="rect">
            <a:avLst/>
          </a:prstGeom>
          <a:noFill/>
        </p:spPr>
        <p:txBody>
          <a:bodyPr wrap="square" rtlCol="0">
            <a:spAutoFit/>
          </a:bodyPr>
          <a:lstStyle/>
          <a:p>
            <a:r>
              <a:rPr lang="nb-NO" dirty="0"/>
              <a:t>Kvantum (q)</a:t>
            </a:r>
          </a:p>
        </p:txBody>
      </p:sp>
      <p:cxnSp>
        <p:nvCxnSpPr>
          <p:cNvPr id="10" name="Straight Connector 9">
            <a:extLst>
              <a:ext uri="{FF2B5EF4-FFF2-40B4-BE49-F238E27FC236}">
                <a16:creationId xmlns:a16="http://schemas.microsoft.com/office/drawing/2014/main" id="{1AC16365-6D8E-76AE-0038-B087636A5B4F}"/>
              </a:ext>
            </a:extLst>
          </p:cNvPr>
          <p:cNvCxnSpPr>
            <a:cxnSpLocks/>
          </p:cNvCxnSpPr>
          <p:nvPr/>
        </p:nvCxnSpPr>
        <p:spPr>
          <a:xfrm>
            <a:off x="1235789" y="5483463"/>
            <a:ext cx="4273282" cy="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320BF4D3-51AA-D643-E137-09D5D488B0C2}"/>
              </a:ext>
            </a:extLst>
          </p:cNvPr>
          <p:cNvSpPr txBox="1"/>
          <p:nvPr/>
        </p:nvSpPr>
        <p:spPr>
          <a:xfrm>
            <a:off x="5203351" y="5042457"/>
            <a:ext cx="1045632" cy="369332"/>
          </a:xfrm>
          <a:prstGeom prst="rect">
            <a:avLst/>
          </a:prstGeom>
          <a:noFill/>
        </p:spPr>
        <p:txBody>
          <a:bodyPr wrap="square">
            <a:spAutoFit/>
          </a:bodyPr>
          <a:lstStyle/>
          <a:p>
            <a:r>
              <a:rPr lang="nb-NO" dirty="0"/>
              <a:t>MC</a:t>
            </a:r>
          </a:p>
        </p:txBody>
      </p:sp>
      <p:cxnSp>
        <p:nvCxnSpPr>
          <p:cNvPr id="12" name="Straight Connector 11">
            <a:extLst>
              <a:ext uri="{FF2B5EF4-FFF2-40B4-BE49-F238E27FC236}">
                <a16:creationId xmlns:a16="http://schemas.microsoft.com/office/drawing/2014/main" id="{7E047BD2-DE08-4553-7F31-27B467FD133C}"/>
              </a:ext>
            </a:extLst>
          </p:cNvPr>
          <p:cNvCxnSpPr>
            <a:cxnSpLocks/>
          </p:cNvCxnSpPr>
          <p:nvPr/>
        </p:nvCxnSpPr>
        <p:spPr>
          <a:xfrm>
            <a:off x="3122161" y="4484140"/>
            <a:ext cx="0" cy="158367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6E0E11FD-5CD4-4713-49BC-1B47C2C7D920}"/>
              </a:ext>
            </a:extLst>
          </p:cNvPr>
          <p:cNvSpPr txBox="1"/>
          <p:nvPr/>
        </p:nvSpPr>
        <p:spPr>
          <a:xfrm>
            <a:off x="2324100" y="6115050"/>
            <a:ext cx="1905000" cy="419100"/>
          </a:xfrm>
          <a:prstGeom prst="rect">
            <a:avLst/>
          </a:prstGeom>
          <a:noFill/>
        </p:spPr>
        <p:txBody>
          <a:bodyPr wrap="square">
            <a:noAutofit/>
          </a:bodyPr>
          <a:lstStyle/>
          <a:p>
            <a:pPr>
              <a:defRPr sz="1650">
                <a:solidFill>
                  <a:srgbClr val="000000"/>
                </a:solidFill>
                <a:latin typeface="Aptos"/>
                <a:ea typeface="Aptos"/>
                <a:cs typeface="Aptos"/>
              </a:defRPr>
            </a:pPr>
            <a:r>
              <a:rPr sz="1650">
                <a:solidFill>
                  <a:srgbClr val="000000"/>
                </a:solidFill>
                <a:latin typeface="Aptos"/>
                <a:ea typeface="Aptos"/>
                <a:cs typeface="Aptos"/>
              </a:rPr>
              <a:t>q₁* = 10,238</a:t>
            </a:r>
          </a:p>
        </p:txBody>
      </p:sp>
      <p:sp>
        <p:nvSpPr>
          <p:cNvPr id="14" name="TextBox 13">
            <a:extLst>
              <a:ext uri="{FF2B5EF4-FFF2-40B4-BE49-F238E27FC236}">
                <a16:creationId xmlns:a16="http://schemas.microsoft.com/office/drawing/2014/main" id="{2F1B9D75-C2F2-9FA1-3EAA-E06CA55445D2}"/>
              </a:ext>
            </a:extLst>
          </p:cNvPr>
          <p:cNvSpPr txBox="1"/>
          <p:nvPr/>
        </p:nvSpPr>
        <p:spPr>
          <a:xfrm>
            <a:off x="3236645" y="3957583"/>
            <a:ext cx="754379" cy="369332"/>
          </a:xfrm>
          <a:prstGeom prst="rect">
            <a:avLst/>
          </a:prstGeom>
          <a:noFill/>
        </p:spPr>
        <p:txBody>
          <a:bodyPr wrap="square">
            <a:spAutoFit/>
          </a:bodyPr>
          <a:lstStyle/>
          <a:p>
            <a:r>
              <a:rPr lang="nb-NO" dirty="0"/>
              <a:t>MB</a:t>
            </a:r>
          </a:p>
        </p:txBody>
      </p:sp>
      <p:sp>
        <p:nvSpPr>
          <p:cNvPr id="17" name="TextBox 16">
            <a:extLst>
              <a:ext uri="{FF2B5EF4-FFF2-40B4-BE49-F238E27FC236}">
                <a16:creationId xmlns:a16="http://schemas.microsoft.com/office/drawing/2014/main" id="{3A0DCA6C-80C7-21BC-B52B-B3FD026B23CD}"/>
              </a:ext>
            </a:extLst>
          </p:cNvPr>
          <p:cNvSpPr txBox="1"/>
          <p:nvPr/>
        </p:nvSpPr>
        <p:spPr>
          <a:xfrm>
            <a:off x="821251" y="2474780"/>
            <a:ext cx="293594" cy="369332"/>
          </a:xfrm>
          <a:prstGeom prst="rect">
            <a:avLst/>
          </a:prstGeom>
          <a:noFill/>
        </p:spPr>
        <p:txBody>
          <a:bodyPr wrap="square" rtlCol="0">
            <a:spAutoFit/>
          </a:bodyPr>
          <a:lstStyle/>
          <a:p>
            <a:r>
              <a:rPr lang="nb-NO" dirty="0"/>
              <a:t>8</a:t>
            </a:r>
          </a:p>
        </p:txBody>
      </p:sp>
      <p:sp>
        <p:nvSpPr>
          <p:cNvPr id="18" name="TextBox 17">
            <a:extLst>
              <a:ext uri="{FF2B5EF4-FFF2-40B4-BE49-F238E27FC236}">
                <a16:creationId xmlns:a16="http://schemas.microsoft.com/office/drawing/2014/main" id="{BC61C96B-12AF-07D8-0559-E61F8A362EE0}"/>
              </a:ext>
            </a:extLst>
          </p:cNvPr>
          <p:cNvSpPr txBox="1"/>
          <p:nvPr/>
        </p:nvSpPr>
        <p:spPr>
          <a:xfrm>
            <a:off x="848656" y="5298796"/>
            <a:ext cx="293594" cy="369332"/>
          </a:xfrm>
          <a:prstGeom prst="rect">
            <a:avLst/>
          </a:prstGeom>
          <a:noFill/>
        </p:spPr>
        <p:txBody>
          <a:bodyPr wrap="square" rtlCol="0">
            <a:spAutoFit/>
          </a:bodyPr>
          <a:lstStyle/>
          <a:p>
            <a:r>
              <a:rPr lang="nb-NO" dirty="0"/>
              <a:t>2</a:t>
            </a:r>
          </a:p>
        </p:txBody>
      </p:sp>
      <p:cxnSp>
        <p:nvCxnSpPr>
          <p:cNvPr id="20" name="Straight Connector 19">
            <a:extLst>
              <a:ext uri="{FF2B5EF4-FFF2-40B4-BE49-F238E27FC236}">
                <a16:creationId xmlns:a16="http://schemas.microsoft.com/office/drawing/2014/main" id="{BAF90944-B228-0B80-1893-CEFA238801CA}"/>
              </a:ext>
            </a:extLst>
          </p:cNvPr>
          <p:cNvCxnSpPr>
            <a:cxnSpLocks/>
          </p:cNvCxnSpPr>
          <p:nvPr/>
        </p:nvCxnSpPr>
        <p:spPr>
          <a:xfrm flipH="1" flipV="1">
            <a:off x="1235788" y="4484139"/>
            <a:ext cx="1886372" cy="591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DA941F01-4732-D06C-2B6C-92BE83373B2F}"/>
              </a:ext>
            </a:extLst>
          </p:cNvPr>
          <p:cNvSpPr txBox="1"/>
          <p:nvPr/>
        </p:nvSpPr>
        <p:spPr>
          <a:xfrm>
            <a:off x="0" y="4324350"/>
            <a:ext cx="1209675" cy="640080"/>
          </a:xfrm>
          <a:prstGeom prst="rect">
            <a:avLst/>
          </a:prstGeom>
          <a:noFill/>
        </p:spPr>
        <p:txBody>
          <a:bodyPr wrap="square">
            <a:noAutofit/>
          </a:bodyPr>
          <a:lstStyle/>
          <a:p>
            <a:pPr>
              <a:defRPr sz="1500">
                <a:solidFill>
                  <a:srgbClr val="000000"/>
                </a:solidFill>
                <a:latin typeface="Aptos"/>
                <a:ea typeface="Aptos"/>
                <a:cs typeface="Aptos"/>
              </a:defRPr>
            </a:pPr>
            <a:r>
              <a:rPr sz="1500" dirty="0">
                <a:solidFill>
                  <a:srgbClr val="000000"/>
                </a:solidFill>
                <a:latin typeface="Aptos"/>
                <a:ea typeface="Aptos"/>
                <a:cs typeface="Aptos"/>
              </a:rPr>
              <a:t>p₁* = 3,905</a:t>
            </a:r>
          </a:p>
        </p:txBody>
      </p:sp>
      <p:sp>
        <p:nvSpPr>
          <p:cNvPr id="3" name="TextBox 2">
            <a:extLst>
              <a:ext uri="{FF2B5EF4-FFF2-40B4-BE49-F238E27FC236}">
                <a16:creationId xmlns:a16="http://schemas.microsoft.com/office/drawing/2014/main" id="{7C5FD88C-13C0-F71E-DC2E-E2702A1CC180}"/>
              </a:ext>
            </a:extLst>
          </p:cNvPr>
          <p:cNvSpPr txBox="1"/>
          <p:nvPr/>
        </p:nvSpPr>
        <p:spPr>
          <a:xfrm>
            <a:off x="2026427" y="1698224"/>
            <a:ext cx="1358721" cy="369332"/>
          </a:xfrm>
          <a:prstGeom prst="rect">
            <a:avLst/>
          </a:prstGeom>
          <a:noFill/>
        </p:spPr>
        <p:txBody>
          <a:bodyPr wrap="square" rtlCol="0">
            <a:spAutoFit/>
          </a:bodyPr>
          <a:lstStyle/>
          <a:p>
            <a:r>
              <a:rPr lang="nb-NO" dirty="0"/>
              <a:t>Periode 1</a:t>
            </a:r>
          </a:p>
        </p:txBody>
      </p:sp>
      <mc:AlternateContent xmlns:mc="http://schemas.openxmlformats.org/markup-compatibility/2006">
        <mc:Choice xmlns:a14="http://schemas.microsoft.com/office/drawing/2010/main" Requires="a14">
          <p:sp>
            <p:nvSpPr>
              <p:cNvPr id="26" name="Tallberegning periode 1">
                <a:extLst>
                  <a:ext uri="{FF2B5EF4-FFF2-40B4-BE49-F238E27FC236}">
                    <a16:creationId xmlns:a16="http://schemas.microsoft.com/office/drawing/2014/main" id="{FFA6C226-4FF6-4474-9F3D-F233BB6048B3}"/>
                  </a:ext>
                </a:extLst>
              </p:cNvPr>
              <p:cNvSpPr>
                <a:spLocks noGrp="1"/>
              </p:cNvSpPr>
              <p:nvPr/>
            </p:nvSpPr>
            <p:spPr>
              <a:xfrm>
                <a:off x="6822281" y="406363"/>
                <a:ext cx="5150994" cy="2129668"/>
              </a:xfrm>
              <a:prstGeom prst="rect">
                <a:avLst/>
              </a:prstGeom>
              <a:noFill/>
              <a:ln w="0">
                <a:noFill/>
              </a:ln>
            </p:spPr>
            <p:txBody>
              <a:bodyPr>
                <a:noAutofit/>
              </a:bodyPr>
              <a:lstStyle/>
              <a:p>
                <a:pPr marL="342900" indent="-342900">
                  <a:buFont typeface="Arial" panose="020B0604020202020204" pitchFamily="34" charset="0"/>
                  <a:buChar char="•"/>
                  <a:defRPr sz="2100">
                    <a:solidFill>
                      <a:srgbClr val="174A5B"/>
                    </a:solidFill>
                    <a:latin typeface="Aptos"/>
                    <a:ea typeface="Aptos"/>
                    <a:cs typeface="Aptos"/>
                  </a:defRPr>
                </a:pPr>
                <a14:m/>
              </a:p>
              <a:p>
                <a:pPr marL="342900" indent="-342900">
                  <a:buFont typeface="Arial" panose="020B0604020202020204" pitchFamily="34" charset="0"/>
                  <a:buChar char="•"/>
                  <a:defRPr sz="2100">
                    <a:solidFill>
                      <a:srgbClr val="174A5B"/>
                    </a:solidFill>
                    <a:latin typeface="Aptos"/>
                    <a:ea typeface="Aptos"/>
                    <a:cs typeface="Aptos"/>
                  </a:defRPr>
                </a:pPr>
              </a:p>
              <a:p>
                <a:pPr marL="342900" indent="-342900">
                  <a:buFont typeface="Arial" panose="020B0604020202020204" pitchFamily="34" charset="0"/>
                  <a:buChar char="•"/>
                  <a:defRPr sz="2100">
                    <a:solidFill>
                      <a:srgbClr val="174A5B"/>
                    </a:solidFill>
                    <a:latin typeface="Aptos"/>
                    <a:ea typeface="Aptos"/>
                    <a:cs typeface="Aptos"/>
                  </a:defRPr>
                </a:pPr>
              </a:p>
              <a:p>
                <a:pPr marL="342900" indent="-342900">
                  <a:buFont typeface="Arial" panose="020B0604020202020204" pitchFamily="34" charset="0"/>
                  <a:buChar char="•"/>
                  <a:defRPr sz="2100">
                    <a:solidFill>
                      <a:srgbClr val="174A5B"/>
                    </a:solidFill>
                    <a:latin typeface="Aptos"/>
                    <a:ea typeface="Aptos"/>
                    <a:cs typeface="Aptos"/>
                  </a:defRPr>
                </a:pPr>
                <a:endParaRPr lang="nb-NO" sz="2000" i="1" dirty="0">
                  <a:solidFill>
                    <a:srgbClr val="174A5B"/>
                  </a:solidFill>
                  <a:latin typeface="Cambria Math" panose="02040503050406030204" pitchFamily="18" charset="0"/>
                  <a:ea typeface="Aptos"/>
                  <a:cs typeface="Aptos"/>
                </a:endParaRPr>
              </a:p>
              <a:p>
                <a:pPr marL="342900" indent="-342900">
                  <a:buFont typeface="Arial" panose="020B0604020202020204" pitchFamily="34" charset="0"/>
                  <a:buChar char="•"/>
                  <a:defRPr sz="2100">
                    <a:solidFill>
                      <a:srgbClr val="174A5B"/>
                    </a:solidFill>
                    <a:latin typeface="Aptos"/>
                    <a:ea typeface="Aptos"/>
                    <a:cs typeface="Aptos"/>
                  </a:defRPr>
                </a:pPr>
                <a14:m>
                  <m:oMath xmlns:m="http://schemas.openxmlformats.org/officeDocument/2006/math">
                    <m:r>
                      <a:rPr lang="nb-NO" sz="2000" i="1" smtClean="0">
                        <a:solidFill>
                          <a:srgbClr val="174A5B"/>
                        </a:solidFill>
                        <a:latin typeface="Cambria Math" panose="02040503050406030204" pitchFamily="18" charset="0"/>
                        <a:ea typeface="Cambria Math" panose="02040503050406030204" pitchFamily="18" charset="0"/>
                        <a:cs typeface="Aptos"/>
                      </a:rPr>
                      <m:t>𝜆</m:t>
                    </m:r>
                    <m:r>
                      <a:rPr lang="nb-NO" sz="2000" i="1" smtClean="0">
                        <a:solidFill>
                          <a:srgbClr val="174A5B"/>
                        </a:solidFill>
                        <a:latin typeface="Cambria Math" panose="02040503050406030204" pitchFamily="18" charset="0"/>
                        <a:ea typeface="Cambria Math" panose="02040503050406030204" pitchFamily="18" charset="0"/>
                        <a:cs typeface="Aptos"/>
                      </a:rPr>
                      <m:t>≈1.905</m:t>
                    </m:r>
                  </m:oMath>
                </a14:m>
                <a:endParaRPr lang="nb-NO" sz="2000" i="1" dirty="0">
                  <a:solidFill>
                    <a:srgbClr val="174A5B"/>
                  </a:solidFill>
                  <a:latin typeface="Cambria Math" panose="02040503050406030204" pitchFamily="18" charset="0"/>
                  <a:ea typeface="Aptos"/>
                  <a:cs typeface="Aptos"/>
                </a:endParaRPr>
              </a:p>
              <a:p>
                <a:pPr marL="342900" indent="-342900">
                  <a:buFont typeface="Arial" panose="020B0604020202020204" pitchFamily="34" charset="0"/>
                  <a:buChar char="•"/>
                  <a:defRPr sz="2100">
                    <a:solidFill>
                      <a:srgbClr val="174A5B"/>
                    </a:solidFill>
                    <a:latin typeface="Aptos"/>
                    <a:ea typeface="Aptos"/>
                    <a:cs typeface="Aptos"/>
                  </a:defRPr>
                </a:pPr>
                <a:endParaRPr lang="nb-NO" sz="2000" i="1" dirty="0">
                  <a:solidFill>
                    <a:srgbClr val="174A5B"/>
                  </a:solidFill>
                  <a:latin typeface="Cambria Math" panose="02040503050406030204" pitchFamily="18" charset="0"/>
                  <a:ea typeface="Aptos"/>
                  <a:cs typeface="Aptos"/>
                </a:endParaRPr>
              </a:p>
            </p:txBody>
          </p:sp>
        </mc:Choice>
        <mc:Fallback>
          <p:sp>
            <p:nvSpPr>
              <p:cNvPr id="26" name="Tallberegning periode 1">
                <a:extLst>
                  <a:ext uri="{FF2B5EF4-FFF2-40B4-BE49-F238E27FC236}">
                    <a16:creationId xmlns:a16="http://schemas.microsoft.com/office/drawing/2014/main" id="{FFA6C226-4FF6-4474-9F3D-F233BB6048B3}"/>
                  </a:ext>
                </a:extLst>
              </p:cNvPr>
              <p:cNvSpPr>
                <a:spLocks noGrp="1" noRot="1" noChangeAspect="1" noMove="1" noResize="1" noEditPoints="1" noAdjustHandles="1" noChangeArrowheads="1" noChangeShapeType="1" noTextEdit="1"/>
              </p:cNvSpPr>
              <p:nvPr/>
            </p:nvSpPr>
            <p:spPr>
              <a:xfrm>
                <a:off x="6822281" y="406363"/>
                <a:ext cx="5150994" cy="2129668"/>
              </a:xfrm>
              <a:prstGeom prst="rect">
                <a:avLst/>
              </a:prstGeom>
              <a:blipFill>
                <a:blip r:embed="rId3"/>
                <a:stretch>
                  <a:fillRect l="-1065" t="-1719"/>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3908028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A6BB-806A-F241-0F8E-6F70DC5FA7E2}"/>
              </a:ext>
            </a:extLst>
          </p:cNvPr>
          <p:cNvSpPr>
            <a:spLocks noGrp="1"/>
          </p:cNvSpPr>
          <p:nvPr>
            <p:ph type="title"/>
          </p:nvPr>
        </p:nvSpPr>
        <p:spPr/>
        <p:txBody>
          <a:bodyPr/>
          <a:lstStyle/>
          <a:p>
            <a:r>
              <a:rPr lang="nb-NO" dirty="0"/>
              <a:t>Marginal User </a:t>
            </a:r>
            <a:r>
              <a:rPr lang="nb-NO" dirty="0" err="1"/>
              <a:t>Cost</a:t>
            </a:r>
            <a:endParaRPr lang="nb-NO" dirty="0"/>
          </a:p>
        </p:txBody>
      </p:sp>
      <p:cxnSp>
        <p:nvCxnSpPr>
          <p:cNvPr id="4" name="Straight Arrow Connector 3">
            <a:extLst>
              <a:ext uri="{FF2B5EF4-FFF2-40B4-BE49-F238E27FC236}">
                <a16:creationId xmlns:a16="http://schemas.microsoft.com/office/drawing/2014/main" id="{06057546-87EE-873A-9D2E-D303BD42E585}"/>
              </a:ext>
            </a:extLst>
          </p:cNvPr>
          <p:cNvCxnSpPr>
            <a:cxnSpLocks/>
          </p:cNvCxnSpPr>
          <p:nvPr/>
        </p:nvCxnSpPr>
        <p:spPr>
          <a:xfrm flipV="1">
            <a:off x="1235789" y="2187426"/>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7B1BD08-F355-B320-9D32-F125A16BBC35}"/>
              </a:ext>
            </a:extLst>
          </p:cNvPr>
          <p:cNvCxnSpPr/>
          <p:nvPr/>
        </p:nvCxnSpPr>
        <p:spPr>
          <a:xfrm>
            <a:off x="1235789" y="6018556"/>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0D1E20E-FEB5-4304-CED5-B563EB83250C}"/>
              </a:ext>
            </a:extLst>
          </p:cNvPr>
          <p:cNvCxnSpPr>
            <a:cxnSpLocks/>
          </p:cNvCxnSpPr>
          <p:nvPr/>
        </p:nvCxnSpPr>
        <p:spPr>
          <a:xfrm>
            <a:off x="1235789" y="2635275"/>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4A691442-C68D-CAFE-207F-631C5643EF2C}"/>
              </a:ext>
            </a:extLst>
          </p:cNvPr>
          <p:cNvSpPr txBox="1"/>
          <p:nvPr/>
        </p:nvSpPr>
        <p:spPr>
          <a:xfrm>
            <a:off x="419060" y="1860984"/>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p:sp>
        <p:nvSpPr>
          <p:cNvPr id="9" name="TextBox 8">
            <a:extLst>
              <a:ext uri="{FF2B5EF4-FFF2-40B4-BE49-F238E27FC236}">
                <a16:creationId xmlns:a16="http://schemas.microsoft.com/office/drawing/2014/main" id="{F19AB0E2-A425-C756-7D23-B5ECC9E157E5}"/>
              </a:ext>
            </a:extLst>
          </p:cNvPr>
          <p:cNvSpPr txBox="1"/>
          <p:nvPr/>
        </p:nvSpPr>
        <p:spPr>
          <a:xfrm>
            <a:off x="5046716" y="6123543"/>
            <a:ext cx="1532117" cy="369332"/>
          </a:xfrm>
          <a:prstGeom prst="rect">
            <a:avLst/>
          </a:prstGeom>
          <a:noFill/>
        </p:spPr>
        <p:txBody>
          <a:bodyPr wrap="square" rtlCol="0">
            <a:spAutoFit/>
          </a:bodyPr>
          <a:lstStyle/>
          <a:p>
            <a:r>
              <a:rPr lang="nb-NO" dirty="0"/>
              <a:t>Kvantum (q)</a:t>
            </a:r>
          </a:p>
        </p:txBody>
      </p:sp>
      <p:cxnSp>
        <p:nvCxnSpPr>
          <p:cNvPr id="10" name="Straight Connector 9">
            <a:extLst>
              <a:ext uri="{FF2B5EF4-FFF2-40B4-BE49-F238E27FC236}">
                <a16:creationId xmlns:a16="http://schemas.microsoft.com/office/drawing/2014/main" id="{3F3079EC-1C99-DA3C-8B33-CA94346A4D25}"/>
              </a:ext>
            </a:extLst>
          </p:cNvPr>
          <p:cNvCxnSpPr>
            <a:cxnSpLocks/>
          </p:cNvCxnSpPr>
          <p:nvPr/>
        </p:nvCxnSpPr>
        <p:spPr>
          <a:xfrm>
            <a:off x="1235789" y="5483463"/>
            <a:ext cx="4273282" cy="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429EDDA5-FDA1-9108-DDD9-0371F96DA37F}"/>
              </a:ext>
            </a:extLst>
          </p:cNvPr>
          <p:cNvSpPr txBox="1"/>
          <p:nvPr/>
        </p:nvSpPr>
        <p:spPr>
          <a:xfrm>
            <a:off x="5203351" y="5042457"/>
            <a:ext cx="1045632" cy="369332"/>
          </a:xfrm>
          <a:prstGeom prst="rect">
            <a:avLst/>
          </a:prstGeom>
          <a:noFill/>
        </p:spPr>
        <p:txBody>
          <a:bodyPr wrap="square">
            <a:spAutoFit/>
          </a:bodyPr>
          <a:lstStyle/>
          <a:p>
            <a:r>
              <a:rPr lang="nb-NO" dirty="0"/>
              <a:t>MC</a:t>
            </a:r>
          </a:p>
        </p:txBody>
      </p:sp>
      <p:cxnSp>
        <p:nvCxnSpPr>
          <p:cNvPr id="12" name="Straight Connector 11">
            <a:extLst>
              <a:ext uri="{FF2B5EF4-FFF2-40B4-BE49-F238E27FC236}">
                <a16:creationId xmlns:a16="http://schemas.microsoft.com/office/drawing/2014/main" id="{4DBA972F-F250-144A-211B-9E4AAC2A8A25}"/>
              </a:ext>
            </a:extLst>
          </p:cNvPr>
          <p:cNvCxnSpPr>
            <a:cxnSpLocks/>
          </p:cNvCxnSpPr>
          <p:nvPr/>
        </p:nvCxnSpPr>
        <p:spPr>
          <a:xfrm>
            <a:off x="3122161" y="4484140"/>
            <a:ext cx="0" cy="158367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75B29F79-2A5D-DC1A-DC3C-913184FFE329}"/>
              </a:ext>
            </a:extLst>
          </p:cNvPr>
          <p:cNvSpPr txBox="1"/>
          <p:nvPr/>
        </p:nvSpPr>
        <p:spPr>
          <a:xfrm>
            <a:off x="2324100" y="6115050"/>
            <a:ext cx="1905000" cy="419100"/>
          </a:xfrm>
          <a:prstGeom prst="rect">
            <a:avLst/>
          </a:prstGeom>
          <a:noFill/>
        </p:spPr>
        <p:txBody>
          <a:bodyPr wrap="square">
            <a:noAutofit/>
          </a:bodyPr>
          <a:lstStyle/>
          <a:p>
            <a:pPr>
              <a:defRPr sz="1650">
                <a:solidFill>
                  <a:srgbClr val="000000"/>
                </a:solidFill>
                <a:latin typeface="Aptos"/>
                <a:ea typeface="Aptos"/>
                <a:cs typeface="Aptos"/>
              </a:defRPr>
            </a:pPr>
            <a:r>
              <a:rPr sz="1650">
                <a:solidFill>
                  <a:srgbClr val="000000"/>
                </a:solidFill>
                <a:latin typeface="Aptos"/>
                <a:ea typeface="Aptos"/>
                <a:cs typeface="Aptos"/>
              </a:rPr>
              <a:t>q₁* = 10,238</a:t>
            </a:r>
          </a:p>
        </p:txBody>
      </p:sp>
      <p:sp>
        <p:nvSpPr>
          <p:cNvPr id="14" name="TextBox 13">
            <a:extLst>
              <a:ext uri="{FF2B5EF4-FFF2-40B4-BE49-F238E27FC236}">
                <a16:creationId xmlns:a16="http://schemas.microsoft.com/office/drawing/2014/main" id="{D0359925-BF30-D529-79AC-975FF533BF7E}"/>
              </a:ext>
            </a:extLst>
          </p:cNvPr>
          <p:cNvSpPr txBox="1"/>
          <p:nvPr/>
        </p:nvSpPr>
        <p:spPr>
          <a:xfrm>
            <a:off x="3236645" y="3957583"/>
            <a:ext cx="754379" cy="369332"/>
          </a:xfrm>
          <a:prstGeom prst="rect">
            <a:avLst/>
          </a:prstGeom>
          <a:noFill/>
        </p:spPr>
        <p:txBody>
          <a:bodyPr wrap="square">
            <a:spAutoFit/>
          </a:bodyPr>
          <a:lstStyle/>
          <a:p>
            <a:r>
              <a:rPr lang="nb-NO" dirty="0"/>
              <a:t>MB</a:t>
            </a:r>
          </a:p>
        </p:txBody>
      </p:sp>
      <p:sp>
        <p:nvSpPr>
          <p:cNvPr id="17" name="TextBox 16">
            <a:extLst>
              <a:ext uri="{FF2B5EF4-FFF2-40B4-BE49-F238E27FC236}">
                <a16:creationId xmlns:a16="http://schemas.microsoft.com/office/drawing/2014/main" id="{630D62B2-A3BF-09DB-1441-74866521E5D6}"/>
              </a:ext>
            </a:extLst>
          </p:cNvPr>
          <p:cNvSpPr txBox="1"/>
          <p:nvPr/>
        </p:nvSpPr>
        <p:spPr>
          <a:xfrm>
            <a:off x="821251" y="2474780"/>
            <a:ext cx="293594" cy="369332"/>
          </a:xfrm>
          <a:prstGeom prst="rect">
            <a:avLst/>
          </a:prstGeom>
          <a:noFill/>
        </p:spPr>
        <p:txBody>
          <a:bodyPr wrap="square" rtlCol="0">
            <a:spAutoFit/>
          </a:bodyPr>
          <a:lstStyle/>
          <a:p>
            <a:r>
              <a:rPr lang="nb-NO" dirty="0"/>
              <a:t>8</a:t>
            </a:r>
          </a:p>
        </p:txBody>
      </p:sp>
      <p:sp>
        <p:nvSpPr>
          <p:cNvPr id="18" name="TextBox 17">
            <a:extLst>
              <a:ext uri="{FF2B5EF4-FFF2-40B4-BE49-F238E27FC236}">
                <a16:creationId xmlns:a16="http://schemas.microsoft.com/office/drawing/2014/main" id="{5294FBA8-B469-E037-AF96-274FA6413615}"/>
              </a:ext>
            </a:extLst>
          </p:cNvPr>
          <p:cNvSpPr txBox="1"/>
          <p:nvPr/>
        </p:nvSpPr>
        <p:spPr>
          <a:xfrm>
            <a:off x="848656" y="5298796"/>
            <a:ext cx="293594" cy="369332"/>
          </a:xfrm>
          <a:prstGeom prst="rect">
            <a:avLst/>
          </a:prstGeom>
          <a:noFill/>
        </p:spPr>
        <p:txBody>
          <a:bodyPr wrap="square" rtlCol="0">
            <a:spAutoFit/>
          </a:bodyPr>
          <a:lstStyle/>
          <a:p>
            <a:r>
              <a:rPr lang="nb-NO" dirty="0"/>
              <a:t>2</a:t>
            </a:r>
          </a:p>
        </p:txBody>
      </p:sp>
      <p:cxnSp>
        <p:nvCxnSpPr>
          <p:cNvPr id="20" name="Straight Connector 19">
            <a:extLst>
              <a:ext uri="{FF2B5EF4-FFF2-40B4-BE49-F238E27FC236}">
                <a16:creationId xmlns:a16="http://schemas.microsoft.com/office/drawing/2014/main" id="{26D6BF8F-E79F-57C9-B981-7D54B64DC780}"/>
              </a:ext>
            </a:extLst>
          </p:cNvPr>
          <p:cNvCxnSpPr>
            <a:cxnSpLocks/>
          </p:cNvCxnSpPr>
          <p:nvPr/>
        </p:nvCxnSpPr>
        <p:spPr>
          <a:xfrm flipH="1" flipV="1">
            <a:off x="1235788" y="4484139"/>
            <a:ext cx="1886372" cy="591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8431F98E-F28A-75B0-572B-0AFB13943D12}"/>
              </a:ext>
            </a:extLst>
          </p:cNvPr>
          <p:cNvSpPr txBox="1"/>
          <p:nvPr/>
        </p:nvSpPr>
        <p:spPr>
          <a:xfrm>
            <a:off x="0" y="4324350"/>
            <a:ext cx="1209675" cy="640080"/>
          </a:xfrm>
          <a:prstGeom prst="rect">
            <a:avLst/>
          </a:prstGeom>
          <a:noFill/>
        </p:spPr>
        <p:txBody>
          <a:bodyPr wrap="square">
            <a:noAutofit/>
          </a:bodyPr>
          <a:lstStyle/>
          <a:p>
            <a:pPr>
              <a:defRPr sz="1500">
                <a:solidFill>
                  <a:srgbClr val="000000"/>
                </a:solidFill>
                <a:latin typeface="Aptos"/>
                <a:ea typeface="Aptos"/>
                <a:cs typeface="Aptos"/>
              </a:defRPr>
            </a:pPr>
            <a:r>
              <a:rPr sz="1500">
                <a:solidFill>
                  <a:srgbClr val="000000"/>
                </a:solidFill>
                <a:latin typeface="Aptos"/>
                <a:ea typeface="Aptos"/>
                <a:cs typeface="Aptos"/>
              </a:rPr>
              <a:t>p₁* = 3,905</a:t>
            </a:r>
          </a:p>
        </p:txBody>
      </p:sp>
      <p:sp>
        <p:nvSpPr>
          <p:cNvPr id="26" name="Right Brace 25">
            <a:extLst>
              <a:ext uri="{FF2B5EF4-FFF2-40B4-BE49-F238E27FC236}">
                <a16:creationId xmlns:a16="http://schemas.microsoft.com/office/drawing/2014/main" id="{3BE2387A-7CB0-7906-A0FC-088110354B4A}"/>
              </a:ext>
            </a:extLst>
          </p:cNvPr>
          <p:cNvSpPr/>
          <p:nvPr/>
        </p:nvSpPr>
        <p:spPr>
          <a:xfrm>
            <a:off x="3120861" y="4511581"/>
            <a:ext cx="528574" cy="971878"/>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b-NO"/>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2A36DD3-1D21-3F10-3407-6870571969C5}"/>
                  </a:ext>
                </a:extLst>
              </p:cNvPr>
              <p:cNvSpPr txBox="1"/>
              <p:nvPr/>
            </p:nvSpPr>
            <p:spPr>
              <a:xfrm>
                <a:off x="3648075" y="4791075"/>
                <a:ext cx="2409825" cy="419100"/>
              </a:xfrm>
              <a:prstGeom prst="rect">
                <a:avLst/>
              </a:prstGeom>
              <a:noFill/>
            </p:spPr>
            <p:txBody>
              <a:bodyPr wrap="square">
                <a:noAutofit/>
              </a:bodyPr>
              <a:lstStyle/>
              <a:p>
                <a:pPr>
                  <a:buNone/>
                  <a:defRPr sz="1575">
                    <a:solidFill>
                      <a:srgbClr val="D00000"/>
                    </a:solidFill>
                    <a:latin typeface="Aptos"/>
                    <a:ea typeface="Aptos"/>
                    <a:cs typeface="Aptos"/>
                  </a:defRPr>
                </a:pPr>
                <a:r>
                  <a:rPr sz="1575">
                    <a:solidFill>
                      <a:srgbClr val="D00000"/>
                    </a:solidFill>
                    <a:latin typeface="Aptos"/>
                    <a:ea typeface="Aptos"/>
                    <a:cs typeface="Aptos"/>
                  </a:rPr>
                  <a:t>λ = p₁* − MC ≈ 1,905</a:t>
                </a:r>
                <a:endParaRPr>
                  <a:solidFill>
                    <a:srgbClr val="C00000"/>
                  </a:solidFill>
                </a:endParaRPr>
              </a:p>
            </p:txBody>
          </p:sp>
        </mc:Choice>
        <mc:Fallback xmlns="">
          <p:sp>
            <p:nvSpPr>
              <p:cNvPr id="27" name="TextBox 26">
                <a:extLst>
                  <a:ext uri="{FF2B5EF4-FFF2-40B4-BE49-F238E27FC236}">
                    <a16:creationId xmlns:a16="http://schemas.microsoft.com/office/drawing/2014/main" id="{F2A36DD3-1D21-3F10-3407-6870571969C5}"/>
                  </a:ext>
                </a:extLst>
              </p:cNvPr>
              <p:cNvSpPr txBox="1">
                <a:spLocks noRot="1" noChangeAspect="1" noMove="1" noResize="1" noEditPoints="1" noAdjustHandles="1" noChangeArrowheads="1" noChangeShapeType="1" noTextEdit="1"/>
              </p:cNvSpPr>
              <p:nvPr/>
            </p:nvSpPr>
            <p:spPr>
              <a:xfrm>
                <a:off x="3592297" y="4810748"/>
                <a:ext cx="1331241" cy="369332"/>
              </a:xfrm>
              <a:prstGeom prst="rect">
                <a:avLst/>
              </a:prstGeom>
              <a:blipFill>
                <a:blip r:embed="rId4"/>
                <a:stretch>
                  <a:fillRect/>
                </a:stretch>
              </a:blipFill>
            </p:spPr>
            <p:txBody>
              <a:bodyPr/>
              <a:lstStyle/>
              <a:p>
                <a:r>
                  <a:rPr lang="nb-NO">
                    <a:noFill/>
                  </a:rPr>
                  <a:t> </a:t>
                </a:r>
              </a:p>
            </p:txBody>
          </p:sp>
        </mc:Fallback>
      </mc:AlternateContent>
      <p:sp>
        <p:nvSpPr>
          <p:cNvPr id="3" name="TextBox 2">
            <a:extLst>
              <a:ext uri="{FF2B5EF4-FFF2-40B4-BE49-F238E27FC236}">
                <a16:creationId xmlns:a16="http://schemas.microsoft.com/office/drawing/2014/main" id="{CE384F69-E0F1-5D01-48BC-50C798A21526}"/>
              </a:ext>
            </a:extLst>
          </p:cNvPr>
          <p:cNvSpPr txBox="1"/>
          <p:nvPr/>
        </p:nvSpPr>
        <p:spPr>
          <a:xfrm>
            <a:off x="2026427" y="1698224"/>
            <a:ext cx="1358721" cy="369332"/>
          </a:xfrm>
          <a:prstGeom prst="rect">
            <a:avLst/>
          </a:prstGeom>
          <a:noFill/>
        </p:spPr>
        <p:txBody>
          <a:bodyPr wrap="square" rtlCol="0">
            <a:spAutoFit/>
          </a:bodyPr>
          <a:lstStyle/>
          <a:p>
            <a:r>
              <a:rPr lang="nb-NO" dirty="0"/>
              <a:t>Periode 1</a:t>
            </a:r>
          </a:p>
        </p:txBody>
      </p:sp>
      <mc:AlternateContent xmlns:mc="http://schemas.openxmlformats.org/markup-compatibility/2006">
        <mc:Choice xmlns:a14="http://schemas.microsoft.com/office/drawing/2010/main" Requires="a14">
          <p:sp>
            <p:nvSpPr>
              <p:cNvPr id="28" name="Tallberegning knapphetsrente">
                <a:extLst>
                  <a:ext uri="{FF2B5EF4-FFF2-40B4-BE49-F238E27FC236}">
                    <a16:creationId xmlns:a16="http://schemas.microsoft.com/office/drawing/2014/main" id="{F5367BC1-2D31-4530-8C48-AC16E02EFAEC}"/>
                  </a:ext>
                </a:extLst>
              </p:cNvPr>
              <p:cNvSpPr>
                <a:spLocks noGrp="1"/>
              </p:cNvSpPr>
              <p:nvPr/>
            </p:nvSpPr>
            <p:spPr>
              <a:xfrm>
                <a:off x="6426313" y="162556"/>
                <a:ext cx="5191125" cy="1698428"/>
              </a:xfrm>
              <a:prstGeom prst="rect">
                <a:avLst/>
              </a:prstGeom>
              <a:noFill/>
              <a:ln w="0">
                <a:noFill/>
              </a:ln>
            </p:spPr>
            <p:txBody>
              <a:bodyPr>
                <a:noAutofit/>
              </a:bodyPr>
              <a:lstStyle/>
              <a:p>
                <a:pPr>
                  <a:defRPr sz="2175">
                    <a:solidFill>
                      <a:srgbClr val="174A5B"/>
                    </a:solidFill>
                    <a:latin typeface="Aptos"/>
                    <a:ea typeface="Aptos"/>
                    <a:cs typeface="Aptos"/>
                  </a:defRPr>
                </a:pPr>
                <a14:m>
                  <m:oMathPara xmlns:m="http://schemas.openxmlformats.org/officeDocument/2006/math">
                    <m:oMath>
                      <m:sSubSup>
                        <m:sSubSupPr>
                          <m:ctrlPr>
                            <a:rPr lang="nb-NO" sz="2000" i="1" dirty="0">
                              <a:solidFill>
                                <a:srgbClr val="174A5B"/>
                              </a:solidFill>
                              <a:latin typeface="Cambria Math" panose="02040503050406030204" pitchFamily="18" charset="0"/>
                            </a:rPr>
                          </m:ctrlPr>
                        </m:sSubSupPr>
                        <m:e>
                          <m:r>
                            <a:rPr lang="nb-NO" sz="2000" i="1" dirty="0">
                              <a:solidFill>
                                <a:srgbClr val="174A5B"/>
                              </a:solidFill>
                              <a:latin typeface="Cambria Math" panose="02040503050406030204" pitchFamily="18" charset="0"/>
                            </a:rPr>
                            <m:t>𝑞</m:t>
                          </m:r>
                        </m:e>
                        <m:sub>
                          <m:r>
                            <a:rPr lang="nb-NO" sz="2000" i="1" dirty="0">
                              <a:solidFill>
                                <a:srgbClr val="174A5B"/>
                              </a:solidFill>
                              <a:latin typeface="Cambria Math" panose="02040503050406030204" pitchFamily="18" charset="0"/>
                            </a:rPr>
                            <m:t>1</m:t>
                          </m:r>
                        </m:sub>
                        <m:sup>
                          <m:r>
                            <a:rPr lang="nb-NO" sz="2000" i="1" dirty="0">
                              <a:solidFill>
                                <a:srgbClr val="174A5B"/>
                              </a:solidFill>
                              <a:latin typeface="Cambria Math" panose="02040503050406030204" pitchFamily="18" charset="0"/>
                            </a:rPr>
                            <m:t>∗</m:t>
                          </m:r>
                        </m:sup>
                      </m:sSubSup>
                      <m:r>
                        <a:rPr lang="nb-NO" sz="2000" i="1" dirty="0" smtClean="0">
                          <a:solidFill>
                            <a:srgbClr val="174A5B"/>
                          </a:solidFill>
                          <a:latin typeface="Cambria Math" panose="02040503050406030204" pitchFamily="18" charset="0"/>
                          <a:ea typeface="Aptos"/>
                          <a:cs typeface="Aptos"/>
                        </a:rPr>
                        <m:t>≈ 10,238</m:t>
                      </m:r>
                    </m:oMath>
                  </m:oMathPara>
                </a14:m>
              </a:p>
              <a:p>
                <a:pPr>
                  <a:defRPr sz="2175">
                    <a:solidFill>
                      <a:srgbClr val="174A5B"/>
                    </a:solidFill>
                    <a:latin typeface="Aptos"/>
                    <a:ea typeface="Aptos"/>
                    <a:cs typeface="Aptos"/>
                  </a:defRPr>
                </a:pPr>
              </a:p>
              <a:p/>
              <a:p>
                <a:pPr>
                  <a:defRPr sz="2175">
                    <a:solidFill>
                      <a:srgbClr val="174A5B"/>
                    </a:solidFill>
                    <a:latin typeface="Aptos"/>
                    <a:ea typeface="Aptos"/>
                    <a:cs typeface="Aptos"/>
                  </a:defRPr>
                </a:pPr>
              </a:p>
              <a:p/>
              <a:p>
                <a:pPr>
                  <a:defRPr sz="2175">
                    <a:solidFill>
                      <a:srgbClr val="174A5B"/>
                    </a:solidFill>
                    <a:latin typeface="Aptos"/>
                    <a:ea typeface="Aptos"/>
                    <a:cs typeface="Aptos"/>
                  </a:defRPr>
                </a:pPr>
              </a:p>
            </p:txBody>
          </p:sp>
        </mc:Choice>
        <mc:Fallback>
          <p:sp>
            <p:nvSpPr>
              <p:cNvPr id="28" name="Tallberegning knapphetsrente">
                <a:extLst>
                  <a:ext uri="{FF2B5EF4-FFF2-40B4-BE49-F238E27FC236}">
                    <a16:creationId xmlns:a16="http://schemas.microsoft.com/office/drawing/2014/main" id="{F5367BC1-2D31-4530-8C48-AC16E02EFAEC}"/>
                  </a:ext>
                </a:extLst>
              </p:cNvPr>
              <p:cNvSpPr>
                <a:spLocks noGrp="1" noRot="1" noChangeAspect="1" noMove="1" noResize="1" noEditPoints="1" noAdjustHandles="1" noChangeArrowheads="1" noChangeShapeType="1" noTextEdit="1"/>
              </p:cNvSpPr>
              <p:nvPr/>
            </p:nvSpPr>
            <p:spPr>
              <a:xfrm>
                <a:off x="6426313" y="162556"/>
                <a:ext cx="5191125" cy="1698428"/>
              </a:xfrm>
              <a:prstGeom prst="rect">
                <a:avLst/>
              </a:prstGeom>
              <a:blipFill>
                <a:blip r:embed="rId5"/>
                <a:stretch>
                  <a:fillRect t="-2158" b="-2518"/>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614818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1081A-60BA-F41B-6EB6-97B7FB1B9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BB8FF-1940-ABBF-1CD2-E0011E2F790A}"/>
              </a:ext>
            </a:extLst>
          </p:cNvPr>
          <p:cNvSpPr>
            <a:spLocks noGrp="1"/>
          </p:cNvSpPr>
          <p:nvPr>
            <p:ph type="title"/>
          </p:nvPr>
        </p:nvSpPr>
        <p:spPr/>
        <p:txBody>
          <a:bodyPr/>
          <a:lstStyle/>
          <a:p>
            <a:r>
              <a:rPr lang="nb-NO" dirty="0"/>
              <a:t>Marginal User </a:t>
            </a:r>
            <a:r>
              <a:rPr lang="nb-NO" dirty="0" err="1"/>
              <a:t>Cost</a:t>
            </a:r>
            <a:endParaRPr lang="nb-NO" dirty="0"/>
          </a:p>
        </p:txBody>
      </p:sp>
      <p:cxnSp>
        <p:nvCxnSpPr>
          <p:cNvPr id="4" name="Straight Arrow Connector 3">
            <a:extLst>
              <a:ext uri="{FF2B5EF4-FFF2-40B4-BE49-F238E27FC236}">
                <a16:creationId xmlns:a16="http://schemas.microsoft.com/office/drawing/2014/main" id="{098A4828-46C8-3A12-F7C1-9C4B40D88AA0}"/>
              </a:ext>
            </a:extLst>
          </p:cNvPr>
          <p:cNvCxnSpPr>
            <a:cxnSpLocks/>
          </p:cNvCxnSpPr>
          <p:nvPr/>
        </p:nvCxnSpPr>
        <p:spPr>
          <a:xfrm flipV="1">
            <a:off x="1235789" y="2187426"/>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F7895D1-39BE-53D0-9EC8-B4C2E031F359}"/>
              </a:ext>
            </a:extLst>
          </p:cNvPr>
          <p:cNvCxnSpPr/>
          <p:nvPr/>
        </p:nvCxnSpPr>
        <p:spPr>
          <a:xfrm>
            <a:off x="1235789" y="6018556"/>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1B7D854-948A-2C4D-FD49-329537A4BBD0}"/>
              </a:ext>
            </a:extLst>
          </p:cNvPr>
          <p:cNvCxnSpPr>
            <a:cxnSpLocks/>
          </p:cNvCxnSpPr>
          <p:nvPr/>
        </p:nvCxnSpPr>
        <p:spPr>
          <a:xfrm>
            <a:off x="1235789" y="2635275"/>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1444205-921A-D6A7-DFF4-B2E3CA2256ED}"/>
              </a:ext>
            </a:extLst>
          </p:cNvPr>
          <p:cNvSpPr txBox="1"/>
          <p:nvPr/>
        </p:nvSpPr>
        <p:spPr>
          <a:xfrm>
            <a:off x="419060" y="1860984"/>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p:sp>
        <p:nvSpPr>
          <p:cNvPr id="9" name="TextBox 8">
            <a:extLst>
              <a:ext uri="{FF2B5EF4-FFF2-40B4-BE49-F238E27FC236}">
                <a16:creationId xmlns:a16="http://schemas.microsoft.com/office/drawing/2014/main" id="{35682C00-C12A-DFD3-620B-69C67DBDA695}"/>
              </a:ext>
            </a:extLst>
          </p:cNvPr>
          <p:cNvSpPr txBox="1"/>
          <p:nvPr/>
        </p:nvSpPr>
        <p:spPr>
          <a:xfrm>
            <a:off x="5046716" y="6123543"/>
            <a:ext cx="1532117" cy="369332"/>
          </a:xfrm>
          <a:prstGeom prst="rect">
            <a:avLst/>
          </a:prstGeom>
          <a:noFill/>
        </p:spPr>
        <p:txBody>
          <a:bodyPr wrap="square" rtlCol="0">
            <a:spAutoFit/>
          </a:bodyPr>
          <a:lstStyle/>
          <a:p>
            <a:r>
              <a:rPr lang="nb-NO" dirty="0"/>
              <a:t>Kvantum (q)</a:t>
            </a:r>
          </a:p>
        </p:txBody>
      </p:sp>
      <p:cxnSp>
        <p:nvCxnSpPr>
          <p:cNvPr id="10" name="Straight Connector 9">
            <a:extLst>
              <a:ext uri="{FF2B5EF4-FFF2-40B4-BE49-F238E27FC236}">
                <a16:creationId xmlns:a16="http://schemas.microsoft.com/office/drawing/2014/main" id="{1AFBD545-12CA-9393-D3B0-9D9AEF3ABFDB}"/>
              </a:ext>
            </a:extLst>
          </p:cNvPr>
          <p:cNvCxnSpPr>
            <a:cxnSpLocks/>
          </p:cNvCxnSpPr>
          <p:nvPr/>
        </p:nvCxnSpPr>
        <p:spPr>
          <a:xfrm>
            <a:off x="1235789" y="5483463"/>
            <a:ext cx="4273282" cy="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82439719-68BB-659D-730E-A6E225CB0343}"/>
              </a:ext>
            </a:extLst>
          </p:cNvPr>
          <p:cNvSpPr txBox="1"/>
          <p:nvPr/>
        </p:nvSpPr>
        <p:spPr>
          <a:xfrm>
            <a:off x="5203351" y="5042457"/>
            <a:ext cx="1045632" cy="369332"/>
          </a:xfrm>
          <a:prstGeom prst="rect">
            <a:avLst/>
          </a:prstGeom>
          <a:noFill/>
        </p:spPr>
        <p:txBody>
          <a:bodyPr wrap="square">
            <a:spAutoFit/>
          </a:bodyPr>
          <a:lstStyle/>
          <a:p>
            <a:r>
              <a:rPr lang="nb-NO" dirty="0"/>
              <a:t>MC</a:t>
            </a:r>
          </a:p>
        </p:txBody>
      </p:sp>
      <p:cxnSp>
        <p:nvCxnSpPr>
          <p:cNvPr id="12" name="Straight Connector 11">
            <a:extLst>
              <a:ext uri="{FF2B5EF4-FFF2-40B4-BE49-F238E27FC236}">
                <a16:creationId xmlns:a16="http://schemas.microsoft.com/office/drawing/2014/main" id="{3859F72A-85D4-7C7E-4145-15223E025D3C}"/>
              </a:ext>
            </a:extLst>
          </p:cNvPr>
          <p:cNvCxnSpPr>
            <a:cxnSpLocks/>
          </p:cNvCxnSpPr>
          <p:nvPr/>
        </p:nvCxnSpPr>
        <p:spPr>
          <a:xfrm>
            <a:off x="3122161" y="4484140"/>
            <a:ext cx="0" cy="158367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C4E3CAB4-BA76-53C3-BB24-905A2AB2F178}"/>
              </a:ext>
            </a:extLst>
          </p:cNvPr>
          <p:cNvSpPr txBox="1"/>
          <p:nvPr/>
        </p:nvSpPr>
        <p:spPr>
          <a:xfrm>
            <a:off x="2324100" y="6115050"/>
            <a:ext cx="1905000" cy="419100"/>
          </a:xfrm>
          <a:prstGeom prst="rect">
            <a:avLst/>
          </a:prstGeom>
          <a:noFill/>
        </p:spPr>
        <p:txBody>
          <a:bodyPr wrap="square">
            <a:noAutofit/>
          </a:bodyPr>
          <a:lstStyle/>
          <a:p>
            <a:pPr>
              <a:defRPr sz="1650">
                <a:solidFill>
                  <a:srgbClr val="000000"/>
                </a:solidFill>
                <a:latin typeface="Aptos"/>
                <a:ea typeface="Aptos"/>
                <a:cs typeface="Aptos"/>
              </a:defRPr>
            </a:pPr>
            <a:r>
              <a:rPr sz="1650">
                <a:solidFill>
                  <a:srgbClr val="000000"/>
                </a:solidFill>
                <a:latin typeface="Aptos"/>
                <a:ea typeface="Aptos"/>
                <a:cs typeface="Aptos"/>
              </a:rPr>
              <a:t>q₁* = 10,238</a:t>
            </a:r>
          </a:p>
        </p:txBody>
      </p:sp>
      <p:sp>
        <p:nvSpPr>
          <p:cNvPr id="14" name="TextBox 13">
            <a:extLst>
              <a:ext uri="{FF2B5EF4-FFF2-40B4-BE49-F238E27FC236}">
                <a16:creationId xmlns:a16="http://schemas.microsoft.com/office/drawing/2014/main" id="{79FC77C8-3EC8-0EBC-0723-BB54671D71A6}"/>
              </a:ext>
            </a:extLst>
          </p:cNvPr>
          <p:cNvSpPr txBox="1"/>
          <p:nvPr/>
        </p:nvSpPr>
        <p:spPr>
          <a:xfrm>
            <a:off x="3236645" y="3957583"/>
            <a:ext cx="754379" cy="369332"/>
          </a:xfrm>
          <a:prstGeom prst="rect">
            <a:avLst/>
          </a:prstGeom>
          <a:noFill/>
        </p:spPr>
        <p:txBody>
          <a:bodyPr wrap="square">
            <a:spAutoFit/>
          </a:bodyPr>
          <a:lstStyle/>
          <a:p>
            <a:r>
              <a:rPr lang="nb-NO" dirty="0"/>
              <a:t>MB</a:t>
            </a:r>
          </a:p>
        </p:txBody>
      </p:sp>
      <p:sp>
        <p:nvSpPr>
          <p:cNvPr id="17" name="TextBox 16">
            <a:extLst>
              <a:ext uri="{FF2B5EF4-FFF2-40B4-BE49-F238E27FC236}">
                <a16:creationId xmlns:a16="http://schemas.microsoft.com/office/drawing/2014/main" id="{4C57E702-1539-D377-B4F7-254E349E28DB}"/>
              </a:ext>
            </a:extLst>
          </p:cNvPr>
          <p:cNvSpPr txBox="1"/>
          <p:nvPr/>
        </p:nvSpPr>
        <p:spPr>
          <a:xfrm>
            <a:off x="821251" y="2474780"/>
            <a:ext cx="293594" cy="369332"/>
          </a:xfrm>
          <a:prstGeom prst="rect">
            <a:avLst/>
          </a:prstGeom>
          <a:noFill/>
        </p:spPr>
        <p:txBody>
          <a:bodyPr wrap="square" rtlCol="0">
            <a:spAutoFit/>
          </a:bodyPr>
          <a:lstStyle/>
          <a:p>
            <a:r>
              <a:rPr lang="nb-NO" dirty="0"/>
              <a:t>8</a:t>
            </a:r>
          </a:p>
        </p:txBody>
      </p:sp>
      <p:sp>
        <p:nvSpPr>
          <p:cNvPr id="18" name="TextBox 17">
            <a:extLst>
              <a:ext uri="{FF2B5EF4-FFF2-40B4-BE49-F238E27FC236}">
                <a16:creationId xmlns:a16="http://schemas.microsoft.com/office/drawing/2014/main" id="{9B6B2974-DEE8-D51F-9E16-ADADD84D5181}"/>
              </a:ext>
            </a:extLst>
          </p:cNvPr>
          <p:cNvSpPr txBox="1"/>
          <p:nvPr/>
        </p:nvSpPr>
        <p:spPr>
          <a:xfrm>
            <a:off x="848656" y="5298796"/>
            <a:ext cx="293594" cy="369332"/>
          </a:xfrm>
          <a:prstGeom prst="rect">
            <a:avLst/>
          </a:prstGeom>
          <a:noFill/>
        </p:spPr>
        <p:txBody>
          <a:bodyPr wrap="square" rtlCol="0">
            <a:spAutoFit/>
          </a:bodyPr>
          <a:lstStyle/>
          <a:p>
            <a:r>
              <a:rPr lang="nb-NO" dirty="0"/>
              <a:t>2</a:t>
            </a:r>
          </a:p>
        </p:txBody>
      </p:sp>
      <p:cxnSp>
        <p:nvCxnSpPr>
          <p:cNvPr id="20" name="Straight Connector 19">
            <a:extLst>
              <a:ext uri="{FF2B5EF4-FFF2-40B4-BE49-F238E27FC236}">
                <a16:creationId xmlns:a16="http://schemas.microsoft.com/office/drawing/2014/main" id="{25945664-08D4-9F05-A2D7-731947506A1E}"/>
              </a:ext>
            </a:extLst>
          </p:cNvPr>
          <p:cNvCxnSpPr>
            <a:cxnSpLocks/>
          </p:cNvCxnSpPr>
          <p:nvPr/>
        </p:nvCxnSpPr>
        <p:spPr>
          <a:xfrm flipH="1" flipV="1">
            <a:off x="1235788" y="4484139"/>
            <a:ext cx="1886372" cy="591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CDBB5DBF-BC3F-3BF4-B673-6FC56F38EEDD}"/>
              </a:ext>
            </a:extLst>
          </p:cNvPr>
          <p:cNvSpPr txBox="1"/>
          <p:nvPr/>
        </p:nvSpPr>
        <p:spPr>
          <a:xfrm>
            <a:off x="0" y="4324350"/>
            <a:ext cx="1209675" cy="640080"/>
          </a:xfrm>
          <a:prstGeom prst="rect">
            <a:avLst/>
          </a:prstGeom>
          <a:noFill/>
        </p:spPr>
        <p:txBody>
          <a:bodyPr wrap="square">
            <a:noAutofit/>
          </a:bodyPr>
          <a:lstStyle/>
          <a:p>
            <a:pPr>
              <a:defRPr sz="1500">
                <a:solidFill>
                  <a:srgbClr val="000000"/>
                </a:solidFill>
                <a:latin typeface="Aptos"/>
                <a:ea typeface="Aptos"/>
                <a:cs typeface="Aptos"/>
              </a:defRPr>
            </a:pPr>
            <a:r>
              <a:rPr sz="1500">
                <a:solidFill>
                  <a:srgbClr val="000000"/>
                </a:solidFill>
                <a:latin typeface="Aptos"/>
                <a:ea typeface="Aptos"/>
                <a:cs typeface="Aptos"/>
              </a:rPr>
              <a:t>p₁* = 3,905</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A393C7-EB38-9BE0-8C55-29949D9FB326}"/>
                  </a:ext>
                </a:extLst>
              </p:cNvPr>
              <p:cNvSpPr txBox="1"/>
              <p:nvPr/>
            </p:nvSpPr>
            <p:spPr>
              <a:xfrm>
                <a:off x="1438275" y="2238375"/>
                <a:ext cx="4476750" cy="400050"/>
              </a:xfrm>
              <a:prstGeom prst="rect">
                <a:avLst/>
              </a:prstGeom>
              <a:noFill/>
            </p:spPr>
            <p:txBody>
              <a:bodyPr wrap="square">
                <a:noAutofit/>
              </a:bodyPr>
              <a:lstStyle/>
              <a:p>
                <a:pPr>
                  <a:buNone/>
                  <a:defRPr sz="1725">
                    <a:solidFill>
                      <a:srgbClr val="000000"/>
                    </a:solidFill>
                    <a:latin typeface="Aptos"/>
                    <a:ea typeface="Aptos"/>
                    <a:cs typeface="Aptos"/>
                  </a:defRPr>
                </a:pPr>
                <a:r>
                  <a:rPr sz="1725">
                    <a:solidFill>
                      <a:srgbClr val="000000"/>
                    </a:solidFill>
                    <a:latin typeface="Aptos"/>
                    <a:ea typeface="Aptos"/>
                    <a:cs typeface="Aptos"/>
                  </a:rPr>
                  <a:t>p₁* = 8 − 0,4 · 10,238 ≈ 3,905</a:t>
                </a:r>
                <a:endParaRPr/>
              </a:p>
            </p:txBody>
          </p:sp>
        </mc:Choice>
        <mc:Fallback xmlns="">
          <p:sp>
            <p:nvSpPr>
              <p:cNvPr id="25" name="TextBox 24">
                <a:extLst>
                  <a:ext uri="{FF2B5EF4-FFF2-40B4-BE49-F238E27FC236}">
                    <a16:creationId xmlns:a16="http://schemas.microsoft.com/office/drawing/2014/main" id="{79A7F758-C5D8-58B9-CE1D-A02ACD10F039}"/>
                  </a:ext>
                </a:extLst>
              </p:cNvPr>
              <p:cNvSpPr txBox="1">
                <a:spLocks noRot="1" noChangeAspect="1" noMove="1" noResize="1" noEditPoints="1" noAdjustHandles="1" noChangeArrowheads="1" noChangeShapeType="1" noTextEdit="1"/>
              </p:cNvSpPr>
              <p:nvPr/>
            </p:nvSpPr>
            <p:spPr>
              <a:xfrm>
                <a:off x="1356733" y="2265942"/>
                <a:ext cx="3319340" cy="369332"/>
              </a:xfrm>
              <a:prstGeom prst="rect">
                <a:avLst/>
              </a:prstGeom>
              <a:blipFill>
                <a:blip r:embed="rId3"/>
                <a:stretch>
                  <a:fillRect/>
                </a:stretch>
              </a:blipFill>
            </p:spPr>
            <p:txBody>
              <a:bodyPr/>
              <a:lstStyle/>
              <a:p>
                <a:r>
                  <a:rPr lang="nb-NO">
                    <a:noFill/>
                  </a:rPr>
                  <a:t> </a:t>
                </a:r>
              </a:p>
            </p:txBody>
          </p:sp>
        </mc:Fallback>
      </mc:AlternateContent>
      <p:sp>
        <p:nvSpPr>
          <p:cNvPr id="26" name="Right Brace 25">
            <a:extLst>
              <a:ext uri="{FF2B5EF4-FFF2-40B4-BE49-F238E27FC236}">
                <a16:creationId xmlns:a16="http://schemas.microsoft.com/office/drawing/2014/main" id="{C2624DEA-60AE-8562-2DD9-C0CB2BF41EC3}"/>
              </a:ext>
            </a:extLst>
          </p:cNvPr>
          <p:cNvSpPr/>
          <p:nvPr/>
        </p:nvSpPr>
        <p:spPr>
          <a:xfrm>
            <a:off x="3120861" y="4511581"/>
            <a:ext cx="528574" cy="971878"/>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b-NO"/>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E85AB28-92A1-5486-F23C-5B6CCF15A22E}"/>
                  </a:ext>
                </a:extLst>
              </p:cNvPr>
              <p:cNvSpPr txBox="1"/>
              <p:nvPr/>
            </p:nvSpPr>
            <p:spPr>
              <a:xfrm>
                <a:off x="3648075" y="4791075"/>
                <a:ext cx="2409825" cy="419100"/>
              </a:xfrm>
              <a:prstGeom prst="rect">
                <a:avLst/>
              </a:prstGeom>
              <a:noFill/>
            </p:spPr>
            <p:txBody>
              <a:bodyPr wrap="square">
                <a:noAutofit/>
              </a:bodyPr>
              <a:lstStyle/>
              <a:p>
                <a:pPr>
                  <a:buNone/>
                  <a:defRPr sz="1575">
                    <a:solidFill>
                      <a:srgbClr val="D00000"/>
                    </a:solidFill>
                    <a:latin typeface="Aptos"/>
                    <a:ea typeface="Aptos"/>
                    <a:cs typeface="Aptos"/>
                  </a:defRPr>
                </a:pPr>
                <a:r>
                  <a:rPr sz="1575">
                    <a:solidFill>
                      <a:srgbClr val="D00000"/>
                    </a:solidFill>
                    <a:latin typeface="Aptos"/>
                    <a:ea typeface="Aptos"/>
                    <a:cs typeface="Aptos"/>
                  </a:rPr>
                  <a:t>λ = p₁* − MC ≈ 1,905</a:t>
                </a:r>
                <a:endParaRPr>
                  <a:solidFill>
                    <a:srgbClr val="C00000"/>
                  </a:solidFill>
                </a:endParaRPr>
              </a:p>
            </p:txBody>
          </p:sp>
        </mc:Choice>
        <mc:Fallback xmlns="">
          <p:sp>
            <p:nvSpPr>
              <p:cNvPr id="27" name="TextBox 26">
                <a:extLst>
                  <a:ext uri="{FF2B5EF4-FFF2-40B4-BE49-F238E27FC236}">
                    <a16:creationId xmlns:a16="http://schemas.microsoft.com/office/drawing/2014/main" id="{F2A36DD3-1D21-3F10-3407-6870571969C5}"/>
                  </a:ext>
                </a:extLst>
              </p:cNvPr>
              <p:cNvSpPr txBox="1">
                <a:spLocks noRot="1" noChangeAspect="1" noMove="1" noResize="1" noEditPoints="1" noAdjustHandles="1" noChangeArrowheads="1" noChangeShapeType="1" noTextEdit="1"/>
              </p:cNvSpPr>
              <p:nvPr/>
            </p:nvSpPr>
            <p:spPr>
              <a:xfrm>
                <a:off x="3592297" y="4810748"/>
                <a:ext cx="1331241" cy="369332"/>
              </a:xfrm>
              <a:prstGeom prst="rect">
                <a:avLst/>
              </a:prstGeom>
              <a:blipFill>
                <a:blip r:embed="rId4"/>
                <a:stretch>
                  <a:fillRect/>
                </a:stretch>
              </a:blipFill>
            </p:spPr>
            <p:txBody>
              <a:bodyPr/>
              <a:lstStyle/>
              <a:p>
                <a:r>
                  <a:rPr lang="nb-NO">
                    <a:noFill/>
                  </a:rPr>
                  <a:t> </a:t>
                </a:r>
              </a:p>
            </p:txBody>
          </p:sp>
        </mc:Fallback>
      </mc:AlternateContent>
      <p:cxnSp>
        <p:nvCxnSpPr>
          <p:cNvPr id="28" name="Straight Arrow Connector 27">
            <a:extLst>
              <a:ext uri="{FF2B5EF4-FFF2-40B4-BE49-F238E27FC236}">
                <a16:creationId xmlns:a16="http://schemas.microsoft.com/office/drawing/2014/main" id="{A336C20A-89CB-44F3-AAEF-99D558199CDE}"/>
              </a:ext>
            </a:extLst>
          </p:cNvPr>
          <p:cNvCxnSpPr>
            <a:cxnSpLocks/>
          </p:cNvCxnSpPr>
          <p:nvPr/>
        </p:nvCxnSpPr>
        <p:spPr>
          <a:xfrm flipV="1">
            <a:off x="6808608" y="2305688"/>
            <a:ext cx="0" cy="3831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B1628C1-F6E4-82C6-E752-8D1D5B2DBF09}"/>
              </a:ext>
            </a:extLst>
          </p:cNvPr>
          <p:cNvCxnSpPr/>
          <p:nvPr/>
        </p:nvCxnSpPr>
        <p:spPr>
          <a:xfrm>
            <a:off x="6808608" y="6136818"/>
            <a:ext cx="43832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6CC82F-B443-3DDD-5B4E-3AD6E9A2E020}"/>
              </a:ext>
            </a:extLst>
          </p:cNvPr>
          <p:cNvCxnSpPr>
            <a:cxnSpLocks/>
          </p:cNvCxnSpPr>
          <p:nvPr/>
        </p:nvCxnSpPr>
        <p:spPr>
          <a:xfrm>
            <a:off x="6808608" y="2753537"/>
            <a:ext cx="3440286" cy="3383281"/>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38519E7B-74CF-8DAA-AFC9-3F6965AEAC4D}"/>
              </a:ext>
            </a:extLst>
          </p:cNvPr>
          <p:cNvSpPr txBox="1"/>
          <p:nvPr/>
        </p:nvSpPr>
        <p:spPr>
          <a:xfrm>
            <a:off x="5991879" y="1979246"/>
            <a:ext cx="887307" cy="523220"/>
          </a:xfrm>
          <a:prstGeom prst="rect">
            <a:avLst/>
          </a:prstGeom>
          <a:noFill/>
        </p:spPr>
        <p:txBody>
          <a:bodyPr wrap="square" rtlCol="0">
            <a:spAutoFit/>
          </a:bodyPr>
          <a:lstStyle/>
          <a:p>
            <a:r>
              <a:rPr lang="nb-NO" sz="1400" dirty="0"/>
              <a:t>Pris</a:t>
            </a:r>
            <a:br>
              <a:rPr lang="nb-NO" sz="1400" dirty="0"/>
            </a:br>
            <a:r>
              <a:rPr lang="nb-NO" sz="1400" dirty="0"/>
              <a:t>(NOK)</a:t>
            </a:r>
          </a:p>
        </p:txBody>
      </p:sp>
      <p:sp>
        <p:nvSpPr>
          <p:cNvPr id="32" name="TextBox 31">
            <a:extLst>
              <a:ext uri="{FF2B5EF4-FFF2-40B4-BE49-F238E27FC236}">
                <a16:creationId xmlns:a16="http://schemas.microsoft.com/office/drawing/2014/main" id="{003FDF56-2DCC-BBBA-2B40-67A4424A0AB5}"/>
              </a:ext>
            </a:extLst>
          </p:cNvPr>
          <p:cNvSpPr txBox="1"/>
          <p:nvPr/>
        </p:nvSpPr>
        <p:spPr>
          <a:xfrm>
            <a:off x="10619535" y="6241805"/>
            <a:ext cx="1532117" cy="369332"/>
          </a:xfrm>
          <a:prstGeom prst="rect">
            <a:avLst/>
          </a:prstGeom>
          <a:noFill/>
        </p:spPr>
        <p:txBody>
          <a:bodyPr wrap="square" rtlCol="0">
            <a:spAutoFit/>
          </a:bodyPr>
          <a:lstStyle/>
          <a:p>
            <a:r>
              <a:rPr lang="nb-NO" dirty="0"/>
              <a:t>Kvantum (q)</a:t>
            </a:r>
          </a:p>
        </p:txBody>
      </p:sp>
      <p:cxnSp>
        <p:nvCxnSpPr>
          <p:cNvPr id="33" name="Straight Connector 32">
            <a:extLst>
              <a:ext uri="{FF2B5EF4-FFF2-40B4-BE49-F238E27FC236}">
                <a16:creationId xmlns:a16="http://schemas.microsoft.com/office/drawing/2014/main" id="{206611EC-DDD3-BC20-8801-01EC53EE86C1}"/>
              </a:ext>
            </a:extLst>
          </p:cNvPr>
          <p:cNvCxnSpPr>
            <a:cxnSpLocks/>
          </p:cNvCxnSpPr>
          <p:nvPr/>
        </p:nvCxnSpPr>
        <p:spPr>
          <a:xfrm>
            <a:off x="6808608" y="5601725"/>
            <a:ext cx="4273282" cy="0"/>
          </a:xfrm>
          <a:prstGeom prst="line">
            <a:avLst/>
          </a:prstGeom>
        </p:spPr>
        <p:style>
          <a:lnRef idx="1">
            <a:schemeClr val="accent2"/>
          </a:lnRef>
          <a:fillRef idx="0">
            <a:schemeClr val="accent2"/>
          </a:fillRef>
          <a:effectRef idx="0">
            <a:schemeClr val="accent2"/>
          </a:effectRef>
          <a:fontRef idx="minor">
            <a:schemeClr val="tx1"/>
          </a:fontRef>
        </p:style>
      </p:cxnSp>
      <p:sp>
        <p:nvSpPr>
          <p:cNvPr id="34" name="TextBox 33">
            <a:extLst>
              <a:ext uri="{FF2B5EF4-FFF2-40B4-BE49-F238E27FC236}">
                <a16:creationId xmlns:a16="http://schemas.microsoft.com/office/drawing/2014/main" id="{56CBF37D-D907-E685-BDF3-C824BFD3B8B5}"/>
              </a:ext>
            </a:extLst>
          </p:cNvPr>
          <p:cNvSpPr txBox="1"/>
          <p:nvPr/>
        </p:nvSpPr>
        <p:spPr>
          <a:xfrm>
            <a:off x="10776170" y="5160719"/>
            <a:ext cx="1045632" cy="369332"/>
          </a:xfrm>
          <a:prstGeom prst="rect">
            <a:avLst/>
          </a:prstGeom>
          <a:noFill/>
        </p:spPr>
        <p:txBody>
          <a:bodyPr wrap="square">
            <a:spAutoFit/>
          </a:bodyPr>
          <a:lstStyle/>
          <a:p>
            <a:r>
              <a:rPr lang="nb-NO" dirty="0"/>
              <a:t>MC</a:t>
            </a:r>
          </a:p>
        </p:txBody>
      </p:sp>
      <p:cxnSp>
        <p:nvCxnSpPr>
          <p:cNvPr id="35" name="Straight Connector 34">
            <a:extLst>
              <a:ext uri="{FF2B5EF4-FFF2-40B4-BE49-F238E27FC236}">
                <a16:creationId xmlns:a16="http://schemas.microsoft.com/office/drawing/2014/main" id="{B49580F0-22B7-C674-3044-53181C8B91F7}"/>
              </a:ext>
            </a:extLst>
          </p:cNvPr>
          <p:cNvCxnSpPr>
            <a:cxnSpLocks/>
          </p:cNvCxnSpPr>
          <p:nvPr/>
        </p:nvCxnSpPr>
        <p:spPr>
          <a:xfrm>
            <a:off x="8694980" y="4602402"/>
            <a:ext cx="0" cy="158367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EDEB9CD-1A49-722B-CA01-7E7F8CBF73DC}"/>
                  </a:ext>
                </a:extLst>
              </p:cNvPr>
              <p:cNvSpPr txBox="1"/>
              <p:nvPr/>
            </p:nvSpPr>
            <p:spPr>
              <a:xfrm>
                <a:off x="7924800" y="6238875"/>
                <a:ext cx="1809750" cy="419100"/>
              </a:xfrm>
              <a:prstGeom prst="rect">
                <a:avLst/>
              </a:prstGeom>
              <a:noFill/>
            </p:spPr>
            <p:txBody>
              <a:bodyPr wrap="square">
                <a:noAutofit/>
              </a:bodyPr>
              <a:lstStyle/>
              <a:p>
                <a:pPr>
                  <a:defRPr sz="1650">
                    <a:solidFill>
                      <a:srgbClr val="000000"/>
                    </a:solidFill>
                    <a:latin typeface="Aptos"/>
                    <a:ea typeface="Aptos"/>
                    <a:cs typeface="Aptos"/>
                  </a:defRPr>
                </a:pPr>
                <a:r>
                  <a:rPr sz="1650">
                    <a:solidFill>
                      <a:srgbClr val="000000"/>
                    </a:solidFill>
                    <a:latin typeface="Aptos"/>
                    <a:ea typeface="Aptos"/>
                    <a:cs typeface="Aptos"/>
                  </a:rPr>
                  <a:t>q₂* = 9,762</a:t>
                </a:r>
                <a:endParaRPr/>
              </a:p>
            </p:txBody>
          </p:sp>
        </mc:Choice>
        <mc:Fallback xmlns="">
          <p:sp>
            <p:nvSpPr>
              <p:cNvPr id="36" name="TextBox 35">
                <a:extLst>
                  <a:ext uri="{FF2B5EF4-FFF2-40B4-BE49-F238E27FC236}">
                    <a16:creationId xmlns:a16="http://schemas.microsoft.com/office/drawing/2014/main" id="{36A5494F-3708-091A-1F20-B82AD2E0EE1C}"/>
                  </a:ext>
                </a:extLst>
              </p:cNvPr>
              <p:cNvSpPr txBox="1">
                <a:spLocks noRot="1" noChangeAspect="1" noMove="1" noResize="1" noEditPoints="1" noAdjustHandles="1" noChangeArrowheads="1" noChangeShapeType="1" noTextEdit="1"/>
              </p:cNvSpPr>
              <p:nvPr/>
            </p:nvSpPr>
            <p:spPr>
              <a:xfrm>
                <a:off x="8134050" y="6241805"/>
                <a:ext cx="1350828" cy="369332"/>
              </a:xfrm>
              <a:prstGeom prst="rect">
                <a:avLst/>
              </a:prstGeom>
              <a:blipFill>
                <a:blip r:embed="rId5"/>
                <a:stretch>
                  <a:fillRect l="-3604" t="-9836" b="-24590"/>
                </a:stretch>
              </a:blipFill>
            </p:spPr>
            <p:txBody>
              <a:bodyPr/>
              <a:lstStyle/>
              <a:p>
                <a:r>
                  <a:rPr lang="nb-NO">
                    <a:noFill/>
                  </a:rPr>
                  <a:t> </a:t>
                </a:r>
              </a:p>
            </p:txBody>
          </p:sp>
        </mc:Fallback>
      </mc:AlternateContent>
      <p:sp>
        <p:nvSpPr>
          <p:cNvPr id="37" name="TextBox 36">
            <a:extLst>
              <a:ext uri="{FF2B5EF4-FFF2-40B4-BE49-F238E27FC236}">
                <a16:creationId xmlns:a16="http://schemas.microsoft.com/office/drawing/2014/main" id="{3F959386-F487-0E84-464C-1D9878B0AB3B}"/>
              </a:ext>
            </a:extLst>
          </p:cNvPr>
          <p:cNvSpPr txBox="1"/>
          <p:nvPr/>
        </p:nvSpPr>
        <p:spPr>
          <a:xfrm>
            <a:off x="8809464" y="4075845"/>
            <a:ext cx="754379" cy="369332"/>
          </a:xfrm>
          <a:prstGeom prst="rect">
            <a:avLst/>
          </a:prstGeom>
          <a:noFill/>
        </p:spPr>
        <p:txBody>
          <a:bodyPr wrap="square">
            <a:spAutoFit/>
          </a:bodyPr>
          <a:lstStyle/>
          <a:p>
            <a:r>
              <a:rPr lang="nb-NO" dirty="0"/>
              <a:t>MB</a:t>
            </a:r>
          </a:p>
        </p:txBody>
      </p:sp>
      <p:sp>
        <p:nvSpPr>
          <p:cNvPr id="38" name="TextBox 37">
            <a:extLst>
              <a:ext uri="{FF2B5EF4-FFF2-40B4-BE49-F238E27FC236}">
                <a16:creationId xmlns:a16="http://schemas.microsoft.com/office/drawing/2014/main" id="{E7E81329-C13B-BCF7-D430-21AC56CF9F92}"/>
              </a:ext>
            </a:extLst>
          </p:cNvPr>
          <p:cNvSpPr txBox="1"/>
          <p:nvPr/>
        </p:nvSpPr>
        <p:spPr>
          <a:xfrm>
            <a:off x="6394070" y="2593042"/>
            <a:ext cx="293594" cy="369332"/>
          </a:xfrm>
          <a:prstGeom prst="rect">
            <a:avLst/>
          </a:prstGeom>
          <a:noFill/>
        </p:spPr>
        <p:txBody>
          <a:bodyPr wrap="square" rtlCol="0">
            <a:spAutoFit/>
          </a:bodyPr>
          <a:lstStyle/>
          <a:p>
            <a:r>
              <a:rPr lang="nb-NO" dirty="0"/>
              <a:t>8</a:t>
            </a:r>
          </a:p>
        </p:txBody>
      </p:sp>
      <p:sp>
        <p:nvSpPr>
          <p:cNvPr id="39" name="TextBox 38">
            <a:extLst>
              <a:ext uri="{FF2B5EF4-FFF2-40B4-BE49-F238E27FC236}">
                <a16:creationId xmlns:a16="http://schemas.microsoft.com/office/drawing/2014/main" id="{8BC43B66-19F4-5C16-BAB0-EE1DF40AD0C4}"/>
              </a:ext>
            </a:extLst>
          </p:cNvPr>
          <p:cNvSpPr txBox="1"/>
          <p:nvPr/>
        </p:nvSpPr>
        <p:spPr>
          <a:xfrm>
            <a:off x="6421475" y="5417058"/>
            <a:ext cx="293594" cy="369332"/>
          </a:xfrm>
          <a:prstGeom prst="rect">
            <a:avLst/>
          </a:prstGeom>
          <a:noFill/>
        </p:spPr>
        <p:txBody>
          <a:bodyPr wrap="square" rtlCol="0">
            <a:spAutoFit/>
          </a:bodyPr>
          <a:lstStyle/>
          <a:p>
            <a:r>
              <a:rPr lang="nb-NO" dirty="0"/>
              <a:t>2</a:t>
            </a:r>
          </a:p>
        </p:txBody>
      </p:sp>
      <p:cxnSp>
        <p:nvCxnSpPr>
          <p:cNvPr id="40" name="Straight Connector 39">
            <a:extLst>
              <a:ext uri="{FF2B5EF4-FFF2-40B4-BE49-F238E27FC236}">
                <a16:creationId xmlns:a16="http://schemas.microsoft.com/office/drawing/2014/main" id="{7D0D76B4-9B2E-95EA-CF64-415F1D8F6838}"/>
              </a:ext>
            </a:extLst>
          </p:cNvPr>
          <p:cNvCxnSpPr>
            <a:cxnSpLocks/>
          </p:cNvCxnSpPr>
          <p:nvPr/>
        </p:nvCxnSpPr>
        <p:spPr>
          <a:xfrm flipH="1" flipV="1">
            <a:off x="6808607" y="4602401"/>
            <a:ext cx="1886372" cy="591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TextBox 40">
            <a:extLst>
              <a:ext uri="{FF2B5EF4-FFF2-40B4-BE49-F238E27FC236}">
                <a16:creationId xmlns:a16="http://schemas.microsoft.com/office/drawing/2014/main" id="{B423E3F0-1A3F-8082-D6DF-E22F241F20FF}"/>
              </a:ext>
            </a:extLst>
          </p:cNvPr>
          <p:cNvSpPr txBox="1"/>
          <p:nvPr/>
        </p:nvSpPr>
        <p:spPr>
          <a:xfrm>
            <a:off x="5619750" y="4438650"/>
            <a:ext cx="1190625" cy="640080"/>
          </a:xfrm>
          <a:prstGeom prst="rect">
            <a:avLst/>
          </a:prstGeom>
          <a:noFill/>
        </p:spPr>
        <p:txBody>
          <a:bodyPr wrap="square">
            <a:noAutofit/>
          </a:bodyPr>
          <a:lstStyle/>
          <a:p>
            <a:pPr>
              <a:defRPr sz="1500">
                <a:solidFill>
                  <a:srgbClr val="000000"/>
                </a:solidFill>
                <a:latin typeface="Aptos"/>
                <a:ea typeface="Aptos"/>
                <a:cs typeface="Aptos"/>
              </a:defRPr>
            </a:pPr>
            <a:r>
              <a:rPr sz="1500">
                <a:solidFill>
                  <a:srgbClr val="000000"/>
                </a:solidFill>
                <a:latin typeface="Aptos"/>
                <a:ea typeface="Aptos"/>
                <a:cs typeface="Aptos"/>
              </a:rPr>
              <a:t>p₂* = 4,095</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E541869-7966-B47F-25D0-73A4472353D3}"/>
                  </a:ext>
                </a:extLst>
              </p:cNvPr>
              <p:cNvSpPr txBox="1"/>
              <p:nvPr/>
            </p:nvSpPr>
            <p:spPr>
              <a:xfrm>
                <a:off x="7029450" y="2362200"/>
                <a:ext cx="4572000" cy="400050"/>
              </a:xfrm>
              <a:prstGeom prst="rect">
                <a:avLst/>
              </a:prstGeom>
              <a:noFill/>
            </p:spPr>
            <p:txBody>
              <a:bodyPr wrap="square">
                <a:noAutofit/>
              </a:bodyPr>
              <a:lstStyle/>
              <a:p>
                <a:pPr>
                  <a:buNone/>
                  <a:defRPr sz="1725">
                    <a:solidFill>
                      <a:srgbClr val="000000"/>
                    </a:solidFill>
                    <a:latin typeface="Aptos"/>
                    <a:ea typeface="Aptos"/>
                    <a:cs typeface="Aptos"/>
                  </a:defRPr>
                </a:pPr>
                <a:r>
                  <a:rPr sz="1725">
                    <a:solidFill>
                      <a:srgbClr val="000000"/>
                    </a:solidFill>
                    <a:latin typeface="Aptos"/>
                    <a:ea typeface="Aptos"/>
                    <a:cs typeface="Aptos"/>
                  </a:rPr>
                  <a:t>p₂* = 8 − 0,4 · 9,762 ≈ 4,095</a:t>
                </a:r>
                <a:endParaRPr/>
              </a:p>
            </p:txBody>
          </p:sp>
        </mc:Choice>
        <mc:Fallback xmlns="">
          <p:sp>
            <p:nvSpPr>
              <p:cNvPr id="42" name="TextBox 41">
                <a:extLst>
                  <a:ext uri="{FF2B5EF4-FFF2-40B4-BE49-F238E27FC236}">
                    <a16:creationId xmlns:a16="http://schemas.microsoft.com/office/drawing/2014/main" id="{C518E66E-428E-C32B-0693-1831019615EB}"/>
                  </a:ext>
                </a:extLst>
              </p:cNvPr>
              <p:cNvSpPr txBox="1">
                <a:spLocks noRot="1" noChangeAspect="1" noMove="1" noResize="1" noEditPoints="1" noAdjustHandles="1" noChangeArrowheads="1" noChangeShapeType="1" noTextEdit="1"/>
              </p:cNvSpPr>
              <p:nvPr/>
            </p:nvSpPr>
            <p:spPr>
              <a:xfrm>
                <a:off x="6929552" y="2384204"/>
                <a:ext cx="3319340" cy="369332"/>
              </a:xfrm>
              <a:prstGeom prst="rect">
                <a:avLst/>
              </a:prstGeom>
              <a:blipFill>
                <a:blip r:embed="rId6"/>
                <a:stretch>
                  <a:fillRect/>
                </a:stretch>
              </a:blipFill>
            </p:spPr>
            <p:txBody>
              <a:bodyPr/>
              <a:lstStyle/>
              <a:p>
                <a:r>
                  <a:rPr lang="nb-NO">
                    <a:noFill/>
                  </a:rPr>
                  <a:t> </a:t>
                </a:r>
              </a:p>
            </p:txBody>
          </p:sp>
        </mc:Fallback>
      </mc:AlternateContent>
      <p:sp>
        <p:nvSpPr>
          <p:cNvPr id="43" name="Right Brace 42">
            <a:extLst>
              <a:ext uri="{FF2B5EF4-FFF2-40B4-BE49-F238E27FC236}">
                <a16:creationId xmlns:a16="http://schemas.microsoft.com/office/drawing/2014/main" id="{1E876EEB-FEFB-8769-7617-EE6D7525E2DA}"/>
              </a:ext>
            </a:extLst>
          </p:cNvPr>
          <p:cNvSpPr/>
          <p:nvPr/>
        </p:nvSpPr>
        <p:spPr>
          <a:xfrm>
            <a:off x="8735916" y="4602401"/>
            <a:ext cx="486339" cy="99932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b-NO"/>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4B82CCD-513B-E58A-C180-6790157AC289}"/>
                  </a:ext>
                </a:extLst>
              </p:cNvPr>
              <p:cNvSpPr txBox="1"/>
              <p:nvPr/>
            </p:nvSpPr>
            <p:spPr>
              <a:xfrm>
                <a:off x="9286875" y="4733925"/>
                <a:ext cx="2857500" cy="714375"/>
              </a:xfrm>
              <a:prstGeom prst="rect">
                <a:avLst/>
              </a:prstGeom>
              <a:noFill/>
            </p:spPr>
            <p:txBody>
              <a:bodyPr wrap="square">
                <a:noAutofit/>
              </a:bodyPr>
              <a:lstStyle/>
              <a:p>
                <a:pPr>
                  <a:buNone/>
                  <a:defRPr sz="1650">
                    <a:solidFill>
                      <a:srgbClr val="000000"/>
                    </a:solidFill>
                    <a:latin typeface="Aptos"/>
                    <a:ea typeface="Aptos"/>
                    <a:cs typeface="Aptos"/>
                  </a:defRPr>
                </a:pPr>
                <a:r>
                  <a:rPr sz="1650" dirty="0">
                    <a:solidFill>
                      <a:srgbClr val="000000"/>
                    </a:solidFill>
                    <a:latin typeface="Aptos"/>
                    <a:ea typeface="Aptos"/>
                    <a:cs typeface="Aptos"/>
                  </a:rPr>
                  <a:t>1,10 · λ ≈ 1,10 · 1,905</a:t>
                </a:r>
                <a:endParaRPr dirty="0">
                  <a:solidFill>
                    <a:srgbClr val="C00000"/>
                  </a:solidFill>
                </a:endParaRPr>
              </a:p>
              <a:p>
                <a:pPr>
                  <a:buNone/>
                  <a:defRPr sz="1650">
                    <a:solidFill>
                      <a:srgbClr val="000000"/>
                    </a:solidFill>
                    <a:latin typeface="Aptos"/>
                    <a:ea typeface="Aptos"/>
                    <a:cs typeface="Aptos"/>
                  </a:defRPr>
                </a:pPr>
                <a:r>
                  <a:rPr sz="1650" dirty="0">
                    <a:solidFill>
                      <a:srgbClr val="000000"/>
                    </a:solidFill>
                    <a:latin typeface="Aptos"/>
                    <a:ea typeface="Aptos"/>
                    <a:cs typeface="Aptos"/>
                  </a:rPr>
                  <a:t>              ≈ 2,095</a:t>
                </a:r>
                <a:endParaRPr dirty="0">
                  <a:solidFill>
                    <a:srgbClr val="C00000"/>
                  </a:solidFill>
                </a:endParaRPr>
              </a:p>
            </p:txBody>
          </p:sp>
        </mc:Choice>
        <mc:Fallback xmlns="">
          <p:sp>
            <p:nvSpPr>
              <p:cNvPr id="44" name="TextBox 43">
                <a:extLst>
                  <a:ext uri="{FF2B5EF4-FFF2-40B4-BE49-F238E27FC236}">
                    <a16:creationId xmlns:a16="http://schemas.microsoft.com/office/drawing/2014/main" id="{06F9E9DC-062D-40A2-97B9-C0390B1FEE4F}"/>
                  </a:ext>
                </a:extLst>
              </p:cNvPr>
              <p:cNvSpPr txBox="1">
                <a:spLocks noRot="1" noChangeAspect="1" noMove="1" noResize="1" noEditPoints="1" noAdjustHandles="1" noChangeArrowheads="1" noChangeShapeType="1" noTextEdit="1"/>
              </p:cNvSpPr>
              <p:nvPr/>
            </p:nvSpPr>
            <p:spPr>
              <a:xfrm>
                <a:off x="9288294" y="4917398"/>
                <a:ext cx="1903588" cy="369332"/>
              </a:xfrm>
              <a:prstGeom prst="rect">
                <a:avLst/>
              </a:prstGeom>
              <a:blipFill>
                <a:blip r:embed="rId7"/>
                <a:stretch>
                  <a:fillRect b="-15000"/>
                </a:stretch>
              </a:blipFill>
            </p:spPr>
            <p:txBody>
              <a:bodyPr/>
              <a:lstStyle/>
              <a:p>
                <a:r>
                  <a:rPr lang="nb-NO">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8CD947C0-CF5E-77F7-4231-5E884F3BB827}"/>
                  </a:ext>
                </a:extLst>
              </p:cNvPr>
              <p:cNvSpPr txBox="1"/>
              <p:nvPr/>
            </p:nvSpPr>
            <p:spPr>
              <a:xfrm>
                <a:off x="7105650" y="666750"/>
                <a:ext cx="4572000" cy="866775"/>
              </a:xfrm>
              <a:prstGeom prst="rect">
                <a:avLst/>
              </a:prstGeom>
              <a:noFill/>
            </p:spPr>
            <p:txBody>
              <a:bodyPr wrap="square">
                <a:noAutofit/>
              </a:bodyPr>
              <a:lstStyle/>
              <a:p>
                <a:pPr>
                  <a:defRPr sz="2025">
                    <a:solidFill>
                      <a:srgbClr val="000000"/>
                    </a:solidFill>
                    <a:latin typeface="Aptos"/>
                    <a:ea typeface="Aptos"/>
                    <a:cs typeface="Aptos"/>
                  </a:defRPr>
                </a:pPr>
                <a14:m>
                  <m:oMathPara xmlns:m="http://schemas.openxmlformats.org/officeDocument/2006/math">
                    <m:oMath>
                      <m:r>
                        <a:rPr lang="nb-NO" sz="2025" i="1" dirty="0" smtClean="0">
                          <a:solidFill>
                            <a:srgbClr val="000000"/>
                          </a:solidFill>
                          <a:latin typeface="Cambria Math" panose="02040503050406030204" pitchFamily="18" charset="0"/>
                          <a:ea typeface="Aptos"/>
                          <a:cs typeface="Aptos"/>
                        </a:rPr>
                        <m:t>𝑝</m:t>
                      </m:r>
                      <m:r>
                        <a:rPr lang="nb-NO" sz="2025" i="1" dirty="0" smtClean="0">
                          <a:solidFill>
                            <a:srgbClr val="000000"/>
                          </a:solidFill>
                          <a:latin typeface="Cambria Math" panose="02040503050406030204" pitchFamily="18" charset="0"/>
                          <a:ea typeface="Aptos"/>
                          <a:cs typeface="Aptos"/>
                        </a:rPr>
                        <m:t>ₜ = </m:t>
                      </m:r>
                      <m:r>
                        <a:rPr lang="nb-NO" sz="2025" i="1" dirty="0" smtClean="0">
                          <a:solidFill>
                            <a:srgbClr val="000000"/>
                          </a:solidFill>
                          <a:latin typeface="Cambria Math" panose="02040503050406030204" pitchFamily="18" charset="0"/>
                          <a:ea typeface="Aptos"/>
                          <a:cs typeface="Aptos"/>
                        </a:rPr>
                        <m:t>𝑀𝐶</m:t>
                      </m:r>
                      <m:r>
                        <a:rPr lang="nb-NO" sz="2025" i="1" dirty="0" smtClean="0">
                          <a:solidFill>
                            <a:srgbClr val="000000"/>
                          </a:solidFill>
                          <a:latin typeface="Cambria Math" panose="02040503050406030204" pitchFamily="18" charset="0"/>
                          <a:ea typeface="Aptos"/>
                          <a:cs typeface="Aptos"/>
                        </a:rPr>
                        <m:t>ₜ + </m:t>
                      </m:r>
                      <m:r>
                        <a:rPr lang="nb-NO" sz="2025" i="1" dirty="0" smtClean="0">
                          <a:solidFill>
                            <a:srgbClr val="000000"/>
                          </a:solidFill>
                          <a:latin typeface="Cambria Math" panose="02040503050406030204" pitchFamily="18" charset="0"/>
                          <a:ea typeface="Aptos"/>
                          <a:cs typeface="Aptos"/>
                        </a:rPr>
                        <m:t>𝑀𝑈𝐶</m:t>
                      </m:r>
                      <m:r>
                        <a:rPr lang="nb-NO" sz="2025" i="1" dirty="0" smtClean="0">
                          <a:solidFill>
                            <a:srgbClr val="000000"/>
                          </a:solidFill>
                          <a:latin typeface="Cambria Math" panose="02040503050406030204" pitchFamily="18" charset="0"/>
                          <a:ea typeface="Aptos"/>
                          <a:cs typeface="Aptos"/>
                        </a:rPr>
                        <m:t>ₜ</m:t>
                      </m:r>
                    </m:oMath>
                  </m:oMathPara>
                </a14:m>
              </a:p>
              <a:p>
                <a:pPr>
                  <a:defRPr sz="2025">
                    <a:solidFill>
                      <a:srgbClr val="000000"/>
                    </a:solidFill>
                    <a:latin typeface="Aptos"/>
                    <a:ea typeface="Aptos"/>
                    <a:cs typeface="Aptos"/>
                  </a:defRPr>
                </a:pPr>
              </a:p>
            </p:txBody>
          </p:sp>
        </mc:Choice>
        <mc:Fallback>
          <p:sp>
            <p:nvSpPr>
              <p:cNvPr id="45" name="TextBox 44">
                <a:extLst>
                  <a:ext uri="{FF2B5EF4-FFF2-40B4-BE49-F238E27FC236}">
                    <a16:creationId xmlns:a16="http://schemas.microsoft.com/office/drawing/2014/main" id="{8CD947C0-CF5E-77F7-4231-5E884F3BB827}"/>
                  </a:ext>
                </a:extLst>
              </p:cNvPr>
              <p:cNvSpPr txBox="1">
                <a:spLocks noRot="1" noChangeAspect="1" noMove="1" noResize="1" noEditPoints="1" noAdjustHandles="1" noChangeArrowheads="1" noChangeShapeType="1" noTextEdit="1"/>
              </p:cNvSpPr>
              <p:nvPr/>
            </p:nvSpPr>
            <p:spPr>
              <a:xfrm>
                <a:off x="7105650" y="666750"/>
                <a:ext cx="4572000" cy="866775"/>
              </a:xfrm>
              <a:prstGeom prst="rect">
                <a:avLst/>
              </a:prstGeom>
              <a:blipFill>
                <a:blip r:embed="rId8"/>
                <a:stretch>
                  <a:fillRect t="-3497"/>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AA4B0D55-F7B7-79E8-AADE-FD9BBA9CE4E9}"/>
              </a:ext>
            </a:extLst>
          </p:cNvPr>
          <p:cNvSpPr txBox="1"/>
          <p:nvPr/>
        </p:nvSpPr>
        <p:spPr>
          <a:xfrm>
            <a:off x="2026427" y="1698224"/>
            <a:ext cx="1358721" cy="369332"/>
          </a:xfrm>
          <a:prstGeom prst="rect">
            <a:avLst/>
          </a:prstGeom>
          <a:noFill/>
        </p:spPr>
        <p:txBody>
          <a:bodyPr wrap="square" rtlCol="0">
            <a:spAutoFit/>
          </a:bodyPr>
          <a:lstStyle/>
          <a:p>
            <a:r>
              <a:rPr lang="nb-NO" dirty="0"/>
              <a:t>Periode 1</a:t>
            </a:r>
          </a:p>
        </p:txBody>
      </p:sp>
      <p:sp>
        <p:nvSpPr>
          <p:cNvPr id="7" name="TextBox 6">
            <a:extLst>
              <a:ext uri="{FF2B5EF4-FFF2-40B4-BE49-F238E27FC236}">
                <a16:creationId xmlns:a16="http://schemas.microsoft.com/office/drawing/2014/main" id="{A8F20BBA-D2F9-21CB-586A-1345FE751EA0}"/>
              </a:ext>
            </a:extLst>
          </p:cNvPr>
          <p:cNvSpPr txBox="1"/>
          <p:nvPr/>
        </p:nvSpPr>
        <p:spPr>
          <a:xfrm>
            <a:off x="7641524" y="1689889"/>
            <a:ext cx="1358721" cy="369332"/>
          </a:xfrm>
          <a:prstGeom prst="rect">
            <a:avLst/>
          </a:prstGeom>
          <a:noFill/>
        </p:spPr>
        <p:txBody>
          <a:bodyPr wrap="square" rtlCol="0">
            <a:spAutoFit/>
          </a:bodyPr>
          <a:lstStyle/>
          <a:p>
            <a:r>
              <a:rPr lang="nb-NO" dirty="0"/>
              <a:t>Periode 2</a:t>
            </a:r>
          </a:p>
        </p:txBody>
      </p:sp>
      <mc:AlternateContent xmlns:mc="http://schemas.openxmlformats.org/markup-compatibility/2006">
        <mc:Choice xmlns:a14="http://schemas.microsoft.com/office/drawing/2010/main" Requires="a14">
          <p:sp>
            <p:nvSpPr>
              <p:cNvPr id="46" name="Tall periode 1">
                <a:extLst>
                  <a:ext uri="{FF2B5EF4-FFF2-40B4-BE49-F238E27FC236}">
                    <a16:creationId xmlns:a16="http://schemas.microsoft.com/office/drawing/2014/main" id="{E976DBAB-8E9B-4B9F-ADD8-04600C73D73D}"/>
                  </a:ext>
                </a:extLst>
              </p:cNvPr>
              <p:cNvSpPr>
                <a:spLocks noGrp="1"/>
              </p:cNvSpPr>
              <p:nvPr/>
            </p:nvSpPr>
            <p:spPr>
              <a:xfrm>
                <a:off x="3524250" y="3000375"/>
                <a:ext cx="3095625" cy="857250"/>
              </a:xfrm>
              <a:prstGeom prst="rect">
                <a:avLst/>
              </a:prstGeom>
              <a:noFill/>
              <a:ln w="0">
                <a:noFill/>
              </a:ln>
            </p:spPr>
            <p:txBody>
              <a:bodyPr>
                <a:noAutofit/>
              </a:bodyPr>
              <a:lstStyle/>
              <a:p>
                <a:pPr>
                  <a:defRPr sz="1725">
                    <a:solidFill>
                      <a:srgbClr val="174A5B"/>
                    </a:solidFill>
                    <a:latin typeface="Aptos"/>
                    <a:ea typeface="Aptos"/>
                    <a:cs typeface="Aptos"/>
                  </a:defRPr>
                </a:pPr>
                <a14:m>
                  <m:oMathPara xmlns:m="http://schemas.openxmlformats.org/officeDocument/2006/math">
                    <m:oMath>
                      <m:r>
                        <a:rPr lang="nb-NO" sz="1725" i="1" dirty="0" smtClean="0">
                          <a:solidFill>
                            <a:srgbClr val="174A5B"/>
                          </a:solidFill>
                          <a:latin typeface="Cambria Math" panose="02040503050406030204" pitchFamily="18" charset="0"/>
                          <a:ea typeface="Aptos"/>
                          <a:cs typeface="Aptos"/>
                        </a:rPr>
                        <m:t>𝑞</m:t>
                      </m:r>
                      <m:r>
                        <a:rPr lang="nb-NO" sz="1725" i="1" dirty="0" smtClean="0">
                          <a:solidFill>
                            <a:srgbClr val="174A5B"/>
                          </a:solidFill>
                          <a:latin typeface="Cambria Math" panose="02040503050406030204" pitchFamily="18" charset="0"/>
                          <a:ea typeface="Aptos"/>
                          <a:cs typeface="Aptos"/>
                        </a:rPr>
                        <m:t>₁∗ ≈ 10,238</m:t>
                      </m:r>
                    </m:oMath>
                  </m:oMathPara>
                </a14:m>
              </a:p>
              <a:p>
                <a:pPr>
                  <a:defRPr sz="1725">
                    <a:solidFill>
                      <a:srgbClr val="174A5B"/>
                    </a:solidFill>
                    <a:latin typeface="Aptos"/>
                    <a:ea typeface="Aptos"/>
                    <a:cs typeface="Aptos"/>
                  </a:defRPr>
                </a:pPr>
              </a:p>
            </p:txBody>
          </p:sp>
        </mc:Choice>
        <mc:Fallback>
          <p:sp>
            <p:nvSpPr>
              <p:cNvPr id="46" name="Tall periode 1">
                <a:extLst>
                  <a:ext uri="{FF2B5EF4-FFF2-40B4-BE49-F238E27FC236}">
                    <a16:creationId xmlns:a16="http://schemas.microsoft.com/office/drawing/2014/main" id="{E976DBAB-8E9B-4B9F-ADD8-04600C73D73D}"/>
                  </a:ext>
                </a:extLst>
              </p:cNvPr>
              <p:cNvSpPr>
                <a:spLocks noGrp="1" noRot="1" noChangeAspect="1" noMove="1" noResize="1" noEditPoints="1" noAdjustHandles="1" noChangeArrowheads="1" noChangeShapeType="1" noTextEdit="1"/>
              </p:cNvSpPr>
              <p:nvPr/>
            </p:nvSpPr>
            <p:spPr>
              <a:xfrm>
                <a:off x="3524250" y="3000375"/>
                <a:ext cx="3095625" cy="857250"/>
              </a:xfrm>
              <a:prstGeom prst="rect">
                <a:avLst/>
              </a:prstGeom>
              <a:blipFill>
                <a:blip r:embed="rId9"/>
                <a:stretch>
                  <a:fillRect t="-2837"/>
                </a:stretch>
              </a:blipFill>
              <a:ln w="0">
                <a:no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47" name="Tall periode 2">
                <a:extLst>
                  <a:ext uri="{FF2B5EF4-FFF2-40B4-BE49-F238E27FC236}">
                    <a16:creationId xmlns:a16="http://schemas.microsoft.com/office/drawing/2014/main" id="{D8AE2ABC-AFE2-4D5D-A19B-096A5B8B82EE}"/>
                  </a:ext>
                </a:extLst>
              </p:cNvPr>
              <p:cNvSpPr>
                <a:spLocks noGrp="1"/>
              </p:cNvSpPr>
              <p:nvPr/>
            </p:nvSpPr>
            <p:spPr>
              <a:xfrm>
                <a:off x="9010650" y="3048000"/>
                <a:ext cx="3143250" cy="857250"/>
              </a:xfrm>
              <a:prstGeom prst="rect">
                <a:avLst/>
              </a:prstGeom>
              <a:noFill/>
              <a:ln w="0">
                <a:noFill/>
              </a:ln>
            </p:spPr>
            <p:txBody>
              <a:bodyPr>
                <a:noAutofit/>
              </a:bodyPr>
              <a:lstStyle/>
              <a:p>
                <a:pPr>
                  <a:defRPr sz="1725">
                    <a:solidFill>
                      <a:srgbClr val="174A5B"/>
                    </a:solidFill>
                    <a:latin typeface="Aptos"/>
                    <a:ea typeface="Aptos"/>
                    <a:cs typeface="Aptos"/>
                  </a:defRPr>
                </a:pPr>
                <a14:m>
                  <m:oMathPara xmlns:m="http://schemas.openxmlformats.org/officeDocument/2006/math">
                    <m:oMath>
                      <m:r>
                        <a:rPr lang="nb-NO" sz="1725" i="1" dirty="0" smtClean="0">
                          <a:solidFill>
                            <a:srgbClr val="174A5B"/>
                          </a:solidFill>
                          <a:latin typeface="Cambria Math" panose="02040503050406030204" pitchFamily="18" charset="0"/>
                          <a:ea typeface="Aptos"/>
                          <a:cs typeface="Aptos"/>
                        </a:rPr>
                        <m:t>𝑞</m:t>
                      </m:r>
                      <m:r>
                        <a:rPr lang="nb-NO" sz="1725" i="1" dirty="0" smtClean="0">
                          <a:solidFill>
                            <a:srgbClr val="174A5B"/>
                          </a:solidFill>
                          <a:latin typeface="Cambria Math" panose="02040503050406030204" pitchFamily="18" charset="0"/>
                          <a:ea typeface="Aptos"/>
                          <a:cs typeface="Aptos"/>
                        </a:rPr>
                        <m:t>₂∗ ≈ 9,762</m:t>
                      </m:r>
                    </m:oMath>
                  </m:oMathPara>
                </a14:m>
              </a:p>
              <a:p>
                <a:pPr>
                  <a:defRPr sz="1725">
                    <a:solidFill>
                      <a:srgbClr val="174A5B"/>
                    </a:solidFill>
                    <a:latin typeface="Aptos"/>
                    <a:ea typeface="Aptos"/>
                    <a:cs typeface="Aptos"/>
                  </a:defRPr>
                </a:pPr>
              </a:p>
            </p:txBody>
          </p:sp>
        </mc:Choice>
        <mc:Fallback>
          <p:sp>
            <p:nvSpPr>
              <p:cNvPr id="47" name="Tall periode 2">
                <a:extLst>
                  <a:ext uri="{FF2B5EF4-FFF2-40B4-BE49-F238E27FC236}">
                    <a16:creationId xmlns:a16="http://schemas.microsoft.com/office/drawing/2014/main" id="{D8AE2ABC-AFE2-4D5D-A19B-096A5B8B82EE}"/>
                  </a:ext>
                </a:extLst>
              </p:cNvPr>
              <p:cNvSpPr>
                <a:spLocks noGrp="1" noRot="1" noChangeAspect="1" noMove="1" noResize="1" noEditPoints="1" noAdjustHandles="1" noChangeArrowheads="1" noChangeShapeType="1" noTextEdit="1"/>
              </p:cNvSpPr>
              <p:nvPr/>
            </p:nvSpPr>
            <p:spPr>
              <a:xfrm>
                <a:off x="9010650" y="3048000"/>
                <a:ext cx="3143250" cy="857250"/>
              </a:xfrm>
              <a:prstGeom prst="rect">
                <a:avLst/>
              </a:prstGeom>
              <a:blipFill>
                <a:blip r:embed="rId10"/>
                <a:stretch>
                  <a:fillRect t="-2837"/>
                </a:stretch>
              </a:blipFill>
              <a:ln w="0">
                <a:noFill/>
              </a:ln>
            </p:spPr>
            <p:txBody>
              <a:bodyPr/>
              <a:lstStyle/>
              <a:p>
                <a:r>
                  <a:rPr lang="en-GB">
                    <a:noFill/>
                  </a:rPr>
                  <a:t> </a:t>
                </a:r>
              </a:p>
            </p:txBody>
          </p:sp>
        </mc:Fallback>
      </mc:AlternateContent>
    </p:spTree>
    <p:extLst>
      <p:ext uri="{BB962C8B-B14F-4D97-AF65-F5344CB8AC3E}">
        <p14:creationId xmlns:p14="http://schemas.microsoft.com/office/powerpoint/2010/main" val="1077021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57A126-F882-B990-F07F-219D86EB994F}"/>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Renten vrir uttaket mot nåtiden</a:t>
            </a:r>
            <a:endParaRPr lang="en-GB" sz="2625" b="1">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8DFF7B19-6771-E9CE-8D9A-6E45A09C3548}"/>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640F05A-088F-775A-A2DA-62FB2921D9EE}"/>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7EA97C49-CD0D-6E74-F9B2-3AC72ACE2DCF}"/>
              </a:ext>
            </a:extLst>
          </p:cNvPr>
          <p:cNvSpPr/>
          <p:nvPr/>
        </p:nvSpPr>
        <p:spPr>
          <a:xfrm>
            <a:off x="2476500" y="1381125"/>
            <a:ext cx="23812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029A5A8-CBC7-091F-782B-80A603FA993A}"/>
              </a:ext>
            </a:extLst>
          </p:cNvPr>
          <p:cNvSpPr txBox="1"/>
          <p:nvPr/>
        </p:nvSpPr>
        <p:spPr>
          <a:xfrm>
            <a:off x="2533650" y="1430766"/>
            <a:ext cx="2266950" cy="305212"/>
          </a:xfrm>
          <a:prstGeom prst="rect">
            <a:avLst/>
          </a:prstGeom>
          <a:noFill/>
        </p:spPr>
        <p:txBody>
          <a:bodyPr vert="horz" lIns="50800" tIns="25400" rIns="50800" bIns="25400" rtlCol="0" anchor="ctr">
            <a:noAutofit/>
          </a:bodyPr>
          <a:lstStyle/>
          <a:p>
            <a:r>
              <a:rPr lang="en-GB" sz="1650" b="1">
                <a:solidFill>
                  <a:srgbClr val="FFFFFF"/>
                </a:solidFill>
                <a:latin typeface="Aptos" panose="020B0004020202020204" pitchFamily="34" charset="0"/>
              </a:rPr>
              <a:t>Rente</a:t>
            </a:r>
          </a:p>
        </p:txBody>
      </p:sp>
      <p:sp>
        <p:nvSpPr>
          <p:cNvPr id="8" name="Rectangle 7">
            <a:extLst>
              <a:ext uri="{FF2B5EF4-FFF2-40B4-BE49-F238E27FC236}">
                <a16:creationId xmlns:a16="http://schemas.microsoft.com/office/drawing/2014/main" id="{2AF3986A-198F-4876-9071-6335E06BFC66}"/>
              </a:ext>
            </a:extLst>
          </p:cNvPr>
          <p:cNvSpPr/>
          <p:nvPr/>
        </p:nvSpPr>
        <p:spPr>
          <a:xfrm>
            <a:off x="4857750" y="1381125"/>
            <a:ext cx="23812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9CF906B-9160-0F3B-2A67-607A9DEC7DE4}"/>
              </a:ext>
            </a:extLst>
          </p:cNvPr>
          <p:cNvSpPr txBox="1"/>
          <p:nvPr/>
        </p:nvSpPr>
        <p:spPr>
          <a:xfrm>
            <a:off x="4914900" y="1430766"/>
            <a:ext cx="2266950" cy="305212"/>
          </a:xfrm>
          <a:prstGeom prst="rect">
            <a:avLst/>
          </a:prstGeom>
          <a:noFill/>
        </p:spPr>
        <p:txBody>
          <a:bodyPr vert="horz" lIns="50800" tIns="25400" rIns="50800" bIns="25400" rtlCol="0" anchor="ctr">
            <a:noAutofit/>
          </a:bodyPr>
          <a:lstStyle/>
          <a:p>
            <a:pPr algn="ctr"/>
            <a:r>
              <a:rPr lang="en-GB" sz="1650" b="1" dirty="0">
                <a:solidFill>
                  <a:srgbClr val="FFFFFF"/>
                </a:solidFill>
                <a:latin typeface="Aptos" panose="020B0004020202020204" pitchFamily="34" charset="0"/>
              </a:rPr>
              <a:t>q₁*</a:t>
            </a:r>
          </a:p>
        </p:txBody>
      </p:sp>
      <p:sp>
        <p:nvSpPr>
          <p:cNvPr id="10" name="Rectangle 9">
            <a:extLst>
              <a:ext uri="{FF2B5EF4-FFF2-40B4-BE49-F238E27FC236}">
                <a16:creationId xmlns:a16="http://schemas.microsoft.com/office/drawing/2014/main" id="{BEC110A2-C253-FCD2-3655-3E6A94D59157}"/>
              </a:ext>
            </a:extLst>
          </p:cNvPr>
          <p:cNvSpPr/>
          <p:nvPr/>
        </p:nvSpPr>
        <p:spPr>
          <a:xfrm>
            <a:off x="7239000" y="1381125"/>
            <a:ext cx="23812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A228FC9-7AB4-75F3-606D-DB5B4EA971AB}"/>
              </a:ext>
            </a:extLst>
          </p:cNvPr>
          <p:cNvSpPr txBox="1"/>
          <p:nvPr/>
        </p:nvSpPr>
        <p:spPr>
          <a:xfrm>
            <a:off x="7296150" y="1430766"/>
            <a:ext cx="2266950" cy="305212"/>
          </a:xfrm>
          <a:prstGeom prst="rect">
            <a:avLst/>
          </a:prstGeom>
          <a:noFill/>
        </p:spPr>
        <p:txBody>
          <a:bodyPr vert="horz" lIns="50800" tIns="25400" rIns="50800" bIns="25400" rtlCol="0" anchor="ctr">
            <a:noAutofit/>
          </a:bodyPr>
          <a:lstStyle/>
          <a:p>
            <a:pPr algn="ctr"/>
            <a:r>
              <a:rPr lang="en-GB" sz="1650" b="1">
                <a:solidFill>
                  <a:srgbClr val="FFFFFF"/>
                </a:solidFill>
                <a:latin typeface="Aptos" panose="020B0004020202020204" pitchFamily="34" charset="0"/>
              </a:rPr>
              <a:t>q₂*</a:t>
            </a:r>
          </a:p>
        </p:txBody>
      </p:sp>
      <p:sp>
        <p:nvSpPr>
          <p:cNvPr id="12" name="Rectangle 11">
            <a:extLst>
              <a:ext uri="{FF2B5EF4-FFF2-40B4-BE49-F238E27FC236}">
                <a16:creationId xmlns:a16="http://schemas.microsoft.com/office/drawing/2014/main" id="{DD5AE832-1D2C-2CDB-6A18-7995F820EE72}"/>
              </a:ext>
            </a:extLst>
          </p:cNvPr>
          <p:cNvSpPr/>
          <p:nvPr/>
        </p:nvSpPr>
        <p:spPr>
          <a:xfrm>
            <a:off x="2476500" y="19335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9B86B53-3B12-4CE7-EE1B-C551A2B7D097}"/>
              </a:ext>
            </a:extLst>
          </p:cNvPr>
          <p:cNvSpPr txBox="1"/>
          <p:nvPr/>
        </p:nvSpPr>
        <p:spPr>
          <a:xfrm>
            <a:off x="2533650" y="1983216"/>
            <a:ext cx="2266950" cy="305212"/>
          </a:xfrm>
          <a:prstGeom prst="rect">
            <a:avLst/>
          </a:prstGeom>
          <a:noFill/>
        </p:spPr>
        <p:txBody>
          <a:bodyPr vert="horz" lIns="50800" tIns="25400" rIns="50800" bIns="25400" rtlCol="0" anchor="ctr">
            <a:noAutofit/>
          </a:bodyPr>
          <a:lstStyle/>
          <a:p>
            <a:r>
              <a:rPr lang="en-GB" sz="1650">
                <a:solidFill>
                  <a:srgbClr val="1C2930"/>
                </a:solidFill>
                <a:latin typeface="Aptos" panose="020B0004020202020204" pitchFamily="34" charset="0"/>
              </a:rPr>
              <a:t>0 %</a:t>
            </a:r>
          </a:p>
        </p:txBody>
      </p:sp>
      <p:sp>
        <p:nvSpPr>
          <p:cNvPr id="14" name="Rectangle 13">
            <a:extLst>
              <a:ext uri="{FF2B5EF4-FFF2-40B4-BE49-F238E27FC236}">
                <a16:creationId xmlns:a16="http://schemas.microsoft.com/office/drawing/2014/main" id="{75238D99-EB73-BE94-8F0A-6C871CB44741}"/>
              </a:ext>
            </a:extLst>
          </p:cNvPr>
          <p:cNvSpPr/>
          <p:nvPr/>
        </p:nvSpPr>
        <p:spPr>
          <a:xfrm>
            <a:off x="4857750" y="19335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02717CD7-9837-F9F1-E0F6-718F3940AC78}"/>
              </a:ext>
            </a:extLst>
          </p:cNvPr>
          <p:cNvSpPr txBox="1"/>
          <p:nvPr/>
        </p:nvSpPr>
        <p:spPr>
          <a:xfrm>
            <a:off x="4914900" y="19832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10,000</a:t>
            </a:r>
          </a:p>
        </p:txBody>
      </p:sp>
      <p:sp>
        <p:nvSpPr>
          <p:cNvPr id="16" name="Rectangle 15">
            <a:extLst>
              <a:ext uri="{FF2B5EF4-FFF2-40B4-BE49-F238E27FC236}">
                <a16:creationId xmlns:a16="http://schemas.microsoft.com/office/drawing/2014/main" id="{718347BC-45D1-7ACC-F28D-C5EC2762E90A}"/>
              </a:ext>
            </a:extLst>
          </p:cNvPr>
          <p:cNvSpPr/>
          <p:nvPr/>
        </p:nvSpPr>
        <p:spPr>
          <a:xfrm>
            <a:off x="7239000" y="19335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44F764E7-5581-3E21-D6C3-48234169C4E5}"/>
              </a:ext>
            </a:extLst>
          </p:cNvPr>
          <p:cNvSpPr txBox="1"/>
          <p:nvPr/>
        </p:nvSpPr>
        <p:spPr>
          <a:xfrm>
            <a:off x="7296150" y="19832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10,000</a:t>
            </a:r>
          </a:p>
        </p:txBody>
      </p:sp>
      <p:sp>
        <p:nvSpPr>
          <p:cNvPr id="18" name="Rectangle 17">
            <a:extLst>
              <a:ext uri="{FF2B5EF4-FFF2-40B4-BE49-F238E27FC236}">
                <a16:creationId xmlns:a16="http://schemas.microsoft.com/office/drawing/2014/main" id="{0701DFF5-7824-72BA-97B7-0F89D1CE1107}"/>
              </a:ext>
            </a:extLst>
          </p:cNvPr>
          <p:cNvSpPr/>
          <p:nvPr/>
        </p:nvSpPr>
        <p:spPr>
          <a:xfrm>
            <a:off x="2476500" y="26193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37B55694-D0DC-33ED-970F-8E27A0B536F1}"/>
              </a:ext>
            </a:extLst>
          </p:cNvPr>
          <p:cNvSpPr txBox="1"/>
          <p:nvPr/>
        </p:nvSpPr>
        <p:spPr>
          <a:xfrm>
            <a:off x="2533650" y="2669016"/>
            <a:ext cx="2266950" cy="305212"/>
          </a:xfrm>
          <a:prstGeom prst="rect">
            <a:avLst/>
          </a:prstGeom>
          <a:noFill/>
        </p:spPr>
        <p:txBody>
          <a:bodyPr vert="horz" lIns="50800" tIns="25400" rIns="50800" bIns="25400" rtlCol="0" anchor="ctr">
            <a:noAutofit/>
          </a:bodyPr>
          <a:lstStyle/>
          <a:p>
            <a:r>
              <a:rPr lang="en-GB" sz="1650">
                <a:solidFill>
                  <a:srgbClr val="1C2930"/>
                </a:solidFill>
                <a:latin typeface="Aptos" panose="020B0004020202020204" pitchFamily="34" charset="0"/>
              </a:rPr>
              <a:t>10 %</a:t>
            </a:r>
          </a:p>
        </p:txBody>
      </p:sp>
      <p:sp>
        <p:nvSpPr>
          <p:cNvPr id="20" name="Rectangle 19">
            <a:extLst>
              <a:ext uri="{FF2B5EF4-FFF2-40B4-BE49-F238E27FC236}">
                <a16:creationId xmlns:a16="http://schemas.microsoft.com/office/drawing/2014/main" id="{A780477C-D337-33A8-DBD6-A45FBBF747A0}"/>
              </a:ext>
            </a:extLst>
          </p:cNvPr>
          <p:cNvSpPr/>
          <p:nvPr/>
        </p:nvSpPr>
        <p:spPr>
          <a:xfrm>
            <a:off x="4857750" y="26193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8DE43145-3B96-6F26-B50E-E9A0F6A4A76E}"/>
              </a:ext>
            </a:extLst>
          </p:cNvPr>
          <p:cNvSpPr txBox="1"/>
          <p:nvPr/>
        </p:nvSpPr>
        <p:spPr>
          <a:xfrm>
            <a:off x="4914900" y="26690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10,238</a:t>
            </a:r>
          </a:p>
        </p:txBody>
      </p:sp>
      <p:sp>
        <p:nvSpPr>
          <p:cNvPr id="22" name="Rectangle 21">
            <a:extLst>
              <a:ext uri="{FF2B5EF4-FFF2-40B4-BE49-F238E27FC236}">
                <a16:creationId xmlns:a16="http://schemas.microsoft.com/office/drawing/2014/main" id="{F4AF877A-4E7A-841A-B9E7-5F24BA03A81D}"/>
              </a:ext>
            </a:extLst>
          </p:cNvPr>
          <p:cNvSpPr/>
          <p:nvPr/>
        </p:nvSpPr>
        <p:spPr>
          <a:xfrm>
            <a:off x="7239000" y="26193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D1F46AA-50CF-E8DD-FCAA-71ACA72CC566}"/>
              </a:ext>
            </a:extLst>
          </p:cNvPr>
          <p:cNvSpPr txBox="1"/>
          <p:nvPr/>
        </p:nvSpPr>
        <p:spPr>
          <a:xfrm>
            <a:off x="7296150" y="26690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9,762</a:t>
            </a:r>
          </a:p>
        </p:txBody>
      </p:sp>
      <p:sp>
        <p:nvSpPr>
          <p:cNvPr id="24" name="Rectangle 23">
            <a:extLst>
              <a:ext uri="{FF2B5EF4-FFF2-40B4-BE49-F238E27FC236}">
                <a16:creationId xmlns:a16="http://schemas.microsoft.com/office/drawing/2014/main" id="{09C23D29-32A0-5AFC-AAB7-1E855DB29D06}"/>
              </a:ext>
            </a:extLst>
          </p:cNvPr>
          <p:cNvSpPr/>
          <p:nvPr/>
        </p:nvSpPr>
        <p:spPr>
          <a:xfrm>
            <a:off x="2476500" y="33051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80892DD-475F-FAD5-8084-C6AFAAF5EED0}"/>
              </a:ext>
            </a:extLst>
          </p:cNvPr>
          <p:cNvSpPr txBox="1"/>
          <p:nvPr/>
        </p:nvSpPr>
        <p:spPr>
          <a:xfrm>
            <a:off x="2533650" y="3354816"/>
            <a:ext cx="2266950" cy="305212"/>
          </a:xfrm>
          <a:prstGeom prst="rect">
            <a:avLst/>
          </a:prstGeom>
          <a:noFill/>
        </p:spPr>
        <p:txBody>
          <a:bodyPr vert="horz" lIns="50800" tIns="25400" rIns="50800" bIns="25400" rtlCol="0" anchor="ctr">
            <a:noAutofit/>
          </a:bodyPr>
          <a:lstStyle/>
          <a:p>
            <a:r>
              <a:rPr lang="en-GB" sz="1650">
                <a:solidFill>
                  <a:srgbClr val="1C2930"/>
                </a:solidFill>
                <a:latin typeface="Aptos" panose="020B0004020202020204" pitchFamily="34" charset="0"/>
              </a:rPr>
              <a:t>25 %</a:t>
            </a:r>
          </a:p>
        </p:txBody>
      </p:sp>
      <p:sp>
        <p:nvSpPr>
          <p:cNvPr id="26" name="Rectangle 25">
            <a:extLst>
              <a:ext uri="{FF2B5EF4-FFF2-40B4-BE49-F238E27FC236}">
                <a16:creationId xmlns:a16="http://schemas.microsoft.com/office/drawing/2014/main" id="{DE71381F-EE5A-B559-968F-8BEEB0B3F7AC}"/>
              </a:ext>
            </a:extLst>
          </p:cNvPr>
          <p:cNvSpPr/>
          <p:nvPr/>
        </p:nvSpPr>
        <p:spPr>
          <a:xfrm>
            <a:off x="4857750" y="33051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1869BE4A-6C8A-2FCB-2616-31F911F332AA}"/>
              </a:ext>
            </a:extLst>
          </p:cNvPr>
          <p:cNvSpPr txBox="1"/>
          <p:nvPr/>
        </p:nvSpPr>
        <p:spPr>
          <a:xfrm>
            <a:off x="4914900" y="33548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10,556</a:t>
            </a:r>
          </a:p>
        </p:txBody>
      </p:sp>
      <p:sp>
        <p:nvSpPr>
          <p:cNvPr id="28" name="Rectangle 27">
            <a:extLst>
              <a:ext uri="{FF2B5EF4-FFF2-40B4-BE49-F238E27FC236}">
                <a16:creationId xmlns:a16="http://schemas.microsoft.com/office/drawing/2014/main" id="{76ECBC30-66B7-F54C-8E35-13D4CDE35688}"/>
              </a:ext>
            </a:extLst>
          </p:cNvPr>
          <p:cNvSpPr/>
          <p:nvPr/>
        </p:nvSpPr>
        <p:spPr>
          <a:xfrm>
            <a:off x="7239000" y="3305175"/>
            <a:ext cx="2381250" cy="6858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56CE6A09-9370-48E9-D103-EBF35C4C6551}"/>
              </a:ext>
            </a:extLst>
          </p:cNvPr>
          <p:cNvSpPr txBox="1"/>
          <p:nvPr/>
        </p:nvSpPr>
        <p:spPr>
          <a:xfrm>
            <a:off x="7296150" y="33548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9,444</a:t>
            </a:r>
          </a:p>
        </p:txBody>
      </p:sp>
      <p:sp>
        <p:nvSpPr>
          <p:cNvPr id="30" name="Rectangle 29">
            <a:extLst>
              <a:ext uri="{FF2B5EF4-FFF2-40B4-BE49-F238E27FC236}">
                <a16:creationId xmlns:a16="http://schemas.microsoft.com/office/drawing/2014/main" id="{88BC7C46-84ED-A7E3-A38E-8754561E2231}"/>
              </a:ext>
            </a:extLst>
          </p:cNvPr>
          <p:cNvSpPr/>
          <p:nvPr/>
        </p:nvSpPr>
        <p:spPr>
          <a:xfrm>
            <a:off x="2476500" y="39909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B1963BB3-BF63-A3C8-2D53-891A8E9B0C66}"/>
              </a:ext>
            </a:extLst>
          </p:cNvPr>
          <p:cNvSpPr txBox="1"/>
          <p:nvPr/>
        </p:nvSpPr>
        <p:spPr>
          <a:xfrm>
            <a:off x="2533650" y="4040616"/>
            <a:ext cx="2266950" cy="305212"/>
          </a:xfrm>
          <a:prstGeom prst="rect">
            <a:avLst/>
          </a:prstGeom>
          <a:noFill/>
        </p:spPr>
        <p:txBody>
          <a:bodyPr vert="horz" lIns="50800" tIns="25400" rIns="50800" bIns="25400" rtlCol="0" anchor="ctr">
            <a:noAutofit/>
          </a:bodyPr>
          <a:lstStyle/>
          <a:p>
            <a:r>
              <a:rPr lang="en-GB" sz="1650">
                <a:solidFill>
                  <a:srgbClr val="1C2930"/>
                </a:solidFill>
                <a:latin typeface="Aptos" panose="020B0004020202020204" pitchFamily="34" charset="0"/>
              </a:rPr>
              <a:t>50 %</a:t>
            </a:r>
          </a:p>
        </p:txBody>
      </p:sp>
      <p:sp>
        <p:nvSpPr>
          <p:cNvPr id="32" name="Rectangle 31">
            <a:extLst>
              <a:ext uri="{FF2B5EF4-FFF2-40B4-BE49-F238E27FC236}">
                <a16:creationId xmlns:a16="http://schemas.microsoft.com/office/drawing/2014/main" id="{4B67B4D0-BBF0-99C1-89DE-BCCFC9F15248}"/>
              </a:ext>
            </a:extLst>
          </p:cNvPr>
          <p:cNvSpPr/>
          <p:nvPr/>
        </p:nvSpPr>
        <p:spPr>
          <a:xfrm>
            <a:off x="4857750" y="39909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503A5CA9-8174-D67D-FF6F-0AEE0A7530E2}"/>
              </a:ext>
            </a:extLst>
          </p:cNvPr>
          <p:cNvSpPr txBox="1"/>
          <p:nvPr/>
        </p:nvSpPr>
        <p:spPr>
          <a:xfrm>
            <a:off x="4914900" y="40406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11,000</a:t>
            </a:r>
          </a:p>
        </p:txBody>
      </p:sp>
      <p:sp>
        <p:nvSpPr>
          <p:cNvPr id="34" name="Rectangle 33">
            <a:extLst>
              <a:ext uri="{FF2B5EF4-FFF2-40B4-BE49-F238E27FC236}">
                <a16:creationId xmlns:a16="http://schemas.microsoft.com/office/drawing/2014/main" id="{456502F3-13CE-407D-145A-BEDB9EAC1367}"/>
              </a:ext>
            </a:extLst>
          </p:cNvPr>
          <p:cNvSpPr/>
          <p:nvPr/>
        </p:nvSpPr>
        <p:spPr>
          <a:xfrm>
            <a:off x="7239000" y="3990975"/>
            <a:ext cx="2381250" cy="6858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F7241CF9-64C1-B946-69E9-46C9632AED2E}"/>
              </a:ext>
            </a:extLst>
          </p:cNvPr>
          <p:cNvSpPr txBox="1"/>
          <p:nvPr/>
        </p:nvSpPr>
        <p:spPr>
          <a:xfrm>
            <a:off x="7296150" y="4040616"/>
            <a:ext cx="2266950" cy="305212"/>
          </a:xfrm>
          <a:prstGeom prst="rect">
            <a:avLst/>
          </a:prstGeom>
          <a:noFill/>
        </p:spPr>
        <p:txBody>
          <a:bodyPr vert="horz" lIns="50800" tIns="25400" rIns="50800" bIns="25400" rtlCol="0" anchor="ctr">
            <a:noAutofit/>
          </a:bodyPr>
          <a:lstStyle/>
          <a:p>
            <a:pPr algn="ctr"/>
            <a:r>
              <a:rPr lang="en-GB" sz="1650">
                <a:solidFill>
                  <a:srgbClr val="1C2930"/>
                </a:solidFill>
                <a:latin typeface="Aptos" panose="020B0004020202020204" pitchFamily="34" charset="0"/>
              </a:rPr>
              <a:t>9,000</a:t>
            </a:r>
          </a:p>
        </p:txBody>
      </p:sp>
      <p:sp>
        <p:nvSpPr>
          <p:cNvPr id="36" name="Rectangle: Rounded Corners 35">
            <a:extLst>
              <a:ext uri="{FF2B5EF4-FFF2-40B4-BE49-F238E27FC236}">
                <a16:creationId xmlns:a16="http://schemas.microsoft.com/office/drawing/2014/main" id="{B012FDD8-4704-BF53-3FE5-6959F9E1C6F9}"/>
              </a:ext>
            </a:extLst>
          </p:cNvPr>
          <p:cNvSpPr/>
          <p:nvPr/>
        </p:nvSpPr>
        <p:spPr>
          <a:xfrm>
            <a:off x="1714500" y="5381625"/>
            <a:ext cx="8763000" cy="6286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DEA297DF-500A-6CC7-AABD-076873B9A9E6}"/>
              </a:ext>
            </a:extLst>
          </p:cNvPr>
          <p:cNvSpPr/>
          <p:nvPr/>
        </p:nvSpPr>
        <p:spPr>
          <a:xfrm>
            <a:off x="1714500" y="5381625"/>
            <a:ext cx="76200" cy="6286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1BBEEC42-77DB-FEDB-F20A-B1325498E6B7}"/>
              </a:ext>
            </a:extLst>
          </p:cNvPr>
          <p:cNvSpPr txBox="1"/>
          <p:nvPr/>
        </p:nvSpPr>
        <p:spPr>
          <a:xfrm>
            <a:off x="1981200" y="5315293"/>
            <a:ext cx="8343900" cy="651460"/>
          </a:xfrm>
          <a:prstGeom prst="rect">
            <a:avLst/>
          </a:prstGeom>
          <a:noFill/>
        </p:spPr>
        <p:txBody>
          <a:bodyPr vert="horz" lIns="50800" tIns="25400" rIns="50800" bIns="25400" rtlCol="0" anchor="ctr">
            <a:noAutofit/>
          </a:bodyPr>
          <a:lstStyle/>
          <a:p>
            <a:r>
              <a:rPr lang="nb-NO" sz="1950" b="1">
                <a:solidFill>
                  <a:srgbClr val="0B3D4F"/>
                </a:solidFill>
                <a:latin typeface="Aptos" panose="020B0004020202020204" pitchFamily="34" charset="0"/>
              </a:rPr>
              <a:t>Dette er en effektivitetskonklusjon gitt modellen – ikke en moralsk anbefaling.</a:t>
            </a:r>
            <a:endParaRPr lang="en-GB" sz="1950" b="1">
              <a:solidFill>
                <a:srgbClr val="0B3D4F"/>
              </a:solidFill>
              <a:latin typeface="Aptos" panose="020B0004020202020204" pitchFamily="34" charset="0"/>
            </a:endParaRPr>
          </a:p>
        </p:txBody>
      </p:sp>
    </p:spTree>
    <p:extLst>
      <p:ext uri="{BB962C8B-B14F-4D97-AF65-F5344CB8AC3E}">
        <p14:creationId xmlns:p14="http://schemas.microsoft.com/office/powerpoint/2010/main" val="3216797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C02276-A770-37A8-2529-02AEB3297D62}"/>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Første del oppsummert</a:t>
            </a:r>
          </a:p>
        </p:txBody>
      </p:sp>
      <p:sp>
        <p:nvSpPr>
          <p:cNvPr id="3" name="Rectangle 2">
            <a:extLst>
              <a:ext uri="{FF2B5EF4-FFF2-40B4-BE49-F238E27FC236}">
                <a16:creationId xmlns:a16="http://schemas.microsoft.com/office/drawing/2014/main" id="{AC63083C-3823-0CB2-9B16-F4F998A8BCC5}"/>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A94168E-F775-6A35-5662-807118125E93}"/>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421EDCB0-132C-8EB0-AE94-3F2E93211372}"/>
              </a:ext>
            </a:extLst>
          </p:cNvPr>
          <p:cNvSpPr/>
          <p:nvPr/>
        </p:nvSpPr>
        <p:spPr>
          <a:xfrm>
            <a:off x="1023257" y="1472753"/>
            <a:ext cx="609600" cy="6096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9D20677-8D44-F2CB-377F-E9A984AAC6D5}"/>
              </a:ext>
            </a:extLst>
          </p:cNvPr>
          <p:cNvSpPr txBox="1"/>
          <p:nvPr/>
        </p:nvSpPr>
        <p:spPr>
          <a:xfrm>
            <a:off x="1023257" y="1606724"/>
            <a:ext cx="609600" cy="386003"/>
          </a:xfrm>
          <a:prstGeom prst="rect">
            <a:avLst/>
          </a:prstGeom>
          <a:noFill/>
        </p:spPr>
        <p:txBody>
          <a:bodyPr vert="horz" lIns="50800" tIns="25400" rIns="50800" bIns="25400" rtlCol="0" anchor="ctr">
            <a:noAutofit/>
          </a:bodyPr>
          <a:lstStyle/>
          <a:p>
            <a:pPr algn="ctr"/>
            <a:r>
              <a:rPr lang="en-GB" sz="2175" b="1">
                <a:solidFill>
                  <a:srgbClr val="FFFFFF"/>
                </a:solidFill>
                <a:latin typeface="Aptos" panose="020B0004020202020204" pitchFamily="34" charset="0"/>
              </a:rPr>
              <a:t>1</a:t>
            </a:r>
          </a:p>
        </p:txBody>
      </p:sp>
      <p:sp>
        <p:nvSpPr>
          <p:cNvPr id="8" name="TextBox 7">
            <a:extLst>
              <a:ext uri="{FF2B5EF4-FFF2-40B4-BE49-F238E27FC236}">
                <a16:creationId xmlns:a16="http://schemas.microsoft.com/office/drawing/2014/main" id="{C3F4CED8-B3C0-3D07-50AC-DF84C98F10A7}"/>
              </a:ext>
            </a:extLst>
          </p:cNvPr>
          <p:cNvSpPr txBox="1"/>
          <p:nvPr/>
        </p:nvSpPr>
        <p:spPr>
          <a:xfrm>
            <a:off x="1956707" y="1602970"/>
            <a:ext cx="8858250" cy="374461"/>
          </a:xfrm>
          <a:prstGeom prst="rect">
            <a:avLst/>
          </a:prstGeom>
          <a:noFill/>
        </p:spPr>
        <p:txBody>
          <a:bodyPr vert="horz" lIns="50800" tIns="25400" rIns="50800" bIns="25400" rtlCol="0" anchor="ctr">
            <a:noAutofit/>
          </a:bodyPr>
          <a:lstStyle/>
          <a:p>
            <a:r>
              <a:rPr lang="en-GB" sz="2100" b="1" dirty="0" err="1">
                <a:solidFill>
                  <a:srgbClr val="0B3D4F"/>
                </a:solidFill>
                <a:latin typeface="Aptos" panose="020B0004020202020204" pitchFamily="34" charset="0"/>
              </a:rPr>
              <a:t>Lagerbindingen</a:t>
            </a:r>
            <a:r>
              <a:rPr lang="en-GB" sz="2100" b="1" dirty="0">
                <a:solidFill>
                  <a:srgbClr val="0B3D4F"/>
                </a:solidFill>
                <a:latin typeface="Aptos" panose="020B0004020202020204" pitchFamily="34" charset="0"/>
              </a:rPr>
              <a:t> </a:t>
            </a:r>
            <a:r>
              <a:rPr lang="en-GB" sz="2100" b="1" dirty="0" err="1">
                <a:solidFill>
                  <a:srgbClr val="0B3D4F"/>
                </a:solidFill>
                <a:latin typeface="Aptos" panose="020B0004020202020204" pitchFamily="34" charset="0"/>
              </a:rPr>
              <a:t>kobler</a:t>
            </a:r>
            <a:r>
              <a:rPr lang="en-GB" sz="2100" b="1" dirty="0">
                <a:solidFill>
                  <a:srgbClr val="0B3D4F"/>
                </a:solidFill>
                <a:latin typeface="Aptos" panose="020B0004020202020204" pitchFamily="34" charset="0"/>
              </a:rPr>
              <a:t> </a:t>
            </a:r>
            <a:r>
              <a:rPr lang="en-GB" sz="2100" b="1" dirty="0" err="1">
                <a:solidFill>
                  <a:srgbClr val="0B3D4F"/>
                </a:solidFill>
                <a:latin typeface="Aptos" panose="020B0004020202020204" pitchFamily="34" charset="0"/>
              </a:rPr>
              <a:t>periodene</a:t>
            </a:r>
            <a:r>
              <a:rPr lang="en-GB" sz="2100" b="1" dirty="0">
                <a:solidFill>
                  <a:srgbClr val="0B3D4F"/>
                </a:solidFill>
                <a:latin typeface="Aptos" panose="020B0004020202020204" pitchFamily="34" charset="0"/>
              </a:rPr>
              <a:t>.</a:t>
            </a:r>
          </a:p>
        </p:txBody>
      </p:sp>
      <p:sp>
        <p:nvSpPr>
          <p:cNvPr id="9" name="Rectangle: Rounded Corners 8">
            <a:extLst>
              <a:ext uri="{FF2B5EF4-FFF2-40B4-BE49-F238E27FC236}">
                <a16:creationId xmlns:a16="http://schemas.microsoft.com/office/drawing/2014/main" id="{86443DF0-092C-3476-27A0-007A44FA9BB7}"/>
              </a:ext>
            </a:extLst>
          </p:cNvPr>
          <p:cNvSpPr/>
          <p:nvPr/>
        </p:nvSpPr>
        <p:spPr>
          <a:xfrm>
            <a:off x="1023257" y="2539553"/>
            <a:ext cx="609600" cy="6096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99919C9F-8F3F-A6BF-5646-3D95EB9F7034}"/>
              </a:ext>
            </a:extLst>
          </p:cNvPr>
          <p:cNvSpPr txBox="1"/>
          <p:nvPr/>
        </p:nvSpPr>
        <p:spPr>
          <a:xfrm>
            <a:off x="1023257" y="2673524"/>
            <a:ext cx="609600" cy="386003"/>
          </a:xfrm>
          <a:prstGeom prst="rect">
            <a:avLst/>
          </a:prstGeom>
          <a:noFill/>
        </p:spPr>
        <p:txBody>
          <a:bodyPr vert="horz" lIns="50800" tIns="25400" rIns="50800" bIns="25400" rtlCol="0" anchor="ctr">
            <a:noAutofit/>
          </a:bodyPr>
          <a:lstStyle/>
          <a:p>
            <a:pPr algn="ctr"/>
            <a:r>
              <a:rPr lang="en-GB" sz="2175" b="1">
                <a:solidFill>
                  <a:srgbClr val="FFFFFF"/>
                </a:solidFill>
                <a:latin typeface="Aptos" panose="020B0004020202020204" pitchFamily="34" charset="0"/>
              </a:rPr>
              <a:t>2</a:t>
            </a:r>
          </a:p>
        </p:txBody>
      </p:sp>
      <p:sp>
        <p:nvSpPr>
          <p:cNvPr id="11" name="TextBox 10">
            <a:extLst>
              <a:ext uri="{FF2B5EF4-FFF2-40B4-BE49-F238E27FC236}">
                <a16:creationId xmlns:a16="http://schemas.microsoft.com/office/drawing/2014/main" id="{02F0568B-B95D-EAA3-EF60-4C59EC8F870C}"/>
              </a:ext>
            </a:extLst>
          </p:cNvPr>
          <p:cNvSpPr txBox="1"/>
          <p:nvPr/>
        </p:nvSpPr>
        <p:spPr>
          <a:xfrm>
            <a:off x="1956707" y="2669770"/>
            <a:ext cx="8858250" cy="374461"/>
          </a:xfrm>
          <a:prstGeom prst="rect">
            <a:avLst/>
          </a:prstGeom>
          <a:noFill/>
        </p:spPr>
        <p:txBody>
          <a:bodyPr vert="horz" lIns="50800" tIns="25400" rIns="50800" bIns="25400" rtlCol="0" anchor="ctr">
            <a:noAutofit/>
          </a:bodyPr>
          <a:lstStyle/>
          <a:p>
            <a:r>
              <a:rPr lang="en-GB" sz="2100" b="1">
                <a:solidFill>
                  <a:srgbClr val="0B3D4F"/>
                </a:solidFill>
                <a:latin typeface="Aptos" panose="020B0004020202020204" pitchFamily="34" charset="0"/>
              </a:rPr>
              <a:t>Diskontering gjør verdiene sammenlignbare.</a:t>
            </a:r>
          </a:p>
        </p:txBody>
      </p:sp>
      <p:sp>
        <p:nvSpPr>
          <p:cNvPr id="12" name="Rectangle: Rounded Corners 11">
            <a:extLst>
              <a:ext uri="{FF2B5EF4-FFF2-40B4-BE49-F238E27FC236}">
                <a16:creationId xmlns:a16="http://schemas.microsoft.com/office/drawing/2014/main" id="{6F8913C4-5C93-4A2D-BEF1-1C27B321FD87}"/>
              </a:ext>
            </a:extLst>
          </p:cNvPr>
          <p:cNvSpPr/>
          <p:nvPr/>
        </p:nvSpPr>
        <p:spPr>
          <a:xfrm>
            <a:off x="1023257" y="3606353"/>
            <a:ext cx="609600" cy="6096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293C519-3C00-0FF1-D3CA-F756564DE4A4}"/>
              </a:ext>
            </a:extLst>
          </p:cNvPr>
          <p:cNvSpPr txBox="1"/>
          <p:nvPr/>
        </p:nvSpPr>
        <p:spPr>
          <a:xfrm>
            <a:off x="1023257" y="3740324"/>
            <a:ext cx="609600" cy="386003"/>
          </a:xfrm>
          <a:prstGeom prst="rect">
            <a:avLst/>
          </a:prstGeom>
          <a:noFill/>
        </p:spPr>
        <p:txBody>
          <a:bodyPr vert="horz" lIns="50800" tIns="25400" rIns="50800" bIns="25400" rtlCol="0" anchor="ctr">
            <a:noAutofit/>
          </a:bodyPr>
          <a:lstStyle/>
          <a:p>
            <a:pPr algn="ctr"/>
            <a:r>
              <a:rPr lang="en-GB" sz="2175" b="1">
                <a:solidFill>
                  <a:srgbClr val="FFFFFF"/>
                </a:solidFill>
                <a:latin typeface="Aptos" panose="020B0004020202020204" pitchFamily="34" charset="0"/>
              </a:rPr>
              <a:t>3</a:t>
            </a:r>
          </a:p>
        </p:txBody>
      </p:sp>
      <p:sp>
        <p:nvSpPr>
          <p:cNvPr id="14" name="TextBox 13">
            <a:extLst>
              <a:ext uri="{FF2B5EF4-FFF2-40B4-BE49-F238E27FC236}">
                <a16:creationId xmlns:a16="http://schemas.microsoft.com/office/drawing/2014/main" id="{AD16563B-11CC-89D6-1BCE-9D7EDE02CF0E}"/>
              </a:ext>
            </a:extLst>
          </p:cNvPr>
          <p:cNvSpPr txBox="1"/>
          <p:nvPr/>
        </p:nvSpPr>
        <p:spPr>
          <a:xfrm>
            <a:off x="1956707" y="3736570"/>
            <a:ext cx="8858250" cy="374461"/>
          </a:xfrm>
          <a:prstGeom prst="rect">
            <a:avLst/>
          </a:prstGeom>
          <a:noFill/>
        </p:spPr>
        <p:txBody>
          <a:bodyPr vert="horz" lIns="50800" tIns="25400" rIns="50800" bIns="25400" rtlCol="0" anchor="ctr">
            <a:noAutofit/>
          </a:bodyPr>
          <a:lstStyle/>
          <a:p>
            <a:r>
              <a:rPr lang="en-GB" sz="2100" b="1">
                <a:solidFill>
                  <a:srgbClr val="0B3D4F"/>
                </a:solidFill>
                <a:latin typeface="Aptos" panose="020B0004020202020204" pitchFamily="34" charset="0"/>
              </a:rPr>
              <a:t>Ekvimarginalprinsippet bestemmer fordelingen.</a:t>
            </a:r>
          </a:p>
        </p:txBody>
      </p:sp>
      <p:sp>
        <p:nvSpPr>
          <p:cNvPr id="15" name="Rectangle: Rounded Corners 14">
            <a:extLst>
              <a:ext uri="{FF2B5EF4-FFF2-40B4-BE49-F238E27FC236}">
                <a16:creationId xmlns:a16="http://schemas.microsoft.com/office/drawing/2014/main" id="{EDDBD2FB-DA0E-8A35-FF58-916866634E46}"/>
              </a:ext>
            </a:extLst>
          </p:cNvPr>
          <p:cNvSpPr/>
          <p:nvPr/>
        </p:nvSpPr>
        <p:spPr>
          <a:xfrm>
            <a:off x="1023257" y="4673153"/>
            <a:ext cx="609600" cy="609600"/>
          </a:xfrm>
          <a:prstGeom prst="round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90BFECE7-6D95-4E21-ABEE-9AFCB42F76D5}"/>
              </a:ext>
            </a:extLst>
          </p:cNvPr>
          <p:cNvSpPr txBox="1"/>
          <p:nvPr/>
        </p:nvSpPr>
        <p:spPr>
          <a:xfrm>
            <a:off x="1023257" y="4807124"/>
            <a:ext cx="609600" cy="386003"/>
          </a:xfrm>
          <a:prstGeom prst="rect">
            <a:avLst/>
          </a:prstGeom>
          <a:noFill/>
        </p:spPr>
        <p:txBody>
          <a:bodyPr vert="horz" lIns="50800" tIns="25400" rIns="50800" bIns="25400" rtlCol="0" anchor="ctr">
            <a:noAutofit/>
          </a:bodyPr>
          <a:lstStyle/>
          <a:p>
            <a:pPr algn="ctr"/>
            <a:r>
              <a:rPr lang="en-GB" sz="2175" b="1">
                <a:solidFill>
                  <a:srgbClr val="FFFFFF"/>
                </a:solidFill>
                <a:latin typeface="Aptos" panose="020B0004020202020204" pitchFamily="34" charset="0"/>
              </a:rPr>
              <a:t>4</a:t>
            </a:r>
          </a:p>
        </p:txBody>
      </p:sp>
      <p:sp>
        <p:nvSpPr>
          <p:cNvPr id="17" name="TextBox 16">
            <a:extLst>
              <a:ext uri="{FF2B5EF4-FFF2-40B4-BE49-F238E27FC236}">
                <a16:creationId xmlns:a16="http://schemas.microsoft.com/office/drawing/2014/main" id="{6FB72CD2-C9E4-3557-0264-F4F959EEF298}"/>
              </a:ext>
            </a:extLst>
          </p:cNvPr>
          <p:cNvSpPr txBox="1"/>
          <p:nvPr/>
        </p:nvSpPr>
        <p:spPr>
          <a:xfrm>
            <a:off x="1956707" y="4803370"/>
            <a:ext cx="8858250" cy="374461"/>
          </a:xfrm>
          <a:prstGeom prst="rect">
            <a:avLst/>
          </a:prstGeom>
          <a:noFill/>
        </p:spPr>
        <p:txBody>
          <a:bodyPr vert="horz" lIns="50800" tIns="25400" rIns="50800" bIns="25400" rtlCol="0" anchor="ctr">
            <a:noAutofit/>
          </a:bodyPr>
          <a:lstStyle/>
          <a:p>
            <a:r>
              <a:rPr lang="en-GB" sz="2100" b="1">
                <a:solidFill>
                  <a:srgbClr val="0B3D4F"/>
                </a:solidFill>
                <a:latin typeface="Aptos" panose="020B0004020202020204" pitchFamily="34" charset="0"/>
              </a:rPr>
              <a:t>Marginal brukerkostnad uttrykker knappheten.</a:t>
            </a:r>
          </a:p>
        </p:txBody>
      </p:sp>
    </p:spTree>
    <p:extLst>
      <p:ext uri="{BB962C8B-B14F-4D97-AF65-F5344CB8AC3E}">
        <p14:creationId xmlns:p14="http://schemas.microsoft.com/office/powerpoint/2010/main" val="29442457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Marginal User Cost (MUC)</a:t>
            </a:r>
          </a:p>
        </p:txBody>
      </p:sp>
      <p:sp>
        <p:nvSpPr>
          <p:cNvPr id="3" name="Content Placeholder 2"/>
          <p:cNvSpPr>
            <a:spLocks noGrp="1"/>
          </p:cNvSpPr>
          <p:nvPr>
            <p:ph idx="1"/>
          </p:nvPr>
        </p:nvSpPr>
        <p:spPr>
          <a:xfrm>
            <a:off x="838200" y="1825625"/>
            <a:ext cx="10515600" cy="4351338"/>
          </a:xfrm>
        </p:spPr>
        <p:txBody>
          <a:bodyPr/>
          <a:lstStyle/>
          <a:p>
            <a:r>
              <a:rPr lang="nb-NO" dirty="0"/>
              <a:t>Definisjon: Verdien av fremtidige muligheter som går tapt ved bruk i dag</a:t>
            </a:r>
          </a:p>
          <a:p>
            <a:r>
              <a:rPr lang="nb-NO" dirty="0"/>
              <a:t>Pris i effektiv løsning = Marginal kostnad + MUC</a:t>
            </a:r>
          </a:p>
          <a:p>
            <a:r>
              <a:rPr lang="nb-NO" dirty="0"/>
              <a:t>MUC høyere når fremtidens verdier teller mer (lav rente)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3D4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9A0754-A5E0-F48A-30E2-40A9587520D7}"/>
              </a:ext>
            </a:extLst>
          </p:cNvPr>
          <p:cNvSpPr txBox="1"/>
          <p:nvPr/>
        </p:nvSpPr>
        <p:spPr>
          <a:xfrm>
            <a:off x="819150" y="505852"/>
            <a:ext cx="1524000" cy="1297791"/>
          </a:xfrm>
          <a:prstGeom prst="rect">
            <a:avLst/>
          </a:prstGeom>
          <a:noFill/>
        </p:spPr>
        <p:txBody>
          <a:bodyPr vert="horz" lIns="50800" tIns="25400" rIns="50800" bIns="25400" rtlCol="0" anchor="ctr">
            <a:noAutofit/>
          </a:bodyPr>
          <a:lstStyle/>
          <a:p>
            <a:pPr algn="ctr"/>
            <a:r>
              <a:rPr lang="en-GB" sz="8100" b="1">
                <a:solidFill>
                  <a:srgbClr val="E1B655"/>
                </a:solidFill>
                <a:latin typeface="Aptos" panose="020B0004020202020204" pitchFamily="34" charset="0"/>
              </a:rPr>
              <a:t>II</a:t>
            </a:r>
          </a:p>
        </p:txBody>
      </p:sp>
      <p:sp>
        <p:nvSpPr>
          <p:cNvPr id="3" name="TextBox 2">
            <a:extLst>
              <a:ext uri="{FF2B5EF4-FFF2-40B4-BE49-F238E27FC236}">
                <a16:creationId xmlns:a16="http://schemas.microsoft.com/office/drawing/2014/main" id="{7199D55B-3F63-4AC0-22E2-B988DFD7D155}"/>
              </a:ext>
            </a:extLst>
          </p:cNvPr>
          <p:cNvSpPr txBox="1"/>
          <p:nvPr/>
        </p:nvSpPr>
        <p:spPr>
          <a:xfrm>
            <a:off x="2552700" y="1156901"/>
            <a:ext cx="8334375" cy="605294"/>
          </a:xfrm>
          <a:prstGeom prst="rect">
            <a:avLst/>
          </a:prstGeom>
          <a:noFill/>
        </p:spPr>
        <p:txBody>
          <a:bodyPr vert="horz" lIns="50800" tIns="25400" rIns="50800" bIns="25400" rtlCol="0" anchor="ctr">
            <a:noAutofit/>
          </a:bodyPr>
          <a:lstStyle/>
          <a:p>
            <a:r>
              <a:rPr lang="en-GB" sz="3600" b="1">
                <a:solidFill>
                  <a:srgbClr val="FFFFFF"/>
                </a:solidFill>
                <a:latin typeface="Aptos" panose="020B0004020202020204" pitchFamily="34" charset="0"/>
              </a:rPr>
              <a:t>Del II: Bærekraft</a:t>
            </a:r>
          </a:p>
        </p:txBody>
      </p:sp>
      <p:sp>
        <p:nvSpPr>
          <p:cNvPr id="4" name="Rectangle 3">
            <a:extLst>
              <a:ext uri="{FF2B5EF4-FFF2-40B4-BE49-F238E27FC236}">
                <a16:creationId xmlns:a16="http://schemas.microsoft.com/office/drawing/2014/main" id="{D1204E51-A368-F641-CF08-3F003F5D1AB1}"/>
              </a:ext>
            </a:extLst>
          </p:cNvPr>
          <p:cNvSpPr/>
          <p:nvPr/>
        </p:nvSpPr>
        <p:spPr>
          <a:xfrm>
            <a:off x="2571750" y="2381250"/>
            <a:ext cx="704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7A1840F-B9E7-0A6D-2079-F71B09BAD810}"/>
              </a:ext>
            </a:extLst>
          </p:cNvPr>
          <p:cNvSpPr txBox="1"/>
          <p:nvPr/>
        </p:nvSpPr>
        <p:spPr>
          <a:xfrm>
            <a:off x="2571750" y="2686050"/>
            <a:ext cx="7762875" cy="674544"/>
          </a:xfrm>
          <a:prstGeom prst="rect">
            <a:avLst/>
          </a:prstGeom>
          <a:noFill/>
        </p:spPr>
        <p:txBody>
          <a:bodyPr vert="horz" lIns="50800" tIns="25400" rIns="50800" bIns="25400" rtlCol="0" anchor="t">
            <a:noAutofit/>
          </a:bodyPr>
          <a:lstStyle/>
          <a:p>
            <a:r>
              <a:rPr lang="en-GB" sz="2025">
                <a:solidFill>
                  <a:srgbClr val="D9E7EB"/>
                </a:solidFill>
                <a:latin typeface="Aptos" panose="020B0004020202020204" pitchFamily="34" charset="0"/>
              </a:rPr>
              <a:t>Effektiv fordeling er ikke nødvendigvis det samme som en bærekraftig eller rettferdig fordeling.</a:t>
            </a:r>
          </a:p>
        </p:txBody>
      </p:sp>
    </p:spTree>
    <p:extLst>
      <p:ext uri="{BB962C8B-B14F-4D97-AF65-F5344CB8AC3E}">
        <p14:creationId xmlns:p14="http://schemas.microsoft.com/office/powerpoint/2010/main" val="522193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0936" y="256032"/>
            <a:ext cx="10927080" cy="484632"/>
          </a:xfrm>
          <a:prstGeom prst="rect">
            <a:avLst/>
          </a:prstGeom>
          <a:noFill/>
        </p:spPr>
        <p:txBody>
          <a:bodyPr wrap="square" anchor="t">
            <a:spAutoFit/>
          </a:bodyPr>
          <a:lstStyle/>
          <a:p>
            <a:pPr algn="l"/>
            <a:r>
              <a:rPr sz="2625" b="1" i="0">
                <a:solidFill>
                  <a:srgbClr val="0B3D4F"/>
                </a:solidFill>
                <a:latin typeface="Aptos"/>
              </a:rPr>
              <a:t>Effektivitet er ikke det samme som rettferdighet</a:t>
            </a:r>
          </a:p>
        </p:txBody>
      </p:sp>
      <p:sp>
        <p:nvSpPr>
          <p:cNvPr id="3" name="Rectangle 2"/>
          <p:cNvSpPr/>
          <p:nvPr/>
        </p:nvSpPr>
        <p:spPr>
          <a:xfrm>
            <a:off x="630936" y="822960"/>
            <a:ext cx="10561320" cy="22860"/>
          </a:xfrm>
          <a:prstGeom prst="rect">
            <a:avLst/>
          </a:prstGeom>
          <a:solidFill>
            <a:srgbClr val="DBA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9224" y="6583680"/>
            <a:ext cx="2834640" cy="201168"/>
          </a:xfrm>
          <a:prstGeom prst="rect">
            <a:avLst/>
          </a:prstGeom>
          <a:noFill/>
        </p:spPr>
        <p:txBody>
          <a:bodyPr wrap="square" anchor="t">
            <a:spAutoFit/>
          </a:bodyPr>
          <a:lstStyle/>
          <a:p>
            <a:pPr algn="l"/>
            <a:r>
              <a:rPr sz="975" b="0" i="0">
                <a:solidFill>
                  <a:srgbClr val="51656D"/>
                </a:solidFill>
                <a:latin typeface="Aptos"/>
              </a:rPr>
              <a:t>SOK-2302 | Kapittel 5</a:t>
            </a:r>
          </a:p>
        </p:txBody>
      </p:sp>
      <p:sp>
        <p:nvSpPr>
          <p:cNvPr id="5" name="TextBox 4"/>
          <p:cNvSpPr txBox="1"/>
          <p:nvPr/>
        </p:nvSpPr>
        <p:spPr>
          <a:xfrm>
            <a:off x="1143000" y="1234440"/>
            <a:ext cx="4572000" cy="411480"/>
          </a:xfrm>
          <a:prstGeom prst="rect">
            <a:avLst/>
          </a:prstGeom>
          <a:noFill/>
        </p:spPr>
        <p:txBody>
          <a:bodyPr wrap="square" anchor="t">
            <a:spAutoFit/>
          </a:bodyPr>
          <a:lstStyle/>
          <a:p>
            <a:pPr algn="l"/>
            <a:r>
              <a:rPr sz="2000" b="1" i="0">
                <a:solidFill>
                  <a:srgbClr val="0B3D4F"/>
                </a:solidFill>
                <a:latin typeface="Aptos"/>
              </a:rPr>
              <a:t>Ved 50 prosent rente ga modellen:</a:t>
            </a:r>
          </a:p>
        </p:txBody>
      </p:sp>
      <p:sp>
        <p:nvSpPr>
          <p:cNvPr id="6" name="Rounded Rectangle 5"/>
          <p:cNvSpPr/>
          <p:nvPr/>
        </p:nvSpPr>
        <p:spPr>
          <a:xfrm>
            <a:off x="1097280" y="1828800"/>
            <a:ext cx="4023360" cy="1325880"/>
          </a:xfrm>
          <a:prstGeom prst="roundRect">
            <a:avLst/>
          </a:prstGeom>
          <a:solidFill>
            <a:srgbClr val="E9F3F5"/>
          </a:solidFill>
          <a:ln w="15240">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130552"/>
            <a:ext cx="1417320" cy="502920"/>
          </a:xfrm>
          <a:prstGeom prst="rect">
            <a:avLst/>
          </a:prstGeom>
          <a:noFill/>
        </p:spPr>
        <p:txBody>
          <a:bodyPr wrap="square" anchor="t">
            <a:spAutoFit/>
          </a:bodyPr>
          <a:lstStyle/>
          <a:p>
            <a:pPr algn="ctr"/>
            <a:r>
              <a:rPr sz="2800" b="1" i="0">
                <a:solidFill>
                  <a:srgbClr val="0B3D4F"/>
                </a:solidFill>
                <a:latin typeface="Aptos"/>
              </a:rPr>
              <a:t>q₁ = 11</a:t>
            </a:r>
          </a:p>
        </p:txBody>
      </p:sp>
      <p:sp>
        <p:nvSpPr>
          <p:cNvPr id="8" name="TextBox 7"/>
          <p:cNvSpPr txBox="1"/>
          <p:nvPr/>
        </p:nvSpPr>
        <p:spPr>
          <a:xfrm>
            <a:off x="3246120" y="2130552"/>
            <a:ext cx="1417320" cy="502920"/>
          </a:xfrm>
          <a:prstGeom prst="rect">
            <a:avLst/>
          </a:prstGeom>
          <a:noFill/>
        </p:spPr>
        <p:txBody>
          <a:bodyPr wrap="square" anchor="t">
            <a:spAutoFit/>
          </a:bodyPr>
          <a:lstStyle/>
          <a:p>
            <a:pPr algn="ctr"/>
            <a:r>
              <a:rPr sz="2800" b="1" i="0">
                <a:solidFill>
                  <a:srgbClr val="0B3D4F"/>
                </a:solidFill>
                <a:latin typeface="Aptos"/>
              </a:rPr>
              <a:t>q₂ = 9</a:t>
            </a:r>
          </a:p>
        </p:txBody>
      </p:sp>
      <p:sp>
        <p:nvSpPr>
          <p:cNvPr id="9" name="TextBox 8"/>
          <p:cNvSpPr txBox="1"/>
          <p:nvPr/>
        </p:nvSpPr>
        <p:spPr>
          <a:xfrm>
            <a:off x="1143000" y="3429000"/>
            <a:ext cx="4754880" cy="685800"/>
          </a:xfrm>
          <a:prstGeom prst="rect">
            <a:avLst/>
          </a:prstGeom>
          <a:noFill/>
        </p:spPr>
        <p:txBody>
          <a:bodyPr wrap="square" anchor="t">
            <a:spAutoFit/>
          </a:bodyPr>
          <a:lstStyle/>
          <a:p>
            <a:pPr algn="l"/>
            <a:r>
              <a:rPr sz="1800" b="0" i="0">
                <a:solidFill>
                  <a:srgbClr val="1C2930"/>
                </a:solidFill>
                <a:latin typeface="Aptos"/>
              </a:rPr>
              <a:t>Dette er den effektive fordelingen gitt modellen og renten.</a:t>
            </a:r>
          </a:p>
        </p:txBody>
      </p:sp>
      <p:sp>
        <p:nvSpPr>
          <p:cNvPr id="10" name="TextBox 9"/>
          <p:cNvSpPr txBox="1"/>
          <p:nvPr/>
        </p:nvSpPr>
        <p:spPr>
          <a:xfrm>
            <a:off x="6537960" y="1417320"/>
            <a:ext cx="4206240" cy="502920"/>
          </a:xfrm>
          <a:prstGeom prst="rect">
            <a:avLst/>
          </a:prstGeom>
          <a:noFill/>
        </p:spPr>
        <p:txBody>
          <a:bodyPr wrap="square" anchor="t">
            <a:spAutoFit/>
          </a:bodyPr>
          <a:lstStyle/>
          <a:p>
            <a:pPr algn="l"/>
            <a:r>
              <a:rPr sz="2300" b="1" i="0">
                <a:solidFill>
                  <a:srgbClr val="0B3D4F"/>
                </a:solidFill>
                <a:latin typeface="Aptos"/>
              </a:rPr>
              <a:t>Men er den også rettferdig?</a:t>
            </a:r>
          </a:p>
        </p:txBody>
      </p:sp>
      <p:sp>
        <p:nvSpPr>
          <p:cNvPr id="11" name="TextBox 10"/>
          <p:cNvSpPr txBox="1"/>
          <p:nvPr/>
        </p:nvSpPr>
        <p:spPr>
          <a:xfrm>
            <a:off x="6537960" y="2240280"/>
            <a:ext cx="4389120" cy="530352"/>
          </a:xfrm>
          <a:prstGeom prst="rect">
            <a:avLst/>
          </a:prstGeom>
          <a:noFill/>
        </p:spPr>
        <p:txBody>
          <a:bodyPr wrap="square" anchor="t">
            <a:spAutoFit/>
          </a:bodyPr>
          <a:lstStyle/>
          <a:p>
            <a:pPr algn="l"/>
            <a:r>
              <a:rPr sz="1750" b="0" i="0">
                <a:solidFill>
                  <a:srgbClr val="1C2930"/>
                </a:solidFill>
                <a:latin typeface="Aptos"/>
              </a:rPr>
              <a:t>• Skal generasjonene få lik mengde?</a:t>
            </a:r>
          </a:p>
        </p:txBody>
      </p:sp>
      <p:sp>
        <p:nvSpPr>
          <p:cNvPr id="12" name="TextBox 11"/>
          <p:cNvSpPr txBox="1"/>
          <p:nvPr/>
        </p:nvSpPr>
        <p:spPr>
          <a:xfrm>
            <a:off x="6537960" y="3017520"/>
            <a:ext cx="4389120" cy="530352"/>
          </a:xfrm>
          <a:prstGeom prst="rect">
            <a:avLst/>
          </a:prstGeom>
          <a:noFill/>
        </p:spPr>
        <p:txBody>
          <a:bodyPr wrap="square" anchor="t">
            <a:spAutoFit/>
          </a:bodyPr>
          <a:lstStyle/>
          <a:p>
            <a:pPr algn="l"/>
            <a:r>
              <a:rPr sz="1750" b="0" i="0">
                <a:solidFill>
                  <a:srgbClr val="1C2930"/>
                </a:solidFill>
                <a:latin typeface="Aptos"/>
              </a:rPr>
              <a:t>• Skal framtidig nytte diskonteres?</a:t>
            </a:r>
          </a:p>
        </p:txBody>
      </p:sp>
      <p:sp>
        <p:nvSpPr>
          <p:cNvPr id="13" name="TextBox 12"/>
          <p:cNvSpPr txBox="1"/>
          <p:nvPr/>
        </p:nvSpPr>
        <p:spPr>
          <a:xfrm>
            <a:off x="6537960" y="3794760"/>
            <a:ext cx="4389120" cy="530352"/>
          </a:xfrm>
          <a:prstGeom prst="rect">
            <a:avLst/>
          </a:prstGeom>
          <a:noFill/>
        </p:spPr>
        <p:txBody>
          <a:bodyPr wrap="square" anchor="t">
            <a:spAutoFit/>
          </a:bodyPr>
          <a:lstStyle/>
          <a:p>
            <a:pPr algn="l"/>
            <a:r>
              <a:rPr sz="1750" b="0" i="0">
                <a:solidFill>
                  <a:srgbClr val="1C2930"/>
                </a:solidFill>
                <a:latin typeface="Aptos"/>
              </a:rPr>
              <a:t>• Kan dagens generasjon kompensere framtiden på andre måter?</a:t>
            </a:r>
          </a:p>
        </p:txBody>
      </p:sp>
      <p:sp>
        <p:nvSpPr>
          <p:cNvPr id="14" name="TextBox 13"/>
          <p:cNvSpPr txBox="1"/>
          <p:nvPr/>
        </p:nvSpPr>
        <p:spPr>
          <a:xfrm>
            <a:off x="1874519" y="5577840"/>
            <a:ext cx="8412480" cy="566928"/>
          </a:xfrm>
          <a:prstGeom prst="rect">
            <a:avLst/>
          </a:prstGeom>
          <a:noFill/>
        </p:spPr>
        <p:txBody>
          <a:bodyPr wrap="square" anchor="t">
            <a:spAutoFit/>
          </a:bodyPr>
          <a:lstStyle/>
          <a:p>
            <a:pPr algn="ctr"/>
            <a:r>
              <a:rPr sz="1700" b="1" i="0">
                <a:solidFill>
                  <a:srgbClr val="087E8B"/>
                </a:solidFill>
                <a:latin typeface="Aptos"/>
              </a:rPr>
              <a:t>Effektivitet er en positiv/analytisk konklusjon – ikke alene en moralsk anbefaling.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0936" y="256032"/>
            <a:ext cx="10927080" cy="484632"/>
          </a:xfrm>
          <a:prstGeom prst="rect">
            <a:avLst/>
          </a:prstGeom>
          <a:noFill/>
        </p:spPr>
        <p:txBody>
          <a:bodyPr wrap="square" anchor="t">
            <a:spAutoFit/>
          </a:bodyPr>
          <a:lstStyle/>
          <a:p>
            <a:pPr algn="l"/>
            <a:r>
              <a:rPr sz="2625" b="1" i="0">
                <a:solidFill>
                  <a:srgbClr val="0B3D4F"/>
                </a:solidFill>
                <a:latin typeface="Aptos"/>
              </a:rPr>
              <a:t>Rawls: tenk bak et «slør av uvitenhet»</a:t>
            </a:r>
          </a:p>
        </p:txBody>
      </p:sp>
      <p:sp>
        <p:nvSpPr>
          <p:cNvPr id="3" name="Rectangle 2"/>
          <p:cNvSpPr/>
          <p:nvPr/>
        </p:nvSpPr>
        <p:spPr>
          <a:xfrm>
            <a:off x="630936" y="822960"/>
            <a:ext cx="10561320" cy="22860"/>
          </a:xfrm>
          <a:prstGeom prst="rect">
            <a:avLst/>
          </a:prstGeom>
          <a:solidFill>
            <a:srgbClr val="DBA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9224" y="6583680"/>
            <a:ext cx="2834640" cy="201168"/>
          </a:xfrm>
          <a:prstGeom prst="rect">
            <a:avLst/>
          </a:prstGeom>
          <a:noFill/>
        </p:spPr>
        <p:txBody>
          <a:bodyPr wrap="square" anchor="t">
            <a:spAutoFit/>
          </a:bodyPr>
          <a:lstStyle/>
          <a:p>
            <a:pPr algn="l"/>
            <a:r>
              <a:rPr sz="975" b="0" i="0">
                <a:solidFill>
                  <a:srgbClr val="51656D"/>
                </a:solidFill>
                <a:latin typeface="Aptos"/>
              </a:rPr>
              <a:t>SOK-2302 | Kapittel 5</a:t>
            </a:r>
          </a:p>
        </p:txBody>
      </p:sp>
      <p:sp>
        <p:nvSpPr>
          <p:cNvPr id="5" name="Rounded Rectangle 4"/>
          <p:cNvSpPr/>
          <p:nvPr/>
        </p:nvSpPr>
        <p:spPr>
          <a:xfrm>
            <a:off x="868680" y="1234440"/>
            <a:ext cx="10469880" cy="4251960"/>
          </a:xfrm>
          <a:prstGeom prst="round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1627632"/>
            <a:ext cx="9555480" cy="777240"/>
          </a:xfrm>
          <a:prstGeom prst="rect">
            <a:avLst/>
          </a:prstGeom>
          <a:noFill/>
        </p:spPr>
        <p:txBody>
          <a:bodyPr wrap="square" anchor="t">
            <a:spAutoFit/>
          </a:bodyPr>
          <a:lstStyle/>
          <a:p>
            <a:pPr algn="ctr"/>
            <a:r>
              <a:rPr sz="2100" b="1" i="0">
                <a:solidFill>
                  <a:srgbClr val="0B3D4F"/>
                </a:solidFill>
                <a:latin typeface="Aptos"/>
              </a:rPr>
              <a:t>Tenk deg at reglene for ressursbruk bestemmes før du vet hvilken generasjon du selv tilhører.</a:t>
            </a:r>
          </a:p>
        </p:txBody>
      </p:sp>
      <p:sp>
        <p:nvSpPr>
          <p:cNvPr id="7" name="TextBox 6"/>
          <p:cNvSpPr txBox="1"/>
          <p:nvPr/>
        </p:nvSpPr>
        <p:spPr>
          <a:xfrm>
            <a:off x="1828800" y="2743200"/>
            <a:ext cx="8595360" cy="502920"/>
          </a:xfrm>
          <a:prstGeom prst="rect">
            <a:avLst/>
          </a:prstGeom>
          <a:noFill/>
        </p:spPr>
        <p:txBody>
          <a:bodyPr wrap="square" anchor="t">
            <a:spAutoFit/>
          </a:bodyPr>
          <a:lstStyle/>
          <a:p>
            <a:pPr algn="ctr"/>
            <a:r>
              <a:rPr sz="1850" b="0" i="0">
                <a:solidFill>
                  <a:srgbClr val="1C2930"/>
                </a:solidFill>
                <a:latin typeface="Aptos"/>
              </a:rPr>
              <a:t>Du vet ikke om du blir født i dag, om 50 år eller om 200 år.</a:t>
            </a:r>
          </a:p>
        </p:txBody>
      </p:sp>
      <p:sp>
        <p:nvSpPr>
          <p:cNvPr id="8" name="TextBox 7"/>
          <p:cNvSpPr txBox="1"/>
          <p:nvPr/>
        </p:nvSpPr>
        <p:spPr>
          <a:xfrm>
            <a:off x="1828800" y="3675887"/>
            <a:ext cx="8595360" cy="594360"/>
          </a:xfrm>
          <a:prstGeom prst="rect">
            <a:avLst/>
          </a:prstGeom>
          <a:noFill/>
        </p:spPr>
        <p:txBody>
          <a:bodyPr wrap="square" anchor="t">
            <a:spAutoFit/>
          </a:bodyPr>
          <a:lstStyle/>
          <a:p>
            <a:pPr algn="ctr"/>
            <a:r>
              <a:rPr sz="2200" b="1" i="0">
                <a:solidFill>
                  <a:srgbClr val="087E8B"/>
                </a:solidFill>
                <a:latin typeface="Aptos"/>
              </a:rPr>
              <a:t>Hvilken regel ville du da valgt for uttømmelige naturressurser?</a:t>
            </a:r>
          </a:p>
        </p:txBody>
      </p:sp>
      <p:sp>
        <p:nvSpPr>
          <p:cNvPr id="9" name="TextBox 8"/>
          <p:cNvSpPr txBox="1"/>
          <p:nvPr/>
        </p:nvSpPr>
        <p:spPr>
          <a:xfrm>
            <a:off x="2042445" y="4782312"/>
            <a:ext cx="8152688" cy="600164"/>
          </a:xfrm>
          <a:prstGeom prst="rect">
            <a:avLst/>
          </a:prstGeom>
          <a:noFill/>
        </p:spPr>
        <p:txBody>
          <a:bodyPr wrap="square" anchor="t">
            <a:spAutoFit/>
          </a:bodyPr>
          <a:lstStyle/>
          <a:p>
            <a:pPr algn="ctr"/>
            <a:r>
              <a:rPr sz="1650" b="0" i="1" dirty="0" err="1">
                <a:solidFill>
                  <a:srgbClr val="51656D"/>
                </a:solidFill>
                <a:latin typeface="Aptos"/>
              </a:rPr>
              <a:t>Poenget</a:t>
            </a:r>
            <a:r>
              <a:rPr sz="1650" b="0" i="1" dirty="0">
                <a:solidFill>
                  <a:srgbClr val="51656D"/>
                </a:solidFill>
                <a:latin typeface="Aptos"/>
              </a:rPr>
              <a:t> er </a:t>
            </a:r>
            <a:r>
              <a:rPr sz="1650" b="0" i="1" dirty="0" err="1">
                <a:solidFill>
                  <a:srgbClr val="51656D"/>
                </a:solidFill>
                <a:latin typeface="Aptos"/>
              </a:rPr>
              <a:t>ikke</a:t>
            </a:r>
            <a:r>
              <a:rPr sz="1650" b="0" i="1" dirty="0">
                <a:solidFill>
                  <a:srgbClr val="51656D"/>
                </a:solidFill>
                <a:latin typeface="Aptos"/>
              </a:rPr>
              <a:t> at Rawls </a:t>
            </a:r>
            <a:r>
              <a:rPr sz="1650" b="0" i="1" dirty="0" err="1">
                <a:solidFill>
                  <a:srgbClr val="51656D"/>
                </a:solidFill>
                <a:latin typeface="Aptos"/>
              </a:rPr>
              <a:t>gir</a:t>
            </a:r>
            <a:r>
              <a:rPr sz="1650" b="0" i="1" dirty="0">
                <a:solidFill>
                  <a:srgbClr val="51656D"/>
                </a:solidFill>
                <a:latin typeface="Aptos"/>
              </a:rPr>
              <a:t> </a:t>
            </a:r>
            <a:r>
              <a:rPr sz="1650" b="0" i="1" dirty="0" err="1">
                <a:solidFill>
                  <a:srgbClr val="51656D"/>
                </a:solidFill>
                <a:latin typeface="Aptos"/>
              </a:rPr>
              <a:t>én</a:t>
            </a:r>
            <a:r>
              <a:rPr sz="1650" b="0" i="1" dirty="0">
                <a:solidFill>
                  <a:srgbClr val="51656D"/>
                </a:solidFill>
                <a:latin typeface="Aptos"/>
              </a:rPr>
              <a:t> </a:t>
            </a:r>
            <a:r>
              <a:rPr sz="1650" b="0" i="1" dirty="0" err="1">
                <a:solidFill>
                  <a:srgbClr val="51656D"/>
                </a:solidFill>
                <a:latin typeface="Aptos"/>
              </a:rPr>
              <a:t>bestemt</a:t>
            </a:r>
            <a:r>
              <a:rPr sz="1650" b="0" i="1" dirty="0">
                <a:solidFill>
                  <a:srgbClr val="51656D"/>
                </a:solidFill>
                <a:latin typeface="Aptos"/>
              </a:rPr>
              <a:t> </a:t>
            </a:r>
            <a:r>
              <a:rPr sz="1650" b="0" i="1" dirty="0" err="1">
                <a:solidFill>
                  <a:srgbClr val="51656D"/>
                </a:solidFill>
                <a:latin typeface="Aptos"/>
              </a:rPr>
              <a:t>ressursbane</a:t>
            </a:r>
            <a:r>
              <a:rPr sz="1650" b="0" i="1" dirty="0">
                <a:solidFill>
                  <a:srgbClr val="51656D"/>
                </a:solidFill>
                <a:latin typeface="Aptos"/>
              </a:rPr>
              <a:t>, men at </a:t>
            </a:r>
            <a:r>
              <a:rPr sz="1650" b="0" i="1" dirty="0" err="1">
                <a:solidFill>
                  <a:srgbClr val="51656D"/>
                </a:solidFill>
                <a:latin typeface="Aptos"/>
              </a:rPr>
              <a:t>framtidige</a:t>
            </a:r>
            <a:r>
              <a:rPr sz="1650" b="0" i="1" dirty="0">
                <a:solidFill>
                  <a:srgbClr val="51656D"/>
                </a:solidFill>
                <a:latin typeface="Aptos"/>
              </a:rPr>
              <a:t> </a:t>
            </a:r>
            <a:r>
              <a:rPr sz="1650" b="0" i="1" dirty="0" err="1">
                <a:solidFill>
                  <a:srgbClr val="51656D"/>
                </a:solidFill>
                <a:latin typeface="Aptos"/>
              </a:rPr>
              <a:t>generasjoner</a:t>
            </a:r>
            <a:r>
              <a:rPr sz="1650" b="0" i="1" dirty="0">
                <a:solidFill>
                  <a:srgbClr val="51656D"/>
                </a:solidFill>
                <a:latin typeface="Aptos"/>
              </a:rPr>
              <a:t> </a:t>
            </a:r>
            <a:r>
              <a:rPr sz="1650" b="0" i="1" dirty="0" err="1">
                <a:solidFill>
                  <a:srgbClr val="51656D"/>
                </a:solidFill>
                <a:latin typeface="Aptos"/>
              </a:rPr>
              <a:t>må</a:t>
            </a:r>
            <a:r>
              <a:rPr sz="1650" b="0" i="1" dirty="0">
                <a:solidFill>
                  <a:srgbClr val="51656D"/>
                </a:solidFill>
                <a:latin typeface="Aptos"/>
              </a:rPr>
              <a:t> </a:t>
            </a:r>
            <a:r>
              <a:rPr sz="1650" b="0" i="1" dirty="0" err="1">
                <a:solidFill>
                  <a:srgbClr val="51656D"/>
                </a:solidFill>
                <a:latin typeface="Aptos"/>
              </a:rPr>
              <a:t>tas</a:t>
            </a:r>
            <a:r>
              <a:rPr sz="1650" b="0" i="1" dirty="0">
                <a:solidFill>
                  <a:srgbClr val="51656D"/>
                </a:solidFill>
                <a:latin typeface="Aptos"/>
              </a:rPr>
              <a:t> med </a:t>
            </a:r>
            <a:r>
              <a:rPr sz="1650" b="0" i="1" dirty="0" err="1">
                <a:solidFill>
                  <a:srgbClr val="51656D"/>
                </a:solidFill>
                <a:latin typeface="Aptos"/>
              </a:rPr>
              <a:t>i</a:t>
            </a:r>
            <a:r>
              <a:rPr sz="1650" b="0" i="1" dirty="0">
                <a:solidFill>
                  <a:srgbClr val="51656D"/>
                </a:solidFill>
                <a:latin typeface="Aptos"/>
              </a:rPr>
              <a:t> </a:t>
            </a:r>
            <a:r>
              <a:rPr sz="1650" b="0" i="1" dirty="0" err="1">
                <a:solidFill>
                  <a:srgbClr val="51656D"/>
                </a:solidFill>
                <a:latin typeface="Aptos"/>
              </a:rPr>
              <a:t>vurderingen</a:t>
            </a:r>
            <a:r>
              <a:rPr sz="1650" b="0" i="1" dirty="0">
                <a:solidFill>
                  <a:srgbClr val="51656D"/>
                </a:solidFill>
                <a:latin typeface="Aptos"/>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dirty="0" err="1"/>
              <a:t>Intergenerasjonell</a:t>
            </a:r>
            <a:r>
              <a:rPr lang="nb-NO" dirty="0"/>
              <a:t> rettferdighet</a:t>
            </a:r>
          </a:p>
        </p:txBody>
      </p:sp>
      <p:sp>
        <p:nvSpPr>
          <p:cNvPr id="3" name="Content Placeholder 2"/>
          <p:cNvSpPr>
            <a:spLocks noGrp="1"/>
          </p:cNvSpPr>
          <p:nvPr>
            <p:ph idx="1"/>
          </p:nvPr>
        </p:nvSpPr>
        <p:spPr>
          <a:xfrm>
            <a:off x="838200" y="1825625"/>
            <a:ext cx="9398955" cy="4351338"/>
          </a:xfrm>
        </p:spPr>
        <p:txBody>
          <a:bodyPr>
            <a:normAutofit fontScale="85000" lnSpcReduction="20000"/>
          </a:bodyPr>
          <a:lstStyle/>
          <a:p>
            <a:r>
              <a:rPr lang="nb-NO" dirty="0"/>
              <a:t>Effektive løsninger kan være skjevt fordelt mellom generasjoner</a:t>
            </a:r>
          </a:p>
          <a:p>
            <a:r>
              <a:rPr lang="nb-NO" dirty="0"/>
              <a:t>Er det rettferdig at nåværende generasjon tar alt?</a:t>
            </a:r>
          </a:p>
          <a:p>
            <a:r>
              <a:rPr lang="nb-NO" dirty="0"/>
              <a:t>Økonomisk teori møter etiske hensyn</a:t>
            </a:r>
          </a:p>
          <a:p>
            <a:endParaRPr lang="nb-NO" dirty="0"/>
          </a:p>
          <a:p>
            <a:r>
              <a:rPr lang="nb-NO" dirty="0"/>
              <a:t>Intertemporal </a:t>
            </a:r>
            <a:r>
              <a:rPr lang="nb-NO" dirty="0" err="1"/>
              <a:t>Fariness</a:t>
            </a:r>
            <a:endParaRPr lang="nb-NO" dirty="0"/>
          </a:p>
          <a:p>
            <a:r>
              <a:rPr lang="nb-NO" dirty="0"/>
              <a:t>John </a:t>
            </a:r>
            <a:r>
              <a:rPr lang="nb-NO" dirty="0" err="1"/>
              <a:t>Rawls</a:t>
            </a:r>
            <a:endParaRPr lang="nb-NO" dirty="0"/>
          </a:p>
          <a:p>
            <a:pPr lvl="1"/>
            <a:r>
              <a:rPr lang="nb-NO" dirty="0"/>
              <a:t>A </a:t>
            </a:r>
            <a:r>
              <a:rPr lang="nb-NO" dirty="0" err="1"/>
              <a:t>Theory</a:t>
            </a:r>
            <a:r>
              <a:rPr lang="nb-NO" dirty="0"/>
              <a:t> </a:t>
            </a:r>
            <a:r>
              <a:rPr lang="nb-NO" dirty="0" err="1"/>
              <a:t>of</a:t>
            </a:r>
            <a:r>
              <a:rPr lang="nb-NO" dirty="0"/>
              <a:t> </a:t>
            </a:r>
            <a:r>
              <a:rPr lang="nb-NO" dirty="0" err="1"/>
              <a:t>Justice</a:t>
            </a:r>
            <a:endParaRPr lang="nb-NO" dirty="0"/>
          </a:p>
          <a:p>
            <a:pPr lvl="1"/>
            <a:r>
              <a:rPr lang="nb-NO" dirty="0"/>
              <a:t>The Veil </a:t>
            </a:r>
            <a:r>
              <a:rPr lang="nb-NO" dirty="0" err="1"/>
              <a:t>of</a:t>
            </a:r>
            <a:r>
              <a:rPr lang="nb-NO" dirty="0"/>
              <a:t> </a:t>
            </a:r>
            <a:r>
              <a:rPr lang="nb-NO" dirty="0" err="1"/>
              <a:t>Ignorance</a:t>
            </a:r>
            <a:endParaRPr lang="nb-NO" dirty="0"/>
          </a:p>
          <a:p>
            <a:endParaRPr lang="nb-NO" dirty="0"/>
          </a:p>
          <a:p>
            <a:r>
              <a:rPr lang="nb-NO" dirty="0"/>
              <a:t>Neste generasjon må ha det minst like bra som om vi ikke brukte natur resursene</a:t>
            </a:r>
          </a:p>
          <a:p>
            <a:pPr lvl="1"/>
            <a:r>
              <a:rPr lang="nb-NO" dirty="0"/>
              <a:t>En mulighet, overføring av kapital til neste generasjon</a:t>
            </a:r>
          </a:p>
        </p:txBody>
      </p:sp>
      <p:pic>
        <p:nvPicPr>
          <p:cNvPr id="2050" name="Picture 2" descr="John Rawls Legacy">
            <a:extLst>
              <a:ext uri="{FF2B5EF4-FFF2-40B4-BE49-F238E27FC236}">
                <a16:creationId xmlns:a16="http://schemas.microsoft.com/office/drawing/2014/main" id="{C705DBBD-9D04-1B56-0342-6C8B7BC9E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3943350"/>
            <a:ext cx="2857500" cy="291465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5">
            <a:extLst>
              <a:ext uri="{FF2B5EF4-FFF2-40B4-BE49-F238E27FC236}">
                <a16:creationId xmlns:a16="http://schemas.microsoft.com/office/drawing/2014/main" id="{81BDBBCC-8FC8-D81E-26D3-FE9C24C5D6A5}"/>
              </a:ext>
            </a:extLst>
          </p:cNvPr>
          <p:cNvSpPr/>
          <p:nvPr/>
        </p:nvSpPr>
        <p:spPr>
          <a:xfrm>
            <a:off x="408062" y="4832794"/>
            <a:ext cx="9086316" cy="1344169"/>
          </a:xfrm>
          <a:prstGeom prst="roundRect">
            <a:avLst/>
          </a:prstGeom>
          <a:solidFill>
            <a:srgbClr val="E9F3F5"/>
          </a:solidFill>
          <a:ln w="15240">
            <a:solidFill>
              <a:srgbClr val="08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73B6198C-30CB-5F6F-304E-42A6ABE495C8}"/>
              </a:ext>
            </a:extLst>
          </p:cNvPr>
          <p:cNvSpPr txBox="1"/>
          <p:nvPr/>
        </p:nvSpPr>
        <p:spPr>
          <a:xfrm>
            <a:off x="819542" y="5107116"/>
            <a:ext cx="8332612" cy="830997"/>
          </a:xfrm>
          <a:prstGeom prst="rect">
            <a:avLst/>
          </a:prstGeom>
          <a:noFill/>
        </p:spPr>
        <p:txBody>
          <a:bodyPr wrap="square" anchor="t">
            <a:spAutoFit/>
          </a:bodyPr>
          <a:lstStyle/>
          <a:p>
            <a:pPr algn="ctr"/>
            <a:r>
              <a:rPr sz="2400" b="1" i="0" dirty="0" err="1">
                <a:solidFill>
                  <a:srgbClr val="0B3D4F"/>
                </a:solidFill>
                <a:latin typeface="Aptos"/>
              </a:rPr>
              <a:t>Framtidige</a:t>
            </a:r>
            <a:r>
              <a:rPr sz="2400" b="1" i="0" dirty="0">
                <a:solidFill>
                  <a:srgbClr val="0B3D4F"/>
                </a:solidFill>
                <a:latin typeface="Aptos"/>
              </a:rPr>
              <a:t> </a:t>
            </a:r>
            <a:r>
              <a:rPr sz="2400" b="1" i="0" dirty="0" err="1">
                <a:solidFill>
                  <a:srgbClr val="0B3D4F"/>
                </a:solidFill>
                <a:latin typeface="Aptos"/>
              </a:rPr>
              <a:t>generasjoner</a:t>
            </a:r>
            <a:r>
              <a:rPr sz="2400" b="1" i="0" dirty="0">
                <a:solidFill>
                  <a:srgbClr val="0B3D4F"/>
                </a:solidFill>
                <a:latin typeface="Aptos"/>
              </a:rPr>
              <a:t> </a:t>
            </a:r>
            <a:r>
              <a:rPr sz="2400" b="1" i="0" dirty="0" err="1">
                <a:solidFill>
                  <a:srgbClr val="0B3D4F"/>
                </a:solidFill>
                <a:latin typeface="Aptos"/>
              </a:rPr>
              <a:t>skal</a:t>
            </a:r>
            <a:r>
              <a:rPr sz="2400" b="1" i="0" dirty="0">
                <a:solidFill>
                  <a:srgbClr val="0B3D4F"/>
                </a:solidFill>
                <a:latin typeface="Aptos"/>
              </a:rPr>
              <a:t> </a:t>
            </a:r>
            <a:r>
              <a:rPr sz="2400" b="1" i="0" dirty="0" err="1">
                <a:solidFill>
                  <a:srgbClr val="0B3D4F"/>
                </a:solidFill>
                <a:latin typeface="Aptos"/>
              </a:rPr>
              <a:t>ikke</a:t>
            </a:r>
            <a:r>
              <a:rPr sz="2400" b="1" i="0" dirty="0">
                <a:solidFill>
                  <a:srgbClr val="0B3D4F"/>
                </a:solidFill>
                <a:latin typeface="Aptos"/>
              </a:rPr>
              <a:t> </a:t>
            </a:r>
            <a:r>
              <a:rPr sz="2400" b="1" i="0" dirty="0" err="1">
                <a:solidFill>
                  <a:srgbClr val="0B3D4F"/>
                </a:solidFill>
                <a:latin typeface="Aptos"/>
              </a:rPr>
              <a:t>få</a:t>
            </a:r>
            <a:r>
              <a:rPr sz="2400" b="1" i="0" dirty="0">
                <a:solidFill>
                  <a:srgbClr val="0B3D4F"/>
                </a:solidFill>
                <a:latin typeface="Aptos"/>
              </a:rPr>
              <a:t> </a:t>
            </a:r>
            <a:r>
              <a:rPr sz="2400" b="1" i="0" dirty="0" err="1">
                <a:solidFill>
                  <a:srgbClr val="0B3D4F"/>
                </a:solidFill>
                <a:latin typeface="Aptos"/>
              </a:rPr>
              <a:t>dårligere</a:t>
            </a:r>
            <a:r>
              <a:rPr sz="2400" b="1" i="0" dirty="0">
                <a:solidFill>
                  <a:srgbClr val="0B3D4F"/>
                </a:solidFill>
                <a:latin typeface="Aptos"/>
              </a:rPr>
              <a:t> </a:t>
            </a:r>
            <a:r>
              <a:rPr sz="2400" b="1" i="0" dirty="0" err="1">
                <a:solidFill>
                  <a:srgbClr val="0B3D4F"/>
                </a:solidFill>
                <a:latin typeface="Aptos"/>
              </a:rPr>
              <a:t>muligheter</a:t>
            </a:r>
            <a:r>
              <a:rPr sz="2400" b="1" i="0" dirty="0">
                <a:solidFill>
                  <a:srgbClr val="0B3D4F"/>
                </a:solidFill>
                <a:latin typeface="Aptos"/>
              </a:rPr>
              <a:t> </a:t>
            </a:r>
            <a:r>
              <a:rPr sz="2400" b="1" i="0" dirty="0" err="1">
                <a:solidFill>
                  <a:srgbClr val="0B3D4F"/>
                </a:solidFill>
                <a:latin typeface="Aptos"/>
              </a:rPr>
              <a:t>enn</a:t>
            </a:r>
            <a:r>
              <a:rPr sz="2400" b="1" i="0" dirty="0">
                <a:solidFill>
                  <a:srgbClr val="0B3D4F"/>
                </a:solidFill>
                <a:latin typeface="Aptos"/>
              </a:rPr>
              <a:t> </a:t>
            </a:r>
            <a:r>
              <a:rPr sz="2400" b="1" i="0" dirty="0" err="1">
                <a:solidFill>
                  <a:srgbClr val="0B3D4F"/>
                </a:solidFill>
                <a:latin typeface="Aptos"/>
              </a:rPr>
              <a:t>dagens</a:t>
            </a:r>
            <a:r>
              <a:rPr sz="2400" b="1" i="0" dirty="0">
                <a:solidFill>
                  <a:srgbClr val="0B3D4F"/>
                </a:solidFill>
                <a:latin typeface="Aptos"/>
              </a:rPr>
              <a:t> </a:t>
            </a:r>
            <a:r>
              <a:rPr sz="2400" b="1" i="0" dirty="0" err="1">
                <a:solidFill>
                  <a:srgbClr val="0B3D4F"/>
                </a:solidFill>
                <a:latin typeface="Aptos"/>
              </a:rPr>
              <a:t>generasjon</a:t>
            </a:r>
            <a:r>
              <a:rPr sz="2400" b="1" i="0" dirty="0">
                <a:solidFill>
                  <a:srgbClr val="0B3D4F"/>
                </a:solidFill>
                <a:latin typeface="Aptos"/>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BD5EFE-DF13-65DC-7AEF-19C3FF64C4D0}"/>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Tre bærekraftskriterier</a:t>
            </a:r>
          </a:p>
        </p:txBody>
      </p:sp>
      <p:sp>
        <p:nvSpPr>
          <p:cNvPr id="3" name="Rectangle 2">
            <a:extLst>
              <a:ext uri="{FF2B5EF4-FFF2-40B4-BE49-F238E27FC236}">
                <a16:creationId xmlns:a16="http://schemas.microsoft.com/office/drawing/2014/main" id="{1A67D50B-157A-7D9F-D0BA-9F906CE0A42A}"/>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DB2AEC8-AC63-3F39-7917-543BCAECCBE8}"/>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7B7EB45C-2605-00DA-56F2-F4545466799A}"/>
              </a:ext>
            </a:extLst>
          </p:cNvPr>
          <p:cNvSpPr/>
          <p:nvPr/>
        </p:nvSpPr>
        <p:spPr>
          <a:xfrm>
            <a:off x="666750" y="1381125"/>
            <a:ext cx="2286000" cy="5905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081CEE99-B740-A78C-B3E3-47DC7F39397F}"/>
              </a:ext>
            </a:extLst>
          </p:cNvPr>
          <p:cNvSpPr txBox="1"/>
          <p:nvPr/>
        </p:nvSpPr>
        <p:spPr>
          <a:xfrm>
            <a:off x="723900" y="1442308"/>
            <a:ext cx="2171700" cy="282129"/>
          </a:xfrm>
          <a:prstGeom prst="rect">
            <a:avLst/>
          </a:prstGeom>
          <a:noFill/>
        </p:spPr>
        <p:txBody>
          <a:bodyPr vert="horz" lIns="50800" tIns="25400" rIns="50800" bIns="25400" rtlCol="0" anchor="ctr">
            <a:noAutofit/>
          </a:bodyPr>
          <a:lstStyle/>
          <a:p>
            <a:r>
              <a:rPr lang="en-GB" sz="1500" b="1">
                <a:solidFill>
                  <a:srgbClr val="FFFFFF"/>
                </a:solidFill>
                <a:latin typeface="Aptos" panose="020B0004020202020204" pitchFamily="34" charset="0"/>
              </a:rPr>
              <a:t>Kriterium</a:t>
            </a:r>
          </a:p>
        </p:txBody>
      </p:sp>
      <p:sp>
        <p:nvSpPr>
          <p:cNvPr id="8" name="Rectangle 7">
            <a:extLst>
              <a:ext uri="{FF2B5EF4-FFF2-40B4-BE49-F238E27FC236}">
                <a16:creationId xmlns:a16="http://schemas.microsoft.com/office/drawing/2014/main" id="{722EABA5-B094-BB2B-E811-C44075808D6B}"/>
              </a:ext>
            </a:extLst>
          </p:cNvPr>
          <p:cNvSpPr/>
          <p:nvPr/>
        </p:nvSpPr>
        <p:spPr>
          <a:xfrm>
            <a:off x="2952750" y="1381125"/>
            <a:ext cx="4762500" cy="5905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9B8C342-40B6-8151-C98A-D5FD63E451BF}"/>
              </a:ext>
            </a:extLst>
          </p:cNvPr>
          <p:cNvSpPr txBox="1"/>
          <p:nvPr/>
        </p:nvSpPr>
        <p:spPr>
          <a:xfrm>
            <a:off x="3009900" y="1442308"/>
            <a:ext cx="4648200" cy="282129"/>
          </a:xfrm>
          <a:prstGeom prst="rect">
            <a:avLst/>
          </a:prstGeom>
          <a:noFill/>
        </p:spPr>
        <p:txBody>
          <a:bodyPr vert="horz" lIns="50800" tIns="25400" rIns="50800" bIns="25400" rtlCol="0" anchor="ctr">
            <a:noAutofit/>
          </a:bodyPr>
          <a:lstStyle/>
          <a:p>
            <a:pPr algn="ctr"/>
            <a:r>
              <a:rPr lang="en-GB" sz="1500" b="1">
                <a:solidFill>
                  <a:srgbClr val="FFFFFF"/>
                </a:solidFill>
                <a:latin typeface="Aptos" panose="020B0004020202020204" pitchFamily="34" charset="0"/>
              </a:rPr>
              <a:t>Hva skal opprettholdes?</a:t>
            </a:r>
          </a:p>
        </p:txBody>
      </p:sp>
      <p:sp>
        <p:nvSpPr>
          <p:cNvPr id="10" name="Rectangle 9">
            <a:extLst>
              <a:ext uri="{FF2B5EF4-FFF2-40B4-BE49-F238E27FC236}">
                <a16:creationId xmlns:a16="http://schemas.microsoft.com/office/drawing/2014/main" id="{CC8762A1-29A1-7062-D207-D7F040EEC6E7}"/>
              </a:ext>
            </a:extLst>
          </p:cNvPr>
          <p:cNvSpPr/>
          <p:nvPr/>
        </p:nvSpPr>
        <p:spPr>
          <a:xfrm>
            <a:off x="7715250" y="1381125"/>
            <a:ext cx="3714750" cy="5905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5B715BA-180F-3E11-8C06-EFE8230B4F38}"/>
              </a:ext>
            </a:extLst>
          </p:cNvPr>
          <p:cNvSpPr txBox="1"/>
          <p:nvPr/>
        </p:nvSpPr>
        <p:spPr>
          <a:xfrm>
            <a:off x="7772400" y="1442308"/>
            <a:ext cx="3600450" cy="282129"/>
          </a:xfrm>
          <a:prstGeom prst="rect">
            <a:avLst/>
          </a:prstGeom>
          <a:noFill/>
        </p:spPr>
        <p:txBody>
          <a:bodyPr vert="horz" lIns="50800" tIns="25400" rIns="50800" bIns="25400" rtlCol="0" anchor="ctr">
            <a:noAutofit/>
          </a:bodyPr>
          <a:lstStyle/>
          <a:p>
            <a:pPr algn="ctr"/>
            <a:r>
              <a:rPr lang="nb-NO" sz="1600" b="1" dirty="0">
                <a:solidFill>
                  <a:srgbClr val="FFFFFF"/>
                </a:solidFill>
              </a:rPr>
              <a:t>Kan natur erstattes?</a:t>
            </a:r>
          </a:p>
        </p:txBody>
      </p:sp>
      <p:sp>
        <p:nvSpPr>
          <p:cNvPr id="12" name="Rectangle 11">
            <a:extLst>
              <a:ext uri="{FF2B5EF4-FFF2-40B4-BE49-F238E27FC236}">
                <a16:creationId xmlns:a16="http://schemas.microsoft.com/office/drawing/2014/main" id="{570F589E-35EA-9ABA-25C4-62B7002DDBBC}"/>
              </a:ext>
            </a:extLst>
          </p:cNvPr>
          <p:cNvSpPr/>
          <p:nvPr/>
        </p:nvSpPr>
        <p:spPr>
          <a:xfrm>
            <a:off x="666750" y="1971675"/>
            <a:ext cx="228600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6D34C98F-DDD1-B9E6-5A36-DC207D80F861}"/>
              </a:ext>
            </a:extLst>
          </p:cNvPr>
          <p:cNvSpPr txBox="1"/>
          <p:nvPr/>
        </p:nvSpPr>
        <p:spPr>
          <a:xfrm>
            <a:off x="723900" y="2032858"/>
            <a:ext cx="2171700" cy="282129"/>
          </a:xfrm>
          <a:prstGeom prst="rect">
            <a:avLst/>
          </a:prstGeom>
          <a:noFill/>
        </p:spPr>
        <p:txBody>
          <a:bodyPr vert="horz" lIns="50800" tIns="25400" rIns="50800" bIns="25400" rtlCol="0" anchor="ctr">
            <a:noAutofit/>
          </a:bodyPr>
          <a:lstStyle/>
          <a:p>
            <a:r>
              <a:rPr lang="en-GB" sz="1500" b="1">
                <a:solidFill>
                  <a:srgbClr val="1C2930"/>
                </a:solidFill>
                <a:latin typeface="Aptos" panose="020B0004020202020204" pitchFamily="34" charset="0"/>
              </a:rPr>
              <a:t>Svak</a:t>
            </a:r>
          </a:p>
        </p:txBody>
      </p:sp>
      <p:sp>
        <p:nvSpPr>
          <p:cNvPr id="14" name="Rectangle 13">
            <a:extLst>
              <a:ext uri="{FF2B5EF4-FFF2-40B4-BE49-F238E27FC236}">
                <a16:creationId xmlns:a16="http://schemas.microsoft.com/office/drawing/2014/main" id="{D5397546-63C9-A703-9C70-0323B49F2210}"/>
              </a:ext>
            </a:extLst>
          </p:cNvPr>
          <p:cNvSpPr/>
          <p:nvPr/>
        </p:nvSpPr>
        <p:spPr>
          <a:xfrm>
            <a:off x="2952750" y="1971675"/>
            <a:ext cx="476250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A9DE8169-3FB1-4C28-BB67-6012B0553C50}"/>
              </a:ext>
            </a:extLst>
          </p:cNvPr>
          <p:cNvSpPr txBox="1"/>
          <p:nvPr/>
        </p:nvSpPr>
        <p:spPr>
          <a:xfrm>
            <a:off x="3009900" y="2032858"/>
            <a:ext cx="46482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Verdien av samlet kapital</a:t>
            </a:r>
          </a:p>
        </p:txBody>
      </p:sp>
      <p:sp>
        <p:nvSpPr>
          <p:cNvPr id="16" name="Rectangle 15">
            <a:extLst>
              <a:ext uri="{FF2B5EF4-FFF2-40B4-BE49-F238E27FC236}">
                <a16:creationId xmlns:a16="http://schemas.microsoft.com/office/drawing/2014/main" id="{065F99C8-B857-F285-D464-EF8A651A2507}"/>
              </a:ext>
            </a:extLst>
          </p:cNvPr>
          <p:cNvSpPr/>
          <p:nvPr/>
        </p:nvSpPr>
        <p:spPr>
          <a:xfrm>
            <a:off x="7715250" y="1971675"/>
            <a:ext cx="371475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E32B929C-19BF-F107-3307-B1F5C05158BD}"/>
              </a:ext>
            </a:extLst>
          </p:cNvPr>
          <p:cNvSpPr txBox="1"/>
          <p:nvPr/>
        </p:nvSpPr>
        <p:spPr>
          <a:xfrm>
            <a:off x="7772400" y="2032858"/>
            <a:ext cx="3600450" cy="529367"/>
          </a:xfrm>
          <a:prstGeom prst="rect">
            <a:avLst/>
          </a:prstGeom>
          <a:noFill/>
        </p:spPr>
        <p:txBody>
          <a:bodyPr vert="horz" lIns="50800" tIns="25400" rIns="50800" bIns="25400" rtlCol="0" anchor="ctr">
            <a:noAutofit/>
          </a:bodyPr>
          <a:lstStyle/>
          <a:p>
            <a:r>
              <a:rPr lang="nb-NO" sz="1600" dirty="0">
                <a:solidFill>
                  <a:srgbClr val="1C2930"/>
                </a:solidFill>
              </a:rPr>
              <a:t>Ja – i den grad annen kapital kan gi tilsvarende framtidige muligheter</a:t>
            </a:r>
          </a:p>
        </p:txBody>
      </p:sp>
      <p:sp>
        <p:nvSpPr>
          <p:cNvPr id="18" name="Rectangle 17">
            <a:extLst>
              <a:ext uri="{FF2B5EF4-FFF2-40B4-BE49-F238E27FC236}">
                <a16:creationId xmlns:a16="http://schemas.microsoft.com/office/drawing/2014/main" id="{1B6AAA8D-8A8D-FAD5-1497-379C6F43EE8C}"/>
              </a:ext>
            </a:extLst>
          </p:cNvPr>
          <p:cNvSpPr/>
          <p:nvPr/>
        </p:nvSpPr>
        <p:spPr>
          <a:xfrm>
            <a:off x="666750" y="3057525"/>
            <a:ext cx="2286000" cy="1085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51B5D5A6-282D-A910-9E6F-0C297565D847}"/>
              </a:ext>
            </a:extLst>
          </p:cNvPr>
          <p:cNvSpPr txBox="1"/>
          <p:nvPr/>
        </p:nvSpPr>
        <p:spPr>
          <a:xfrm>
            <a:off x="723900" y="3118708"/>
            <a:ext cx="2171700" cy="282129"/>
          </a:xfrm>
          <a:prstGeom prst="rect">
            <a:avLst/>
          </a:prstGeom>
          <a:noFill/>
        </p:spPr>
        <p:txBody>
          <a:bodyPr vert="horz" lIns="50800" tIns="25400" rIns="50800" bIns="25400" rtlCol="0" anchor="ctr">
            <a:noAutofit/>
          </a:bodyPr>
          <a:lstStyle/>
          <a:p>
            <a:r>
              <a:rPr lang="en-GB" sz="1500" b="1">
                <a:solidFill>
                  <a:srgbClr val="1C2930"/>
                </a:solidFill>
                <a:latin typeface="Aptos" panose="020B0004020202020204" pitchFamily="34" charset="0"/>
              </a:rPr>
              <a:t>Sterk</a:t>
            </a:r>
          </a:p>
        </p:txBody>
      </p:sp>
      <p:sp>
        <p:nvSpPr>
          <p:cNvPr id="20" name="Rectangle 19">
            <a:extLst>
              <a:ext uri="{FF2B5EF4-FFF2-40B4-BE49-F238E27FC236}">
                <a16:creationId xmlns:a16="http://schemas.microsoft.com/office/drawing/2014/main" id="{B0E666FA-D167-4C0B-FD29-1850FFB8D7C3}"/>
              </a:ext>
            </a:extLst>
          </p:cNvPr>
          <p:cNvSpPr/>
          <p:nvPr/>
        </p:nvSpPr>
        <p:spPr>
          <a:xfrm>
            <a:off x="2952750" y="3057525"/>
            <a:ext cx="4762500" cy="1085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D10712B-D3A7-2237-E772-782D12DC7FAF}"/>
              </a:ext>
            </a:extLst>
          </p:cNvPr>
          <p:cNvSpPr txBox="1"/>
          <p:nvPr/>
        </p:nvSpPr>
        <p:spPr>
          <a:xfrm>
            <a:off x="3009900" y="3118708"/>
            <a:ext cx="4648200" cy="282129"/>
          </a:xfrm>
          <a:prstGeom prst="rect">
            <a:avLst/>
          </a:prstGeom>
          <a:noFill/>
        </p:spPr>
        <p:txBody>
          <a:bodyPr vert="horz" lIns="50800" tIns="25400" rIns="50800" bIns="25400" rtlCol="0" anchor="ctr">
            <a:noAutofit/>
          </a:bodyPr>
          <a:lstStyle/>
          <a:p>
            <a:pPr algn="ctr"/>
            <a:r>
              <a:rPr lang="en-GB" sz="1500">
                <a:solidFill>
                  <a:srgbClr val="1C2930"/>
                </a:solidFill>
                <a:latin typeface="Aptos" panose="020B0004020202020204" pitchFamily="34" charset="0"/>
              </a:rPr>
              <a:t>Naturkapital, særlig kritisk natur</a:t>
            </a:r>
          </a:p>
        </p:txBody>
      </p:sp>
      <p:sp>
        <p:nvSpPr>
          <p:cNvPr id="22" name="Rectangle 21">
            <a:extLst>
              <a:ext uri="{FF2B5EF4-FFF2-40B4-BE49-F238E27FC236}">
                <a16:creationId xmlns:a16="http://schemas.microsoft.com/office/drawing/2014/main" id="{BB4E0BB6-1CD9-15ED-12C1-78ABE76C84C2}"/>
              </a:ext>
            </a:extLst>
          </p:cNvPr>
          <p:cNvSpPr/>
          <p:nvPr/>
        </p:nvSpPr>
        <p:spPr>
          <a:xfrm>
            <a:off x="7715250" y="3057525"/>
            <a:ext cx="3714750" cy="108585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B6EDC60E-F432-CE96-533B-92157FBA624B}"/>
              </a:ext>
            </a:extLst>
          </p:cNvPr>
          <p:cNvSpPr txBox="1"/>
          <p:nvPr/>
        </p:nvSpPr>
        <p:spPr>
          <a:xfrm>
            <a:off x="7772400" y="3118708"/>
            <a:ext cx="3600450" cy="649987"/>
          </a:xfrm>
          <a:prstGeom prst="rect">
            <a:avLst/>
          </a:prstGeom>
          <a:noFill/>
        </p:spPr>
        <p:txBody>
          <a:bodyPr vert="horz" lIns="50800" tIns="25400" rIns="50800" bIns="25400" rtlCol="0" anchor="ctr">
            <a:noAutofit/>
          </a:bodyPr>
          <a:lstStyle/>
          <a:p>
            <a:r>
              <a:rPr lang="nb-NO" sz="1600" dirty="0">
                <a:solidFill>
                  <a:srgbClr val="1C2930"/>
                </a:solidFill>
              </a:rPr>
              <a:t>Bare begrenset; noen naturverdier må bevares som natur</a:t>
            </a:r>
          </a:p>
        </p:txBody>
      </p:sp>
      <p:sp>
        <p:nvSpPr>
          <p:cNvPr id="24" name="Rectangle 23">
            <a:extLst>
              <a:ext uri="{FF2B5EF4-FFF2-40B4-BE49-F238E27FC236}">
                <a16:creationId xmlns:a16="http://schemas.microsoft.com/office/drawing/2014/main" id="{00B3AAE5-DC5D-9562-E663-CA84B39F296F}"/>
              </a:ext>
            </a:extLst>
          </p:cNvPr>
          <p:cNvSpPr/>
          <p:nvPr/>
        </p:nvSpPr>
        <p:spPr>
          <a:xfrm>
            <a:off x="666750" y="4143375"/>
            <a:ext cx="228600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AAD422D0-8F28-E1D9-EFED-5D5CDD275E39}"/>
              </a:ext>
            </a:extLst>
          </p:cNvPr>
          <p:cNvSpPr txBox="1"/>
          <p:nvPr/>
        </p:nvSpPr>
        <p:spPr>
          <a:xfrm>
            <a:off x="723900" y="4204558"/>
            <a:ext cx="2171700" cy="282129"/>
          </a:xfrm>
          <a:prstGeom prst="rect">
            <a:avLst/>
          </a:prstGeom>
          <a:noFill/>
        </p:spPr>
        <p:txBody>
          <a:bodyPr vert="horz" lIns="50800" tIns="25400" rIns="50800" bIns="25400" rtlCol="0" anchor="ctr">
            <a:noAutofit/>
          </a:bodyPr>
          <a:lstStyle/>
          <a:p>
            <a:r>
              <a:rPr lang="en-GB" sz="1500" b="1" dirty="0" err="1">
                <a:solidFill>
                  <a:srgbClr val="1C2930"/>
                </a:solidFill>
                <a:latin typeface="Aptos" panose="020B0004020202020204" pitchFamily="34" charset="0"/>
              </a:rPr>
              <a:t>Miljømessig</a:t>
            </a:r>
            <a:endParaRPr lang="en-GB" sz="1500" b="1" dirty="0">
              <a:solidFill>
                <a:srgbClr val="1C2930"/>
              </a:solidFill>
              <a:latin typeface="Aptos" panose="020B0004020202020204" pitchFamily="34" charset="0"/>
            </a:endParaRPr>
          </a:p>
        </p:txBody>
      </p:sp>
      <p:sp>
        <p:nvSpPr>
          <p:cNvPr id="26" name="Rectangle 25">
            <a:extLst>
              <a:ext uri="{FF2B5EF4-FFF2-40B4-BE49-F238E27FC236}">
                <a16:creationId xmlns:a16="http://schemas.microsoft.com/office/drawing/2014/main" id="{83A180D1-61A0-D116-0B20-4E985554ACCA}"/>
              </a:ext>
            </a:extLst>
          </p:cNvPr>
          <p:cNvSpPr/>
          <p:nvPr/>
        </p:nvSpPr>
        <p:spPr>
          <a:xfrm>
            <a:off x="2952750" y="4143375"/>
            <a:ext cx="476250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E55D16C9-A9B4-E647-EE95-E25B271AA969}"/>
              </a:ext>
            </a:extLst>
          </p:cNvPr>
          <p:cNvSpPr txBox="1"/>
          <p:nvPr/>
        </p:nvSpPr>
        <p:spPr>
          <a:xfrm>
            <a:off x="3009900" y="4204558"/>
            <a:ext cx="4648200" cy="681355"/>
          </a:xfrm>
          <a:prstGeom prst="rect">
            <a:avLst/>
          </a:prstGeom>
          <a:noFill/>
        </p:spPr>
        <p:txBody>
          <a:bodyPr vert="horz" lIns="50800" tIns="25400" rIns="50800" bIns="25400" rtlCol="0" anchor="ctr">
            <a:noAutofit/>
          </a:bodyPr>
          <a:lstStyle/>
          <a:p>
            <a:r>
              <a:rPr lang="nb-NO" sz="1600" dirty="0">
                <a:solidFill>
                  <a:srgbClr val="1C2930"/>
                </a:solidFill>
              </a:rPr>
              <a:t>Bestemte fysiske strømmer eller økologiske funksjoner</a:t>
            </a:r>
          </a:p>
        </p:txBody>
      </p:sp>
      <p:sp>
        <p:nvSpPr>
          <p:cNvPr id="28" name="Rectangle 27">
            <a:extLst>
              <a:ext uri="{FF2B5EF4-FFF2-40B4-BE49-F238E27FC236}">
                <a16:creationId xmlns:a16="http://schemas.microsoft.com/office/drawing/2014/main" id="{08C932AB-8EA4-5F8B-3B0B-74C60C326182}"/>
              </a:ext>
            </a:extLst>
          </p:cNvPr>
          <p:cNvSpPr/>
          <p:nvPr/>
        </p:nvSpPr>
        <p:spPr>
          <a:xfrm>
            <a:off x="7715250" y="4143375"/>
            <a:ext cx="3714750" cy="108585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1A759FBC-6216-5948-5B3F-BD4FDBDDCAE9}"/>
              </a:ext>
            </a:extLst>
          </p:cNvPr>
          <p:cNvSpPr txBox="1"/>
          <p:nvPr/>
        </p:nvSpPr>
        <p:spPr>
          <a:xfrm>
            <a:off x="7772400" y="4204558"/>
            <a:ext cx="3600450" cy="897281"/>
          </a:xfrm>
          <a:prstGeom prst="rect">
            <a:avLst/>
          </a:prstGeom>
          <a:noFill/>
        </p:spPr>
        <p:txBody>
          <a:bodyPr vert="horz" lIns="50800" tIns="25400" rIns="50800" bIns="25400" rtlCol="0" anchor="ctr">
            <a:noAutofit/>
          </a:bodyPr>
          <a:lstStyle/>
          <a:p>
            <a:r>
              <a:rPr lang="nb-NO" sz="1600" dirty="0">
                <a:solidFill>
                  <a:srgbClr val="1C2930"/>
                </a:solidFill>
              </a:rPr>
              <a:t>Fokus er på selve strømmen/funksjonen, ikke bare kapitalverdien</a:t>
            </a:r>
          </a:p>
        </p:txBody>
      </p:sp>
    </p:spTree>
    <p:extLst>
      <p:ext uri="{BB962C8B-B14F-4D97-AF65-F5344CB8AC3E}">
        <p14:creationId xmlns:p14="http://schemas.microsoft.com/office/powerpoint/2010/main" val="27320805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A0DB7B-7F61-117E-3ED0-FEA7D56C9AAD}"/>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Oppgave 3: Hvilket kriterium?</a:t>
            </a:r>
          </a:p>
        </p:txBody>
      </p:sp>
      <p:sp>
        <p:nvSpPr>
          <p:cNvPr id="3" name="Rectangle 2">
            <a:extLst>
              <a:ext uri="{FF2B5EF4-FFF2-40B4-BE49-F238E27FC236}">
                <a16:creationId xmlns:a16="http://schemas.microsoft.com/office/drawing/2014/main" id="{4F0B13CB-CDE2-C205-9CDC-3C1B76B6D831}"/>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B07CFC83-44C2-AB06-1227-39741C232E60}"/>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E27B5D40-DE6B-58F7-039E-AE89D09D1048}"/>
              </a:ext>
            </a:extLst>
          </p:cNvPr>
          <p:cNvSpPr/>
          <p:nvPr/>
        </p:nvSpPr>
        <p:spPr>
          <a:xfrm>
            <a:off x="723900" y="1381125"/>
            <a:ext cx="10744200" cy="361950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8356DDB5-F2F9-DBD1-0D7A-71CE10A7EC3C}"/>
              </a:ext>
            </a:extLst>
          </p:cNvPr>
          <p:cNvSpPr/>
          <p:nvPr/>
        </p:nvSpPr>
        <p:spPr>
          <a:xfrm>
            <a:off x="723900" y="1381125"/>
            <a:ext cx="95250" cy="361950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C43EA2C-A87F-56EF-0DBC-CFCE8A7C3B1B}"/>
              </a:ext>
            </a:extLst>
          </p:cNvPr>
          <p:cNvSpPr txBox="1"/>
          <p:nvPr/>
        </p:nvSpPr>
        <p:spPr>
          <a:xfrm>
            <a:off x="1104900" y="1600200"/>
            <a:ext cx="9953625" cy="362920"/>
          </a:xfrm>
          <a:prstGeom prst="rect">
            <a:avLst/>
          </a:prstGeom>
          <a:noFill/>
        </p:spPr>
        <p:txBody>
          <a:bodyPr vert="horz" lIns="50800" tIns="25400" rIns="50800" bIns="25400" rtlCol="0" anchor="t">
            <a:noAutofit/>
          </a:bodyPr>
          <a:lstStyle/>
          <a:p>
            <a:r>
              <a:rPr lang="nb-NO" sz="2025" b="1">
                <a:solidFill>
                  <a:srgbClr val="0B3D4F"/>
                </a:solidFill>
                <a:latin typeface="Aptos" panose="020B0004020202020204" pitchFamily="34" charset="0"/>
              </a:rPr>
              <a:t>Klassifiser de fire eksemplene som svak, sterk eller miljømessig bærekraft.</a:t>
            </a:r>
            <a:endParaRPr lang="en-GB" sz="2025" b="1">
              <a:solidFill>
                <a:srgbClr val="0B3D4F"/>
              </a:solidFill>
              <a:latin typeface="Aptos" panose="020B0004020202020204" pitchFamily="34" charset="0"/>
            </a:endParaRPr>
          </a:p>
        </p:txBody>
      </p:sp>
      <p:sp>
        <p:nvSpPr>
          <p:cNvPr id="9" name="TextBox 8">
            <a:extLst>
              <a:ext uri="{FF2B5EF4-FFF2-40B4-BE49-F238E27FC236}">
                <a16:creationId xmlns:a16="http://schemas.microsoft.com/office/drawing/2014/main" id="{8C58E28F-9DA3-3FB4-5A18-A6C9D95F21FA}"/>
              </a:ext>
            </a:extLst>
          </p:cNvPr>
          <p:cNvSpPr txBox="1"/>
          <p:nvPr/>
        </p:nvSpPr>
        <p:spPr>
          <a:xfrm>
            <a:off x="1104900" y="3162300"/>
            <a:ext cx="9953625" cy="1113125"/>
          </a:xfrm>
          <a:prstGeom prst="rect">
            <a:avLst/>
          </a:prstGeom>
          <a:noFill/>
        </p:spPr>
        <p:txBody>
          <a:bodyPr vert="horz" lIns="50800" tIns="25400" rIns="50800" bIns="25400" rtlCol="0" anchor="t">
            <a:noAutofit/>
          </a:bodyPr>
          <a:lstStyle/>
          <a:p>
            <a:r>
              <a:rPr lang="nb-NO" sz="1725">
                <a:solidFill>
                  <a:srgbClr val="1C2930"/>
                </a:solidFill>
                <a:latin typeface="Aptos" panose="020B0004020202020204" pitchFamily="34" charset="0"/>
              </a:rPr>
              <a:t>1. Oljeinntekt investeres i utdanning og fond.</a:t>
            </a:r>
          </a:p>
          <a:p>
            <a:r>
              <a:rPr lang="nb-NO" sz="1725">
                <a:solidFill>
                  <a:srgbClr val="1C2930"/>
                </a:solidFill>
                <a:latin typeface="Aptos" panose="020B0004020202020204" pitchFamily="34" charset="0"/>
              </a:rPr>
              <a:t>2. En uerstattelig våtmark bevares.</a:t>
            </a:r>
          </a:p>
          <a:p>
            <a:r>
              <a:rPr lang="nb-NO" sz="1725">
                <a:solidFill>
                  <a:srgbClr val="1C2930"/>
                </a:solidFill>
                <a:latin typeface="Aptos" panose="020B0004020202020204" pitchFamily="34" charset="0"/>
              </a:rPr>
              <a:t>3. Grunnvannsuttak ≤ langsiktig tilførsel.</a:t>
            </a:r>
          </a:p>
          <a:p>
            <a:r>
              <a:rPr lang="nb-NO" sz="1725">
                <a:solidFill>
                  <a:srgbClr val="1C2930"/>
                </a:solidFill>
                <a:latin typeface="Aptos" panose="020B0004020202020204" pitchFamily="34" charset="0"/>
              </a:rPr>
              <a:t>4. Skog kan hugges hvis like stor kapitalverdi bygges opp.</a:t>
            </a:r>
            <a:endParaRPr lang="en-GB" sz="1725">
              <a:solidFill>
                <a:srgbClr val="1C2930"/>
              </a:solidFill>
              <a:latin typeface="Aptos" panose="020B0004020202020204" pitchFamily="34" charset="0"/>
            </a:endParaRPr>
          </a:p>
        </p:txBody>
      </p:sp>
      <p:sp>
        <p:nvSpPr>
          <p:cNvPr id="10" name="TextBox 9">
            <a:extLst>
              <a:ext uri="{FF2B5EF4-FFF2-40B4-BE49-F238E27FC236}">
                <a16:creationId xmlns:a16="http://schemas.microsoft.com/office/drawing/2014/main" id="{F36CB48E-E966-CAF7-4660-2A42026CC237}"/>
              </a:ext>
            </a:extLst>
          </p:cNvPr>
          <p:cNvSpPr txBox="1"/>
          <p:nvPr/>
        </p:nvSpPr>
        <p:spPr>
          <a:xfrm>
            <a:off x="1009650" y="5452333"/>
            <a:ext cx="10096500" cy="282129"/>
          </a:xfrm>
          <a:prstGeom prst="rect">
            <a:avLst/>
          </a:prstGeom>
          <a:noFill/>
        </p:spPr>
        <p:txBody>
          <a:bodyPr vert="horz" lIns="50800" tIns="25400" rIns="50800" bIns="25400" rtlCol="0" anchor="ctr">
            <a:noAutofit/>
          </a:bodyPr>
          <a:lstStyle/>
          <a:p>
            <a:pPr algn="ctr"/>
            <a:r>
              <a:rPr lang="nb-NO" sz="1500" i="1">
                <a:solidFill>
                  <a:srgbClr val="51656D"/>
                </a:solidFill>
                <a:latin typeface="Aptos" panose="020B0004020202020204" pitchFamily="34" charset="0"/>
              </a:rPr>
              <a:t>Velg to eksempler: 3 min med naboen + 3 min i plenum.</a:t>
            </a:r>
            <a:endParaRPr lang="en-GB" sz="1500" i="1">
              <a:solidFill>
                <a:srgbClr val="51656D"/>
              </a:solidFill>
              <a:latin typeface="Aptos" panose="020B0004020202020204" pitchFamily="34" charset="0"/>
            </a:endParaRPr>
          </a:p>
        </p:txBody>
      </p:sp>
    </p:spTree>
    <p:extLst>
      <p:ext uri="{BB962C8B-B14F-4D97-AF65-F5344CB8AC3E}">
        <p14:creationId xmlns:p14="http://schemas.microsoft.com/office/powerpoint/2010/main" val="3875021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169183-3B7E-B0B4-6792-348560AF85CF}"/>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Skriveside: bærekraftskriterier</a:t>
            </a:r>
          </a:p>
        </p:txBody>
      </p:sp>
      <p:sp>
        <p:nvSpPr>
          <p:cNvPr id="3" name="Rectangle 2">
            <a:extLst>
              <a:ext uri="{FF2B5EF4-FFF2-40B4-BE49-F238E27FC236}">
                <a16:creationId xmlns:a16="http://schemas.microsoft.com/office/drawing/2014/main" id="{F2514E14-DE1D-4002-BDBB-941F25F9984B}"/>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5B988F3-30CB-FACB-131F-A1611E7F3734}"/>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96A7AF11-7B15-4C35-2772-CFFA1557A951}"/>
              </a:ext>
            </a:extLst>
          </p:cNvPr>
          <p:cNvSpPr/>
          <p:nvPr/>
        </p:nvSpPr>
        <p:spPr>
          <a:xfrm>
            <a:off x="704850" y="1381125"/>
            <a:ext cx="40957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6EF07F6-0F71-522E-D892-E0D70646839B}"/>
              </a:ext>
            </a:extLst>
          </p:cNvPr>
          <p:cNvSpPr txBox="1"/>
          <p:nvPr/>
        </p:nvSpPr>
        <p:spPr>
          <a:xfrm>
            <a:off x="762000" y="1448079"/>
            <a:ext cx="3981450" cy="270587"/>
          </a:xfrm>
          <a:prstGeom prst="rect">
            <a:avLst/>
          </a:prstGeom>
          <a:noFill/>
        </p:spPr>
        <p:txBody>
          <a:bodyPr vert="horz" lIns="50800" tIns="25400" rIns="50800" bIns="25400" rtlCol="0" anchor="ctr">
            <a:noAutofit/>
          </a:bodyPr>
          <a:lstStyle/>
          <a:p>
            <a:r>
              <a:rPr lang="en-GB" sz="1425" b="1">
                <a:solidFill>
                  <a:srgbClr val="FFFFFF"/>
                </a:solidFill>
                <a:latin typeface="Aptos" panose="020B0004020202020204" pitchFamily="34" charset="0"/>
              </a:rPr>
              <a:t>Eksempel</a:t>
            </a:r>
          </a:p>
        </p:txBody>
      </p:sp>
      <p:sp>
        <p:nvSpPr>
          <p:cNvPr id="8" name="Rectangle 7">
            <a:extLst>
              <a:ext uri="{FF2B5EF4-FFF2-40B4-BE49-F238E27FC236}">
                <a16:creationId xmlns:a16="http://schemas.microsoft.com/office/drawing/2014/main" id="{C7E6BA62-6CC2-2CF5-0790-83E8445B2587}"/>
              </a:ext>
            </a:extLst>
          </p:cNvPr>
          <p:cNvSpPr/>
          <p:nvPr/>
        </p:nvSpPr>
        <p:spPr>
          <a:xfrm>
            <a:off x="4800600" y="1381125"/>
            <a:ext cx="209550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FB26FB9-EB05-30C2-C3D9-AA17F134B2E6}"/>
              </a:ext>
            </a:extLst>
          </p:cNvPr>
          <p:cNvSpPr txBox="1"/>
          <p:nvPr/>
        </p:nvSpPr>
        <p:spPr>
          <a:xfrm>
            <a:off x="4857750" y="1448079"/>
            <a:ext cx="1981200" cy="270587"/>
          </a:xfrm>
          <a:prstGeom prst="rect">
            <a:avLst/>
          </a:prstGeom>
          <a:noFill/>
        </p:spPr>
        <p:txBody>
          <a:bodyPr vert="horz" lIns="50800" tIns="25400" rIns="50800" bIns="25400" rtlCol="0" anchor="ctr">
            <a:noAutofit/>
          </a:bodyPr>
          <a:lstStyle/>
          <a:p>
            <a:pPr algn="ctr"/>
            <a:r>
              <a:rPr lang="en-GB" sz="1425" b="1">
                <a:solidFill>
                  <a:srgbClr val="FFFFFF"/>
                </a:solidFill>
                <a:latin typeface="Aptos" panose="020B0004020202020204" pitchFamily="34" charset="0"/>
              </a:rPr>
              <a:t>Kriterium</a:t>
            </a:r>
          </a:p>
        </p:txBody>
      </p:sp>
      <p:sp>
        <p:nvSpPr>
          <p:cNvPr id="10" name="Rectangle 9">
            <a:extLst>
              <a:ext uri="{FF2B5EF4-FFF2-40B4-BE49-F238E27FC236}">
                <a16:creationId xmlns:a16="http://schemas.microsoft.com/office/drawing/2014/main" id="{819F528D-4154-B580-FB8C-05C377B0D521}"/>
              </a:ext>
            </a:extLst>
          </p:cNvPr>
          <p:cNvSpPr/>
          <p:nvPr/>
        </p:nvSpPr>
        <p:spPr>
          <a:xfrm>
            <a:off x="6896100" y="1381125"/>
            <a:ext cx="457200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088F39A4-C568-99E6-D09A-0B2DAA94E6FB}"/>
              </a:ext>
            </a:extLst>
          </p:cNvPr>
          <p:cNvSpPr txBox="1"/>
          <p:nvPr/>
        </p:nvSpPr>
        <p:spPr>
          <a:xfrm>
            <a:off x="6953250" y="1448079"/>
            <a:ext cx="4457700" cy="270587"/>
          </a:xfrm>
          <a:prstGeom prst="rect">
            <a:avLst/>
          </a:prstGeom>
          <a:noFill/>
        </p:spPr>
        <p:txBody>
          <a:bodyPr vert="horz" lIns="50800" tIns="25400" rIns="50800" bIns="25400" rtlCol="0" anchor="ctr">
            <a:noAutofit/>
          </a:bodyPr>
          <a:lstStyle/>
          <a:p>
            <a:pPr algn="ctr"/>
            <a:r>
              <a:rPr lang="en-GB" sz="1425" b="1">
                <a:solidFill>
                  <a:srgbClr val="FFFFFF"/>
                </a:solidFill>
                <a:latin typeface="Aptos" panose="020B0004020202020204" pitchFamily="34" charset="0"/>
              </a:rPr>
              <a:t>Begrunnelse</a:t>
            </a:r>
          </a:p>
        </p:txBody>
      </p:sp>
      <p:sp>
        <p:nvSpPr>
          <p:cNvPr id="12" name="Rectangle 11">
            <a:extLst>
              <a:ext uri="{FF2B5EF4-FFF2-40B4-BE49-F238E27FC236}">
                <a16:creationId xmlns:a16="http://schemas.microsoft.com/office/drawing/2014/main" id="{515673F0-B501-32AC-7853-12F1B5883552}"/>
              </a:ext>
            </a:extLst>
          </p:cNvPr>
          <p:cNvSpPr/>
          <p:nvPr/>
        </p:nvSpPr>
        <p:spPr>
          <a:xfrm>
            <a:off x="704850" y="1933575"/>
            <a:ext cx="409575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1C4654E0-DD48-7802-FD98-1ACF0341C2A4}"/>
              </a:ext>
            </a:extLst>
          </p:cNvPr>
          <p:cNvSpPr txBox="1"/>
          <p:nvPr/>
        </p:nvSpPr>
        <p:spPr>
          <a:xfrm>
            <a:off x="762000" y="2000529"/>
            <a:ext cx="3981450" cy="270587"/>
          </a:xfrm>
          <a:prstGeom prst="rect">
            <a:avLst/>
          </a:prstGeom>
          <a:noFill/>
        </p:spPr>
        <p:txBody>
          <a:bodyPr vert="horz" lIns="50800" tIns="25400" rIns="50800" bIns="25400" rtlCol="0" anchor="ctr">
            <a:noAutofit/>
          </a:bodyPr>
          <a:lstStyle/>
          <a:p>
            <a:r>
              <a:rPr lang="en-GB" sz="1425" dirty="0" err="1">
                <a:solidFill>
                  <a:srgbClr val="1C2930"/>
                </a:solidFill>
                <a:latin typeface="Aptos" panose="020B0004020202020204" pitchFamily="34" charset="0"/>
              </a:rPr>
              <a:t>Oljeinntekt</a:t>
            </a:r>
            <a:r>
              <a:rPr lang="en-GB" sz="1425" dirty="0">
                <a:solidFill>
                  <a:srgbClr val="1C2930"/>
                </a:solidFill>
                <a:latin typeface="Aptos" panose="020B0004020202020204" pitchFamily="34" charset="0"/>
              </a:rPr>
              <a:t> </a:t>
            </a:r>
            <a:r>
              <a:rPr lang="en-GB" sz="1425" dirty="0" err="1">
                <a:solidFill>
                  <a:srgbClr val="1C2930"/>
                </a:solidFill>
                <a:latin typeface="Aptos" panose="020B0004020202020204" pitchFamily="34" charset="0"/>
              </a:rPr>
              <a:t>investeres</a:t>
            </a:r>
            <a:r>
              <a:rPr lang="en-GB" sz="1425" dirty="0">
                <a:solidFill>
                  <a:srgbClr val="1C2930"/>
                </a:solidFill>
                <a:latin typeface="Aptos" panose="020B0004020202020204" pitchFamily="34" charset="0"/>
              </a:rPr>
              <a:t> </a:t>
            </a:r>
            <a:r>
              <a:rPr lang="en-GB" sz="1425" dirty="0" err="1">
                <a:solidFill>
                  <a:srgbClr val="1C2930"/>
                </a:solidFill>
                <a:latin typeface="Aptos" panose="020B0004020202020204" pitchFamily="34" charset="0"/>
              </a:rPr>
              <a:t>i</a:t>
            </a:r>
            <a:r>
              <a:rPr lang="en-GB" sz="1425" dirty="0">
                <a:solidFill>
                  <a:srgbClr val="1C2930"/>
                </a:solidFill>
                <a:latin typeface="Aptos" panose="020B0004020202020204" pitchFamily="34" charset="0"/>
              </a:rPr>
              <a:t> fond</a:t>
            </a:r>
          </a:p>
        </p:txBody>
      </p:sp>
      <p:sp>
        <p:nvSpPr>
          <p:cNvPr id="14" name="Rectangle 13">
            <a:extLst>
              <a:ext uri="{FF2B5EF4-FFF2-40B4-BE49-F238E27FC236}">
                <a16:creationId xmlns:a16="http://schemas.microsoft.com/office/drawing/2014/main" id="{C9AF5F5A-8A3A-BD41-C4DC-E59EC06BF45F}"/>
              </a:ext>
            </a:extLst>
          </p:cNvPr>
          <p:cNvSpPr/>
          <p:nvPr/>
        </p:nvSpPr>
        <p:spPr>
          <a:xfrm>
            <a:off x="4800600" y="1933575"/>
            <a:ext cx="209550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CED9295-525B-1180-69F4-AC4B6031B20E}"/>
              </a:ext>
            </a:extLst>
          </p:cNvPr>
          <p:cNvSpPr txBox="1"/>
          <p:nvPr/>
        </p:nvSpPr>
        <p:spPr>
          <a:xfrm>
            <a:off x="4857750" y="2000529"/>
            <a:ext cx="19812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16" name="Rectangle 15">
            <a:extLst>
              <a:ext uri="{FF2B5EF4-FFF2-40B4-BE49-F238E27FC236}">
                <a16:creationId xmlns:a16="http://schemas.microsoft.com/office/drawing/2014/main" id="{41CE3E66-C3A8-002D-F614-BC6DDBBB3139}"/>
              </a:ext>
            </a:extLst>
          </p:cNvPr>
          <p:cNvSpPr/>
          <p:nvPr/>
        </p:nvSpPr>
        <p:spPr>
          <a:xfrm>
            <a:off x="6896100" y="1933575"/>
            <a:ext cx="457200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8F9338B2-3735-6190-8C9B-18BBA34E18EA}"/>
              </a:ext>
            </a:extLst>
          </p:cNvPr>
          <p:cNvSpPr txBox="1"/>
          <p:nvPr/>
        </p:nvSpPr>
        <p:spPr>
          <a:xfrm>
            <a:off x="6953250" y="2000529"/>
            <a:ext cx="44577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18" name="Rectangle 17">
            <a:extLst>
              <a:ext uri="{FF2B5EF4-FFF2-40B4-BE49-F238E27FC236}">
                <a16:creationId xmlns:a16="http://schemas.microsoft.com/office/drawing/2014/main" id="{02B4C22B-F48B-75B6-AA6B-0ED3F4C8C954}"/>
              </a:ext>
            </a:extLst>
          </p:cNvPr>
          <p:cNvSpPr/>
          <p:nvPr/>
        </p:nvSpPr>
        <p:spPr>
          <a:xfrm>
            <a:off x="704850" y="2771775"/>
            <a:ext cx="409575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07FBAEC-52BF-C01C-54DB-9CBDF86259F7}"/>
              </a:ext>
            </a:extLst>
          </p:cNvPr>
          <p:cNvSpPr txBox="1"/>
          <p:nvPr/>
        </p:nvSpPr>
        <p:spPr>
          <a:xfrm>
            <a:off x="762000" y="2838729"/>
            <a:ext cx="3981450" cy="270587"/>
          </a:xfrm>
          <a:prstGeom prst="rect">
            <a:avLst/>
          </a:prstGeom>
          <a:noFill/>
        </p:spPr>
        <p:txBody>
          <a:bodyPr vert="horz" lIns="50800" tIns="25400" rIns="50800" bIns="25400" rtlCol="0" anchor="ctr">
            <a:noAutofit/>
          </a:bodyPr>
          <a:lstStyle/>
          <a:p>
            <a:r>
              <a:rPr lang="en-GB" sz="1425">
                <a:solidFill>
                  <a:srgbClr val="1C2930"/>
                </a:solidFill>
                <a:latin typeface="Aptos" panose="020B0004020202020204" pitchFamily="34" charset="0"/>
              </a:rPr>
              <a:t>Uerstattelig våtmark bevares</a:t>
            </a:r>
          </a:p>
        </p:txBody>
      </p:sp>
      <p:sp>
        <p:nvSpPr>
          <p:cNvPr id="20" name="Rectangle 19">
            <a:extLst>
              <a:ext uri="{FF2B5EF4-FFF2-40B4-BE49-F238E27FC236}">
                <a16:creationId xmlns:a16="http://schemas.microsoft.com/office/drawing/2014/main" id="{A7D9FE9C-FAD5-49F1-4A17-987C77B9B11A}"/>
              </a:ext>
            </a:extLst>
          </p:cNvPr>
          <p:cNvSpPr/>
          <p:nvPr/>
        </p:nvSpPr>
        <p:spPr>
          <a:xfrm>
            <a:off x="4800600" y="2771775"/>
            <a:ext cx="209550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428909AF-97AD-8727-546C-D61AC20366E2}"/>
              </a:ext>
            </a:extLst>
          </p:cNvPr>
          <p:cNvSpPr txBox="1"/>
          <p:nvPr/>
        </p:nvSpPr>
        <p:spPr>
          <a:xfrm>
            <a:off x="4857750" y="2838729"/>
            <a:ext cx="19812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22" name="Rectangle 21">
            <a:extLst>
              <a:ext uri="{FF2B5EF4-FFF2-40B4-BE49-F238E27FC236}">
                <a16:creationId xmlns:a16="http://schemas.microsoft.com/office/drawing/2014/main" id="{7B974E9B-2B1E-1F5E-B7A8-ED9CFCD64F20}"/>
              </a:ext>
            </a:extLst>
          </p:cNvPr>
          <p:cNvSpPr/>
          <p:nvPr/>
        </p:nvSpPr>
        <p:spPr>
          <a:xfrm>
            <a:off x="6896100" y="2771775"/>
            <a:ext cx="457200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11F16A6C-8C66-B629-1F6A-AFBEB73D0200}"/>
              </a:ext>
            </a:extLst>
          </p:cNvPr>
          <p:cNvSpPr txBox="1"/>
          <p:nvPr/>
        </p:nvSpPr>
        <p:spPr>
          <a:xfrm>
            <a:off x="6953250" y="2838729"/>
            <a:ext cx="44577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24" name="Rectangle 23">
            <a:extLst>
              <a:ext uri="{FF2B5EF4-FFF2-40B4-BE49-F238E27FC236}">
                <a16:creationId xmlns:a16="http://schemas.microsoft.com/office/drawing/2014/main" id="{1A1E3C5F-73DC-1417-9865-802A19997746}"/>
              </a:ext>
            </a:extLst>
          </p:cNvPr>
          <p:cNvSpPr/>
          <p:nvPr/>
        </p:nvSpPr>
        <p:spPr>
          <a:xfrm>
            <a:off x="704850" y="3609975"/>
            <a:ext cx="409575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B7D895CC-19C6-A7AA-57E6-AF35D97C6F56}"/>
              </a:ext>
            </a:extLst>
          </p:cNvPr>
          <p:cNvSpPr txBox="1"/>
          <p:nvPr/>
        </p:nvSpPr>
        <p:spPr>
          <a:xfrm>
            <a:off x="762000" y="3676929"/>
            <a:ext cx="3981450" cy="270587"/>
          </a:xfrm>
          <a:prstGeom prst="rect">
            <a:avLst/>
          </a:prstGeom>
          <a:noFill/>
        </p:spPr>
        <p:txBody>
          <a:bodyPr vert="horz" lIns="50800" tIns="25400" rIns="50800" bIns="25400" rtlCol="0" anchor="ctr">
            <a:noAutofit/>
          </a:bodyPr>
          <a:lstStyle/>
          <a:p>
            <a:r>
              <a:rPr lang="en-GB" sz="1425" dirty="0" err="1">
                <a:solidFill>
                  <a:srgbClr val="1C2930"/>
                </a:solidFill>
                <a:latin typeface="Aptos" panose="020B0004020202020204" pitchFamily="34" charset="0"/>
              </a:rPr>
              <a:t>Grunnvannsuttak</a:t>
            </a:r>
            <a:r>
              <a:rPr lang="en-GB" sz="1425" dirty="0">
                <a:solidFill>
                  <a:srgbClr val="1C2930"/>
                </a:solidFill>
                <a:latin typeface="Aptos" panose="020B0004020202020204" pitchFamily="34" charset="0"/>
              </a:rPr>
              <a:t> </a:t>
            </a:r>
            <a:r>
              <a:rPr lang="en-GB" sz="1425" dirty="0" err="1">
                <a:solidFill>
                  <a:srgbClr val="1C2930"/>
                </a:solidFill>
                <a:latin typeface="Aptos" panose="020B0004020202020204" pitchFamily="34" charset="0"/>
              </a:rPr>
              <a:t>begrenses</a:t>
            </a:r>
            <a:endParaRPr lang="en-GB" sz="1425" dirty="0">
              <a:solidFill>
                <a:srgbClr val="1C2930"/>
              </a:solidFill>
              <a:latin typeface="Aptos" panose="020B0004020202020204" pitchFamily="34" charset="0"/>
            </a:endParaRPr>
          </a:p>
        </p:txBody>
      </p:sp>
      <p:sp>
        <p:nvSpPr>
          <p:cNvPr id="26" name="Rectangle 25">
            <a:extLst>
              <a:ext uri="{FF2B5EF4-FFF2-40B4-BE49-F238E27FC236}">
                <a16:creationId xmlns:a16="http://schemas.microsoft.com/office/drawing/2014/main" id="{30792C4B-797A-751A-1EF4-C074F2E751C6}"/>
              </a:ext>
            </a:extLst>
          </p:cNvPr>
          <p:cNvSpPr/>
          <p:nvPr/>
        </p:nvSpPr>
        <p:spPr>
          <a:xfrm>
            <a:off x="4800600" y="3609975"/>
            <a:ext cx="209550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A2B37A9E-EBF1-5153-B57D-A01E5F699368}"/>
              </a:ext>
            </a:extLst>
          </p:cNvPr>
          <p:cNvSpPr txBox="1"/>
          <p:nvPr/>
        </p:nvSpPr>
        <p:spPr>
          <a:xfrm>
            <a:off x="4857750" y="3676929"/>
            <a:ext cx="19812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28" name="Rectangle 27">
            <a:extLst>
              <a:ext uri="{FF2B5EF4-FFF2-40B4-BE49-F238E27FC236}">
                <a16:creationId xmlns:a16="http://schemas.microsoft.com/office/drawing/2014/main" id="{D1F643A1-5430-528A-4178-BF5157DD48CD}"/>
              </a:ext>
            </a:extLst>
          </p:cNvPr>
          <p:cNvSpPr/>
          <p:nvPr/>
        </p:nvSpPr>
        <p:spPr>
          <a:xfrm>
            <a:off x="6896100" y="3609975"/>
            <a:ext cx="4572000" cy="838200"/>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4D517E0B-F21E-2B64-AF66-03FC9DB53587}"/>
              </a:ext>
            </a:extLst>
          </p:cNvPr>
          <p:cNvSpPr txBox="1"/>
          <p:nvPr/>
        </p:nvSpPr>
        <p:spPr>
          <a:xfrm>
            <a:off x="6953250" y="3676929"/>
            <a:ext cx="44577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30" name="Rectangle 29">
            <a:extLst>
              <a:ext uri="{FF2B5EF4-FFF2-40B4-BE49-F238E27FC236}">
                <a16:creationId xmlns:a16="http://schemas.microsoft.com/office/drawing/2014/main" id="{98E46675-798D-D4D6-C043-E2E28D0014A4}"/>
              </a:ext>
            </a:extLst>
          </p:cNvPr>
          <p:cNvSpPr/>
          <p:nvPr/>
        </p:nvSpPr>
        <p:spPr>
          <a:xfrm>
            <a:off x="704850" y="4448175"/>
            <a:ext cx="409575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6ABEDFD3-8871-281A-1C18-E0A3ECD1CB2F}"/>
              </a:ext>
            </a:extLst>
          </p:cNvPr>
          <p:cNvSpPr txBox="1"/>
          <p:nvPr/>
        </p:nvSpPr>
        <p:spPr>
          <a:xfrm>
            <a:off x="762000" y="4515129"/>
            <a:ext cx="3981450" cy="270587"/>
          </a:xfrm>
          <a:prstGeom prst="rect">
            <a:avLst/>
          </a:prstGeom>
          <a:noFill/>
        </p:spPr>
        <p:txBody>
          <a:bodyPr vert="horz" lIns="50800" tIns="25400" rIns="50800" bIns="25400" rtlCol="0" anchor="ctr">
            <a:noAutofit/>
          </a:bodyPr>
          <a:lstStyle/>
          <a:p>
            <a:r>
              <a:rPr lang="nb-NO" sz="1425">
                <a:solidFill>
                  <a:srgbClr val="1C2930"/>
                </a:solidFill>
                <a:latin typeface="Aptos" panose="020B0004020202020204" pitchFamily="34" charset="0"/>
              </a:rPr>
              <a:t>Skog erstattes av annen kapital</a:t>
            </a:r>
            <a:endParaRPr lang="en-GB" sz="1425">
              <a:solidFill>
                <a:srgbClr val="1C2930"/>
              </a:solidFill>
              <a:latin typeface="Aptos" panose="020B0004020202020204" pitchFamily="34" charset="0"/>
            </a:endParaRPr>
          </a:p>
        </p:txBody>
      </p:sp>
      <p:sp>
        <p:nvSpPr>
          <p:cNvPr id="32" name="Rectangle 31">
            <a:extLst>
              <a:ext uri="{FF2B5EF4-FFF2-40B4-BE49-F238E27FC236}">
                <a16:creationId xmlns:a16="http://schemas.microsoft.com/office/drawing/2014/main" id="{198F99E7-4CFA-ACE9-C717-A2855E9A3FAB}"/>
              </a:ext>
            </a:extLst>
          </p:cNvPr>
          <p:cNvSpPr/>
          <p:nvPr/>
        </p:nvSpPr>
        <p:spPr>
          <a:xfrm>
            <a:off x="4800600" y="4448175"/>
            <a:ext cx="209550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2905D8D-5616-D920-D47D-65AFE6ED9EF7}"/>
              </a:ext>
            </a:extLst>
          </p:cNvPr>
          <p:cNvSpPr txBox="1"/>
          <p:nvPr/>
        </p:nvSpPr>
        <p:spPr>
          <a:xfrm>
            <a:off x="4857750" y="4515129"/>
            <a:ext cx="19812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
        <p:nvSpPr>
          <p:cNvPr id="34" name="Rectangle 33">
            <a:extLst>
              <a:ext uri="{FF2B5EF4-FFF2-40B4-BE49-F238E27FC236}">
                <a16:creationId xmlns:a16="http://schemas.microsoft.com/office/drawing/2014/main" id="{8511E573-3130-9782-56F9-9BEB66E7786D}"/>
              </a:ext>
            </a:extLst>
          </p:cNvPr>
          <p:cNvSpPr/>
          <p:nvPr/>
        </p:nvSpPr>
        <p:spPr>
          <a:xfrm>
            <a:off x="6896100" y="4448175"/>
            <a:ext cx="4572000" cy="838200"/>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73569D1E-EB78-EE3F-5083-8505D99CE455}"/>
              </a:ext>
            </a:extLst>
          </p:cNvPr>
          <p:cNvSpPr txBox="1"/>
          <p:nvPr/>
        </p:nvSpPr>
        <p:spPr>
          <a:xfrm>
            <a:off x="6953250" y="4515129"/>
            <a:ext cx="4457700" cy="270587"/>
          </a:xfrm>
          <a:prstGeom prst="rect">
            <a:avLst/>
          </a:prstGeom>
          <a:noFill/>
        </p:spPr>
        <p:txBody>
          <a:bodyPr vert="horz" lIns="50800" tIns="25400" rIns="50800" bIns="25400" rtlCol="0" anchor="ctr">
            <a:noAutofit/>
          </a:bodyPr>
          <a:lstStyle/>
          <a:p>
            <a:pPr algn="ctr"/>
            <a:endParaRPr lang="en-GB" sz="1425">
              <a:solidFill>
                <a:srgbClr val="1C2930"/>
              </a:solidFill>
              <a:latin typeface="Aptos" panose="020B0004020202020204" pitchFamily="34" charset="0"/>
            </a:endParaRPr>
          </a:p>
        </p:txBody>
      </p:sp>
    </p:spTree>
    <p:extLst>
      <p:ext uri="{BB962C8B-B14F-4D97-AF65-F5344CB8AC3E}">
        <p14:creationId xmlns:p14="http://schemas.microsoft.com/office/powerpoint/2010/main" val="2351840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3B98E-179C-8D3B-3D9C-2D2B0BDDDBFD}"/>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Hartwicks regel</a:t>
            </a:r>
          </a:p>
        </p:txBody>
      </p:sp>
      <p:sp>
        <p:nvSpPr>
          <p:cNvPr id="3" name="Rectangle 2">
            <a:extLst>
              <a:ext uri="{FF2B5EF4-FFF2-40B4-BE49-F238E27FC236}">
                <a16:creationId xmlns:a16="http://schemas.microsoft.com/office/drawing/2014/main" id="{0C8EA612-1872-E79A-2576-58A40658999B}"/>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653D7D84-61AC-4A2E-57CA-C63A00E6CF4C}"/>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9701FA90-C5C2-BD03-A7C2-0FE9A055BF1A}"/>
              </a:ext>
            </a:extLst>
          </p:cNvPr>
          <p:cNvSpPr txBox="1"/>
          <p:nvPr/>
        </p:nvSpPr>
        <p:spPr>
          <a:xfrm>
            <a:off x="1143000" y="1196460"/>
            <a:ext cx="9906000" cy="697627"/>
          </a:xfrm>
          <a:prstGeom prst="rect">
            <a:avLst/>
          </a:prstGeom>
          <a:noFill/>
        </p:spPr>
        <p:txBody>
          <a:bodyPr vert="horz" lIns="50800" tIns="25400" rIns="50800" bIns="25400" rtlCol="0" anchor="ctr">
            <a:noAutofit/>
          </a:bodyPr>
          <a:lstStyle/>
          <a:p>
            <a:pPr algn="ctr"/>
            <a:r>
              <a:rPr lang="nb-NO" sz="2100" b="1">
                <a:solidFill>
                  <a:srgbClr val="0B3D4F"/>
                </a:solidFill>
                <a:latin typeface="Aptos" panose="020B0004020202020204" pitchFamily="34" charset="0"/>
              </a:rPr>
              <a:t>Under bestemte modellforutsetninger kan konsum holdes konstant når hele knapphetsrenten investeres i reproduserbar kapital.</a:t>
            </a:r>
            <a:endParaRPr lang="en-GB" sz="2100" b="1">
              <a:solidFill>
                <a:srgbClr val="0B3D4F"/>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17D0C7C6-86DC-FCD4-9FD5-A737EAB44651}"/>
              </a:ext>
            </a:extLst>
          </p:cNvPr>
          <p:cNvSpPr/>
          <p:nvPr/>
        </p:nvSpPr>
        <p:spPr>
          <a:xfrm>
            <a:off x="2857500" y="3000375"/>
            <a:ext cx="6477000" cy="1000125"/>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03A9741B-DA03-8C40-0637-23678C842596}"/>
              </a:ext>
            </a:extLst>
          </p:cNvPr>
          <p:cNvSpPr txBox="1"/>
          <p:nvPr/>
        </p:nvSpPr>
        <p:spPr>
          <a:xfrm>
            <a:off x="2971800" y="3243559"/>
            <a:ext cx="6248400" cy="466794"/>
          </a:xfrm>
          <a:prstGeom prst="rect">
            <a:avLst/>
          </a:prstGeom>
          <a:noFill/>
        </p:spPr>
        <p:txBody>
          <a:bodyPr vert="horz" lIns="50800" tIns="25400" rIns="50800" bIns="25400" rtlCol="0" anchor="ctr">
            <a:noAutofit/>
          </a:bodyPr>
          <a:lstStyle/>
          <a:p>
            <a:pPr algn="ctr"/>
            <a:r>
              <a:rPr lang="en-GB" sz="2700" b="1" dirty="0" err="1">
                <a:solidFill>
                  <a:srgbClr val="0B3D4F"/>
                </a:solidFill>
                <a:latin typeface="Aptos" panose="020B0004020202020204" pitchFamily="34" charset="0"/>
              </a:rPr>
              <a:t>netto</a:t>
            </a:r>
            <a:r>
              <a:rPr lang="en-GB" sz="2700" b="1" dirty="0">
                <a:solidFill>
                  <a:srgbClr val="0B3D4F"/>
                </a:solidFill>
                <a:latin typeface="Aptos" panose="020B0004020202020204" pitchFamily="34" charset="0"/>
              </a:rPr>
              <a:t> </a:t>
            </a:r>
            <a:r>
              <a:rPr lang="en-GB" sz="2700" b="1" dirty="0" err="1">
                <a:solidFill>
                  <a:srgbClr val="0B3D4F"/>
                </a:solidFill>
                <a:latin typeface="Aptos" panose="020B0004020202020204" pitchFamily="34" charset="0"/>
              </a:rPr>
              <a:t>investering</a:t>
            </a:r>
            <a:r>
              <a:rPr lang="en-GB" sz="2700" b="1" dirty="0">
                <a:solidFill>
                  <a:srgbClr val="0B3D4F"/>
                </a:solidFill>
                <a:latin typeface="Aptos" panose="020B0004020202020204" pitchFamily="34" charset="0"/>
              </a:rPr>
              <a:t> = </a:t>
            </a:r>
            <a:r>
              <a:rPr lang="en-GB" sz="2700" b="1" dirty="0" err="1">
                <a:solidFill>
                  <a:srgbClr val="0B3D4F"/>
                </a:solidFill>
                <a:latin typeface="Aptos" panose="020B0004020202020204" pitchFamily="34" charset="0"/>
              </a:rPr>
              <a:t>ressursrente</a:t>
            </a:r>
            <a:endParaRPr lang="en-GB" sz="2700" b="1" dirty="0">
              <a:solidFill>
                <a:srgbClr val="0B3D4F"/>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64E19D89-7483-DA8E-C9DD-AF094E8D301D}"/>
              </a:ext>
            </a:extLst>
          </p:cNvPr>
          <p:cNvSpPr/>
          <p:nvPr/>
        </p:nvSpPr>
        <p:spPr>
          <a:xfrm>
            <a:off x="1619250" y="4810125"/>
            <a:ext cx="8953500" cy="8572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0BF22281-55D4-61F2-0C2C-E04E53F48B9B}"/>
              </a:ext>
            </a:extLst>
          </p:cNvPr>
          <p:cNvSpPr/>
          <p:nvPr/>
        </p:nvSpPr>
        <p:spPr>
          <a:xfrm>
            <a:off x="1619250" y="4810125"/>
            <a:ext cx="76200" cy="8572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4CCCE52-6670-E44F-3842-FA44CB681422}"/>
              </a:ext>
            </a:extLst>
          </p:cNvPr>
          <p:cNvSpPr txBox="1"/>
          <p:nvPr/>
        </p:nvSpPr>
        <p:spPr>
          <a:xfrm>
            <a:off x="1866900" y="4913020"/>
            <a:ext cx="7957203" cy="651460"/>
          </a:xfrm>
          <a:prstGeom prst="rect">
            <a:avLst/>
          </a:prstGeom>
          <a:noFill/>
        </p:spPr>
        <p:txBody>
          <a:bodyPr vert="horz" lIns="50800" tIns="25400" rIns="50800" bIns="25400" rtlCol="0" anchor="ctr">
            <a:noAutofit/>
          </a:bodyPr>
          <a:lstStyle/>
          <a:p>
            <a:r>
              <a:rPr lang="nb-NO" sz="1950" b="1" dirty="0">
                <a:solidFill>
                  <a:srgbClr val="0B3D4F"/>
                </a:solidFill>
                <a:latin typeface="Aptos" panose="020B0004020202020204" pitchFamily="34" charset="0"/>
              </a:rPr>
              <a:t>Salgsinntekt er ikke det samme som ressursrente. Kostnadene må trekkes fra.</a:t>
            </a:r>
            <a:endParaRPr lang="en-GB" sz="1950" b="1" dirty="0">
              <a:solidFill>
                <a:srgbClr val="0B3D4F"/>
              </a:solidFill>
              <a:latin typeface="Aptos" panose="020B0004020202020204" pitchFamily="34" charset="0"/>
            </a:endParaRPr>
          </a:p>
        </p:txBody>
      </p:sp>
    </p:spTree>
    <p:extLst>
      <p:ext uri="{BB962C8B-B14F-4D97-AF65-F5344CB8AC3E}">
        <p14:creationId xmlns:p14="http://schemas.microsoft.com/office/powerpoint/2010/main" val="742002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nb-NO" dirty="0"/>
              <a:t>Oljefondet </a:t>
            </a:r>
          </a:p>
        </p:txBody>
      </p:sp>
      <p:sp>
        <p:nvSpPr>
          <p:cNvPr id="3" name="Content Placeholder 2"/>
          <p:cNvSpPr>
            <a:spLocks noGrp="1"/>
          </p:cNvSpPr>
          <p:nvPr>
            <p:ph sz="half" idx="1"/>
          </p:nvPr>
        </p:nvSpPr>
        <p:spPr>
          <a:xfrm>
            <a:off x="838200" y="1825625"/>
            <a:ext cx="5181600" cy="4351338"/>
          </a:xfrm>
        </p:spPr>
        <p:txBody>
          <a:bodyPr>
            <a:normAutofit/>
          </a:bodyPr>
          <a:lstStyle/>
          <a:p>
            <a:r>
              <a:rPr lang="nb-NO" dirty="0"/>
              <a:t>Statens pensjonsfond utland (SPU), ofte kalt Oljefondet</a:t>
            </a:r>
          </a:p>
          <a:p>
            <a:r>
              <a:rPr lang="nb-NO" dirty="0"/>
              <a:t>Opprettet i 1990, første innskudd i 1996</a:t>
            </a:r>
          </a:p>
          <a:p>
            <a:r>
              <a:rPr lang="nb-NO" dirty="0"/>
              <a:t>Verdi: ca. 17 000 mrd. NOK (2024)</a:t>
            </a:r>
          </a:p>
          <a:p>
            <a:r>
              <a:rPr lang="nb-NO" dirty="0"/>
              <a:t>Formål: stabilisere økonomien og fordele inntekter mellom generasjoner</a:t>
            </a:r>
          </a:p>
        </p:txBody>
      </p:sp>
      <p:pic>
        <p:nvPicPr>
          <p:cNvPr id="4098" name="Picture 2" descr="Norges Bank mener Oljefondet ikke bør eie aksjer i selskaper som utvinner  olje og gass.">
            <a:extLst>
              <a:ext uri="{FF2B5EF4-FFF2-40B4-BE49-F238E27FC236}">
                <a16:creationId xmlns:a16="http://schemas.microsoft.com/office/drawing/2014/main" id="{FE033BD6-2DD2-B9C4-D78D-5241D951D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56" r="16453" b="-3"/>
          <a:stretch>
            <a:fillRect/>
          </a:stretch>
        </p:blipFill>
        <p:spPr bwMode="auto">
          <a:xfrm>
            <a:off x="6172200" y="1825625"/>
            <a:ext cx="5181600" cy="4351338"/>
          </a:xfrm>
          <a:prstGeom prst="rect">
            <a:avLst/>
          </a:prstGeom>
          <a:solidFill>
            <a:srgbClr val="FFFFFF"/>
          </a:solid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Oljefondet og Hartwick’s regel</a:t>
            </a:r>
          </a:p>
        </p:txBody>
      </p:sp>
      <p:sp>
        <p:nvSpPr>
          <p:cNvPr id="3" name="Content Placeholder 2"/>
          <p:cNvSpPr>
            <a:spLocks noGrp="1"/>
          </p:cNvSpPr>
          <p:nvPr>
            <p:ph idx="1"/>
          </p:nvPr>
        </p:nvSpPr>
        <p:spPr>
          <a:xfrm>
            <a:off x="838200" y="1825625"/>
            <a:ext cx="10515600" cy="4351338"/>
          </a:xfrm>
        </p:spPr>
        <p:txBody>
          <a:bodyPr/>
          <a:lstStyle/>
          <a:p>
            <a:r>
              <a:rPr lang="nb-NO" dirty="0" err="1"/>
              <a:t>Hartwick’s</a:t>
            </a:r>
            <a:r>
              <a:rPr lang="nb-NO" dirty="0"/>
              <a:t> regel</a:t>
            </a:r>
          </a:p>
          <a:p>
            <a:pPr lvl="1"/>
            <a:r>
              <a:rPr lang="nb-NO" dirty="0"/>
              <a:t>Ressursrenten fra </a:t>
            </a:r>
            <a:r>
              <a:rPr lang="nb-NO" dirty="0" err="1"/>
              <a:t>uttømbare</a:t>
            </a:r>
            <a:r>
              <a:rPr lang="nb-NO" dirty="0"/>
              <a:t> ressurser må investeres i reproduserbar kapital for å opprettholde total kapital.</a:t>
            </a:r>
          </a:p>
          <a:p>
            <a:r>
              <a:rPr lang="nb-NO" dirty="0"/>
              <a:t>Olje og gass → finanskapital i SPU</a:t>
            </a:r>
          </a:p>
          <a:p>
            <a:r>
              <a:rPr lang="nb-NO" dirty="0"/>
              <a:t>Totalkapital minst konstant → svak bærekraft</a:t>
            </a:r>
          </a:p>
          <a:p>
            <a:r>
              <a:rPr lang="nb-NO" dirty="0"/>
              <a:t>Eksempel på </a:t>
            </a:r>
            <a:r>
              <a:rPr lang="nb-NO" dirty="0" err="1"/>
              <a:t>intergenerasjonell</a:t>
            </a:r>
            <a:r>
              <a:rPr lang="nb-NO" dirty="0"/>
              <a:t> rettferdighet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D4BFE9-A33D-5753-04A9-252E50962EE6}"/>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Fond kan overføre verdi</a:t>
            </a:r>
          </a:p>
        </p:txBody>
      </p:sp>
      <p:sp>
        <p:nvSpPr>
          <p:cNvPr id="3" name="Rectangle 2">
            <a:extLst>
              <a:ext uri="{FF2B5EF4-FFF2-40B4-BE49-F238E27FC236}">
                <a16:creationId xmlns:a16="http://schemas.microsoft.com/office/drawing/2014/main" id="{0D7C9961-E9CA-6020-4AA4-2048906AC5A6}"/>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8A067F0-E353-525F-B9B4-07EE1657B018}"/>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5">
            <a:extLst>
              <a:ext uri="{FF2B5EF4-FFF2-40B4-BE49-F238E27FC236}">
                <a16:creationId xmlns:a16="http://schemas.microsoft.com/office/drawing/2014/main" id="{78C2B58A-3EBA-4BB8-424A-F2D1C77E162F}"/>
              </a:ext>
            </a:extLst>
          </p:cNvPr>
          <p:cNvSpPr/>
          <p:nvPr/>
        </p:nvSpPr>
        <p:spPr>
          <a:xfrm>
            <a:off x="647700" y="1314450"/>
            <a:ext cx="29527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41D355A-032B-ECFA-CE5F-E3ACFC8EDF02}"/>
              </a:ext>
            </a:extLst>
          </p:cNvPr>
          <p:cNvSpPr txBox="1"/>
          <p:nvPr/>
        </p:nvSpPr>
        <p:spPr>
          <a:xfrm>
            <a:off x="704850" y="1387175"/>
            <a:ext cx="2838450" cy="259045"/>
          </a:xfrm>
          <a:prstGeom prst="rect">
            <a:avLst/>
          </a:prstGeom>
          <a:noFill/>
        </p:spPr>
        <p:txBody>
          <a:bodyPr vert="horz" lIns="50800" tIns="25400" rIns="50800" bIns="25400" rtlCol="0" anchor="ctr">
            <a:noAutofit/>
          </a:bodyPr>
          <a:lstStyle/>
          <a:p>
            <a:r>
              <a:rPr lang="en-GB" sz="1350" b="1">
                <a:solidFill>
                  <a:srgbClr val="FFFFFF"/>
                </a:solidFill>
                <a:latin typeface="Aptos" panose="020B0004020202020204" pitchFamily="34" charset="0"/>
              </a:rPr>
              <a:t>Eksempel</a:t>
            </a:r>
          </a:p>
        </p:txBody>
      </p:sp>
      <p:sp>
        <p:nvSpPr>
          <p:cNvPr id="8" name="Rectangle 7">
            <a:extLst>
              <a:ext uri="{FF2B5EF4-FFF2-40B4-BE49-F238E27FC236}">
                <a16:creationId xmlns:a16="http://schemas.microsoft.com/office/drawing/2014/main" id="{A0DC5AD6-DC88-67E6-75C5-3C3E5DF2F35F}"/>
              </a:ext>
            </a:extLst>
          </p:cNvPr>
          <p:cNvSpPr/>
          <p:nvPr/>
        </p:nvSpPr>
        <p:spPr>
          <a:xfrm>
            <a:off x="3600450" y="1314450"/>
            <a:ext cx="371475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4BCAACE7-FA26-F9C8-9993-9717D77EBCC1}"/>
              </a:ext>
            </a:extLst>
          </p:cNvPr>
          <p:cNvSpPr txBox="1"/>
          <p:nvPr/>
        </p:nvSpPr>
        <p:spPr>
          <a:xfrm>
            <a:off x="3657600" y="1387175"/>
            <a:ext cx="3600450" cy="259045"/>
          </a:xfrm>
          <a:prstGeom prst="rect">
            <a:avLst/>
          </a:prstGeom>
          <a:noFill/>
        </p:spPr>
        <p:txBody>
          <a:bodyPr vert="horz" lIns="50800" tIns="25400" rIns="50800" bIns="25400" rtlCol="0" anchor="ctr">
            <a:noAutofit/>
          </a:bodyPr>
          <a:lstStyle/>
          <a:p>
            <a:pPr algn="ctr"/>
            <a:r>
              <a:rPr lang="en-GB" sz="1350" b="1">
                <a:solidFill>
                  <a:srgbClr val="FFFFFF"/>
                </a:solidFill>
                <a:latin typeface="Aptos" panose="020B0004020202020204" pitchFamily="34" charset="0"/>
              </a:rPr>
              <a:t>Konvertering</a:t>
            </a:r>
          </a:p>
        </p:txBody>
      </p:sp>
      <p:sp>
        <p:nvSpPr>
          <p:cNvPr id="10" name="Rectangle 9">
            <a:extLst>
              <a:ext uri="{FF2B5EF4-FFF2-40B4-BE49-F238E27FC236}">
                <a16:creationId xmlns:a16="http://schemas.microsoft.com/office/drawing/2014/main" id="{E409EEB5-7464-1E7F-40A1-319B375ACABC}"/>
              </a:ext>
            </a:extLst>
          </p:cNvPr>
          <p:cNvSpPr/>
          <p:nvPr/>
        </p:nvSpPr>
        <p:spPr>
          <a:xfrm>
            <a:off x="7315200" y="1314450"/>
            <a:ext cx="4191000" cy="552450"/>
          </a:xfrm>
          <a:prstGeom prst="rect">
            <a:avLst/>
          </a:prstGeom>
          <a:solidFill>
            <a:srgbClr val="0B3D4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6115B67-1D98-41AB-F6F3-00651A4C4EC8}"/>
              </a:ext>
            </a:extLst>
          </p:cNvPr>
          <p:cNvSpPr txBox="1"/>
          <p:nvPr/>
        </p:nvSpPr>
        <p:spPr>
          <a:xfrm>
            <a:off x="7372350" y="1387175"/>
            <a:ext cx="4076700" cy="259045"/>
          </a:xfrm>
          <a:prstGeom prst="rect">
            <a:avLst/>
          </a:prstGeom>
          <a:noFill/>
        </p:spPr>
        <p:txBody>
          <a:bodyPr vert="horz" lIns="50800" tIns="25400" rIns="50800" bIns="25400" rtlCol="0" anchor="ctr">
            <a:noAutofit/>
          </a:bodyPr>
          <a:lstStyle/>
          <a:p>
            <a:pPr algn="ctr"/>
            <a:r>
              <a:rPr lang="en-GB" sz="1350" b="1">
                <a:solidFill>
                  <a:srgbClr val="FFFFFF"/>
                </a:solidFill>
                <a:latin typeface="Aptos" panose="020B0004020202020204" pitchFamily="34" charset="0"/>
              </a:rPr>
              <a:t>Hovedspørsmål</a:t>
            </a:r>
          </a:p>
        </p:txBody>
      </p:sp>
      <p:sp>
        <p:nvSpPr>
          <p:cNvPr id="12" name="Rectangle 11">
            <a:extLst>
              <a:ext uri="{FF2B5EF4-FFF2-40B4-BE49-F238E27FC236}">
                <a16:creationId xmlns:a16="http://schemas.microsoft.com/office/drawing/2014/main" id="{87516CB1-1965-31B2-B372-50384874090A}"/>
              </a:ext>
            </a:extLst>
          </p:cNvPr>
          <p:cNvSpPr/>
          <p:nvPr/>
        </p:nvSpPr>
        <p:spPr>
          <a:xfrm>
            <a:off x="647700" y="1866900"/>
            <a:ext cx="295275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5CE8C6C0-4B5C-A617-4B29-22B55BB8B977}"/>
              </a:ext>
            </a:extLst>
          </p:cNvPr>
          <p:cNvSpPr txBox="1"/>
          <p:nvPr/>
        </p:nvSpPr>
        <p:spPr>
          <a:xfrm>
            <a:off x="704850" y="1939625"/>
            <a:ext cx="2838450" cy="259045"/>
          </a:xfrm>
          <a:prstGeom prst="rect">
            <a:avLst/>
          </a:prstGeom>
          <a:noFill/>
        </p:spPr>
        <p:txBody>
          <a:bodyPr vert="horz" lIns="50800" tIns="25400" rIns="50800" bIns="25400" rtlCol="0" anchor="ctr">
            <a:noAutofit/>
          </a:bodyPr>
          <a:lstStyle/>
          <a:p>
            <a:r>
              <a:rPr lang="en-GB" sz="1350" b="1">
                <a:solidFill>
                  <a:srgbClr val="1C2930"/>
                </a:solidFill>
                <a:latin typeface="Aptos" panose="020B0004020202020204" pitchFamily="34" charset="0"/>
              </a:rPr>
              <a:t>Statens pensjonsfond utland</a:t>
            </a:r>
          </a:p>
        </p:txBody>
      </p:sp>
      <p:sp>
        <p:nvSpPr>
          <p:cNvPr id="14" name="Rectangle 13">
            <a:extLst>
              <a:ext uri="{FF2B5EF4-FFF2-40B4-BE49-F238E27FC236}">
                <a16:creationId xmlns:a16="http://schemas.microsoft.com/office/drawing/2014/main" id="{F1FFE5CB-D8CC-3F71-E9DD-37E013C05CF0}"/>
              </a:ext>
            </a:extLst>
          </p:cNvPr>
          <p:cNvSpPr/>
          <p:nvPr/>
        </p:nvSpPr>
        <p:spPr>
          <a:xfrm>
            <a:off x="3600450" y="1866900"/>
            <a:ext cx="371475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0025E6AE-D436-CE3C-5918-38806B41D121}"/>
              </a:ext>
            </a:extLst>
          </p:cNvPr>
          <p:cNvSpPr txBox="1"/>
          <p:nvPr/>
        </p:nvSpPr>
        <p:spPr>
          <a:xfrm>
            <a:off x="3657600" y="1939625"/>
            <a:ext cx="3600450" cy="259045"/>
          </a:xfrm>
          <a:prstGeom prst="rect">
            <a:avLst/>
          </a:prstGeom>
          <a:noFill/>
        </p:spPr>
        <p:txBody>
          <a:bodyPr vert="horz" lIns="50800" tIns="25400" rIns="50800" bIns="25400" rtlCol="0" anchor="ctr">
            <a:noAutofit/>
          </a:bodyPr>
          <a:lstStyle/>
          <a:p>
            <a:pPr algn="ctr"/>
            <a:r>
              <a:rPr lang="en-GB" sz="1350">
                <a:solidFill>
                  <a:srgbClr val="1C2930"/>
                </a:solidFill>
                <a:latin typeface="Aptos" panose="020B0004020202020204" pitchFamily="34" charset="0"/>
              </a:rPr>
              <a:t>Petroleum → finanskapital</a:t>
            </a:r>
          </a:p>
        </p:txBody>
      </p:sp>
      <p:sp>
        <p:nvSpPr>
          <p:cNvPr id="16" name="Rectangle 15">
            <a:extLst>
              <a:ext uri="{FF2B5EF4-FFF2-40B4-BE49-F238E27FC236}">
                <a16:creationId xmlns:a16="http://schemas.microsoft.com/office/drawing/2014/main" id="{5A1186A5-7CE4-A789-C857-034D3D61CC07}"/>
              </a:ext>
            </a:extLst>
          </p:cNvPr>
          <p:cNvSpPr/>
          <p:nvPr/>
        </p:nvSpPr>
        <p:spPr>
          <a:xfrm>
            <a:off x="7315200" y="1866900"/>
            <a:ext cx="419100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E4A7A4B4-86FB-EAA7-9BF0-5A477FFDC7FE}"/>
              </a:ext>
            </a:extLst>
          </p:cNvPr>
          <p:cNvSpPr txBox="1"/>
          <p:nvPr/>
        </p:nvSpPr>
        <p:spPr>
          <a:xfrm>
            <a:off x="7372350" y="1939625"/>
            <a:ext cx="4076700" cy="259045"/>
          </a:xfrm>
          <a:prstGeom prst="rect">
            <a:avLst/>
          </a:prstGeom>
          <a:noFill/>
        </p:spPr>
        <p:txBody>
          <a:bodyPr vert="horz" lIns="50800" tIns="25400" rIns="50800" bIns="25400" rtlCol="0" anchor="ctr">
            <a:noAutofit/>
          </a:bodyPr>
          <a:lstStyle/>
          <a:p>
            <a:pPr algn="ctr"/>
            <a:r>
              <a:rPr lang="nb-NO" sz="1350">
                <a:solidFill>
                  <a:srgbClr val="1C2930"/>
                </a:solidFill>
                <a:latin typeface="Aptos" panose="020B0004020202020204" pitchFamily="34" charset="0"/>
              </a:rPr>
              <a:t>Hvor mye brukes og spares?</a:t>
            </a:r>
            <a:endParaRPr lang="en-GB" sz="1350">
              <a:solidFill>
                <a:srgbClr val="1C2930"/>
              </a:solidFill>
              <a:latin typeface="Aptos" panose="020B0004020202020204" pitchFamily="34" charset="0"/>
            </a:endParaRPr>
          </a:p>
        </p:txBody>
      </p:sp>
      <p:sp>
        <p:nvSpPr>
          <p:cNvPr id="18" name="Rectangle 17">
            <a:extLst>
              <a:ext uri="{FF2B5EF4-FFF2-40B4-BE49-F238E27FC236}">
                <a16:creationId xmlns:a16="http://schemas.microsoft.com/office/drawing/2014/main" id="{72BEE3BE-945C-CC5D-A14F-727C41C4E4A6}"/>
              </a:ext>
            </a:extLst>
          </p:cNvPr>
          <p:cNvSpPr/>
          <p:nvPr/>
        </p:nvSpPr>
        <p:spPr>
          <a:xfrm>
            <a:off x="647700" y="2847975"/>
            <a:ext cx="2952750" cy="981075"/>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CA2F3C4C-F1D9-A10C-4A28-1C381EBCEFC4}"/>
              </a:ext>
            </a:extLst>
          </p:cNvPr>
          <p:cNvSpPr txBox="1"/>
          <p:nvPr/>
        </p:nvSpPr>
        <p:spPr>
          <a:xfrm>
            <a:off x="704850" y="2920700"/>
            <a:ext cx="2838450" cy="259045"/>
          </a:xfrm>
          <a:prstGeom prst="rect">
            <a:avLst/>
          </a:prstGeom>
          <a:noFill/>
        </p:spPr>
        <p:txBody>
          <a:bodyPr vert="horz" lIns="50800" tIns="25400" rIns="50800" bIns="25400" rtlCol="0" anchor="ctr">
            <a:noAutofit/>
          </a:bodyPr>
          <a:lstStyle/>
          <a:p>
            <a:r>
              <a:rPr lang="en-GB" sz="1350" b="1">
                <a:solidFill>
                  <a:srgbClr val="1C2930"/>
                </a:solidFill>
                <a:latin typeface="Aptos" panose="020B0004020202020204" pitchFamily="34" charset="0"/>
              </a:rPr>
              <a:t>Alaska Permanent Fund</a:t>
            </a:r>
          </a:p>
        </p:txBody>
      </p:sp>
      <p:sp>
        <p:nvSpPr>
          <p:cNvPr id="20" name="Rectangle 19">
            <a:extLst>
              <a:ext uri="{FF2B5EF4-FFF2-40B4-BE49-F238E27FC236}">
                <a16:creationId xmlns:a16="http://schemas.microsoft.com/office/drawing/2014/main" id="{94DF37CB-2850-B3EC-927F-C1C1D10DD648}"/>
              </a:ext>
            </a:extLst>
          </p:cNvPr>
          <p:cNvSpPr/>
          <p:nvPr/>
        </p:nvSpPr>
        <p:spPr>
          <a:xfrm>
            <a:off x="3600450" y="2847975"/>
            <a:ext cx="3714750" cy="981075"/>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6F51F6DC-2F38-789E-5D1E-143CFD4D7F78}"/>
              </a:ext>
            </a:extLst>
          </p:cNvPr>
          <p:cNvSpPr txBox="1"/>
          <p:nvPr/>
        </p:nvSpPr>
        <p:spPr>
          <a:xfrm>
            <a:off x="3657600" y="2920700"/>
            <a:ext cx="3600450" cy="259045"/>
          </a:xfrm>
          <a:prstGeom prst="rect">
            <a:avLst/>
          </a:prstGeom>
          <a:noFill/>
        </p:spPr>
        <p:txBody>
          <a:bodyPr vert="horz" lIns="50800" tIns="25400" rIns="50800" bIns="25400" rtlCol="0" anchor="ctr">
            <a:noAutofit/>
          </a:bodyPr>
          <a:lstStyle/>
          <a:p>
            <a:pPr algn="ctr"/>
            <a:r>
              <a:rPr lang="en-GB" sz="1350">
                <a:solidFill>
                  <a:srgbClr val="1C2930"/>
                </a:solidFill>
                <a:latin typeface="Aptos" panose="020B0004020202020204" pitchFamily="34" charset="0"/>
              </a:rPr>
              <a:t>Oljeinntekter → fond</a:t>
            </a:r>
          </a:p>
        </p:txBody>
      </p:sp>
      <p:sp>
        <p:nvSpPr>
          <p:cNvPr id="22" name="Rectangle 21">
            <a:extLst>
              <a:ext uri="{FF2B5EF4-FFF2-40B4-BE49-F238E27FC236}">
                <a16:creationId xmlns:a16="http://schemas.microsoft.com/office/drawing/2014/main" id="{D767A117-47B0-5FE1-F326-42DC943896D3}"/>
              </a:ext>
            </a:extLst>
          </p:cNvPr>
          <p:cNvSpPr/>
          <p:nvPr/>
        </p:nvSpPr>
        <p:spPr>
          <a:xfrm>
            <a:off x="7315200" y="2847975"/>
            <a:ext cx="4191000" cy="981075"/>
          </a:xfrm>
          <a:prstGeom prst="rect">
            <a:avLst/>
          </a:prstGeom>
          <a:solidFill>
            <a:srgbClr val="F5F8F9"/>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B741FBBA-0606-4C5B-A933-7A2686BB657F}"/>
              </a:ext>
            </a:extLst>
          </p:cNvPr>
          <p:cNvSpPr txBox="1"/>
          <p:nvPr/>
        </p:nvSpPr>
        <p:spPr>
          <a:xfrm>
            <a:off x="7372350" y="2920700"/>
            <a:ext cx="4076700" cy="259045"/>
          </a:xfrm>
          <a:prstGeom prst="rect">
            <a:avLst/>
          </a:prstGeom>
          <a:noFill/>
        </p:spPr>
        <p:txBody>
          <a:bodyPr vert="horz" lIns="50800" tIns="25400" rIns="50800" bIns="25400" rtlCol="0" anchor="ctr">
            <a:noAutofit/>
          </a:bodyPr>
          <a:lstStyle/>
          <a:p>
            <a:pPr algn="ctr"/>
            <a:r>
              <a:rPr lang="en-GB" sz="1350">
                <a:solidFill>
                  <a:srgbClr val="1C2930"/>
                </a:solidFill>
                <a:latin typeface="Aptos" panose="020B0004020202020204" pitchFamily="34" charset="0"/>
              </a:rPr>
              <a:t>Hvordan beskyttes kapitalen?</a:t>
            </a:r>
          </a:p>
        </p:txBody>
      </p:sp>
      <p:sp>
        <p:nvSpPr>
          <p:cNvPr id="24" name="Rectangle 23">
            <a:extLst>
              <a:ext uri="{FF2B5EF4-FFF2-40B4-BE49-F238E27FC236}">
                <a16:creationId xmlns:a16="http://schemas.microsoft.com/office/drawing/2014/main" id="{62FEE3C8-4279-D176-FA94-D8D53BA6154E}"/>
              </a:ext>
            </a:extLst>
          </p:cNvPr>
          <p:cNvSpPr/>
          <p:nvPr/>
        </p:nvSpPr>
        <p:spPr>
          <a:xfrm>
            <a:off x="647700" y="3829050"/>
            <a:ext cx="295275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179D6A7F-9FD8-F3F3-CE85-8CBDE87769B5}"/>
              </a:ext>
            </a:extLst>
          </p:cNvPr>
          <p:cNvSpPr txBox="1"/>
          <p:nvPr/>
        </p:nvSpPr>
        <p:spPr>
          <a:xfrm>
            <a:off x="704850" y="3901775"/>
            <a:ext cx="2838450" cy="259045"/>
          </a:xfrm>
          <a:prstGeom prst="rect">
            <a:avLst/>
          </a:prstGeom>
          <a:noFill/>
        </p:spPr>
        <p:txBody>
          <a:bodyPr vert="horz" lIns="50800" tIns="25400" rIns="50800" bIns="25400" rtlCol="0" anchor="ctr">
            <a:noAutofit/>
          </a:bodyPr>
          <a:lstStyle/>
          <a:p>
            <a:r>
              <a:rPr lang="en-GB" sz="1350" b="1">
                <a:solidFill>
                  <a:srgbClr val="1C2930"/>
                </a:solidFill>
                <a:latin typeface="Aptos" panose="020B0004020202020204" pitchFamily="34" charset="0"/>
              </a:rPr>
              <a:t>Nauru</a:t>
            </a:r>
          </a:p>
        </p:txBody>
      </p:sp>
      <p:sp>
        <p:nvSpPr>
          <p:cNvPr id="26" name="Rectangle 25">
            <a:extLst>
              <a:ext uri="{FF2B5EF4-FFF2-40B4-BE49-F238E27FC236}">
                <a16:creationId xmlns:a16="http://schemas.microsoft.com/office/drawing/2014/main" id="{3B7C7049-7FEF-A24B-444E-AA34906B5778}"/>
              </a:ext>
            </a:extLst>
          </p:cNvPr>
          <p:cNvSpPr/>
          <p:nvPr/>
        </p:nvSpPr>
        <p:spPr>
          <a:xfrm>
            <a:off x="3600450" y="3829050"/>
            <a:ext cx="371475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603840F2-08E8-95C7-4878-83B62800FC02}"/>
              </a:ext>
            </a:extLst>
          </p:cNvPr>
          <p:cNvSpPr txBox="1"/>
          <p:nvPr/>
        </p:nvSpPr>
        <p:spPr>
          <a:xfrm>
            <a:off x="3657600" y="3901775"/>
            <a:ext cx="3600450" cy="259045"/>
          </a:xfrm>
          <a:prstGeom prst="rect">
            <a:avLst/>
          </a:prstGeom>
          <a:noFill/>
        </p:spPr>
        <p:txBody>
          <a:bodyPr vert="horz" lIns="50800" tIns="25400" rIns="50800" bIns="25400" rtlCol="0" anchor="ctr">
            <a:noAutofit/>
          </a:bodyPr>
          <a:lstStyle/>
          <a:p>
            <a:pPr algn="ctr"/>
            <a:r>
              <a:rPr lang="en-GB" sz="1350">
                <a:solidFill>
                  <a:srgbClr val="1C2930"/>
                </a:solidFill>
                <a:latin typeface="Aptos" panose="020B0004020202020204" pitchFamily="34" charset="0"/>
              </a:rPr>
              <a:t>Fosfat → inntekter</a:t>
            </a:r>
          </a:p>
        </p:txBody>
      </p:sp>
      <p:sp>
        <p:nvSpPr>
          <p:cNvPr id="28" name="Rectangle 27">
            <a:extLst>
              <a:ext uri="{FF2B5EF4-FFF2-40B4-BE49-F238E27FC236}">
                <a16:creationId xmlns:a16="http://schemas.microsoft.com/office/drawing/2014/main" id="{B427B21F-3734-18B7-61B4-E3ADC71690B9}"/>
              </a:ext>
            </a:extLst>
          </p:cNvPr>
          <p:cNvSpPr/>
          <p:nvPr/>
        </p:nvSpPr>
        <p:spPr>
          <a:xfrm>
            <a:off x="7315200" y="3829050"/>
            <a:ext cx="4191000" cy="981075"/>
          </a:xfrm>
          <a:prstGeom prst="rect">
            <a:avLst/>
          </a:prstGeom>
          <a:solidFill>
            <a:srgbClr val="FFFFFF"/>
          </a:solidFill>
          <a:ln w="9525">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D54059F2-A83E-274B-BD35-03D91CB51289}"/>
              </a:ext>
            </a:extLst>
          </p:cNvPr>
          <p:cNvSpPr txBox="1"/>
          <p:nvPr/>
        </p:nvSpPr>
        <p:spPr>
          <a:xfrm>
            <a:off x="7372350" y="3901775"/>
            <a:ext cx="4076700" cy="259045"/>
          </a:xfrm>
          <a:prstGeom prst="rect">
            <a:avLst/>
          </a:prstGeom>
          <a:noFill/>
        </p:spPr>
        <p:txBody>
          <a:bodyPr vert="horz" lIns="50800" tIns="25400" rIns="50800" bIns="25400" rtlCol="0" anchor="ctr">
            <a:noAutofit/>
          </a:bodyPr>
          <a:lstStyle/>
          <a:p>
            <a:pPr algn="ctr"/>
            <a:r>
              <a:rPr lang="nb-NO" sz="1350">
                <a:solidFill>
                  <a:srgbClr val="1C2930"/>
                </a:solidFill>
                <a:latin typeface="Aptos" panose="020B0004020202020204" pitchFamily="34" charset="0"/>
              </a:rPr>
              <a:t>Ble varige verdier bygget opp?</a:t>
            </a:r>
            <a:endParaRPr lang="en-GB" sz="1350">
              <a:solidFill>
                <a:srgbClr val="1C2930"/>
              </a:solidFill>
              <a:latin typeface="Aptos" panose="020B0004020202020204" pitchFamily="34" charset="0"/>
            </a:endParaRPr>
          </a:p>
        </p:txBody>
      </p:sp>
      <p:sp>
        <p:nvSpPr>
          <p:cNvPr id="30" name="Rectangle: Rounded Corners 29">
            <a:extLst>
              <a:ext uri="{FF2B5EF4-FFF2-40B4-BE49-F238E27FC236}">
                <a16:creationId xmlns:a16="http://schemas.microsoft.com/office/drawing/2014/main" id="{4FFB2B16-D813-3A23-3D26-482F6D633BBE}"/>
              </a:ext>
            </a:extLst>
          </p:cNvPr>
          <p:cNvSpPr/>
          <p:nvPr/>
        </p:nvSpPr>
        <p:spPr>
          <a:xfrm>
            <a:off x="1809750" y="5314950"/>
            <a:ext cx="8572500" cy="64770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262D5D1D-D5A3-D972-FBDD-F8106A0D5780}"/>
              </a:ext>
            </a:extLst>
          </p:cNvPr>
          <p:cNvSpPr/>
          <p:nvPr/>
        </p:nvSpPr>
        <p:spPr>
          <a:xfrm>
            <a:off x="1809750" y="5314950"/>
            <a:ext cx="76200" cy="64770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6B5AE0E0-E3F2-D505-7169-A1F58CCF76BC}"/>
              </a:ext>
            </a:extLst>
          </p:cNvPr>
          <p:cNvSpPr txBox="1"/>
          <p:nvPr/>
        </p:nvSpPr>
        <p:spPr>
          <a:xfrm>
            <a:off x="2076450" y="5398659"/>
            <a:ext cx="8153400" cy="351378"/>
          </a:xfrm>
          <a:prstGeom prst="rect">
            <a:avLst/>
          </a:prstGeom>
          <a:noFill/>
        </p:spPr>
        <p:txBody>
          <a:bodyPr vert="horz" lIns="50800" tIns="25400" rIns="50800" bIns="25400" rtlCol="0" anchor="ctr">
            <a:noAutofit/>
          </a:bodyPr>
          <a:lstStyle/>
          <a:p>
            <a:r>
              <a:rPr lang="nb-NO" sz="1950" b="1">
                <a:solidFill>
                  <a:srgbClr val="0B3D4F"/>
                </a:solidFill>
                <a:latin typeface="Aptos" panose="020B0004020202020204" pitchFamily="34" charset="0"/>
              </a:rPr>
              <a:t>Et fond viser omforming av kapital, men beviser ikke alene bærekraft.</a:t>
            </a:r>
            <a:endParaRPr lang="en-GB" sz="1950" b="1">
              <a:solidFill>
                <a:srgbClr val="0B3D4F"/>
              </a:solidFill>
              <a:latin typeface="Aptos" panose="020B0004020202020204" pitchFamily="34" charset="0"/>
            </a:endParaRPr>
          </a:p>
        </p:txBody>
      </p:sp>
    </p:spTree>
    <p:extLst>
      <p:ext uri="{BB962C8B-B14F-4D97-AF65-F5344CB8AC3E}">
        <p14:creationId xmlns:p14="http://schemas.microsoft.com/office/powerpoint/2010/main" val="77944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8AFDED-FEDC-0818-CD9D-D4147B97D622}"/>
              </a:ext>
            </a:extLst>
          </p:cNvPr>
          <p:cNvSpPr txBox="1"/>
          <p:nvPr/>
        </p:nvSpPr>
        <p:spPr>
          <a:xfrm>
            <a:off x="914400" y="260371"/>
            <a:ext cx="10160000" cy="455253"/>
          </a:xfrm>
          <a:prstGeom prst="rect">
            <a:avLst/>
          </a:prstGeom>
          <a:noFill/>
        </p:spPr>
        <p:txBody>
          <a:bodyPr vert="horz" lIns="50800" tIns="25400" rIns="50800" bIns="25400" rtlCol="0" anchor="ctr">
            <a:noAutofit/>
          </a:bodyPr>
          <a:lstStyle/>
          <a:p>
            <a:r>
              <a:rPr lang="nb-NO" sz="2625" b="1">
                <a:solidFill>
                  <a:srgbClr val="0B3D4F"/>
                </a:solidFill>
                <a:latin typeface="Aptos" panose="020B0004020202020204" pitchFamily="34" charset="0"/>
              </a:rPr>
              <a:t>Oppgave 4: Fond eller vern?</a:t>
            </a:r>
            <a:endParaRPr lang="en-GB" sz="2625" b="1">
              <a:solidFill>
                <a:srgbClr val="0B3D4F"/>
              </a:solidFill>
              <a:latin typeface="Aptos" panose="020B0004020202020204" pitchFamily="34" charset="0"/>
            </a:endParaRPr>
          </a:p>
        </p:txBody>
      </p:sp>
      <p:sp>
        <p:nvSpPr>
          <p:cNvPr id="3" name="Rectangle 2">
            <a:extLst>
              <a:ext uri="{FF2B5EF4-FFF2-40B4-BE49-F238E27FC236}">
                <a16:creationId xmlns:a16="http://schemas.microsoft.com/office/drawing/2014/main" id="{F1FB824D-2303-D3B6-EDD0-233100A690D7}"/>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316326F-086A-E72C-2801-29B10B6E9A02}"/>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617988C6-3D9E-CD1B-9357-0F3C301E663A}"/>
              </a:ext>
            </a:extLst>
          </p:cNvPr>
          <p:cNvSpPr/>
          <p:nvPr/>
        </p:nvSpPr>
        <p:spPr>
          <a:xfrm>
            <a:off x="723900" y="1381125"/>
            <a:ext cx="10744200" cy="361950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EE4EA04-9CBE-CC8A-785F-B1C0777871B8}"/>
              </a:ext>
            </a:extLst>
          </p:cNvPr>
          <p:cNvSpPr/>
          <p:nvPr/>
        </p:nvSpPr>
        <p:spPr>
          <a:xfrm>
            <a:off x="723900" y="1381125"/>
            <a:ext cx="95250" cy="3619500"/>
          </a:xfrm>
          <a:prstGeom prst="rect">
            <a:avLst/>
          </a:prstGeom>
          <a:solidFill>
            <a:srgbClr val="087E8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6FC3E665-8A68-CFBE-C9B1-D32D759912AE}"/>
              </a:ext>
            </a:extLst>
          </p:cNvPr>
          <p:cNvSpPr txBox="1"/>
          <p:nvPr/>
        </p:nvSpPr>
        <p:spPr>
          <a:xfrm>
            <a:off x="1104900" y="1600200"/>
            <a:ext cx="9953625" cy="674544"/>
          </a:xfrm>
          <a:prstGeom prst="rect">
            <a:avLst/>
          </a:prstGeom>
          <a:noFill/>
        </p:spPr>
        <p:txBody>
          <a:bodyPr vert="horz" lIns="50800" tIns="25400" rIns="50800" bIns="25400" rtlCol="0" anchor="t">
            <a:noAutofit/>
          </a:bodyPr>
          <a:lstStyle/>
          <a:p>
            <a:r>
              <a:rPr lang="en-GB" sz="2025" b="1">
                <a:solidFill>
                  <a:srgbClr val="0B3D4F"/>
                </a:solidFill>
                <a:latin typeface="Aptos" panose="020B0004020202020204" pitchFamily="34" charset="0"/>
              </a:rPr>
              <a:t>Et lokalsamfunn kan utvinne en mineralforekomst og investere ressursrenten i et fond – eller bevare området som natur- og reiselivsressurs.</a:t>
            </a:r>
          </a:p>
        </p:txBody>
      </p:sp>
      <p:sp>
        <p:nvSpPr>
          <p:cNvPr id="9" name="TextBox 8">
            <a:extLst>
              <a:ext uri="{FF2B5EF4-FFF2-40B4-BE49-F238E27FC236}">
                <a16:creationId xmlns:a16="http://schemas.microsoft.com/office/drawing/2014/main" id="{0E823B0C-9D22-0CF5-2B59-381B73CFB28D}"/>
              </a:ext>
            </a:extLst>
          </p:cNvPr>
          <p:cNvSpPr txBox="1"/>
          <p:nvPr/>
        </p:nvSpPr>
        <p:spPr>
          <a:xfrm>
            <a:off x="1104900" y="3162300"/>
            <a:ext cx="9953625" cy="605294"/>
          </a:xfrm>
          <a:prstGeom prst="rect">
            <a:avLst/>
          </a:prstGeom>
          <a:noFill/>
        </p:spPr>
        <p:txBody>
          <a:bodyPr vert="horz" lIns="50800" tIns="25400" rIns="50800" bIns="25400" rtlCol="0" anchor="t">
            <a:noAutofit/>
          </a:bodyPr>
          <a:lstStyle/>
          <a:p>
            <a:r>
              <a:rPr lang="nb-NO" sz="1725">
                <a:solidFill>
                  <a:srgbClr val="1C2930"/>
                </a:solidFill>
                <a:latin typeface="Aptos" panose="020B0004020202020204" pitchFamily="34" charset="0"/>
              </a:rPr>
              <a:t>Gi én anbefaling. Oppgi kriteriet, én opplysning dere trenger og én virkning en ren nåverdiberegning kan overse.</a:t>
            </a:r>
            <a:endParaRPr lang="en-GB" sz="1725">
              <a:solidFill>
                <a:srgbClr val="1C2930"/>
              </a:solidFill>
              <a:latin typeface="Aptos" panose="020B0004020202020204" pitchFamily="34" charset="0"/>
            </a:endParaRPr>
          </a:p>
        </p:txBody>
      </p:sp>
      <p:sp>
        <p:nvSpPr>
          <p:cNvPr id="10" name="TextBox 9">
            <a:extLst>
              <a:ext uri="{FF2B5EF4-FFF2-40B4-BE49-F238E27FC236}">
                <a16:creationId xmlns:a16="http://schemas.microsoft.com/office/drawing/2014/main" id="{33700FD4-782C-AB7F-55E7-BFBB75E0C305}"/>
              </a:ext>
            </a:extLst>
          </p:cNvPr>
          <p:cNvSpPr txBox="1"/>
          <p:nvPr/>
        </p:nvSpPr>
        <p:spPr>
          <a:xfrm>
            <a:off x="1009650" y="5452333"/>
            <a:ext cx="10096500" cy="282129"/>
          </a:xfrm>
          <a:prstGeom prst="rect">
            <a:avLst/>
          </a:prstGeom>
          <a:noFill/>
        </p:spPr>
        <p:txBody>
          <a:bodyPr vert="horz" lIns="50800" tIns="25400" rIns="50800" bIns="25400" rtlCol="0" anchor="ctr">
            <a:noAutofit/>
          </a:bodyPr>
          <a:lstStyle/>
          <a:p>
            <a:pPr algn="ctr"/>
            <a:r>
              <a:rPr lang="nb-NO" sz="1500" i="1">
                <a:solidFill>
                  <a:srgbClr val="51656D"/>
                </a:solidFill>
                <a:latin typeface="Aptos" panose="020B0004020202020204" pitchFamily="34" charset="0"/>
              </a:rPr>
              <a:t>3 min med naboen + 3 min i plenum.</a:t>
            </a:r>
            <a:endParaRPr lang="en-GB" sz="1500" i="1">
              <a:solidFill>
                <a:srgbClr val="51656D"/>
              </a:solidFill>
              <a:latin typeface="Aptos" panose="020B0004020202020204" pitchFamily="34" charset="0"/>
            </a:endParaRPr>
          </a:p>
        </p:txBody>
      </p:sp>
    </p:spTree>
    <p:extLst>
      <p:ext uri="{BB962C8B-B14F-4D97-AF65-F5344CB8AC3E}">
        <p14:creationId xmlns:p14="http://schemas.microsoft.com/office/powerpoint/2010/main" val="8698437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8BF5D-1219-3E51-CBEB-8BFF5053E805}"/>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Skriveside: gruppens anbefaling</a:t>
            </a:r>
          </a:p>
        </p:txBody>
      </p:sp>
      <p:sp>
        <p:nvSpPr>
          <p:cNvPr id="3" name="Rectangle 2">
            <a:extLst>
              <a:ext uri="{FF2B5EF4-FFF2-40B4-BE49-F238E27FC236}">
                <a16:creationId xmlns:a16="http://schemas.microsoft.com/office/drawing/2014/main" id="{7A5E90D1-7CDE-C749-B2C8-1573DA8C0A00}"/>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8C1F3F32-703B-A822-EEA6-09DBC70DA8BB}"/>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68ED0869-AF43-6722-343D-9759B307E8EB}"/>
              </a:ext>
            </a:extLst>
          </p:cNvPr>
          <p:cNvSpPr txBox="1"/>
          <p:nvPr/>
        </p:nvSpPr>
        <p:spPr>
          <a:xfrm>
            <a:off x="781050" y="1173313"/>
            <a:ext cx="10629900" cy="362920"/>
          </a:xfrm>
          <a:prstGeom prst="rect">
            <a:avLst/>
          </a:prstGeom>
          <a:noFill/>
        </p:spPr>
        <p:txBody>
          <a:bodyPr vert="horz" lIns="50800" tIns="25400" rIns="50800" bIns="25400" rtlCol="0" anchor="ctr">
            <a:noAutofit/>
          </a:bodyPr>
          <a:lstStyle/>
          <a:p>
            <a:pPr algn="ctr"/>
            <a:r>
              <a:rPr lang="en-GB" sz="2025" b="1">
                <a:solidFill>
                  <a:srgbClr val="0B3D4F"/>
                </a:solidFill>
                <a:latin typeface="Aptos" panose="020B0004020202020204" pitchFamily="34" charset="0"/>
              </a:rPr>
              <a:t>Anbefaling og begrunnelse</a:t>
            </a:r>
          </a:p>
        </p:txBody>
      </p:sp>
      <p:sp>
        <p:nvSpPr>
          <p:cNvPr id="7" name="Rectangle: Rounded Corners 6">
            <a:extLst>
              <a:ext uri="{FF2B5EF4-FFF2-40B4-BE49-F238E27FC236}">
                <a16:creationId xmlns:a16="http://schemas.microsoft.com/office/drawing/2014/main" id="{51D415AA-CE32-CF3B-78EE-00251DF80846}"/>
              </a:ext>
            </a:extLst>
          </p:cNvPr>
          <p:cNvSpPr/>
          <p:nvPr/>
        </p:nvSpPr>
        <p:spPr>
          <a:xfrm>
            <a:off x="781050" y="1847850"/>
            <a:ext cx="10629900" cy="4076700"/>
          </a:xfrm>
          <a:prstGeom prst="roundRect">
            <a:avLst/>
          </a:prstGeom>
          <a:solidFill>
            <a:srgbClr val="FFFFFF"/>
          </a:solidFill>
          <a:ln w="19050">
            <a:solidFill>
              <a:srgbClr val="C7D1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974260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1227AE-910C-C375-F12A-25E443A3DFC7}"/>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Tilbake til metallforekomsten</a:t>
            </a:r>
          </a:p>
        </p:txBody>
      </p:sp>
      <p:sp>
        <p:nvSpPr>
          <p:cNvPr id="3" name="Rectangle 2">
            <a:extLst>
              <a:ext uri="{FF2B5EF4-FFF2-40B4-BE49-F238E27FC236}">
                <a16:creationId xmlns:a16="http://schemas.microsoft.com/office/drawing/2014/main" id="{ECC87116-C043-4EC9-2684-35513FF07180}"/>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FB15F329-9AA9-22F2-C157-2CB7ACAC1E94}"/>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A185E3E0-217B-FC7B-3937-3C427F3BCFE6}"/>
              </a:ext>
            </a:extLst>
          </p:cNvPr>
          <p:cNvSpPr txBox="1"/>
          <p:nvPr/>
        </p:nvSpPr>
        <p:spPr>
          <a:xfrm>
            <a:off x="1047750" y="1381125"/>
            <a:ext cx="10096500" cy="374461"/>
          </a:xfrm>
          <a:prstGeom prst="rect">
            <a:avLst/>
          </a:prstGeom>
          <a:noFill/>
        </p:spPr>
        <p:txBody>
          <a:bodyPr vert="horz" lIns="50800" tIns="25400" rIns="50800" bIns="25400" rtlCol="0" anchor="t">
            <a:noAutofit/>
          </a:bodyPr>
          <a:lstStyle/>
          <a:p>
            <a:pPr algn="ctr"/>
            <a:r>
              <a:rPr lang="en-GB" sz="2100" b="1">
                <a:solidFill>
                  <a:srgbClr val="0B3D4F"/>
                </a:solidFill>
                <a:latin typeface="Aptos" panose="020B0004020202020204" pitchFamily="34" charset="0"/>
              </a:rPr>
              <a:t>Med MC = 2 og r = 10 % er den effektive fordelingen:</a:t>
            </a:r>
          </a:p>
        </p:txBody>
      </p:sp>
      <p:sp>
        <p:nvSpPr>
          <p:cNvPr id="7" name="Rectangle: Rounded Corners 6">
            <a:extLst>
              <a:ext uri="{FF2B5EF4-FFF2-40B4-BE49-F238E27FC236}">
                <a16:creationId xmlns:a16="http://schemas.microsoft.com/office/drawing/2014/main" id="{B95766F0-1D7B-CB82-4AC6-80E3F49DA341}"/>
              </a:ext>
            </a:extLst>
          </p:cNvPr>
          <p:cNvSpPr/>
          <p:nvPr/>
        </p:nvSpPr>
        <p:spPr>
          <a:xfrm>
            <a:off x="2524125" y="2143125"/>
            <a:ext cx="7143750" cy="952500"/>
          </a:xfrm>
          <a:prstGeom prst="roundRect">
            <a:avLst/>
          </a:prstGeom>
          <a:solidFill>
            <a:srgbClr val="EEF7F8"/>
          </a:solidFill>
          <a:ln w="14288">
            <a:solidFill>
              <a:srgbClr val="087E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E6D31BB-1AE3-592E-B143-AEEBB09EAAA9}"/>
                  </a:ext>
                </a:extLst>
              </p:cNvPr>
              <p:cNvSpPr txBox="1"/>
              <p:nvPr/>
            </p:nvSpPr>
            <p:spPr>
              <a:xfrm>
                <a:off x="2638425" y="2332161"/>
                <a:ext cx="6915150" cy="622053"/>
              </a:xfrm>
              <a:prstGeom prst="rect">
                <a:avLst/>
              </a:prstGeom>
              <a:noFill/>
            </p:spPr>
            <p:txBody>
              <a:bodyPr vert="horz" lIns="50800" tIns="25400" rIns="50800" bIns="25400" rtlCol="0" anchor="ctr">
                <a:noAutofit/>
              </a:bodyPr>
              <a:lstStyle/>
              <a:p>
                <a:pPr algn="ctr"/>
                <a14:m>
                  <m:oMathPara xmlns:m="http://schemas.openxmlformats.org/officeDocument/2006/math">
                    <m:oMath>
                      <m:sSubSup>
                        <m:sSubSupPr>
                          <m:ctrlPr>
                            <a:rPr lang="nb-NO" sz="2700" b="1" i="1" dirty="0" smtClean="0">
                              <a:solidFill>
                                <a:srgbClr val="0B3D4F"/>
                              </a:solidFill>
                              <a:latin typeface="Cambria Math" panose="02040503050406030204" pitchFamily="18" charset="0"/>
                            </a:rPr>
                          </m:ctrlPr>
                        </m:sSubSupPr>
                        <m:e>
                          <m:r>
                            <a:rPr lang="nb-NO" sz="2700" b="1" i="1" dirty="0" smtClean="0">
                              <a:solidFill>
                                <a:srgbClr val="0B3D4F"/>
                              </a:solidFill>
                              <a:latin typeface="Cambria Math" panose="02040503050406030204" pitchFamily="18" charset="0"/>
                            </a:rPr>
                            <m:t>𝒒</m:t>
                          </m:r>
                        </m:e>
                        <m:sub>
                          <m:r>
                            <a:rPr lang="nb-NO" sz="2700" b="1" i="1" dirty="0" smtClean="0">
                              <a:solidFill>
                                <a:srgbClr val="0B3D4F"/>
                              </a:solidFill>
                              <a:latin typeface="Cambria Math" panose="02040503050406030204" pitchFamily="18" charset="0"/>
                            </a:rPr>
                            <m:t>𝟏</m:t>
                          </m:r>
                        </m:sub>
                        <m:sup>
                          <m:r>
                            <a:rPr lang="nb-NO" sz="2700" b="1" i="1" dirty="0" smtClean="0">
                              <a:solidFill>
                                <a:srgbClr val="0B3D4F"/>
                              </a:solidFill>
                              <a:latin typeface="Cambria Math" panose="02040503050406030204" pitchFamily="18" charset="0"/>
                            </a:rPr>
                            <m:t>∗</m:t>
                          </m:r>
                        </m:sup>
                      </m:sSubSup>
                      <m:r>
                        <a:rPr lang="en-GB" sz="2700" b="1" i="1" dirty="0" smtClean="0">
                          <a:solidFill>
                            <a:srgbClr val="0B3D4F"/>
                          </a:solidFill>
                          <a:latin typeface="Cambria Math" panose="02040503050406030204" pitchFamily="18" charset="0"/>
                        </a:rPr>
                        <m:t>= </m:t>
                      </m:r>
                      <m:r>
                        <a:rPr lang="en-GB" sz="2700" b="1" i="1" dirty="0" smtClean="0">
                          <a:solidFill>
                            <a:srgbClr val="0B3D4F"/>
                          </a:solidFill>
                          <a:latin typeface="Cambria Math" panose="02040503050406030204" pitchFamily="18" charset="0"/>
                        </a:rPr>
                        <m:t>𝟏𝟎</m:t>
                      </m:r>
                      <m:r>
                        <a:rPr lang="en-GB" sz="2700" b="1" i="1" dirty="0" smtClean="0">
                          <a:solidFill>
                            <a:srgbClr val="0B3D4F"/>
                          </a:solidFill>
                          <a:latin typeface="Cambria Math" panose="02040503050406030204" pitchFamily="18" charset="0"/>
                        </a:rPr>
                        <m:t>,</m:t>
                      </m:r>
                      <m:r>
                        <a:rPr lang="en-GB" sz="2700" b="1" i="1" dirty="0" smtClean="0">
                          <a:solidFill>
                            <a:srgbClr val="0B3D4F"/>
                          </a:solidFill>
                          <a:latin typeface="Cambria Math" panose="02040503050406030204" pitchFamily="18" charset="0"/>
                        </a:rPr>
                        <m:t>𝟐𝟑𝟖</m:t>
                      </m:r>
                      <m:r>
                        <a:rPr lang="en-GB" sz="2700" b="1" i="1" dirty="0" smtClean="0">
                          <a:solidFill>
                            <a:srgbClr val="0B3D4F"/>
                          </a:solidFill>
                          <a:latin typeface="Cambria Math" panose="02040503050406030204" pitchFamily="18" charset="0"/>
                        </a:rPr>
                        <m:t>     |     </m:t>
                      </m:r>
                      <m:sSubSup>
                        <m:sSubSupPr>
                          <m:ctrlPr>
                            <a:rPr lang="nb-NO" sz="2700" b="1" i="1" dirty="0" smtClean="0">
                              <a:solidFill>
                                <a:srgbClr val="0B3D4F"/>
                              </a:solidFill>
                              <a:latin typeface="Cambria Math" panose="02040503050406030204" pitchFamily="18" charset="0"/>
                            </a:rPr>
                          </m:ctrlPr>
                        </m:sSubSupPr>
                        <m:e>
                          <m:r>
                            <a:rPr lang="nb-NO" sz="2700" b="1" i="1" dirty="0" smtClean="0">
                              <a:solidFill>
                                <a:srgbClr val="0B3D4F"/>
                              </a:solidFill>
                              <a:latin typeface="Cambria Math" panose="02040503050406030204" pitchFamily="18" charset="0"/>
                            </a:rPr>
                            <m:t>𝒒</m:t>
                          </m:r>
                        </m:e>
                        <m:sub>
                          <m:r>
                            <a:rPr lang="nb-NO" sz="2700" b="1" i="1" dirty="0" smtClean="0">
                              <a:solidFill>
                                <a:srgbClr val="0B3D4F"/>
                              </a:solidFill>
                              <a:latin typeface="Cambria Math" panose="02040503050406030204" pitchFamily="18" charset="0"/>
                            </a:rPr>
                            <m:t>𝟐</m:t>
                          </m:r>
                        </m:sub>
                        <m:sup>
                          <m:r>
                            <a:rPr lang="nb-NO" sz="2700" b="1" i="1" dirty="0" smtClean="0">
                              <a:solidFill>
                                <a:srgbClr val="0B3D4F"/>
                              </a:solidFill>
                              <a:latin typeface="Cambria Math" panose="02040503050406030204" pitchFamily="18" charset="0"/>
                            </a:rPr>
                            <m:t>∗</m:t>
                          </m:r>
                        </m:sup>
                      </m:sSubSup>
                      <m:r>
                        <a:rPr lang="en-GB" sz="2700" b="1" i="1" dirty="0" smtClean="0">
                          <a:solidFill>
                            <a:srgbClr val="0B3D4F"/>
                          </a:solidFill>
                          <a:latin typeface="Cambria Math" panose="02040503050406030204" pitchFamily="18" charset="0"/>
                        </a:rPr>
                        <m:t> = </m:t>
                      </m:r>
                      <m:r>
                        <a:rPr lang="en-GB" sz="2700" b="1" i="1" dirty="0" smtClean="0">
                          <a:solidFill>
                            <a:srgbClr val="0B3D4F"/>
                          </a:solidFill>
                          <a:latin typeface="Cambria Math" panose="02040503050406030204" pitchFamily="18" charset="0"/>
                        </a:rPr>
                        <m:t>𝟗</m:t>
                      </m:r>
                      <m:r>
                        <a:rPr lang="en-GB" sz="2700" b="1" i="1" dirty="0" smtClean="0">
                          <a:solidFill>
                            <a:srgbClr val="0B3D4F"/>
                          </a:solidFill>
                          <a:latin typeface="Cambria Math" panose="02040503050406030204" pitchFamily="18" charset="0"/>
                        </a:rPr>
                        <m:t>,</m:t>
                      </m:r>
                      <m:r>
                        <a:rPr lang="en-GB" sz="2700" b="1" i="1" dirty="0" smtClean="0">
                          <a:solidFill>
                            <a:srgbClr val="0B3D4F"/>
                          </a:solidFill>
                          <a:latin typeface="Cambria Math" panose="02040503050406030204" pitchFamily="18" charset="0"/>
                        </a:rPr>
                        <m:t>𝟕𝟔𝟐</m:t>
                      </m:r>
                    </m:oMath>
                  </m:oMathPara>
                </a14:m>
                <a:endParaRPr/>
              </a:p>
            </p:txBody>
          </p:sp>
        </mc:Choice>
        <mc:Fallback xmlns="">
          <p:sp>
            <p:nvSpPr>
              <p:cNvPr id="8" name="TextBox 7">
                <a:extLst>
                  <a:ext uri="{FF2B5EF4-FFF2-40B4-BE49-F238E27FC236}">
                    <a16:creationId xmlns:a16="http://schemas.microsoft.com/office/drawing/2014/main" id="{FE6D31BB-1AE3-592E-B143-AEEBB09EAAA9}"/>
                  </a:ext>
                </a:extLst>
              </p:cNvPr>
              <p:cNvSpPr txBox="1">
                <a:spLocks noRot="1" noChangeAspect="1" noMove="1" noResize="1" noEditPoints="1" noAdjustHandles="1" noChangeArrowheads="1" noChangeShapeType="1" noTextEdit="1"/>
              </p:cNvSpPr>
              <p:nvPr/>
            </p:nvSpPr>
            <p:spPr>
              <a:xfrm>
                <a:off x="2638425" y="2332161"/>
                <a:ext cx="6915150" cy="622053"/>
              </a:xfrm>
              <a:prstGeom prst="rect">
                <a:avLst/>
              </a:prstGeom>
              <a:blipFill>
                <a:blip r:embed="rId3"/>
                <a:stretch>
                  <a:fillRect/>
                </a:stretch>
              </a:blipFill>
            </p:spPr>
            <p:txBody>
              <a:bodyPr/>
              <a:lstStyle/>
              <a:p>
                <a:r>
                  <a:rPr lang="nb-NO">
                    <a:noFill/>
                  </a:rPr>
                  <a:t> </a:t>
                </a:r>
              </a:p>
            </p:txBody>
          </p:sp>
        </mc:Fallback>
      </mc:AlternateContent>
      <p:sp>
        <p:nvSpPr>
          <p:cNvPr id="9" name="Rectangle: Rounded Corners 8">
            <a:extLst>
              <a:ext uri="{FF2B5EF4-FFF2-40B4-BE49-F238E27FC236}">
                <a16:creationId xmlns:a16="http://schemas.microsoft.com/office/drawing/2014/main" id="{40EA34F6-5A76-FD50-17B4-98AF4D42CE66}"/>
              </a:ext>
            </a:extLst>
          </p:cNvPr>
          <p:cNvSpPr/>
          <p:nvPr/>
        </p:nvSpPr>
        <p:spPr>
          <a:xfrm>
            <a:off x="1285875" y="3905250"/>
            <a:ext cx="9620250" cy="114300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30F5CFE4-88CE-76D0-9045-8A9C83A0468C}"/>
              </a:ext>
            </a:extLst>
          </p:cNvPr>
          <p:cNvSpPr/>
          <p:nvPr/>
        </p:nvSpPr>
        <p:spPr>
          <a:xfrm>
            <a:off x="1285875" y="3905250"/>
            <a:ext cx="76200" cy="11430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88027835-42D2-88D5-8B00-A8C86240308D}"/>
              </a:ext>
            </a:extLst>
          </p:cNvPr>
          <p:cNvSpPr txBox="1"/>
          <p:nvPr/>
        </p:nvSpPr>
        <p:spPr>
          <a:xfrm>
            <a:off x="1495425" y="4055488"/>
            <a:ext cx="9201150" cy="651460"/>
          </a:xfrm>
          <a:prstGeom prst="rect">
            <a:avLst/>
          </a:prstGeom>
          <a:noFill/>
        </p:spPr>
        <p:txBody>
          <a:bodyPr vert="horz" lIns="50800" tIns="25400" rIns="50800" bIns="25400" rtlCol="0" anchor="ctr">
            <a:noAutofit/>
          </a:bodyPr>
          <a:lstStyle/>
          <a:p>
            <a:r>
              <a:rPr lang="nb-NO" sz="1950" b="1" dirty="0">
                <a:solidFill>
                  <a:srgbClr val="0B3D4F"/>
                </a:solidFill>
                <a:latin typeface="Aptos" panose="020B0004020202020204" pitchFamily="34" charset="0"/>
              </a:rPr>
              <a:t>En anbefaling krever også et </a:t>
            </a:r>
            <a:r>
              <a:rPr lang="nb-NO" sz="1950" b="1" dirty="0" err="1">
                <a:solidFill>
                  <a:srgbClr val="0B3D4F"/>
                </a:solidFill>
                <a:latin typeface="Aptos" panose="020B0004020202020204" pitchFamily="34" charset="0"/>
              </a:rPr>
              <a:t>bærekraftskriterium</a:t>
            </a:r>
            <a:r>
              <a:rPr lang="nb-NO" sz="1950" b="1" dirty="0">
                <a:solidFill>
                  <a:srgbClr val="0B3D4F"/>
                </a:solidFill>
                <a:latin typeface="Aptos" panose="020B0004020202020204" pitchFamily="34" charset="0"/>
              </a:rPr>
              <a:t>, troverdig overføring av ressursrenten og vurdering av natur som ikke kan erstattes.</a:t>
            </a:r>
            <a:endParaRPr lang="en-GB" sz="1950" b="1" dirty="0">
              <a:solidFill>
                <a:srgbClr val="0B3D4F"/>
              </a:solidFill>
              <a:latin typeface="Aptos" panose="020B0004020202020204" pitchFamily="34" charset="0"/>
            </a:endParaRPr>
          </a:p>
        </p:txBody>
      </p:sp>
      <p:sp>
        <p:nvSpPr>
          <p:cNvPr id="12" name="TextBox 11">
            <a:extLst>
              <a:ext uri="{FF2B5EF4-FFF2-40B4-BE49-F238E27FC236}">
                <a16:creationId xmlns:a16="http://schemas.microsoft.com/office/drawing/2014/main" id="{7FC7029B-CB13-07A9-9635-3E215CEC928B}"/>
              </a:ext>
            </a:extLst>
          </p:cNvPr>
          <p:cNvSpPr txBox="1"/>
          <p:nvPr/>
        </p:nvSpPr>
        <p:spPr>
          <a:xfrm>
            <a:off x="1714500" y="5476875"/>
            <a:ext cx="8763000" cy="305212"/>
          </a:xfrm>
          <a:prstGeom prst="rect">
            <a:avLst/>
          </a:prstGeom>
          <a:noFill/>
        </p:spPr>
        <p:txBody>
          <a:bodyPr vert="horz" lIns="50800" tIns="25400" rIns="50800" bIns="25400" rtlCol="0" anchor="t">
            <a:noAutofit/>
          </a:bodyPr>
          <a:lstStyle/>
          <a:p>
            <a:pPr algn="ctr"/>
            <a:r>
              <a:rPr lang="en-GB" sz="1650" i="1">
                <a:solidFill>
                  <a:srgbClr val="51656D"/>
                </a:solidFill>
                <a:latin typeface="Aptos" panose="020B0004020202020204" pitchFamily="34" charset="0"/>
              </a:rPr>
              <a:t>Nye funn, gjenvinning og substitutter kommer i kapittel 6.</a:t>
            </a:r>
          </a:p>
        </p:txBody>
      </p:sp>
    </p:spTree>
    <p:extLst>
      <p:ext uri="{BB962C8B-B14F-4D97-AF65-F5344CB8AC3E}">
        <p14:creationId xmlns:p14="http://schemas.microsoft.com/office/powerpoint/2010/main" val="34982303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47E37C-3859-596E-AA03-27EBE60C7C1D}"/>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Fire ting å ta med seg</a:t>
            </a:r>
          </a:p>
        </p:txBody>
      </p:sp>
      <p:sp>
        <p:nvSpPr>
          <p:cNvPr id="3" name="Rectangle 2">
            <a:extLst>
              <a:ext uri="{FF2B5EF4-FFF2-40B4-BE49-F238E27FC236}">
                <a16:creationId xmlns:a16="http://schemas.microsoft.com/office/drawing/2014/main" id="{1A815768-E513-46EB-D6C3-F2D2EF25971E}"/>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2970A93-9BF1-645D-9F17-DDA1B5A7F98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Rectangle: Rounded Corners 5">
            <a:extLst>
              <a:ext uri="{FF2B5EF4-FFF2-40B4-BE49-F238E27FC236}">
                <a16:creationId xmlns:a16="http://schemas.microsoft.com/office/drawing/2014/main" id="{09E5FFD4-CA05-25F4-9367-515880DE3F00}"/>
              </a:ext>
            </a:extLst>
          </p:cNvPr>
          <p:cNvSpPr/>
          <p:nvPr/>
        </p:nvSpPr>
        <p:spPr>
          <a:xfrm>
            <a:off x="857250" y="1314450"/>
            <a:ext cx="10287000" cy="85725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356515B-5E84-8829-90B5-58E41713F5E1}"/>
              </a:ext>
            </a:extLst>
          </p:cNvPr>
          <p:cNvSpPr txBox="1"/>
          <p:nvPr/>
        </p:nvSpPr>
        <p:spPr>
          <a:xfrm>
            <a:off x="1095375" y="1371042"/>
            <a:ext cx="571500" cy="443711"/>
          </a:xfrm>
          <a:prstGeom prst="rect">
            <a:avLst/>
          </a:prstGeom>
          <a:noFill/>
        </p:spPr>
        <p:txBody>
          <a:bodyPr vert="horz" lIns="50800" tIns="25400" rIns="50800" bIns="25400" rtlCol="0" anchor="ctr">
            <a:noAutofit/>
          </a:bodyPr>
          <a:lstStyle/>
          <a:p>
            <a:pPr algn="ctr"/>
            <a:r>
              <a:rPr lang="en-GB" sz="2550" b="1">
                <a:solidFill>
                  <a:srgbClr val="087E8B"/>
                </a:solidFill>
                <a:latin typeface="Aptos" panose="020B0004020202020204" pitchFamily="34" charset="0"/>
              </a:rPr>
              <a:t>1</a:t>
            </a:r>
          </a:p>
        </p:txBody>
      </p:sp>
      <p:sp>
        <p:nvSpPr>
          <p:cNvPr id="8" name="TextBox 7">
            <a:extLst>
              <a:ext uri="{FF2B5EF4-FFF2-40B4-BE49-F238E27FC236}">
                <a16:creationId xmlns:a16="http://schemas.microsoft.com/office/drawing/2014/main" id="{676949EB-D3AE-9738-C6C5-E8DB83AF3DD0}"/>
              </a:ext>
            </a:extLst>
          </p:cNvPr>
          <p:cNvSpPr txBox="1"/>
          <p:nvPr/>
        </p:nvSpPr>
        <p:spPr>
          <a:xfrm>
            <a:off x="1952625" y="1422979"/>
            <a:ext cx="8763000" cy="339837"/>
          </a:xfrm>
          <a:prstGeom prst="rect">
            <a:avLst/>
          </a:prstGeom>
          <a:noFill/>
        </p:spPr>
        <p:txBody>
          <a:bodyPr vert="horz" lIns="50800" tIns="25400" rIns="50800" bIns="25400" rtlCol="0" anchor="ctr">
            <a:noAutofit/>
          </a:bodyPr>
          <a:lstStyle/>
          <a:p>
            <a:r>
              <a:rPr lang="en-GB" sz="1875" b="1">
                <a:solidFill>
                  <a:srgbClr val="0B3D4F"/>
                </a:solidFill>
                <a:latin typeface="Aptos" panose="020B0004020202020204" pitchFamily="34" charset="0"/>
              </a:rPr>
              <a:t>Dynamisk effektivitet maksimerer nåverdien over tid.</a:t>
            </a:r>
          </a:p>
        </p:txBody>
      </p:sp>
      <p:sp>
        <p:nvSpPr>
          <p:cNvPr id="9" name="Rectangle: Rounded Corners 8">
            <a:extLst>
              <a:ext uri="{FF2B5EF4-FFF2-40B4-BE49-F238E27FC236}">
                <a16:creationId xmlns:a16="http://schemas.microsoft.com/office/drawing/2014/main" id="{CF1FB3C9-35A5-FD48-5B03-5EE3014E709E}"/>
              </a:ext>
            </a:extLst>
          </p:cNvPr>
          <p:cNvSpPr/>
          <p:nvPr/>
        </p:nvSpPr>
        <p:spPr>
          <a:xfrm>
            <a:off x="857250" y="2314575"/>
            <a:ext cx="10287000" cy="857250"/>
          </a:xfrm>
          <a:prstGeom prst="roundRect">
            <a:avLst/>
          </a:prstGeom>
          <a:solidFill>
            <a:srgbClr val="F5F8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B2C002E-7F35-4B79-5AFA-F1DD88B5CE2F}"/>
              </a:ext>
            </a:extLst>
          </p:cNvPr>
          <p:cNvSpPr txBox="1"/>
          <p:nvPr/>
        </p:nvSpPr>
        <p:spPr>
          <a:xfrm>
            <a:off x="1095375" y="2371167"/>
            <a:ext cx="571500" cy="443711"/>
          </a:xfrm>
          <a:prstGeom prst="rect">
            <a:avLst/>
          </a:prstGeom>
          <a:noFill/>
        </p:spPr>
        <p:txBody>
          <a:bodyPr vert="horz" lIns="50800" tIns="25400" rIns="50800" bIns="25400" rtlCol="0" anchor="ctr">
            <a:noAutofit/>
          </a:bodyPr>
          <a:lstStyle/>
          <a:p>
            <a:pPr algn="ctr"/>
            <a:r>
              <a:rPr lang="en-GB" sz="2550" b="1">
                <a:solidFill>
                  <a:srgbClr val="087E8B"/>
                </a:solidFill>
                <a:latin typeface="Aptos" panose="020B0004020202020204" pitchFamily="34" charset="0"/>
              </a:rPr>
              <a:t>2</a:t>
            </a:r>
          </a:p>
        </p:txBody>
      </p:sp>
      <p:sp>
        <p:nvSpPr>
          <p:cNvPr id="11" name="TextBox 10">
            <a:extLst>
              <a:ext uri="{FF2B5EF4-FFF2-40B4-BE49-F238E27FC236}">
                <a16:creationId xmlns:a16="http://schemas.microsoft.com/office/drawing/2014/main" id="{763DEA21-5293-18E4-CD7F-A1DACED4627D}"/>
              </a:ext>
            </a:extLst>
          </p:cNvPr>
          <p:cNvSpPr txBox="1"/>
          <p:nvPr/>
        </p:nvSpPr>
        <p:spPr>
          <a:xfrm>
            <a:off x="1952625" y="2423104"/>
            <a:ext cx="8763000" cy="339837"/>
          </a:xfrm>
          <a:prstGeom prst="rect">
            <a:avLst/>
          </a:prstGeom>
          <a:noFill/>
        </p:spPr>
        <p:txBody>
          <a:bodyPr vert="horz" lIns="50800" tIns="25400" rIns="50800" bIns="25400" rtlCol="0" anchor="ctr">
            <a:noAutofit/>
          </a:bodyPr>
          <a:lstStyle/>
          <a:p>
            <a:r>
              <a:rPr lang="en-GB" sz="1875" b="1">
                <a:solidFill>
                  <a:srgbClr val="0B3D4F"/>
                </a:solidFill>
                <a:latin typeface="Aptos" panose="020B0004020202020204" pitchFamily="34" charset="0"/>
              </a:rPr>
              <a:t>Nåverdien av marginal netto nytte skal være lik mellom periodene.</a:t>
            </a:r>
          </a:p>
        </p:txBody>
      </p:sp>
      <p:sp>
        <p:nvSpPr>
          <p:cNvPr id="12" name="Rectangle: Rounded Corners 11">
            <a:extLst>
              <a:ext uri="{FF2B5EF4-FFF2-40B4-BE49-F238E27FC236}">
                <a16:creationId xmlns:a16="http://schemas.microsoft.com/office/drawing/2014/main" id="{975029C1-7682-7B89-2EE2-825E5AC72856}"/>
              </a:ext>
            </a:extLst>
          </p:cNvPr>
          <p:cNvSpPr/>
          <p:nvPr/>
        </p:nvSpPr>
        <p:spPr>
          <a:xfrm>
            <a:off x="857250" y="3314700"/>
            <a:ext cx="10287000" cy="857250"/>
          </a:xfrm>
          <a:prstGeom prst="roundRect">
            <a:avLst/>
          </a:prstGeom>
          <a:solidFill>
            <a:srgbClr val="EEF7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146E8353-6781-3936-E2FB-09905C3D38CB}"/>
              </a:ext>
            </a:extLst>
          </p:cNvPr>
          <p:cNvSpPr txBox="1"/>
          <p:nvPr/>
        </p:nvSpPr>
        <p:spPr>
          <a:xfrm>
            <a:off x="1095375" y="3371292"/>
            <a:ext cx="571500" cy="443711"/>
          </a:xfrm>
          <a:prstGeom prst="rect">
            <a:avLst/>
          </a:prstGeom>
          <a:noFill/>
        </p:spPr>
        <p:txBody>
          <a:bodyPr vert="horz" lIns="50800" tIns="25400" rIns="50800" bIns="25400" rtlCol="0" anchor="ctr">
            <a:noAutofit/>
          </a:bodyPr>
          <a:lstStyle/>
          <a:p>
            <a:pPr algn="ctr"/>
            <a:r>
              <a:rPr lang="en-GB" sz="2550" b="1">
                <a:solidFill>
                  <a:srgbClr val="087E8B"/>
                </a:solidFill>
                <a:latin typeface="Aptos" panose="020B0004020202020204" pitchFamily="34" charset="0"/>
              </a:rPr>
              <a:t>3</a:t>
            </a:r>
          </a:p>
        </p:txBody>
      </p:sp>
      <p:sp>
        <p:nvSpPr>
          <p:cNvPr id="14" name="TextBox 13">
            <a:extLst>
              <a:ext uri="{FF2B5EF4-FFF2-40B4-BE49-F238E27FC236}">
                <a16:creationId xmlns:a16="http://schemas.microsoft.com/office/drawing/2014/main" id="{C5BA77C9-2B80-0AC9-6222-00D275600A1E}"/>
              </a:ext>
            </a:extLst>
          </p:cNvPr>
          <p:cNvSpPr txBox="1"/>
          <p:nvPr/>
        </p:nvSpPr>
        <p:spPr>
          <a:xfrm>
            <a:off x="1952625" y="3423229"/>
            <a:ext cx="8763000" cy="339837"/>
          </a:xfrm>
          <a:prstGeom prst="rect">
            <a:avLst/>
          </a:prstGeom>
          <a:noFill/>
        </p:spPr>
        <p:txBody>
          <a:bodyPr vert="horz" lIns="50800" tIns="25400" rIns="50800" bIns="25400" rtlCol="0" anchor="ctr">
            <a:noAutofit/>
          </a:bodyPr>
          <a:lstStyle/>
          <a:p>
            <a:r>
              <a:rPr lang="en-GB" sz="1875" b="1">
                <a:solidFill>
                  <a:srgbClr val="0B3D4F"/>
                </a:solidFill>
                <a:latin typeface="Aptos" panose="020B0004020202020204" pitchFamily="34" charset="0"/>
              </a:rPr>
              <a:t>Marginal brukerkostnad er knapphetens alternativkostnad.</a:t>
            </a:r>
          </a:p>
        </p:txBody>
      </p:sp>
      <p:sp>
        <p:nvSpPr>
          <p:cNvPr id="15" name="Rectangle: Rounded Corners 14">
            <a:extLst>
              <a:ext uri="{FF2B5EF4-FFF2-40B4-BE49-F238E27FC236}">
                <a16:creationId xmlns:a16="http://schemas.microsoft.com/office/drawing/2014/main" id="{10F9F964-D44F-2C58-CA15-CD08E4039224}"/>
              </a:ext>
            </a:extLst>
          </p:cNvPr>
          <p:cNvSpPr/>
          <p:nvPr/>
        </p:nvSpPr>
        <p:spPr>
          <a:xfrm>
            <a:off x="857250" y="4314825"/>
            <a:ext cx="10287000" cy="857250"/>
          </a:xfrm>
          <a:prstGeom prst="roundRect">
            <a:avLst/>
          </a:prstGeom>
          <a:solidFill>
            <a:srgbClr val="F5F8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BEE62BE9-937C-C607-0CC3-069B36763BFF}"/>
              </a:ext>
            </a:extLst>
          </p:cNvPr>
          <p:cNvSpPr txBox="1"/>
          <p:nvPr/>
        </p:nvSpPr>
        <p:spPr>
          <a:xfrm>
            <a:off x="1095375" y="4371417"/>
            <a:ext cx="571500" cy="443711"/>
          </a:xfrm>
          <a:prstGeom prst="rect">
            <a:avLst/>
          </a:prstGeom>
          <a:noFill/>
        </p:spPr>
        <p:txBody>
          <a:bodyPr vert="horz" lIns="50800" tIns="25400" rIns="50800" bIns="25400" rtlCol="0" anchor="ctr">
            <a:noAutofit/>
          </a:bodyPr>
          <a:lstStyle/>
          <a:p>
            <a:pPr algn="ctr"/>
            <a:r>
              <a:rPr lang="en-GB" sz="2550" b="1">
                <a:solidFill>
                  <a:srgbClr val="087E8B"/>
                </a:solidFill>
                <a:latin typeface="Aptos" panose="020B0004020202020204" pitchFamily="34" charset="0"/>
              </a:rPr>
              <a:t>4</a:t>
            </a:r>
          </a:p>
        </p:txBody>
      </p:sp>
      <p:sp>
        <p:nvSpPr>
          <p:cNvPr id="17" name="TextBox 16">
            <a:extLst>
              <a:ext uri="{FF2B5EF4-FFF2-40B4-BE49-F238E27FC236}">
                <a16:creationId xmlns:a16="http://schemas.microsoft.com/office/drawing/2014/main" id="{B1E64FC2-F714-D520-863A-8B6B5C5B6737}"/>
              </a:ext>
            </a:extLst>
          </p:cNvPr>
          <p:cNvSpPr txBox="1"/>
          <p:nvPr/>
        </p:nvSpPr>
        <p:spPr>
          <a:xfrm>
            <a:off x="1952625" y="4423354"/>
            <a:ext cx="8763000" cy="339837"/>
          </a:xfrm>
          <a:prstGeom prst="rect">
            <a:avLst/>
          </a:prstGeom>
          <a:noFill/>
        </p:spPr>
        <p:txBody>
          <a:bodyPr vert="horz" lIns="50800" tIns="25400" rIns="50800" bIns="25400" rtlCol="0" anchor="ctr">
            <a:noAutofit/>
          </a:bodyPr>
          <a:lstStyle/>
          <a:p>
            <a:r>
              <a:rPr lang="nb-NO" sz="1875" b="1">
                <a:solidFill>
                  <a:srgbClr val="0B3D4F"/>
                </a:solidFill>
                <a:latin typeface="Aptos" panose="020B0004020202020204" pitchFamily="34" charset="0"/>
              </a:rPr>
              <a:t>Effektivitet og bærekraft svarer på ulike spørsmål.</a:t>
            </a:r>
            <a:endParaRPr lang="en-GB" sz="1875" b="1">
              <a:solidFill>
                <a:srgbClr val="0B3D4F"/>
              </a:solidFill>
              <a:latin typeface="Aptos" panose="020B0004020202020204" pitchFamily="34" charset="0"/>
            </a:endParaRPr>
          </a:p>
        </p:txBody>
      </p:sp>
    </p:spTree>
    <p:extLst>
      <p:ext uri="{BB962C8B-B14F-4D97-AF65-F5344CB8AC3E}">
        <p14:creationId xmlns:p14="http://schemas.microsoft.com/office/powerpoint/2010/main" val="1925588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155AE3-06D8-2ED2-A5A0-D7D149F47FC6}"/>
              </a:ext>
            </a:extLst>
          </p:cNvPr>
          <p:cNvSpPr txBox="1"/>
          <p:nvPr/>
        </p:nvSpPr>
        <p:spPr>
          <a:xfrm>
            <a:off x="628650" y="260371"/>
            <a:ext cx="10934700" cy="455253"/>
          </a:xfrm>
          <a:prstGeom prst="rect">
            <a:avLst/>
          </a:prstGeom>
          <a:noFill/>
        </p:spPr>
        <p:txBody>
          <a:bodyPr vert="horz" lIns="50800" tIns="25400" rIns="50800" bIns="25400" rtlCol="0" anchor="ctr">
            <a:noAutofit/>
          </a:bodyPr>
          <a:lstStyle/>
          <a:p>
            <a:r>
              <a:rPr lang="en-GB" sz="2625" b="1">
                <a:solidFill>
                  <a:srgbClr val="0B3D4F"/>
                </a:solidFill>
                <a:latin typeface="Aptos" panose="020B0004020202020204" pitchFamily="34" charset="0"/>
              </a:rPr>
              <a:t>Neste forelesning</a:t>
            </a:r>
          </a:p>
        </p:txBody>
      </p:sp>
      <p:sp>
        <p:nvSpPr>
          <p:cNvPr id="3" name="Rectangle 2">
            <a:extLst>
              <a:ext uri="{FF2B5EF4-FFF2-40B4-BE49-F238E27FC236}">
                <a16:creationId xmlns:a16="http://schemas.microsoft.com/office/drawing/2014/main" id="{748C3529-1667-3A13-141E-0EADC7D8466E}"/>
              </a:ext>
            </a:extLst>
          </p:cNvPr>
          <p:cNvSpPr/>
          <p:nvPr/>
        </p:nvSpPr>
        <p:spPr>
          <a:xfrm>
            <a:off x="666750" y="962025"/>
            <a:ext cx="10858500" cy="3810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47EBBFB-1275-277F-B5C0-C022E1D9F855}"/>
              </a:ext>
            </a:extLst>
          </p:cNvPr>
          <p:cNvSpPr txBox="1"/>
          <p:nvPr/>
        </p:nvSpPr>
        <p:spPr>
          <a:xfrm>
            <a:off x="647700" y="6588104"/>
            <a:ext cx="2857500" cy="201337"/>
          </a:xfrm>
          <a:prstGeom prst="rect">
            <a:avLst/>
          </a:prstGeom>
          <a:noFill/>
        </p:spPr>
        <p:txBody>
          <a:bodyPr vert="horz" lIns="50800" tIns="25400" rIns="50800" bIns="25400" rtlCol="0" anchor="ctr">
            <a:noAutofit/>
          </a:bodyPr>
          <a:lstStyle/>
          <a:p>
            <a:r>
              <a:rPr lang="en-GB" sz="975">
                <a:solidFill>
                  <a:srgbClr val="51656D"/>
                </a:solidFill>
                <a:latin typeface="Aptos" panose="020B0004020202020204" pitchFamily="34" charset="0"/>
              </a:rPr>
              <a:t>SOK-2302 | Kapittel 5</a:t>
            </a:r>
          </a:p>
        </p:txBody>
      </p:sp>
      <p:sp>
        <p:nvSpPr>
          <p:cNvPr id="6" name="TextBox 5">
            <a:extLst>
              <a:ext uri="{FF2B5EF4-FFF2-40B4-BE49-F238E27FC236}">
                <a16:creationId xmlns:a16="http://schemas.microsoft.com/office/drawing/2014/main" id="{BA45F8CC-8AFE-8F8B-D9B9-A48FD261630E}"/>
              </a:ext>
            </a:extLst>
          </p:cNvPr>
          <p:cNvSpPr txBox="1"/>
          <p:nvPr/>
        </p:nvSpPr>
        <p:spPr>
          <a:xfrm>
            <a:off x="1000125" y="1352271"/>
            <a:ext cx="10191750" cy="386003"/>
          </a:xfrm>
          <a:prstGeom prst="rect">
            <a:avLst/>
          </a:prstGeom>
          <a:noFill/>
        </p:spPr>
        <p:txBody>
          <a:bodyPr vert="horz" lIns="50800" tIns="25400" rIns="50800" bIns="25400" rtlCol="0" anchor="ctr">
            <a:noAutofit/>
          </a:bodyPr>
          <a:lstStyle/>
          <a:p>
            <a:pPr algn="ctr"/>
            <a:r>
              <a:rPr lang="en-GB" sz="2175" b="1">
                <a:solidFill>
                  <a:srgbClr val="0B3D4F"/>
                </a:solidFill>
                <a:latin typeface="Aptos" panose="020B0004020202020204" pitchFamily="34" charset="0"/>
              </a:rPr>
              <a:t>Kapittel 6 forlenger tankegangen – men vi toner ned de mest tekniske delene.</a:t>
            </a:r>
          </a:p>
        </p:txBody>
      </p:sp>
      <p:sp>
        <p:nvSpPr>
          <p:cNvPr id="7" name="TextBox 6">
            <a:extLst>
              <a:ext uri="{FF2B5EF4-FFF2-40B4-BE49-F238E27FC236}">
                <a16:creationId xmlns:a16="http://schemas.microsoft.com/office/drawing/2014/main" id="{06B287B6-14B3-3DB7-C069-B2C06DC61603}"/>
              </a:ext>
            </a:extLst>
          </p:cNvPr>
          <p:cNvSpPr txBox="1"/>
          <p:nvPr/>
        </p:nvSpPr>
        <p:spPr>
          <a:xfrm>
            <a:off x="1619250" y="2619375"/>
            <a:ext cx="8953500" cy="1124667"/>
          </a:xfrm>
          <a:prstGeom prst="rect">
            <a:avLst/>
          </a:prstGeom>
          <a:noFill/>
        </p:spPr>
        <p:txBody>
          <a:bodyPr vert="horz" lIns="50800" tIns="25400" rIns="50800" bIns="25400" rtlCol="0" anchor="t">
            <a:noAutofit/>
          </a:bodyPr>
          <a:lstStyle/>
          <a:p>
            <a:pPr>
              <a:spcAft>
                <a:spcPts val="1000"/>
              </a:spcAft>
            </a:pPr>
            <a:r>
              <a:rPr lang="nb-NO" sz="2325">
                <a:solidFill>
                  <a:srgbClr val="1C2930"/>
                </a:solidFill>
                <a:latin typeface="Aptos" panose="020B0004020202020204" pitchFamily="34" charset="0"/>
              </a:rPr>
              <a:t>•  utvikling av knapphetsrenten over flere perioder</a:t>
            </a:r>
          </a:p>
          <a:p>
            <a:pPr>
              <a:spcAft>
                <a:spcPts val="1000"/>
              </a:spcAft>
            </a:pPr>
            <a:r>
              <a:rPr lang="nb-NO" sz="2325">
                <a:solidFill>
                  <a:srgbClr val="1C2930"/>
                </a:solidFill>
                <a:latin typeface="Aptos" panose="020B0004020202020204" pitchFamily="34" charset="0"/>
              </a:rPr>
              <a:t>•  substitutter og overgangstidspunkt</a:t>
            </a:r>
          </a:p>
          <a:p>
            <a:pPr>
              <a:spcAft>
                <a:spcPts val="1000"/>
              </a:spcAft>
            </a:pPr>
            <a:r>
              <a:rPr lang="nb-NO" sz="2325">
                <a:solidFill>
                  <a:srgbClr val="1C2930"/>
                </a:solidFill>
                <a:latin typeface="Aptos" panose="020B0004020202020204" pitchFamily="34" charset="0"/>
              </a:rPr>
              <a:t>•  markedets insentiv til å spare ressurser i bakken</a:t>
            </a:r>
            <a:endParaRPr lang="en-GB" sz="2325">
              <a:solidFill>
                <a:srgbClr val="1C2930"/>
              </a:solidFill>
              <a:latin typeface="Aptos" panose="020B0004020202020204" pitchFamily="34" charset="0"/>
            </a:endParaRPr>
          </a:p>
        </p:txBody>
      </p:sp>
      <p:sp>
        <p:nvSpPr>
          <p:cNvPr id="8" name="Rectangle: Rounded Corners 7">
            <a:extLst>
              <a:ext uri="{FF2B5EF4-FFF2-40B4-BE49-F238E27FC236}">
                <a16:creationId xmlns:a16="http://schemas.microsoft.com/office/drawing/2014/main" id="{BFC8E652-074C-90F4-2BE7-9B255BA92136}"/>
              </a:ext>
            </a:extLst>
          </p:cNvPr>
          <p:cNvSpPr/>
          <p:nvPr/>
        </p:nvSpPr>
        <p:spPr>
          <a:xfrm>
            <a:off x="1619250" y="5286375"/>
            <a:ext cx="8953500" cy="628650"/>
          </a:xfrm>
          <a:prstGeom prst="roundRect">
            <a:avLst/>
          </a:prstGeom>
          <a:solidFill>
            <a:srgbClr val="F7F6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619A1363-BE07-27BE-4743-92BB11A259E5}"/>
              </a:ext>
            </a:extLst>
          </p:cNvPr>
          <p:cNvSpPr/>
          <p:nvPr/>
        </p:nvSpPr>
        <p:spPr>
          <a:xfrm>
            <a:off x="1619250" y="5286375"/>
            <a:ext cx="76200" cy="628650"/>
          </a:xfrm>
          <a:prstGeom prst="rect">
            <a:avLst/>
          </a:prstGeom>
          <a:solidFill>
            <a:srgbClr val="E1B6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A798A775-3F06-4B35-83F5-DBBB59AAA09E}"/>
              </a:ext>
            </a:extLst>
          </p:cNvPr>
          <p:cNvSpPr txBox="1"/>
          <p:nvPr/>
        </p:nvSpPr>
        <p:spPr>
          <a:xfrm>
            <a:off x="1885950" y="5370084"/>
            <a:ext cx="8534400" cy="351378"/>
          </a:xfrm>
          <a:prstGeom prst="rect">
            <a:avLst/>
          </a:prstGeom>
          <a:noFill/>
        </p:spPr>
        <p:txBody>
          <a:bodyPr vert="horz" lIns="50800" tIns="25400" rIns="50800" bIns="25400" rtlCol="0" anchor="ctr">
            <a:noAutofit/>
          </a:bodyPr>
          <a:lstStyle/>
          <a:p>
            <a:r>
              <a:rPr lang="nb-NO" sz="1950" b="1">
                <a:solidFill>
                  <a:srgbClr val="0B3D4F"/>
                </a:solidFill>
                <a:latin typeface="Aptos" panose="020B0004020202020204" pitchFamily="34" charset="0"/>
              </a:rPr>
              <a:t>Hovedidé før detaljer: forventninger om framtiden påvirker uttaket i dag.</a:t>
            </a:r>
            <a:endParaRPr lang="en-GB" sz="1950" b="1">
              <a:solidFill>
                <a:srgbClr val="0B3D4F"/>
              </a:solidFill>
              <a:latin typeface="Aptos" panose="020B0004020202020204" pitchFamily="34" charset="0"/>
            </a:endParaRPr>
          </a:p>
        </p:txBody>
      </p:sp>
    </p:spTree>
    <p:extLst>
      <p:ext uri="{BB962C8B-B14F-4D97-AF65-F5344CB8AC3E}">
        <p14:creationId xmlns:p14="http://schemas.microsoft.com/office/powerpoint/2010/main" val="763251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Oljefondet: Visuell flyt</a:t>
            </a:r>
          </a:p>
        </p:txBody>
      </p:sp>
      <p:sp>
        <p:nvSpPr>
          <p:cNvPr id="3" name="Content Placeholder 2"/>
          <p:cNvSpPr>
            <a:spLocks noGrp="1"/>
          </p:cNvSpPr>
          <p:nvPr>
            <p:ph idx="1"/>
          </p:nvPr>
        </p:nvSpPr>
        <p:spPr>
          <a:xfrm>
            <a:off x="838200" y="1825625"/>
            <a:ext cx="10515600" cy="4351338"/>
          </a:xfrm>
        </p:spPr>
        <p:txBody>
          <a:bodyPr/>
          <a:lstStyle/>
          <a:p>
            <a:r>
              <a:rPr lang="nb-NO" dirty="0"/>
              <a:t>Olje og gass (naturkapital) → Ressursrente</a:t>
            </a:r>
          </a:p>
          <a:p>
            <a:r>
              <a:rPr lang="nb-NO" dirty="0"/>
              <a:t>Ressursrente → Statens pensjonsfond utland</a:t>
            </a:r>
          </a:p>
          <a:p>
            <a:r>
              <a:rPr lang="nb-NO" dirty="0"/>
              <a:t>SPU → Avkastning til fremtidige generasjoner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Oljefondet: Diskusjon</a:t>
            </a:r>
          </a:p>
        </p:txBody>
      </p:sp>
      <p:sp>
        <p:nvSpPr>
          <p:cNvPr id="3" name="Content Placeholder 2"/>
          <p:cNvSpPr>
            <a:spLocks noGrp="1"/>
          </p:cNvSpPr>
          <p:nvPr>
            <p:ph idx="1"/>
          </p:nvPr>
        </p:nvSpPr>
        <p:spPr>
          <a:xfrm>
            <a:off x="838200" y="1825625"/>
            <a:ext cx="10515600" cy="4351338"/>
          </a:xfrm>
        </p:spPr>
        <p:txBody>
          <a:bodyPr/>
          <a:lstStyle/>
          <a:p>
            <a:r>
              <a:rPr lang="nb-NO" dirty="0"/>
              <a:t>Er dette rettferdig for fremtidige generasjoner?</a:t>
            </a:r>
          </a:p>
          <a:p>
            <a:r>
              <a:rPr lang="nb-NO" dirty="0"/>
              <a:t>Hva om de verdsetter naturkapital mer enn finanskapital?</a:t>
            </a:r>
          </a:p>
          <a:p>
            <a:r>
              <a:rPr lang="nb-NO" dirty="0"/>
              <a:t>Svak eller sterk bærekraft?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Svak vs. sterk bærekraft</a:t>
            </a:r>
          </a:p>
        </p:txBody>
      </p:sp>
      <p:sp>
        <p:nvSpPr>
          <p:cNvPr id="3" name="Content Placeholder 2"/>
          <p:cNvSpPr>
            <a:spLocks noGrp="1"/>
          </p:cNvSpPr>
          <p:nvPr>
            <p:ph idx="1"/>
          </p:nvPr>
        </p:nvSpPr>
        <p:spPr>
          <a:xfrm>
            <a:off x="838200" y="1825625"/>
            <a:ext cx="10515600" cy="4351338"/>
          </a:xfrm>
        </p:spPr>
        <p:txBody>
          <a:bodyPr/>
          <a:lstStyle/>
          <a:p>
            <a:r>
              <a:rPr lang="nb-NO" dirty="0"/>
              <a:t>Svak bærekraft: total kapital må ikke synke</a:t>
            </a:r>
          </a:p>
          <a:p>
            <a:r>
              <a:rPr lang="nb-NO" dirty="0"/>
              <a:t>Sterk bærekraft: naturkapital må bevares</a:t>
            </a:r>
          </a:p>
          <a:p>
            <a:r>
              <a:rPr lang="nb-NO" dirty="0"/>
              <a:t>Eksempler: Oljefondet (svak), regnskog (sterk)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Miljømessig bærekraft</a:t>
            </a:r>
          </a:p>
        </p:txBody>
      </p:sp>
      <p:sp>
        <p:nvSpPr>
          <p:cNvPr id="3" name="Content Placeholder 2"/>
          <p:cNvSpPr>
            <a:spLocks noGrp="1"/>
          </p:cNvSpPr>
          <p:nvPr>
            <p:ph idx="1"/>
          </p:nvPr>
        </p:nvSpPr>
        <p:spPr>
          <a:xfrm>
            <a:off x="838200" y="1825625"/>
            <a:ext cx="10515600" cy="4351338"/>
          </a:xfrm>
        </p:spPr>
        <p:txBody>
          <a:bodyPr/>
          <a:lstStyle/>
          <a:p>
            <a:r>
              <a:rPr lang="nb-NO" dirty="0"/>
              <a:t>Fysiske strømmer må opprettholdes</a:t>
            </a:r>
          </a:p>
          <a:p>
            <a:r>
              <a:rPr lang="nb-NO" dirty="0"/>
              <a:t>Fangst ≤ rekruttering (fisk)</a:t>
            </a:r>
          </a:p>
          <a:p>
            <a:r>
              <a:rPr lang="nb-NO" dirty="0"/>
              <a:t>Hogst ≤ gjenvekst (skog)</a:t>
            </a:r>
          </a:p>
          <a:p>
            <a:r>
              <a:rPr lang="nb-NO" dirty="0"/>
              <a:t>Brukes i praktisk ressursforvaltning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AD0D0-6478-606C-431E-A98ED9D71BAB}"/>
              </a:ext>
            </a:extLst>
          </p:cNvPr>
          <p:cNvSpPr>
            <a:spLocks noGrp="1"/>
          </p:cNvSpPr>
          <p:nvPr>
            <p:ph type="title"/>
          </p:nvPr>
        </p:nvSpPr>
        <p:spPr/>
        <p:txBody>
          <a:bodyPr/>
          <a:lstStyle/>
          <a:p>
            <a:r>
              <a:rPr lang="nb-NO" dirty="0"/>
              <a:t>Alaska Permanent Fund</a:t>
            </a:r>
          </a:p>
        </p:txBody>
      </p:sp>
      <p:sp>
        <p:nvSpPr>
          <p:cNvPr id="3" name="Content Placeholder 2">
            <a:extLst>
              <a:ext uri="{FF2B5EF4-FFF2-40B4-BE49-F238E27FC236}">
                <a16:creationId xmlns:a16="http://schemas.microsoft.com/office/drawing/2014/main" id="{754BE329-F4E0-D704-F0BE-842C5A76B99C}"/>
              </a:ext>
            </a:extLst>
          </p:cNvPr>
          <p:cNvSpPr>
            <a:spLocks noGrp="1"/>
          </p:cNvSpPr>
          <p:nvPr>
            <p:ph idx="1"/>
          </p:nvPr>
        </p:nvSpPr>
        <p:spPr>
          <a:xfrm>
            <a:off x="838200" y="1825625"/>
            <a:ext cx="8691208" cy="4351338"/>
          </a:xfrm>
        </p:spPr>
        <p:txBody>
          <a:bodyPr>
            <a:normAutofit fontScale="92500" lnSpcReduction="10000"/>
          </a:bodyPr>
          <a:lstStyle/>
          <a:p>
            <a:pPr marL="0" indent="0">
              <a:buNone/>
            </a:pPr>
            <a:r>
              <a:rPr lang="nb-NO" b="1" dirty="0"/>
              <a:t>Fra oljeoppdagelse til fondsidé (1968–1980)</a:t>
            </a:r>
          </a:p>
          <a:p>
            <a:r>
              <a:rPr lang="nb-NO" dirty="0"/>
              <a:t>1968: Storfunn av olje i </a:t>
            </a:r>
            <a:r>
              <a:rPr lang="nb-NO" b="1" dirty="0"/>
              <a:t>Prudhoe Bay</a:t>
            </a:r>
            <a:r>
              <a:rPr lang="nb-NO" dirty="0"/>
              <a:t> → forventning om massivt inntektsløft.</a:t>
            </a:r>
          </a:p>
          <a:p>
            <a:r>
              <a:rPr lang="nb-NO" dirty="0"/>
              <a:t>1977: </a:t>
            </a:r>
            <a:r>
              <a:rPr lang="nb-NO" b="1" dirty="0"/>
              <a:t>Trans-Alaska Pipeline</a:t>
            </a:r>
            <a:r>
              <a:rPr lang="nb-NO" dirty="0"/>
              <a:t> åpner; oljeinntektene strømmer inn.</a:t>
            </a:r>
          </a:p>
          <a:p>
            <a:r>
              <a:rPr lang="nb-NO" dirty="0"/>
              <a:t>Politisk erkjennelse: Ikke-fornybar ressurs + høy prisvolatilitet = risiko for boom–bust.</a:t>
            </a:r>
          </a:p>
          <a:p>
            <a:r>
              <a:rPr lang="nb-NO" dirty="0"/>
              <a:t>1976: </a:t>
            </a:r>
            <a:r>
              <a:rPr lang="nb-NO" b="1" dirty="0"/>
              <a:t>Konstitusjonell endring</a:t>
            </a:r>
            <a:r>
              <a:rPr lang="nb-NO" dirty="0"/>
              <a:t> oppretter </a:t>
            </a:r>
            <a:r>
              <a:rPr lang="nb-NO" b="1" dirty="0"/>
              <a:t>Alaska Permanent Fund (APF)</a:t>
            </a:r>
            <a:r>
              <a:rPr lang="nb-NO" dirty="0"/>
              <a:t> – del av oljeinntekter settes av.</a:t>
            </a:r>
          </a:p>
          <a:p>
            <a:r>
              <a:rPr lang="nb-NO" dirty="0"/>
              <a:t>1980: </a:t>
            </a:r>
            <a:r>
              <a:rPr lang="nb-NO" b="1" dirty="0"/>
              <a:t>Alaska Permanent Fund Corporation (APFC)</a:t>
            </a:r>
            <a:r>
              <a:rPr lang="nb-NO" dirty="0"/>
              <a:t> etableres for profesjonell forvaltning.</a:t>
            </a:r>
          </a:p>
          <a:p>
            <a:pPr marL="0" indent="0">
              <a:buNone/>
            </a:pPr>
            <a:endParaRPr lang="nb-NO" dirty="0"/>
          </a:p>
        </p:txBody>
      </p:sp>
      <p:pic>
        <p:nvPicPr>
          <p:cNvPr id="4" name="Picture 2" descr="How the PFD came to be | Local News | frontiersman.com">
            <a:extLst>
              <a:ext uri="{FF2B5EF4-FFF2-40B4-BE49-F238E27FC236}">
                <a16:creationId xmlns:a16="http://schemas.microsoft.com/office/drawing/2014/main" id="{7483414A-35E4-43B6-A189-61916CC0D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6717" y="0"/>
            <a:ext cx="2025283" cy="20252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rans-Alaska Pipeline System - Wikipedia">
            <a:extLst>
              <a:ext uri="{FF2B5EF4-FFF2-40B4-BE49-F238E27FC236}">
                <a16:creationId xmlns:a16="http://schemas.microsoft.com/office/drawing/2014/main" id="{8636CB40-C4B1-3449-AEE3-403117C736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0750" y="4162425"/>
            <a:ext cx="238125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0886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696F-AC83-DE94-D55C-494DDAB18BF7}"/>
              </a:ext>
            </a:extLst>
          </p:cNvPr>
          <p:cNvSpPr>
            <a:spLocks noGrp="1"/>
          </p:cNvSpPr>
          <p:nvPr>
            <p:ph type="title"/>
          </p:nvPr>
        </p:nvSpPr>
        <p:spPr/>
        <p:txBody>
          <a:bodyPr/>
          <a:lstStyle/>
          <a:p>
            <a:r>
              <a:rPr lang="nb-NO" dirty="0"/>
              <a:t>Alaska Permanent Fund</a:t>
            </a:r>
          </a:p>
        </p:txBody>
      </p:sp>
      <p:sp>
        <p:nvSpPr>
          <p:cNvPr id="3" name="Content Placeholder 2">
            <a:extLst>
              <a:ext uri="{FF2B5EF4-FFF2-40B4-BE49-F238E27FC236}">
                <a16:creationId xmlns:a16="http://schemas.microsoft.com/office/drawing/2014/main" id="{E5B1771C-0209-C19A-8097-44F217C43F1B}"/>
              </a:ext>
            </a:extLst>
          </p:cNvPr>
          <p:cNvSpPr>
            <a:spLocks noGrp="1"/>
          </p:cNvSpPr>
          <p:nvPr>
            <p:ph idx="1"/>
          </p:nvPr>
        </p:nvSpPr>
        <p:spPr/>
        <p:txBody>
          <a:bodyPr>
            <a:normAutofit fontScale="92500" lnSpcReduction="10000"/>
          </a:bodyPr>
          <a:lstStyle/>
          <a:p>
            <a:pPr marL="0" indent="0">
              <a:buNone/>
            </a:pPr>
            <a:r>
              <a:rPr lang="nb-NO" b="1" dirty="0"/>
              <a:t>Designvalg: gjør olje om til finanskapital</a:t>
            </a:r>
          </a:p>
          <a:p>
            <a:r>
              <a:rPr lang="nb-NO" b="1" dirty="0"/>
              <a:t>Kilde:</a:t>
            </a:r>
            <a:r>
              <a:rPr lang="nb-NO" dirty="0"/>
              <a:t> En andel av statens olje- og mineralinntekter avsettes løpende til fondet.</a:t>
            </a:r>
          </a:p>
          <a:p>
            <a:r>
              <a:rPr lang="nb-NO" b="1" dirty="0"/>
              <a:t>Mandat:</a:t>
            </a:r>
            <a:r>
              <a:rPr lang="nb-NO" dirty="0"/>
              <a:t> Investere globalt i diversifiserte finansaktiva; ikke brukes til løpende drift.</a:t>
            </a:r>
          </a:p>
          <a:p>
            <a:r>
              <a:rPr lang="nb-NO" b="1" dirty="0"/>
              <a:t>Utbetalinger:</a:t>
            </a:r>
            <a:r>
              <a:rPr lang="nb-NO" dirty="0"/>
              <a:t> Fra 1982 årlige </a:t>
            </a:r>
            <a:r>
              <a:rPr lang="nb-NO" b="1" dirty="0"/>
              <a:t>Permanent Fund Dividends</a:t>
            </a:r>
            <a:r>
              <a:rPr lang="nb-NO" dirty="0"/>
              <a:t> (PFD) til alle innbyggere.</a:t>
            </a:r>
          </a:p>
          <a:p>
            <a:r>
              <a:rPr lang="nb-NO" b="1" dirty="0"/>
              <a:t>Styring:</a:t>
            </a:r>
            <a:r>
              <a:rPr lang="nb-NO" dirty="0"/>
              <a:t> Uavhengig forvalter (APFC), offentlig rapportering, politisk armlengdes avstand.</a:t>
            </a:r>
          </a:p>
          <a:p>
            <a:r>
              <a:rPr lang="nb-NO" dirty="0"/>
              <a:t>Nyere praksis: </a:t>
            </a:r>
            <a:r>
              <a:rPr lang="nb-NO" b="1" dirty="0"/>
              <a:t>POMV-regel</a:t>
            </a:r>
            <a:r>
              <a:rPr lang="nb-NO" dirty="0"/>
              <a:t> (</a:t>
            </a:r>
            <a:r>
              <a:rPr lang="nb-NO" dirty="0" err="1"/>
              <a:t>Percent</a:t>
            </a:r>
            <a:r>
              <a:rPr lang="nb-NO" dirty="0"/>
              <a:t> </a:t>
            </a:r>
            <a:r>
              <a:rPr lang="nb-NO" dirty="0" err="1"/>
              <a:t>of</a:t>
            </a:r>
            <a:r>
              <a:rPr lang="nb-NO" dirty="0"/>
              <a:t> Market Value) for bærekraftig uttak fra avkastningen.</a:t>
            </a:r>
          </a:p>
          <a:p>
            <a:endParaRPr lang="nb-NO" dirty="0"/>
          </a:p>
        </p:txBody>
      </p:sp>
      <p:pic>
        <p:nvPicPr>
          <p:cNvPr id="1026" name="Picture 2" descr="Modernizing the Alaska Permanent Fund Trustees' Paper Volume 10">
            <a:extLst>
              <a:ext uri="{FF2B5EF4-FFF2-40B4-BE49-F238E27FC236}">
                <a16:creationId xmlns:a16="http://schemas.microsoft.com/office/drawing/2014/main" id="{EE9ABDEE-C1E7-DBCF-2361-1BC7F6FF1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4688" y="0"/>
            <a:ext cx="3557312" cy="1992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380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D9B6-2104-62C3-B61B-F597779F0F95}"/>
              </a:ext>
            </a:extLst>
          </p:cNvPr>
          <p:cNvSpPr>
            <a:spLocks noGrp="1"/>
          </p:cNvSpPr>
          <p:nvPr>
            <p:ph type="title"/>
          </p:nvPr>
        </p:nvSpPr>
        <p:spPr/>
        <p:txBody>
          <a:bodyPr/>
          <a:lstStyle/>
          <a:p>
            <a:r>
              <a:rPr lang="nb-NO" dirty="0"/>
              <a:t>Alaska Permanent Fund</a:t>
            </a:r>
          </a:p>
        </p:txBody>
      </p:sp>
      <p:sp>
        <p:nvSpPr>
          <p:cNvPr id="3" name="Content Placeholder 2">
            <a:extLst>
              <a:ext uri="{FF2B5EF4-FFF2-40B4-BE49-F238E27FC236}">
                <a16:creationId xmlns:a16="http://schemas.microsoft.com/office/drawing/2014/main" id="{A1DF7FAD-4E96-6DF5-16D3-EEF83764A947}"/>
              </a:ext>
            </a:extLst>
          </p:cNvPr>
          <p:cNvSpPr>
            <a:spLocks noGrp="1"/>
          </p:cNvSpPr>
          <p:nvPr>
            <p:ph idx="1"/>
          </p:nvPr>
        </p:nvSpPr>
        <p:spPr/>
        <p:txBody>
          <a:bodyPr>
            <a:normAutofit/>
          </a:bodyPr>
          <a:lstStyle/>
          <a:p>
            <a:pPr marL="0" indent="0">
              <a:buNone/>
            </a:pPr>
            <a:r>
              <a:rPr lang="nb-NO" b="1" dirty="0"/>
              <a:t>Resultater, debatter og lærdom</a:t>
            </a:r>
          </a:p>
          <a:p>
            <a:r>
              <a:rPr lang="nb-NO" dirty="0"/>
              <a:t>Fondet vokste til et av verdens største </a:t>
            </a:r>
            <a:r>
              <a:rPr lang="nb-NO" b="1" dirty="0"/>
              <a:t>sub-nasjonale</a:t>
            </a:r>
            <a:r>
              <a:rPr lang="nb-NO" dirty="0"/>
              <a:t> fond; utbytter har </a:t>
            </a:r>
            <a:r>
              <a:rPr lang="nb-NO" b="1" dirty="0"/>
              <a:t>demmet opp for fattigdom</a:t>
            </a:r>
            <a:r>
              <a:rPr lang="nb-NO" dirty="0"/>
              <a:t> og stabilisert økonomien.</a:t>
            </a:r>
          </a:p>
          <a:p>
            <a:r>
              <a:rPr lang="nb-NO" dirty="0"/>
              <a:t>Ved oljeprisfall har PFD og budsjettbruk vært </a:t>
            </a:r>
            <a:r>
              <a:rPr lang="nb-NO" b="1" dirty="0"/>
              <a:t>politisk omstridt</a:t>
            </a:r>
            <a:r>
              <a:rPr lang="nb-NO" dirty="0"/>
              <a:t> (hvor mye skal tas ut?).</a:t>
            </a:r>
          </a:p>
          <a:p>
            <a:r>
              <a:rPr lang="nb-NO" b="1" dirty="0"/>
              <a:t>Kjerneidé:</a:t>
            </a:r>
            <a:r>
              <a:rPr lang="nb-NO" dirty="0"/>
              <a:t> Konvertere </a:t>
            </a:r>
            <a:r>
              <a:rPr lang="nb-NO" dirty="0" err="1"/>
              <a:t>uttømbare</a:t>
            </a:r>
            <a:r>
              <a:rPr lang="nb-NO" dirty="0"/>
              <a:t> inntekter til varig avkastning for </a:t>
            </a:r>
            <a:r>
              <a:rPr lang="nb-NO" b="1" dirty="0"/>
              <a:t>nåværende og fremtidige</a:t>
            </a:r>
            <a:r>
              <a:rPr lang="nb-NO" dirty="0"/>
              <a:t> innbyggere.</a:t>
            </a:r>
          </a:p>
          <a:p>
            <a:r>
              <a:rPr lang="nb-NO" b="1" dirty="0"/>
              <a:t>Lærdom:</a:t>
            </a:r>
            <a:r>
              <a:rPr lang="nb-NO" dirty="0"/>
              <a:t> Tidlig institusjonsbygging, klare regler og transparens er avgjørende for </a:t>
            </a:r>
            <a:r>
              <a:rPr lang="nb-NO" dirty="0" err="1"/>
              <a:t>intergenerasjonell</a:t>
            </a:r>
            <a:r>
              <a:rPr lang="nb-NO" dirty="0"/>
              <a:t> rettferdighet.</a:t>
            </a:r>
          </a:p>
          <a:p>
            <a:endParaRPr lang="nb-NO" dirty="0"/>
          </a:p>
        </p:txBody>
      </p:sp>
      <p:pic>
        <p:nvPicPr>
          <p:cNvPr id="4" name="Picture 2" descr="Modernizing the Alaska Permanent Fund Trustees' Paper Volume 10">
            <a:extLst>
              <a:ext uri="{FF2B5EF4-FFF2-40B4-BE49-F238E27FC236}">
                <a16:creationId xmlns:a16="http://schemas.microsoft.com/office/drawing/2014/main" id="{0FE57269-5CA0-48CB-5D84-4F19B74DE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4688" y="0"/>
            <a:ext cx="3557312" cy="1992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735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0606-6E39-B2BC-70E2-F3821E144949}"/>
              </a:ext>
            </a:extLst>
          </p:cNvPr>
          <p:cNvSpPr>
            <a:spLocks noGrp="1"/>
          </p:cNvSpPr>
          <p:nvPr>
            <p:ph type="title"/>
          </p:nvPr>
        </p:nvSpPr>
        <p:spPr>
          <a:xfrm>
            <a:off x="838200" y="365125"/>
            <a:ext cx="10515600" cy="1325563"/>
          </a:xfrm>
        </p:spPr>
        <p:txBody>
          <a:bodyPr anchor="ctr">
            <a:normAutofit/>
          </a:bodyPr>
          <a:lstStyle/>
          <a:p>
            <a:r>
              <a:rPr lang="nb-NO" dirty="0"/>
              <a:t>Nauru</a:t>
            </a:r>
          </a:p>
        </p:txBody>
      </p:sp>
      <p:sp>
        <p:nvSpPr>
          <p:cNvPr id="3" name="Content Placeholder 2">
            <a:extLst>
              <a:ext uri="{FF2B5EF4-FFF2-40B4-BE49-F238E27FC236}">
                <a16:creationId xmlns:a16="http://schemas.microsoft.com/office/drawing/2014/main" id="{F69983B0-81E2-B1A7-EC0D-F6D87BB48D08}"/>
              </a:ext>
            </a:extLst>
          </p:cNvPr>
          <p:cNvSpPr>
            <a:spLocks noGrp="1"/>
          </p:cNvSpPr>
          <p:nvPr>
            <p:ph sz="half" idx="1"/>
          </p:nvPr>
        </p:nvSpPr>
        <p:spPr>
          <a:xfrm>
            <a:off x="838199" y="1825625"/>
            <a:ext cx="6718825" cy="4351338"/>
          </a:xfrm>
        </p:spPr>
        <p:txBody>
          <a:bodyPr>
            <a:normAutofit/>
          </a:bodyPr>
          <a:lstStyle/>
          <a:p>
            <a:pPr marL="0" indent="0">
              <a:buNone/>
            </a:pPr>
            <a:r>
              <a:rPr lang="nb-NO" sz="2000" b="1" dirty="0"/>
              <a:t>Kolonihistorie og fosfatøkonomi (1900–1968)</a:t>
            </a:r>
          </a:p>
          <a:p>
            <a:r>
              <a:rPr lang="nb-NO" sz="2000" dirty="0"/>
              <a:t>Ca. 1900: Rike </a:t>
            </a:r>
            <a:r>
              <a:rPr lang="nb-NO" sz="2000" b="1" dirty="0"/>
              <a:t>fosfatforekomster</a:t>
            </a:r>
            <a:r>
              <a:rPr lang="nb-NO" sz="2000" dirty="0"/>
              <a:t> oppdaget; gruvedrift startet under kolonistyre.</a:t>
            </a:r>
          </a:p>
          <a:p>
            <a:r>
              <a:rPr lang="nb-NO" sz="2000" dirty="0"/>
              <a:t>Først tysk kontroll; etter WWI mandat under </a:t>
            </a:r>
            <a:r>
              <a:rPr lang="nb-NO" sz="2000" b="1" dirty="0"/>
              <a:t>Australia/UK/NZ</a:t>
            </a:r>
            <a:r>
              <a:rPr lang="nb-NO" sz="2000" dirty="0"/>
              <a:t> (British </a:t>
            </a:r>
            <a:r>
              <a:rPr lang="nb-NO" sz="2000" dirty="0" err="1"/>
              <a:t>Phosphate</a:t>
            </a:r>
            <a:r>
              <a:rPr lang="nb-NO" sz="2000" dirty="0"/>
              <a:t> </a:t>
            </a:r>
            <a:r>
              <a:rPr lang="nb-NO" sz="2000" dirty="0" err="1"/>
              <a:t>Commissioners</a:t>
            </a:r>
            <a:r>
              <a:rPr lang="nb-NO" sz="2000" dirty="0"/>
              <a:t>).</a:t>
            </a:r>
          </a:p>
          <a:p>
            <a:r>
              <a:rPr lang="nb-NO" sz="2000" dirty="0"/>
              <a:t>Ekstraksjon med liten miljørehabilitering: </a:t>
            </a:r>
            <a:r>
              <a:rPr lang="nb-NO" sz="2000" b="1" dirty="0"/>
              <a:t>kalksteins-«nåler»</a:t>
            </a:r>
            <a:r>
              <a:rPr lang="nb-NO" sz="2000" dirty="0"/>
              <a:t> og bart landskap.</a:t>
            </a:r>
          </a:p>
          <a:p>
            <a:r>
              <a:rPr lang="nb-NO" sz="2000" dirty="0"/>
              <a:t>1968: </a:t>
            </a:r>
            <a:r>
              <a:rPr lang="nb-NO" sz="2000" b="1" dirty="0"/>
              <a:t>Uavhengighet</a:t>
            </a:r>
            <a:r>
              <a:rPr lang="nb-NO" sz="2000" dirty="0"/>
              <a:t>; håp om å «arve» fosfatrikdommen.</a:t>
            </a:r>
          </a:p>
          <a:p>
            <a:r>
              <a:rPr lang="nb-NO" sz="2000" dirty="0"/>
              <a:t>Befolkning </a:t>
            </a:r>
            <a:r>
              <a:rPr lang="nb-NO" sz="2000" dirty="0" err="1"/>
              <a:t>ca</a:t>
            </a:r>
            <a:r>
              <a:rPr lang="nb-NO" sz="2000" dirty="0"/>
              <a:t> 12 000</a:t>
            </a:r>
          </a:p>
          <a:p>
            <a:r>
              <a:rPr lang="nb-NO" sz="2000" dirty="0"/>
              <a:t>HDI: 124 av 193 </a:t>
            </a:r>
          </a:p>
          <a:p>
            <a:r>
              <a:rPr lang="nb-NO" sz="2000" dirty="0"/>
              <a:t>GDP per </a:t>
            </a:r>
            <a:r>
              <a:rPr lang="nb-NO" sz="2000" dirty="0" err="1"/>
              <a:t>capita</a:t>
            </a:r>
            <a:r>
              <a:rPr lang="nb-NO" sz="2000" dirty="0"/>
              <a:t>: </a:t>
            </a:r>
            <a:r>
              <a:rPr lang="nb-NO" sz="2000" dirty="0" err="1"/>
              <a:t>ca</a:t>
            </a:r>
            <a:r>
              <a:rPr lang="nb-NO" sz="2000" dirty="0"/>
              <a:t> 11 000 dollar</a:t>
            </a:r>
          </a:p>
          <a:p>
            <a:pPr lvl="1"/>
            <a:r>
              <a:rPr lang="nb-NO" sz="1600" dirty="0"/>
              <a:t>Norge: 108 000 dollar </a:t>
            </a:r>
          </a:p>
        </p:txBody>
      </p:sp>
      <p:pic>
        <p:nvPicPr>
          <p:cNvPr id="4" name="Picture 2" descr="Nauru – land i Stillehavet – Store norske leksikon">
            <a:extLst>
              <a:ext uri="{FF2B5EF4-FFF2-40B4-BE49-F238E27FC236}">
                <a16:creationId xmlns:a16="http://schemas.microsoft.com/office/drawing/2014/main" id="{3CAADF84-A1CC-5C98-6300-06E3B7FC2EC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97962" y="3226850"/>
            <a:ext cx="3555838" cy="2853561"/>
          </a:xfrm>
          <a:prstGeom prst="rect">
            <a:avLst/>
          </a:prstGeom>
          <a:noFill/>
        </p:spPr>
      </p:pic>
      <p:pic>
        <p:nvPicPr>
          <p:cNvPr id="5122" name="Picture 2" descr="Ej Atlas">
            <a:extLst>
              <a:ext uri="{FF2B5EF4-FFF2-40B4-BE49-F238E27FC236}">
                <a16:creationId xmlns:a16="http://schemas.microsoft.com/office/drawing/2014/main" id="{3051AB98-92B6-8C94-CE9B-2538916142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2379" y="365125"/>
            <a:ext cx="3501421" cy="2373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4464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3930A-E43F-0606-878B-BB2A9AC2A55F}"/>
              </a:ext>
            </a:extLst>
          </p:cNvPr>
          <p:cNvSpPr>
            <a:spLocks noGrp="1"/>
          </p:cNvSpPr>
          <p:nvPr>
            <p:ph type="title"/>
          </p:nvPr>
        </p:nvSpPr>
        <p:spPr/>
        <p:txBody>
          <a:bodyPr/>
          <a:lstStyle/>
          <a:p>
            <a:r>
              <a:rPr lang="nb-NO" dirty="0"/>
              <a:t>Nauru </a:t>
            </a:r>
          </a:p>
        </p:txBody>
      </p:sp>
      <p:sp>
        <p:nvSpPr>
          <p:cNvPr id="3" name="Content Placeholder 2">
            <a:extLst>
              <a:ext uri="{FF2B5EF4-FFF2-40B4-BE49-F238E27FC236}">
                <a16:creationId xmlns:a16="http://schemas.microsoft.com/office/drawing/2014/main" id="{B7D11165-0907-BA71-C052-6EBFBD8F881A}"/>
              </a:ext>
            </a:extLst>
          </p:cNvPr>
          <p:cNvSpPr>
            <a:spLocks noGrp="1"/>
          </p:cNvSpPr>
          <p:nvPr>
            <p:ph idx="1"/>
          </p:nvPr>
        </p:nvSpPr>
        <p:spPr/>
        <p:txBody>
          <a:bodyPr/>
          <a:lstStyle/>
          <a:p>
            <a:pPr marL="0" indent="0">
              <a:buNone/>
            </a:pPr>
            <a:r>
              <a:rPr lang="nb-NO" b="1" dirty="0"/>
              <a:t>Gullalder og feilslått forvaltning (1968–1990-tallet)</a:t>
            </a:r>
          </a:p>
          <a:p>
            <a:r>
              <a:rPr lang="nb-NO" dirty="0"/>
              <a:t>Fosfatinntektene ga verdens høyeste BNP per innbygger i perioder.</a:t>
            </a:r>
          </a:p>
          <a:p>
            <a:r>
              <a:rPr lang="nb-NO" b="1" dirty="0"/>
              <a:t>Nauru </a:t>
            </a:r>
            <a:r>
              <a:rPr lang="nb-NO" b="1" dirty="0" err="1"/>
              <a:t>Phosphate</a:t>
            </a:r>
            <a:r>
              <a:rPr lang="nb-NO" b="1" dirty="0"/>
              <a:t> Corporation</a:t>
            </a:r>
            <a:r>
              <a:rPr lang="nb-NO" dirty="0"/>
              <a:t> nasjonaliserte driften; store kontantstrømmer.</a:t>
            </a:r>
          </a:p>
          <a:p>
            <a:r>
              <a:rPr lang="nb-NO" dirty="0"/>
              <a:t>Svak institusjonsbygging: </a:t>
            </a:r>
            <a:r>
              <a:rPr lang="nb-NO" b="1" dirty="0"/>
              <a:t>mislykkede investeringer</a:t>
            </a:r>
            <a:r>
              <a:rPr lang="nb-NO" dirty="0"/>
              <a:t> (f.eks. Air Nauru, eiendom), svakt tilsyn.</a:t>
            </a:r>
          </a:p>
          <a:p>
            <a:r>
              <a:rPr lang="nb-NO" dirty="0"/>
              <a:t>Minimal </a:t>
            </a:r>
            <a:r>
              <a:rPr lang="nb-NO" b="1" dirty="0"/>
              <a:t>rehabilitering</a:t>
            </a:r>
            <a:r>
              <a:rPr lang="nb-NO" dirty="0"/>
              <a:t> av gruvearealer; liten diversifisering av økonomien.</a:t>
            </a:r>
          </a:p>
          <a:p>
            <a:endParaRPr lang="nb-NO" dirty="0"/>
          </a:p>
        </p:txBody>
      </p:sp>
    </p:spTree>
    <p:extLst>
      <p:ext uri="{BB962C8B-B14F-4D97-AF65-F5344CB8AC3E}">
        <p14:creationId xmlns:p14="http://schemas.microsoft.com/office/powerpoint/2010/main" val="38372901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5C13-B6E2-2FFC-079C-3968C4D327AF}"/>
              </a:ext>
            </a:extLst>
          </p:cNvPr>
          <p:cNvSpPr>
            <a:spLocks noGrp="1"/>
          </p:cNvSpPr>
          <p:nvPr>
            <p:ph type="title"/>
          </p:nvPr>
        </p:nvSpPr>
        <p:spPr>
          <a:xfrm>
            <a:off x="838200" y="365125"/>
            <a:ext cx="10515600" cy="1325563"/>
          </a:xfrm>
        </p:spPr>
        <p:txBody>
          <a:bodyPr anchor="ctr">
            <a:normAutofit/>
          </a:bodyPr>
          <a:lstStyle/>
          <a:p>
            <a:r>
              <a:rPr lang="nb-NO" dirty="0"/>
              <a:t>Nauru </a:t>
            </a:r>
          </a:p>
        </p:txBody>
      </p:sp>
      <p:sp>
        <p:nvSpPr>
          <p:cNvPr id="3" name="Content Placeholder 2">
            <a:extLst>
              <a:ext uri="{FF2B5EF4-FFF2-40B4-BE49-F238E27FC236}">
                <a16:creationId xmlns:a16="http://schemas.microsoft.com/office/drawing/2014/main" id="{01B4B1A8-4E45-11D9-C079-01024CF7EDD8}"/>
              </a:ext>
            </a:extLst>
          </p:cNvPr>
          <p:cNvSpPr>
            <a:spLocks noGrp="1"/>
          </p:cNvSpPr>
          <p:nvPr>
            <p:ph sz="half" idx="1"/>
          </p:nvPr>
        </p:nvSpPr>
        <p:spPr>
          <a:xfrm>
            <a:off x="838200" y="1825625"/>
            <a:ext cx="5181600" cy="4351338"/>
          </a:xfrm>
        </p:spPr>
        <p:txBody>
          <a:bodyPr>
            <a:normAutofit/>
          </a:bodyPr>
          <a:lstStyle/>
          <a:p>
            <a:pPr marL="0" indent="0">
              <a:buNone/>
            </a:pPr>
            <a:r>
              <a:rPr lang="nb-NO" sz="2000" b="1" dirty="0"/>
              <a:t>Kollaps, ettervirkninger og lærdom</a:t>
            </a:r>
          </a:p>
          <a:p>
            <a:r>
              <a:rPr lang="nb-NO" sz="2000" dirty="0"/>
              <a:t>På 1990–2000-tallet: </a:t>
            </a:r>
            <a:r>
              <a:rPr lang="nb-NO" sz="2000" b="1" dirty="0"/>
              <a:t>Forekomster utarmet</a:t>
            </a:r>
            <a:r>
              <a:rPr lang="nb-NO" sz="2000" dirty="0"/>
              <a:t>, fondsmidler tært ned, offentlig gjeld opp.</a:t>
            </a:r>
          </a:p>
          <a:p>
            <a:r>
              <a:rPr lang="nb-NO" sz="2000" b="1" dirty="0"/>
              <a:t>Miljøødeleggelse</a:t>
            </a:r>
            <a:r>
              <a:rPr lang="nb-NO" sz="2000" dirty="0"/>
              <a:t>: over 80 % av øya kraftig degradert; lite land egnet til bosetting/landbruk.</a:t>
            </a:r>
          </a:p>
          <a:p>
            <a:r>
              <a:rPr lang="nb-NO" sz="2000" dirty="0"/>
              <a:t>Økonomisk nød → avhengighet av </a:t>
            </a:r>
            <a:r>
              <a:rPr lang="nb-NO" sz="2000" b="1" dirty="0"/>
              <a:t>eksterne ordninger</a:t>
            </a:r>
            <a:r>
              <a:rPr lang="nb-NO" sz="2000" dirty="0"/>
              <a:t> (bl.a. avtaler med Australia).</a:t>
            </a:r>
          </a:p>
          <a:p>
            <a:r>
              <a:rPr lang="nb-NO" sz="2000" b="1" dirty="0"/>
              <a:t>Lærdom:</a:t>
            </a:r>
            <a:r>
              <a:rPr lang="nb-NO" sz="2000" dirty="0"/>
              <a:t> Uten institusjoner, diversifisering og miljørehabilitering blir ressursrikdom </a:t>
            </a:r>
            <a:r>
              <a:rPr lang="nb-NO" sz="2000" b="1" dirty="0"/>
              <a:t>kortvarig</a:t>
            </a:r>
            <a:r>
              <a:rPr lang="nb-NO" sz="2000" dirty="0"/>
              <a:t> og sårbar.</a:t>
            </a:r>
          </a:p>
          <a:p>
            <a:endParaRPr lang="nb-NO" sz="2000" dirty="0"/>
          </a:p>
        </p:txBody>
      </p:sp>
      <p:pic>
        <p:nvPicPr>
          <p:cNvPr id="4098" name="Picture 2" descr="nauru_nightmare">
            <a:extLst>
              <a:ext uri="{FF2B5EF4-FFF2-40B4-BE49-F238E27FC236}">
                <a16:creationId xmlns:a16="http://schemas.microsoft.com/office/drawing/2014/main" id="{7F3291E6-1AF4-AE8F-54B3-BC67F9486F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2200" y="2265458"/>
            <a:ext cx="5181600" cy="3471672"/>
          </a:xfrm>
          <a:prstGeom prst="rect">
            <a:avLst/>
          </a:prstGeom>
          <a:solidFill>
            <a:srgbClr val="FFFFFF"/>
          </a:solidFill>
        </p:spPr>
      </p:pic>
    </p:spTree>
    <p:extLst>
      <p:ext uri="{BB962C8B-B14F-4D97-AF65-F5344CB8AC3E}">
        <p14:creationId xmlns:p14="http://schemas.microsoft.com/office/powerpoint/2010/main" val="33105881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Indikatorer for bærekraft</a:t>
            </a:r>
          </a:p>
        </p:txBody>
      </p:sp>
      <p:sp>
        <p:nvSpPr>
          <p:cNvPr id="3" name="Content Placeholder 2"/>
          <p:cNvSpPr>
            <a:spLocks noGrp="1"/>
          </p:cNvSpPr>
          <p:nvPr>
            <p:ph idx="1"/>
          </p:nvPr>
        </p:nvSpPr>
        <p:spPr>
          <a:xfrm>
            <a:off x="838200" y="1825625"/>
            <a:ext cx="10515600" cy="4351338"/>
          </a:xfrm>
        </p:spPr>
        <p:txBody>
          <a:bodyPr/>
          <a:lstStyle/>
          <a:p>
            <a:r>
              <a:rPr lang="nb-NO" dirty="0"/>
              <a:t>Grønn BNP: justerer for ressursuttak og miljøskade</a:t>
            </a:r>
          </a:p>
          <a:p>
            <a:r>
              <a:rPr lang="nb-NO" dirty="0"/>
              <a:t>Genuine </a:t>
            </a:r>
            <a:r>
              <a:rPr lang="nb-NO" dirty="0" err="1"/>
              <a:t>Savings</a:t>
            </a:r>
            <a:r>
              <a:rPr lang="nb-NO" dirty="0"/>
              <a:t>: nettoinvestering i alle kapitalformer</a:t>
            </a:r>
          </a:p>
          <a:p>
            <a:r>
              <a:rPr lang="nb-NO" dirty="0"/>
              <a:t>Økologisk fotavtrykk: biologisk kapasitet vs. forbruk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Politikkimplikasjoner</a:t>
            </a:r>
          </a:p>
        </p:txBody>
      </p:sp>
      <p:sp>
        <p:nvSpPr>
          <p:cNvPr id="3" name="Content Placeholder 2"/>
          <p:cNvSpPr>
            <a:spLocks noGrp="1"/>
          </p:cNvSpPr>
          <p:nvPr>
            <p:ph idx="1"/>
          </p:nvPr>
        </p:nvSpPr>
        <p:spPr>
          <a:xfrm>
            <a:off x="838200" y="1825625"/>
            <a:ext cx="10515600" cy="4351338"/>
          </a:xfrm>
        </p:spPr>
        <p:txBody>
          <a:bodyPr/>
          <a:lstStyle/>
          <a:p>
            <a:r>
              <a:rPr lang="nb-NO" dirty="0"/>
              <a:t>Effektivitet alene er ikke nok → </a:t>
            </a:r>
            <a:r>
              <a:rPr lang="nb-NO" dirty="0" err="1"/>
              <a:t>bærekraftskriterier</a:t>
            </a:r>
            <a:r>
              <a:rPr lang="nb-NO" dirty="0"/>
              <a:t> må med</a:t>
            </a:r>
          </a:p>
          <a:p>
            <a:r>
              <a:rPr lang="nb-NO" dirty="0"/>
              <a:t>Diskonteringsraten avgjør fremtiden</a:t>
            </a:r>
          </a:p>
          <a:p>
            <a:r>
              <a:rPr lang="nb-NO" dirty="0"/>
              <a:t>Politiske valg: hvor mye vektlegge fremtidige generasjoner?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Diskusjonsspørsmål</a:t>
            </a:r>
          </a:p>
        </p:txBody>
      </p:sp>
      <p:sp>
        <p:nvSpPr>
          <p:cNvPr id="3" name="Content Placeholder 2"/>
          <p:cNvSpPr>
            <a:spLocks noGrp="1"/>
          </p:cNvSpPr>
          <p:nvPr>
            <p:ph idx="1"/>
          </p:nvPr>
        </p:nvSpPr>
        <p:spPr>
          <a:xfrm>
            <a:off x="838200" y="1825625"/>
            <a:ext cx="10515600" cy="4351338"/>
          </a:xfrm>
        </p:spPr>
        <p:txBody>
          <a:bodyPr/>
          <a:lstStyle/>
          <a:p>
            <a:r>
              <a:rPr lang="nb-NO" dirty="0"/>
              <a:t>Skal miljøprosjekter bruke lavere diskonteringsrente?</a:t>
            </a:r>
          </a:p>
          <a:p>
            <a:r>
              <a:rPr lang="nb-NO" dirty="0"/>
              <a:t>Er Oljefondet et rettferdig system?</a:t>
            </a:r>
          </a:p>
          <a:p>
            <a:r>
              <a:rPr lang="nb-NO" dirty="0"/>
              <a:t>Hvilken type bærekraft bør Norge sikte mot?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nb-NO"/>
              <a:t>Oppsummering</a:t>
            </a:r>
          </a:p>
        </p:txBody>
      </p:sp>
      <p:sp>
        <p:nvSpPr>
          <p:cNvPr id="3" name="Content Placeholder 2"/>
          <p:cNvSpPr>
            <a:spLocks noGrp="1"/>
          </p:cNvSpPr>
          <p:nvPr>
            <p:ph idx="1"/>
          </p:nvPr>
        </p:nvSpPr>
        <p:spPr>
          <a:xfrm>
            <a:off x="838200" y="1825625"/>
            <a:ext cx="10515600" cy="4351338"/>
          </a:xfrm>
        </p:spPr>
        <p:txBody>
          <a:bodyPr/>
          <a:lstStyle/>
          <a:p>
            <a:r>
              <a:rPr lang="nb-NO" dirty="0"/>
              <a:t>Dynamisk effektivitet = maksimer nåverdi</a:t>
            </a:r>
          </a:p>
          <a:p>
            <a:r>
              <a:rPr lang="nb-NO" dirty="0"/>
              <a:t>Diskonteringsraten avgjør fordeling over tid</a:t>
            </a:r>
          </a:p>
          <a:p>
            <a:r>
              <a:rPr lang="nb-NO" dirty="0"/>
              <a:t>Bærekraft = bevare ressurser/kapital over tid</a:t>
            </a:r>
          </a:p>
          <a:p>
            <a:r>
              <a:rPr lang="nb-NO" dirty="0"/>
              <a:t>Eksempler: Oljefondet, Alaska, Nauru</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BB80-1620-71B5-7312-05063B365CAA}"/>
              </a:ext>
            </a:extLst>
          </p:cNvPr>
          <p:cNvSpPr>
            <a:spLocks noGrp="1"/>
          </p:cNvSpPr>
          <p:nvPr>
            <p:ph type="title"/>
          </p:nvPr>
        </p:nvSpPr>
        <p:spPr/>
        <p:txBody>
          <a:bodyPr/>
          <a:lstStyle/>
          <a:p>
            <a:endParaRPr lang="nb-NO"/>
          </a:p>
        </p:txBody>
      </p:sp>
      <p:sp>
        <p:nvSpPr>
          <p:cNvPr id="3" name="Content Placeholder 2">
            <a:extLst>
              <a:ext uri="{FF2B5EF4-FFF2-40B4-BE49-F238E27FC236}">
                <a16:creationId xmlns:a16="http://schemas.microsoft.com/office/drawing/2014/main" id="{D151D9F0-514A-4091-C8F9-C9534CFF48F3}"/>
              </a:ext>
            </a:extLst>
          </p:cNvPr>
          <p:cNvSpPr>
            <a:spLocks noGrp="1"/>
          </p:cNvSpPr>
          <p:nvPr>
            <p:ph idx="1"/>
          </p:nvPr>
        </p:nvSpPr>
        <p:spPr/>
        <p:txBody>
          <a:bodyPr/>
          <a:lstStyle/>
          <a:p>
            <a:endParaRPr lang="nb-NO" dirty="0"/>
          </a:p>
        </p:txBody>
      </p:sp>
      <p:pic>
        <p:nvPicPr>
          <p:cNvPr id="7" name="Picture 6">
            <a:extLst>
              <a:ext uri="{FF2B5EF4-FFF2-40B4-BE49-F238E27FC236}">
                <a16:creationId xmlns:a16="http://schemas.microsoft.com/office/drawing/2014/main" id="{81835A52-A556-7677-25F1-92F8FA80F56A}"/>
              </a:ext>
            </a:extLst>
          </p:cNvPr>
          <p:cNvPicPr>
            <a:picLocks noChangeAspect="1"/>
          </p:cNvPicPr>
          <p:nvPr/>
        </p:nvPicPr>
        <p:blipFill>
          <a:blip r:embed="rId2"/>
          <a:stretch>
            <a:fillRect/>
          </a:stretch>
        </p:blipFill>
        <p:spPr>
          <a:xfrm>
            <a:off x="6397599" y="0"/>
            <a:ext cx="5794401" cy="4175256"/>
          </a:xfrm>
          <a:prstGeom prst="rect">
            <a:avLst/>
          </a:prstGeom>
        </p:spPr>
      </p:pic>
      <p:pic>
        <p:nvPicPr>
          <p:cNvPr id="9" name="Picture 8">
            <a:extLst>
              <a:ext uri="{FF2B5EF4-FFF2-40B4-BE49-F238E27FC236}">
                <a16:creationId xmlns:a16="http://schemas.microsoft.com/office/drawing/2014/main" id="{FA6B00BC-991B-D64D-2118-D30F6D4359A8}"/>
              </a:ext>
            </a:extLst>
          </p:cNvPr>
          <p:cNvPicPr>
            <a:picLocks noChangeAspect="1"/>
          </p:cNvPicPr>
          <p:nvPr/>
        </p:nvPicPr>
        <p:blipFill>
          <a:blip r:embed="rId3"/>
          <a:stretch>
            <a:fillRect/>
          </a:stretch>
        </p:blipFill>
        <p:spPr>
          <a:xfrm>
            <a:off x="1526518" y="4137201"/>
            <a:ext cx="3644464" cy="2720799"/>
          </a:xfrm>
          <a:prstGeom prst="rect">
            <a:avLst/>
          </a:prstGeom>
        </p:spPr>
      </p:pic>
      <p:pic>
        <p:nvPicPr>
          <p:cNvPr id="5" name="Picture 4">
            <a:extLst>
              <a:ext uri="{FF2B5EF4-FFF2-40B4-BE49-F238E27FC236}">
                <a16:creationId xmlns:a16="http://schemas.microsoft.com/office/drawing/2014/main" id="{FE83D651-0255-E785-5158-206E02EDA0AF}"/>
              </a:ext>
            </a:extLst>
          </p:cNvPr>
          <p:cNvPicPr>
            <a:picLocks noChangeAspect="1"/>
          </p:cNvPicPr>
          <p:nvPr/>
        </p:nvPicPr>
        <p:blipFill>
          <a:blip r:embed="rId4"/>
          <a:stretch>
            <a:fillRect/>
          </a:stretch>
        </p:blipFill>
        <p:spPr>
          <a:xfrm>
            <a:off x="0" y="0"/>
            <a:ext cx="6811326" cy="3801005"/>
          </a:xfrm>
          <a:prstGeom prst="rect">
            <a:avLst/>
          </a:prstGeom>
        </p:spPr>
      </p:pic>
    </p:spTree>
    <p:extLst>
      <p:ext uri="{BB962C8B-B14F-4D97-AF65-F5344CB8AC3E}">
        <p14:creationId xmlns:p14="http://schemas.microsoft.com/office/powerpoint/2010/main" val="3972211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6293</Words>
  <Application>Microsoft Office PowerPoint</Application>
  <PresentationFormat>Widescreen</PresentationFormat>
  <Paragraphs>801</Paragraphs>
  <Slides>70</Slides>
  <Notes>41</Notes>
  <HiddenSlides>4</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70</vt:i4>
      </vt:variant>
    </vt:vector>
  </HeadingPairs>
  <TitlesOfParts>
    <vt:vector size="75" baseType="lpstr">
      <vt:lpstr>Aptos</vt:lpstr>
      <vt:lpstr>Aptos Display</vt:lpstr>
      <vt:lpstr>Arial</vt:lpstr>
      <vt:lpstr>Cambria Math</vt:lpstr>
      <vt:lpstr>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Intuisjon fra to-periodemodellen</vt:lpstr>
      <vt:lpstr>Fra matematikk</vt:lpstr>
      <vt:lpstr>To-periodemodellen</vt:lpstr>
      <vt:lpstr>Marginal User Cost</vt:lpstr>
      <vt:lpstr>Marginal User Cost</vt:lpstr>
      <vt:lpstr>Marginal User Cost</vt:lpstr>
      <vt:lpstr>PowerPoint-presentasjon</vt:lpstr>
      <vt:lpstr>PowerPoint-presentasjon</vt:lpstr>
      <vt:lpstr>Marginal User Cost (MUC)</vt:lpstr>
      <vt:lpstr>PowerPoint-presentasjon</vt:lpstr>
      <vt:lpstr>PowerPoint-presentasjon</vt:lpstr>
      <vt:lpstr>PowerPoint-presentasjon</vt:lpstr>
      <vt:lpstr>Intergenerasjonell rettferdighet</vt:lpstr>
      <vt:lpstr>PowerPoint-presentasjon</vt:lpstr>
      <vt:lpstr>PowerPoint-presentasjon</vt:lpstr>
      <vt:lpstr>PowerPoint-presentasjon</vt:lpstr>
      <vt:lpstr>PowerPoint-presentasjon</vt:lpstr>
      <vt:lpstr>Oljefondet </vt:lpstr>
      <vt:lpstr>Oljefondet og Hartwick’s regel</vt:lpstr>
      <vt:lpstr>PowerPoint-presentasjon</vt:lpstr>
      <vt:lpstr>PowerPoint-presentasjon</vt:lpstr>
      <vt:lpstr>PowerPoint-presentasjon</vt:lpstr>
      <vt:lpstr>PowerPoint-presentasjon</vt:lpstr>
      <vt:lpstr>PowerPoint-presentasjon</vt:lpstr>
      <vt:lpstr>PowerPoint-presentasjon</vt:lpstr>
      <vt:lpstr>Oljefondet: Visuell flyt</vt:lpstr>
      <vt:lpstr>Oljefondet: Diskusjon</vt:lpstr>
      <vt:lpstr>Svak vs. sterk bærekraft</vt:lpstr>
      <vt:lpstr>Miljømessig bærekraft</vt:lpstr>
      <vt:lpstr>Alaska Permanent Fund</vt:lpstr>
      <vt:lpstr>Alaska Permanent Fund</vt:lpstr>
      <vt:lpstr>Alaska Permanent Fund</vt:lpstr>
      <vt:lpstr>Nauru</vt:lpstr>
      <vt:lpstr>Nauru </vt:lpstr>
      <vt:lpstr>Nauru </vt:lpstr>
      <vt:lpstr>Indikatorer for bærekraft</vt:lpstr>
      <vt:lpstr>Politikkimplikasjoner</vt:lpstr>
      <vt:lpstr>Diskusjonsspørsmål</vt:lpstr>
      <vt:lpstr>Oppsummering</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Eirik Eriksen Heen</dc:creator>
  <cp:lastModifiedBy>Eirik Eriksen Heen</cp:lastModifiedBy>
  <cp:revision>2</cp:revision>
  <dcterms:created xsi:type="dcterms:W3CDTF">2026-09-29T13:11:21Z</dcterms:created>
  <dcterms:modified xsi:type="dcterms:W3CDTF">2026-10-05T07:45:21Z</dcterms:modified>
</cp:coreProperties>
</file>