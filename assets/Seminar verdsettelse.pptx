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81969"/>
  </p:normalViewPr>
  <p:slideViewPr>
    <p:cSldViewPr snapToGrid="0">
      <p:cViewPr varScale="1">
        <p:scale>
          <a:sx n="88" d="100"/>
          <a:sy n="88" d="100"/>
        </p:scale>
        <p:origin x="1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5487A-1F9F-214A-8AAD-0F04CD99B553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34DDD-02D3-A642-B743-A8FB54A8BA8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42491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NEP: skala som måle respondentenes holdning til klima og natur, går fra -50 til 50. Lav scor indikerer at personene ikke anser menneskelig påvirker naturen og </a:t>
            </a:r>
          </a:p>
          <a:p>
            <a:r>
              <a:rPr lang="nb-NO" dirty="0"/>
              <a:t>50 indikerer at respondentene mener menneskelig handling er en trussel mot naturen. </a:t>
            </a:r>
          </a:p>
          <a:p>
            <a:endParaRPr lang="nb-NO" dirty="0"/>
          </a:p>
          <a:p>
            <a:r>
              <a:rPr lang="nb-NO" dirty="0"/>
              <a:t>Kjennskap til marka: en skala på 1-7 som indikerer hvor godt </a:t>
            </a:r>
            <a:r>
              <a:rPr lang="nb-NO" dirty="0" err="1"/>
              <a:t>persnene</a:t>
            </a:r>
            <a:r>
              <a:rPr lang="nb-NO" dirty="0"/>
              <a:t> kjenner til Tromsømarka. </a:t>
            </a:r>
          </a:p>
          <a:p>
            <a:endParaRPr lang="nb-NO" dirty="0"/>
          </a:p>
          <a:p>
            <a:r>
              <a:rPr lang="nb-NO" dirty="0"/>
              <a:t>Livskvalitet : skala på 1-7 som indikerer hvor mye tilgang på Tromsømarka påvirker sin egen livskvalitet. </a:t>
            </a:r>
          </a:p>
          <a:p>
            <a:endParaRPr lang="nb-NO" dirty="0"/>
          </a:p>
          <a:p>
            <a:r>
              <a:rPr lang="nb-NO" dirty="0" err="1"/>
              <a:t>Subsitutt</a:t>
            </a:r>
            <a:r>
              <a:rPr lang="nb-NO" dirty="0"/>
              <a:t>: en skala på 1-5: indikerer hvor stor tilgang på substitutter en person har på tilsvarende </a:t>
            </a:r>
            <a:r>
              <a:rPr lang="nb-NO" dirty="0" err="1"/>
              <a:t>grøntomrdåer</a:t>
            </a:r>
            <a:r>
              <a:rPr lang="nb-NO" dirty="0"/>
              <a:t>. 1 indikerer lav </a:t>
            </a:r>
            <a:r>
              <a:rPr lang="nb-NO" dirty="0" err="1"/>
              <a:t>substitutbarhet</a:t>
            </a:r>
            <a:r>
              <a:rPr lang="nb-NO" dirty="0"/>
              <a:t>, mens 5 indikerer høy </a:t>
            </a:r>
            <a:r>
              <a:rPr lang="nb-NO" dirty="0" err="1"/>
              <a:t>substitutbarhet</a:t>
            </a:r>
            <a:r>
              <a:rPr lang="nb-NO" dirty="0"/>
              <a:t>-.</a:t>
            </a:r>
          </a:p>
          <a:p>
            <a:endParaRPr lang="nb-NO" dirty="0"/>
          </a:p>
          <a:p>
            <a:r>
              <a:rPr lang="nb-NO" dirty="0"/>
              <a:t>Høyere utdanning: dummy variabel som viser høyere utdanning (5år og mer, sammenlignet med </a:t>
            </a:r>
            <a:r>
              <a:rPr lang="nb-NO" dirty="0" err="1"/>
              <a:t>utdanningnivåer</a:t>
            </a:r>
            <a:r>
              <a:rPr lang="nb-NO" dirty="0"/>
              <a:t> som er kortere). 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34DDD-02D3-A642-B743-A8FB54A8BA83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5092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1FCF8CF-7D29-05F3-6D25-C23CFA485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E9D89087-8235-88AD-3160-30D180B09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AB5A00C-2F05-6793-B444-1B0A0455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8ED6-423C-4042-B3C1-CC2B346734D2}" type="datetimeFigureOut">
              <a:rPr lang="nb-NO" smtClean="0"/>
              <a:t>08.09.2026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0EC9E20-0935-3E61-03BE-53336356C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898ABB6-959A-8117-0145-90B91B2B9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3CF5-295C-1C4E-B245-9345D69C992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42421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F50E458-03D6-7A33-94DC-0D282A5D5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E9D924B-6230-171E-35D5-E1F443D9A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EF19312-300E-14F2-D778-41C0BDB6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8ED6-423C-4042-B3C1-CC2B346734D2}" type="datetimeFigureOut">
              <a:rPr lang="nb-NO" smtClean="0"/>
              <a:t>08.09.2026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7651ABF-9F8E-9775-8586-5128E57DE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7AF63CC-AA69-4D33-C6C4-386400A80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3CF5-295C-1C4E-B245-9345D69C992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18178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42943FA-DF6A-1D6B-87CD-B4865620F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7266F33A-92D3-511A-7E6C-CBFEAB8D0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6A994CD-727B-47E4-BC64-3712B286E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8ED6-423C-4042-B3C1-CC2B346734D2}" type="datetimeFigureOut">
              <a:rPr lang="nb-NO" smtClean="0"/>
              <a:t>08.09.2026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A296CA1-3D23-22DF-FA1D-DA11A5F66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1AC82F3-A607-822A-9858-2C187D993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3CF5-295C-1C4E-B245-9345D69C992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54062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9B52CEB-6A95-EC8B-924E-C2292A456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B0C7D1A-9E3F-6A0E-1D29-737A6823FC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C16A144-6ECF-5CBD-D8CD-755C9820E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9D6A97C4-51E5-245A-D58E-561CAB737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8ED6-423C-4042-B3C1-CC2B346734D2}" type="datetimeFigureOut">
              <a:rPr lang="nb-NO" smtClean="0"/>
              <a:t>08.09.2026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9E78CBF-A813-7D86-CECB-F28A4E092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9C304E00-6F9C-5CF9-D871-1C9A7148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3CF5-295C-1C4E-B245-9345D69C992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73839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B03BFAE-887E-87B5-FA7C-33991473B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CB351E0F-CC52-227A-C972-6D8F7049F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BF48673B-8757-E1A0-E77C-CBAB43B44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580EAE80-14F6-1058-DBEF-9A2F55A75B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5FD9E2B2-8244-C4C7-B65F-2F1362C3B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B3482EBA-F72A-9565-D49B-CF650CF13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8ED6-423C-4042-B3C1-CC2B346734D2}" type="datetimeFigureOut">
              <a:rPr lang="nb-NO" smtClean="0"/>
              <a:t>08.09.2026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8D3378C7-B1BA-14A4-0D2F-B4F44C69E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CBDCB92F-6557-A849-5D16-795F8D14E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3CF5-295C-1C4E-B245-9345D69C992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35135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008536D-7891-CF31-3EA5-31433BFE2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CA77BF53-9FAE-92B2-D24A-7C3A9EDB6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8ED6-423C-4042-B3C1-CC2B346734D2}" type="datetimeFigureOut">
              <a:rPr lang="nb-NO" smtClean="0"/>
              <a:t>08.09.2026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965DA7FD-2A8A-AFE1-0FC6-D678BA4F9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12BA4363-FFB9-BFE1-946D-5680D2B98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3CF5-295C-1C4E-B245-9345D69C992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391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C08AB0C2-C8BF-AFD9-89E1-3D07A2E5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8ED6-423C-4042-B3C1-CC2B346734D2}" type="datetimeFigureOut">
              <a:rPr lang="nb-NO" smtClean="0"/>
              <a:t>08.09.2026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89BF2F55-92E6-0475-917B-9D81043D4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7A4E3C6F-CFB7-457D-11F9-5498A24C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3CF5-295C-1C4E-B245-9345D69C992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88997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318C9C7-FEF4-8127-C5BE-FD2040E4A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477A80E-440D-3511-3B37-BC136F327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E443C081-FC0F-BEBB-6714-EBAC476E2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36A5DF4-FC4B-1258-8EA3-08D3332E4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8ED6-423C-4042-B3C1-CC2B346734D2}" type="datetimeFigureOut">
              <a:rPr lang="nb-NO" smtClean="0"/>
              <a:t>08.09.2026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7029E48E-D2D9-FD7E-66C3-FBC18A41A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18776B89-0C4C-F440-C885-B8C21B33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3CF5-295C-1C4E-B245-9345D69C992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45094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5B555C5-468A-4B72-3840-25AEA3B7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8F4C6C66-8E95-F424-E15B-1B9DC6096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6584AC6C-C1FC-102E-7DEC-600B4BDFB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F5C87065-9777-D62F-B84C-39DD2AF7C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8ED6-423C-4042-B3C1-CC2B346734D2}" type="datetimeFigureOut">
              <a:rPr lang="nb-NO" smtClean="0"/>
              <a:t>08.09.2026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7CCD28A5-A714-1D98-C2F1-4053B808B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A8C7BBA8-56CD-4188-66C9-0E62B709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3CF5-295C-1C4E-B245-9345D69C992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08509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A93C682-F3CC-1A08-B5EE-7802EFFBC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F4E09DDC-1B45-3195-8F4B-1C6382E67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2DDE081-3E96-F8B0-198D-6ADA0549F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8ED6-423C-4042-B3C1-CC2B346734D2}" type="datetimeFigureOut">
              <a:rPr lang="nb-NO" smtClean="0"/>
              <a:t>08.09.2026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4082420-36A7-9E11-11AB-C9A74F370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5D2B802-5E6C-9ADF-3FCD-FC6A04963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3CF5-295C-1C4E-B245-9345D69C992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99377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D73930E3-EE77-E6F4-00F9-646D56C71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728EA36A-7E01-3136-1052-B6C531065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B88A5A8-1FF8-6A13-D8C8-AF452AC92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8ED6-423C-4042-B3C1-CC2B346734D2}" type="datetimeFigureOut">
              <a:rPr lang="nb-NO" smtClean="0"/>
              <a:t>08.09.2026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230E703-F3F7-1ABE-F429-69B251EC3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A501CAF-4534-FFDF-C24B-F7ED5558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A3CF5-295C-1C4E-B245-9345D69C992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25694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6AB12C6C-73F0-57E9-B8DA-39C66D4DC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A5DCE142-741F-BCE4-8B27-88FA24F5E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C39E683-E4CE-0B76-D2BA-C2C9E4F809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D8ED6-423C-4042-B3C1-CC2B346734D2}" type="datetimeFigureOut">
              <a:rPr lang="nb-NO" smtClean="0"/>
              <a:t>08.09.2026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C78775D-ACD6-831E-9191-E60409EA0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04FD404-4CC1-1E4E-FE2E-4175928E8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A3CF5-295C-1C4E-B245-9345D69C992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33001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4A9507B-8B47-3100-8AD5-18C1E52097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Verdisetting i praksis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9622BAF7-D883-A907-F983-0D498EA3C5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Peder Hognestad </a:t>
            </a:r>
          </a:p>
        </p:txBody>
      </p:sp>
    </p:spTree>
    <p:extLst>
      <p:ext uri="{BB962C8B-B14F-4D97-AF65-F5344CB8AC3E}">
        <p14:creationId xmlns:p14="http://schemas.microsoft.com/office/powerpoint/2010/main" val="1121575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3D36409-F4F5-1E2F-7BA1-51C6EB46D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Innhold 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1A17ADE-2BF6-19A0-DA43-681AB654D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1. Gjøre undersøkelsen om Tromsømarka </a:t>
            </a:r>
          </a:p>
          <a:p>
            <a:pPr marL="0" indent="0">
              <a:buNone/>
            </a:pPr>
            <a:r>
              <a:rPr lang="nb-NO" dirty="0"/>
              <a:t>2. Se på ulike tall og sammenhenger fra studien</a:t>
            </a:r>
          </a:p>
          <a:p>
            <a:pPr marL="0" indent="0">
              <a:buNone/>
            </a:pPr>
            <a:r>
              <a:rPr lang="nb-NO" dirty="0"/>
              <a:t>3. Gå sammen i grupper, diskutere funn</a:t>
            </a:r>
          </a:p>
          <a:p>
            <a:pPr marL="0" indent="0">
              <a:buNone/>
            </a:pPr>
            <a:r>
              <a:rPr lang="nb-NO" dirty="0"/>
              <a:t>Pause </a:t>
            </a:r>
          </a:p>
          <a:p>
            <a:pPr marL="0" indent="0">
              <a:buNone/>
            </a:pPr>
            <a:r>
              <a:rPr lang="nb-NO" dirty="0"/>
              <a:t>4. Se på data selv </a:t>
            </a:r>
          </a:p>
          <a:p>
            <a:pPr marL="0" indent="0">
              <a:buNone/>
            </a:pPr>
            <a:r>
              <a:rPr lang="nb-NO" dirty="0"/>
              <a:t>5.  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401477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0159E4B-257B-033A-14DD-782C10C1A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Alder og betalingsvillighet </a:t>
            </a:r>
          </a:p>
        </p:txBody>
      </p:sp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C79B0A48-AA53-8F05-846C-02EE23B150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9636" y="1825625"/>
            <a:ext cx="59327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592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29ACFA-E50D-7ABC-19C1-41ABB34EF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Utdanning og betalingsvillighet </a:t>
            </a:r>
          </a:p>
        </p:txBody>
      </p:sp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1E4F988D-CF68-4A1F-8D83-E239E1547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6389" y="1825625"/>
            <a:ext cx="59592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468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CDB12B7-ED1F-266E-6271-FA487E28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Log – Lin modell. </a:t>
            </a:r>
          </a:p>
        </p:txBody>
      </p:sp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35F56E0A-00E7-7FE5-48B0-51F8351800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84400" y="1950244"/>
            <a:ext cx="7823200" cy="41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30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B26DE1D-90F1-78A9-8EF3-3B58B8AA5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Oppgaver 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867B146-1FDF-6008-EFA4-D5E6B7AC5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nb-NO" dirty="0"/>
              <a:t>Last inn datasettet </a:t>
            </a:r>
            <a:r>
              <a:rPr lang="nb-NO" dirty="0" err="1"/>
              <a:t>wtp_datasett.csv</a:t>
            </a:r>
            <a:r>
              <a:rPr lang="nb-NO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Visualiser fordelingen, kommenter funn. 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Regn ut gjennomsnitt og median betalingsvillighet. 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Ekskluder </a:t>
            </a:r>
            <a:r>
              <a:rPr lang="nb-NO" dirty="0" err="1"/>
              <a:t>protestemmer</a:t>
            </a:r>
            <a:r>
              <a:rPr lang="nb-NO" dirty="0"/>
              <a:t> og regn ut nytt gjennomsnitt </a:t>
            </a:r>
          </a:p>
          <a:p>
            <a:pPr marL="971550" lvl="1" indent="-514350">
              <a:buFont typeface="+mj-lt"/>
              <a:buAutoNum type="arabicPeriod"/>
            </a:pPr>
            <a:r>
              <a:rPr lang="nb-NO" dirty="0"/>
              <a:t>15 prosent proteststemmer 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Hvor stor er forskjellen? 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Hvorfor ekskluderer vi proteststemmene? 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53240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569B6F1-785E-B641-C40A-90AFB8BF4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Oppgaver 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C3FA79-0BAE-FF7D-322C-ED5BE6029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nb-NO" dirty="0"/>
              <a:t>Regn ut summert årlig betalingsvillighet</a:t>
            </a:r>
          </a:p>
          <a:p>
            <a:pPr marL="971550" lvl="1" indent="-514350">
              <a:buFont typeface="+mj-lt"/>
              <a:buAutoNum type="arabicPeriod"/>
            </a:pPr>
            <a:r>
              <a:rPr lang="nb-NO" dirty="0"/>
              <a:t>Bruk gjennomsnitt </a:t>
            </a:r>
          </a:p>
          <a:p>
            <a:pPr marL="971550" lvl="1" indent="-514350">
              <a:buFont typeface="+mj-lt"/>
              <a:buAutoNum type="arabicPeriod"/>
            </a:pPr>
            <a:r>
              <a:rPr lang="nb-NO" dirty="0"/>
              <a:t>20 000 husstander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Er dette troverdig? </a:t>
            </a:r>
          </a:p>
          <a:p>
            <a:pPr marL="514350" indent="-514350">
              <a:buFont typeface="+mj-lt"/>
              <a:buAutoNum type="arabicPeriod"/>
            </a:pPr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465066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29E8664-6B64-5CC7-33B6-4EDD1302E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Oppgaver 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DB29772-9881-799F-D352-04878B12B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Bruk ulike diskonteringsrater og finn ut total verdi over 40 år. </a:t>
            </a:r>
          </a:p>
          <a:p>
            <a:r>
              <a:rPr lang="nb-NO" dirty="0"/>
              <a:t>Visualiser dette grafisk</a:t>
            </a:r>
          </a:p>
          <a:p>
            <a:r>
              <a:rPr lang="nb-NO" dirty="0"/>
              <a:t>Hvilke funn gjør du? </a:t>
            </a:r>
          </a:p>
          <a:p>
            <a:r>
              <a:rPr lang="nb-NO" dirty="0"/>
              <a:t>Hvilke farer finnes ved å bruke diskonteringsrater for naturen?</a:t>
            </a:r>
          </a:p>
          <a:p>
            <a:endParaRPr lang="nb-NO" dirty="0"/>
          </a:p>
          <a:p>
            <a:r>
              <a:rPr lang="nb-NO" dirty="0"/>
              <a:t>Hva skjer med betalingsvilligheten hvis tilbud av naturen synker? </a:t>
            </a:r>
          </a:p>
          <a:p>
            <a:r>
              <a:rPr lang="nb-NO" dirty="0"/>
              <a:t>Er det troverdig å anta </a:t>
            </a:r>
            <a:r>
              <a:rPr lang="nb-NO"/>
              <a:t>konstant betalingsvillighet?  </a:t>
            </a:r>
            <a:endParaRPr lang="nb-NO" dirty="0"/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365906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4347</TotalTime>
  <Words>287</Words>
  <Application>Microsoft Macintosh PowerPoint</Application>
  <PresentationFormat>Widescreen</PresentationFormat>
  <Paragraphs>44</Paragraphs>
  <Slides>8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Office-tema</vt:lpstr>
      <vt:lpstr>Verdisetting i praksis</vt:lpstr>
      <vt:lpstr>Innhold </vt:lpstr>
      <vt:lpstr>Alder og betalingsvillighet </vt:lpstr>
      <vt:lpstr>Utdanning og betalingsvillighet </vt:lpstr>
      <vt:lpstr>Log – Lin modell. </vt:lpstr>
      <vt:lpstr>Oppgaver </vt:lpstr>
      <vt:lpstr>Oppgaver </vt:lpstr>
      <vt:lpstr>Oppgaver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Peder Hognestad</dc:creator>
  <cp:lastModifiedBy>Peder Hognestad</cp:lastModifiedBy>
  <cp:revision>3</cp:revision>
  <dcterms:created xsi:type="dcterms:W3CDTF">2026-09-04T12:16:49Z</dcterms:created>
  <dcterms:modified xsi:type="dcterms:W3CDTF">2026-09-11T07:04:26Z</dcterms:modified>
</cp:coreProperties>
</file>