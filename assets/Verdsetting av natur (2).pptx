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79" r:id="rId3"/>
    <p:sldId id="257" r:id="rId4"/>
    <p:sldId id="294" r:id="rId5"/>
    <p:sldId id="278" r:id="rId6"/>
    <p:sldId id="296" r:id="rId7"/>
    <p:sldId id="259" r:id="rId8"/>
    <p:sldId id="281" r:id="rId9"/>
    <p:sldId id="260" r:id="rId10"/>
    <p:sldId id="263" r:id="rId11"/>
    <p:sldId id="261" r:id="rId12"/>
    <p:sldId id="262" r:id="rId13"/>
    <p:sldId id="286" r:id="rId14"/>
    <p:sldId id="282" r:id="rId15"/>
    <p:sldId id="266" r:id="rId16"/>
    <p:sldId id="298" r:id="rId17"/>
    <p:sldId id="283" r:id="rId18"/>
    <p:sldId id="267" r:id="rId19"/>
    <p:sldId id="268" r:id="rId20"/>
    <p:sldId id="269" r:id="rId21"/>
    <p:sldId id="271" r:id="rId22"/>
    <p:sldId id="299" r:id="rId23"/>
    <p:sldId id="300" r:id="rId24"/>
    <p:sldId id="273" r:id="rId25"/>
    <p:sldId id="274" r:id="rId26"/>
    <p:sldId id="292" r:id="rId27"/>
    <p:sldId id="290" r:id="rId28"/>
    <p:sldId id="272" r:id="rId29"/>
    <p:sldId id="275" r:id="rId30"/>
    <p:sldId id="280" r:id="rId31"/>
    <p:sldId id="301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284"/>
    <p:restoredTop sz="69328"/>
  </p:normalViewPr>
  <p:slideViewPr>
    <p:cSldViewPr snapToGrid="0" snapToObjects="1">
      <p:cViewPr varScale="1">
        <p:scale>
          <a:sx n="68" d="100"/>
          <a:sy n="68" d="100"/>
        </p:scale>
        <p:origin x="9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986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4195-C8E3-4847-7CDC-DD002E311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7CC5D-F035-AF7A-4447-454DD2FB1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A8EEF-2375-EAD3-BC2B-2827B92B6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Staten Alaska bestilte en stor CVM-studie (Carson et al.) for å estimere </a:t>
            </a:r>
            <a:r>
              <a:rPr lang="nb-NO" i="1" dirty="0"/>
              <a:t>passive </a:t>
            </a:r>
            <a:r>
              <a:rPr lang="nb-NO" i="1" dirty="0" err="1"/>
              <a:t>use</a:t>
            </a:r>
            <a:r>
              <a:rPr lang="nb-NO" i="1" dirty="0"/>
              <a:t> </a:t>
            </a:r>
            <a:r>
              <a:rPr lang="nb-NO" i="1" dirty="0" err="1"/>
              <a:t>values</a:t>
            </a:r>
            <a:r>
              <a:rPr lang="nb-NO" dirty="0"/>
              <a:t> (eksistensverdi) knyttet til skaden — dette ble en del av søksmålet mot Exxon.</a:t>
            </a:r>
          </a:p>
          <a:p>
            <a:endParaRPr lang="nb-NO" dirty="0"/>
          </a:p>
          <a:p>
            <a:r>
              <a:rPr lang="nb-NO" dirty="0"/>
              <a:t>Studien og den påfølgende kontroversen rundt den utløste NOAA-panelet i 1993 (ledet av Arrow og </a:t>
            </a:r>
            <a:r>
              <a:rPr lang="nb-NO" dirty="0" err="1"/>
              <a:t>Solow</a:t>
            </a:r>
            <a:r>
              <a:rPr lang="nb-NO" dirty="0"/>
              <a:t>), som satte de metodologiske "gullstandardene" for CVM-studier — bl.a. anbefalingen om referendum/</a:t>
            </a:r>
            <a:r>
              <a:rPr lang="nb-NO" dirty="0" err="1"/>
              <a:t>dichotomous</a:t>
            </a:r>
            <a:r>
              <a:rPr lang="nb-NO" dirty="0"/>
              <a:t> choice-format, WTP fremfor WTA, og konservative designvalg.</a:t>
            </a:r>
          </a:p>
          <a:p>
            <a:endParaRPr lang="nb-NO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>
                <a:effectLst/>
              </a:rPr>
              <a:t>NOAA står for </a:t>
            </a:r>
            <a:r>
              <a:rPr lang="nb-NO" b="1" dirty="0">
                <a:effectLst/>
              </a:rPr>
              <a:t>National </a:t>
            </a:r>
            <a:r>
              <a:rPr lang="nb-NO" b="1" dirty="0" err="1">
                <a:effectLst/>
              </a:rPr>
              <a:t>Oceanic</a:t>
            </a:r>
            <a:r>
              <a:rPr lang="nb-NO" b="1" dirty="0">
                <a:effectLst/>
              </a:rPr>
              <a:t> and </a:t>
            </a:r>
            <a:r>
              <a:rPr lang="nb-NO" b="1" dirty="0" err="1">
                <a:effectLst/>
              </a:rPr>
              <a:t>Atmospheric</a:t>
            </a:r>
            <a:r>
              <a:rPr lang="nb-NO" b="1" dirty="0">
                <a:effectLst/>
              </a:rPr>
              <a:t> Administration</a:t>
            </a:r>
            <a:r>
              <a:rPr lang="nb-NO" dirty="0">
                <a:effectLst/>
              </a:rPr>
              <a:t> — det amerikanske hav- og atmosfæredirektoratet, et føderalt byrå under det amerikanske handelsdepartementet (Department </a:t>
            </a:r>
            <a:r>
              <a:rPr lang="nb-NO" dirty="0" err="1">
                <a:effectLst/>
              </a:rPr>
              <a:t>of</a:t>
            </a:r>
            <a:r>
              <a:rPr lang="nb-NO" dirty="0">
                <a:effectLst/>
              </a:rPr>
              <a:t> Commerce).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82D54-F123-80C3-A47B-430709121C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94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nb-NO" dirty="0"/>
              <a:t>Legg vekk datavitenskapen og tekniske fakter om samfunnsøkonomi, fokusere på det konseptuelle. </a:t>
            </a:r>
          </a:p>
          <a:p>
            <a:endParaRPr lang="nb-NO" dirty="0"/>
          </a:p>
          <a:p>
            <a:r>
              <a:rPr lang="nb-NO" dirty="0"/>
              <a:t>Legg vekk matten, dere skal kunne forklare økonomien til noen som ikke kan matte! Det er deres oppgave!!! </a:t>
            </a:r>
          </a:p>
          <a:p>
            <a:r>
              <a:rPr lang="nb-NO" dirty="0"/>
              <a:t>Matten er et internt verktøy.</a:t>
            </a:r>
          </a:p>
          <a:p>
            <a:endParaRPr lang="nb-NO" dirty="0"/>
          </a:p>
          <a:p>
            <a:r>
              <a:rPr lang="nb-NO" dirty="0"/>
              <a:t>Oppgaven som </a:t>
            </a:r>
            <a:r>
              <a:rPr lang="nb-NO" dirty="0" err="1"/>
              <a:t>samfunsøkonom</a:t>
            </a:r>
            <a:r>
              <a:rPr lang="nb-NO" dirty="0"/>
              <a:t>! </a:t>
            </a:r>
          </a:p>
          <a:p>
            <a:r>
              <a:rPr lang="nb-NO" dirty="0"/>
              <a:t>- metode, datavitenskap og matte er virkemidler. 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23439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rtl="0"/>
            <a:r>
              <a:rPr lang="nb-NO" b="1" dirty="0"/>
              <a:t>Ikke-ekskluderende goder (non-</a:t>
            </a:r>
            <a:r>
              <a:rPr lang="nb-NO" b="1" dirty="0" err="1"/>
              <a:t>excludable</a:t>
            </a:r>
            <a:r>
              <a:rPr lang="nb-NO" b="1" dirty="0"/>
              <a:t>)</a:t>
            </a:r>
          </a:p>
          <a:p>
            <a:pPr rtl="0"/>
            <a:r>
              <a:rPr lang="nb-NO" dirty="0"/>
              <a:t>Et gode er </a:t>
            </a:r>
            <a:r>
              <a:rPr lang="nb-NO" b="1" dirty="0"/>
              <a:t>ikke-ekskluderende</a:t>
            </a:r>
            <a:r>
              <a:rPr lang="nb-NO" dirty="0"/>
              <a:t> når det er umulig, eller svært kostbart, å hindre noen fra å nyte godet — selv om de ikke betaler for det.</a:t>
            </a:r>
          </a:p>
          <a:p>
            <a:endParaRPr lang="nb-NO" dirty="0"/>
          </a:p>
          <a:p>
            <a:r>
              <a:rPr lang="nb-NO" dirty="0"/>
              <a:t>Et gode er </a:t>
            </a:r>
            <a:r>
              <a:rPr lang="nb-NO" b="1" dirty="0"/>
              <a:t>ikke-rivaliserende</a:t>
            </a:r>
            <a:r>
              <a:rPr lang="nb-NO" dirty="0"/>
              <a:t> når én persons konsum av godet ikke reduserer mengden eller kvaliteten som er tilgjengelig for andre.</a:t>
            </a:r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01974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Markedspris</a:t>
            </a:r>
            <a:r>
              <a:rPr lang="en-US" dirty="0"/>
              <a:t>: </a:t>
            </a:r>
          </a:p>
          <a:p>
            <a:r>
              <a:rPr lang="en-US" dirty="0" err="1"/>
              <a:t>Gratispassasjerprisnippet</a:t>
            </a:r>
            <a:r>
              <a:rPr lang="en-US" dirty="0"/>
              <a:t>. Almenningens </a:t>
            </a:r>
            <a:r>
              <a:rPr lang="en-US" dirty="0" err="1"/>
              <a:t>tragedig</a:t>
            </a:r>
            <a:r>
              <a:rPr lang="en-US" dirty="0"/>
              <a:t>. </a:t>
            </a:r>
            <a:r>
              <a:rPr lang="en-US" dirty="0" err="1"/>
              <a:t>Fellesgode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Risiko for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bli</a:t>
            </a:r>
            <a:r>
              <a:rPr lang="en-US" dirty="0"/>
              <a:t> overset </a:t>
            </a:r>
          </a:p>
          <a:p>
            <a:r>
              <a:rPr lang="en-US" dirty="0" err="1"/>
              <a:t>Vanskelig</a:t>
            </a:r>
            <a:r>
              <a:rPr lang="en-US" dirty="0"/>
              <a:t> </a:t>
            </a:r>
            <a:r>
              <a:rPr lang="en-US" dirty="0" err="1"/>
              <a:t>betyr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uten</a:t>
            </a:r>
            <a:r>
              <a:rPr lang="en-US" dirty="0"/>
              <a:t> Verdi.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nb-NO" dirty="0"/>
              <a:t>Ressurser som utvinnes finnes det </a:t>
            </a:r>
            <a:r>
              <a:rPr lang="nb-NO" dirty="0" err="1"/>
              <a:t>substitutter</a:t>
            </a:r>
            <a:r>
              <a:rPr lang="nb-NO" dirty="0"/>
              <a:t> til, det gjør at </a:t>
            </a:r>
            <a:r>
              <a:rPr lang="nb-NO" dirty="0" err="1"/>
              <a:t>utvinnelse</a:t>
            </a:r>
            <a:r>
              <a:rPr lang="nb-NO" dirty="0"/>
              <a:t> av råvarer ikke har den direkte eksistensverdien. </a:t>
            </a:r>
          </a:p>
          <a:p>
            <a:endParaRPr lang="nb-NO" dirty="0"/>
          </a:p>
          <a:p>
            <a:r>
              <a:rPr lang="nb-NO" dirty="0"/>
              <a:t>Naturen, unike </a:t>
            </a:r>
            <a:r>
              <a:rPr lang="nb-NO" dirty="0" err="1"/>
              <a:t>sjeldne</a:t>
            </a:r>
            <a:r>
              <a:rPr lang="nb-NO" dirty="0"/>
              <a:t> naturområder kan ikke skapes av markedet. Dette gjør at områder med sjelden natur har en verdi kun i form av sin eksistens. </a:t>
            </a:r>
          </a:p>
          <a:p>
            <a:pPr marL="171450" indent="-171450">
              <a:buFontTx/>
              <a:buChar char="-"/>
            </a:pPr>
            <a:r>
              <a:rPr lang="nb-NO" dirty="0"/>
              <a:t>Argumentet er normativt, men det danner grunnlaget for at økonomer kan se på naturen verdifull, selv uten å måtte utvinne den. </a:t>
            </a:r>
          </a:p>
          <a:p>
            <a:pPr marL="171450" indent="-171450">
              <a:buFontTx/>
              <a:buChar char="-"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29752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63853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2D63-FBC8-504B-4B76-47BCF9E6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CF7D2-67B4-08CA-9FCA-EFAB5A8A1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22096-8190-3451-FAE2-8A157CDD9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="1" dirty="0" err="1"/>
              <a:t>Hedonisk</a:t>
            </a:r>
            <a:r>
              <a:rPr lang="nb-NO" b="1" dirty="0"/>
              <a:t> prising</a:t>
            </a:r>
            <a:r>
              <a:rPr lang="nb-NO" dirty="0"/>
              <a:t> = verdsettingsmetode der man analyserer hvordan </a:t>
            </a:r>
            <a:r>
              <a:rPr lang="nb-NO" b="1" dirty="0"/>
              <a:t>miljø- og kvalitetsfaktorer påvirker prisen på varer som omsettes i et marked</a:t>
            </a:r>
            <a:r>
              <a:rPr lang="nb-NO" dirty="0"/>
              <a:t>.</a:t>
            </a:r>
          </a:p>
          <a:p>
            <a:r>
              <a:rPr lang="nb-NO" dirty="0"/>
              <a:t>Vanligst brukt: </a:t>
            </a:r>
            <a:r>
              <a:rPr lang="nb-NO" b="1" dirty="0"/>
              <a:t>boligmarkedet</a:t>
            </a:r>
            <a:r>
              <a:rPr lang="nb-NO" dirty="0"/>
              <a:t> (</a:t>
            </a:r>
            <a:r>
              <a:rPr lang="nb-NO" dirty="0" err="1"/>
              <a:t>huspris</a:t>
            </a:r>
            <a:r>
              <a:rPr lang="nb-NO" dirty="0"/>
              <a:t> = sum av egenskaper → størrelse, beliggenhet, luftkvalitet, støy, utsikt, nærhet til grøntområder).</a:t>
            </a:r>
          </a:p>
          <a:p>
            <a:r>
              <a:rPr lang="nb-NO" dirty="0"/>
              <a:t>Også brukt i </a:t>
            </a:r>
            <a:r>
              <a:rPr lang="nb-NO" b="1" dirty="0"/>
              <a:t>arbeidsmarkedet</a:t>
            </a:r>
            <a:r>
              <a:rPr lang="nb-NO" dirty="0"/>
              <a:t> (lønn som kompensasjon for risiko/arbeidsmiljø).</a:t>
            </a:r>
          </a:p>
          <a:p>
            <a:r>
              <a:rPr lang="nb-NO" dirty="0"/>
              <a:t>Poenget: differansen i pris mellom like objekter med ulik miljøkvalitet → estimerer </a:t>
            </a:r>
            <a:r>
              <a:rPr lang="nb-NO" b="1" dirty="0"/>
              <a:t>betalingsvillighet (WTP)</a:t>
            </a:r>
            <a:r>
              <a:rPr lang="nb-NO" dirty="0"/>
              <a:t> for miljøgoder.</a:t>
            </a:r>
          </a:p>
          <a:p>
            <a:r>
              <a:rPr lang="nb-NO" b="1" dirty="0"/>
              <a:t>Fordel:</a:t>
            </a:r>
            <a:r>
              <a:rPr lang="nb-NO" dirty="0"/>
              <a:t> bygger på faktiske markedsdata (reelle valg).</a:t>
            </a:r>
            <a:br>
              <a:rPr lang="nb-NO" dirty="0"/>
            </a:br>
            <a:r>
              <a:rPr lang="nb-NO" b="1" dirty="0"/>
              <a:t>Ulempe:</a:t>
            </a:r>
            <a:r>
              <a:rPr lang="nb-NO" dirty="0"/>
              <a:t> krever mye data og gjelder bare goder som er «kapitalisert» i markedet (ikke eksistensverdier osv.).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7EF80-9C88-0253-E5D3-F69FF579E9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191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nb-NO" sz="1200" dirty="0"/>
              <a:t>Hvordan fungerer metoden? Respondenter velger mellom scenarier med ulike attributter og priser.</a:t>
            </a:r>
          </a:p>
          <a:p>
            <a:r>
              <a:rPr lang="nb-NO" sz="1200" dirty="0"/>
              <a:t>Hvordan brukes den til miljøverdsetting? Brukes til å verdsette enkeltattributter ved å analysere valg mellom alternativer.</a:t>
            </a:r>
          </a:p>
          <a:p>
            <a:r>
              <a:rPr lang="nb-NO" sz="1200" dirty="0"/>
              <a:t>Eksempel: Velge mellom reisepakker med ulik pris, reisetid og naturkvalitet.</a:t>
            </a:r>
          </a:p>
          <a:p>
            <a:endParaRPr lang="nb-NO" sz="1200" dirty="0"/>
          </a:p>
          <a:p>
            <a:r>
              <a:rPr lang="nb-NO" sz="1200" dirty="0"/>
              <a:t>Indirekte: verdien utledes fra valg mellom alternativer, ikke direkte betalingsspørsmål.</a:t>
            </a:r>
          </a:p>
          <a:p>
            <a:r>
              <a:rPr lang="nb-NO" sz="1200" dirty="0"/>
              <a:t>Oppgitt: basert på hypotetiske valg i spørreskjema.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3161023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rtl="0"/>
            <a:r>
              <a:rPr lang="nb-NO" dirty="0"/>
              <a:t>"Når vi skal aggregere betalingsvilligheten vi finner gjennom CVM over tid — altså regne ut en nåverdi av å bevare </a:t>
            </a:r>
            <a:r>
              <a:rPr lang="nb-NO" dirty="0" err="1"/>
              <a:t>grøntområderi</a:t>
            </a:r>
            <a:r>
              <a:rPr lang="nb-NO" dirty="0"/>
              <a:t> mange år fremover — må vi diskontere fremtidige verdier. Det betyr at en krone i nytte om 50 år veies lavere enn en krone i nytte i dag, gjennom formelen for nåverdi.</a:t>
            </a:r>
          </a:p>
          <a:p>
            <a:pPr rtl="0"/>
            <a:r>
              <a:rPr lang="nb-NO" dirty="0"/>
              <a:t>Valget av diskonteringsrate er ikke bare en teknisk detalj — det er avgjørende for konklusjonen. Med en høy rate forsvinner nesten all vekt på fremtidige generasjoners nytte, noe som i praksis favoriserer nedbygging fremfor bevaring. Med en lav rate veier fremtidig nytte tyngre, og bevaring fremstår mer lønnsomt.</a:t>
            </a:r>
          </a:p>
          <a:p>
            <a:pPr rtl="0"/>
            <a:r>
              <a:rPr lang="nb-NO" dirty="0"/>
              <a:t>Dette er omstridt i litteraturen. </a:t>
            </a:r>
            <a:r>
              <a:rPr lang="nb-NO" dirty="0" err="1"/>
              <a:t>Drupp</a:t>
            </a:r>
            <a:r>
              <a:rPr lang="nb-NO" dirty="0"/>
              <a:t>, Freeman, </a:t>
            </a:r>
            <a:r>
              <a:rPr lang="nb-NO" dirty="0" err="1"/>
              <a:t>Groom</a:t>
            </a:r>
            <a:r>
              <a:rPr lang="nb-NO" dirty="0"/>
              <a:t> og Nesje gjennomførte i 2018 en stor ekspertundersøkelse blant økonomer og fant betydelig uenighet om riktig nivå — men en viss konvergens mot lavere rater for miljøgoder med lang tidshorisont, nettopp fordi disse involverer stor usikkerhet og hensyn til fremtidige generasjoner. Jeg bruker derfor </a:t>
            </a:r>
            <a:r>
              <a:rPr lang="nb-NO" dirty="0" err="1"/>
              <a:t>Drupp</a:t>
            </a:r>
            <a:r>
              <a:rPr lang="nb-NO" dirty="0"/>
              <a:t>-justerte rater i min NPV-aggregering, for å reflektere denne faglige usikkerheten på en transparent måte."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247653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HUSK: Erstatt første kulepunkt med ditt faktiske WTP-estimat / NPV-tall fra masteroppgaven før forelesningen.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B3079-0F42-343D-F3C5-7D20904C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EAB4F-7C41-CDC8-CE53-DE28FBECD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F905C-0E34-AA69-BE55-342DCF51A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HUSK: Erstatt første kulepunkt med ditt faktiske WTP-estimat / NPV-tall fra masteroppgaven før forelesningen.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B1BA8-D52E-014B-3383-569E0D553C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206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21DAE-388A-6B57-0788-CF7026137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DF680-3C60-1C11-A0EA-A58B2651D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1A29D-4387-7B52-1523-FCBFFC711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HUSK: Erstatt første kulepunkt med ditt faktiske WTP-estimat / NPV-tall fra masteroppgaven før forelesningen.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3B1BC-D212-C2ED-B0CC-BBE995BE9D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945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Peder Hognestad, 08.09.2026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75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SOK-2302 · Forelesning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Innhold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 skal samfunnsøkonomer bry seg om naturen?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Hvordan kan vi gå frem for å måle verdier utenfor markedet?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Utfordringer knyttet til verdsetting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Tromsømarka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Exxon Valdez — et historisk eksempel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1989: Tankskipet Exxon Valdez grunnstøtte i Prince William Sound, Alaska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41 millioner liter råolje sluppet ut i havet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Omfattende ødeleggelse av fugleliv, fiskebestander og kystøkosystem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kostnader for lokalsamfunn — fiske og turisme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Rettssaker fulgte: hvordan skulle man verdsette miljøskaden?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Saken synliggjorde spørsmålet dette faget handler om: hvordan setter man en pris på natur?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1</a:t>
            </a:r>
            <a:endParaRPr lang="en-US" sz="900" dirty="0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5C1D562D-8C02-0CA8-8324-E1C059166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503" y="4090670"/>
            <a:ext cx="4375429" cy="2127250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EBC200BC-3586-1BA8-22E1-AF711F93C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530" y="2915073"/>
            <a:ext cx="4531967" cy="3234267"/>
          </a:xfrm>
          <a:prstGeom prst="rect">
            <a:avLst/>
          </a:prstGeom>
        </p:spPr>
      </p:pic>
      <p:pic>
        <p:nvPicPr>
          <p:cNvPr id="9" name="Bilde 8">
            <a:extLst>
              <a:ext uri="{FF2B5EF4-FFF2-40B4-BE49-F238E27FC236}">
                <a16:creationId xmlns:a16="http://schemas.microsoft.com/office/drawing/2014/main" id="{D7CEB26A-FB3B-F9C9-7141-AA323F035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097" y="909314"/>
            <a:ext cx="3708400" cy="17475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65C43-DBBF-37E9-C8DD-7FE7F7D63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BB067-0DFA-256E-565B-B896152E3CB6}"/>
              </a:ext>
            </a:extLst>
          </p:cNvPr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AFF30D-FE48-7A3D-42A6-9EB08E87787C}"/>
              </a:ext>
            </a:extLst>
          </p:cNvPr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Exxon Valdez — et historisk eksempel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8F1058-570E-08AD-EDF9-56B9D346F460}"/>
              </a:ext>
            </a:extLst>
          </p:cNvPr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Rettsaken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som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fulgte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… 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Erstatningskravet 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Staten Alaska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bestilte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stor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verdisettelsesstudie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, R.T. Carson 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Gullstandard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utviklet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 av NOAA, Arrow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et.al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. (1993)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/>
              <a:t>Satte</a:t>
            </a:r>
            <a:r>
              <a:rPr lang="en-US" sz="1600" dirty="0"/>
              <a:t> </a:t>
            </a:r>
            <a:r>
              <a:rPr lang="en-US" sz="1600" dirty="0" err="1"/>
              <a:t>dagsorden</a:t>
            </a:r>
            <a:r>
              <a:rPr lang="en-US" sz="1600" dirty="0"/>
              <a:t> for </a:t>
            </a:r>
            <a:r>
              <a:rPr lang="en-US" sz="1600" dirty="0" err="1"/>
              <a:t>verdisetting</a:t>
            </a:r>
            <a:r>
              <a:rPr lang="en-US" sz="1600" dirty="0"/>
              <a:t> av </a:t>
            </a:r>
            <a:r>
              <a:rPr lang="en-US" sz="1600" dirty="0" err="1"/>
              <a:t>naturens</a:t>
            </a:r>
            <a:r>
              <a:rPr lang="en-US" sz="1600" dirty="0"/>
              <a:t> </a:t>
            </a:r>
            <a:r>
              <a:rPr lang="en-US" sz="1600" dirty="0" err="1"/>
              <a:t>eksistensverdi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08B0789-5B93-149C-3DF1-4A5DEB78A8F1}"/>
              </a:ext>
            </a:extLst>
          </p:cNvPr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Saken synliggjorde spørsmålet dette faget handler om: hvordan setter man en pris på natur?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E7A765-399E-6CB6-E77B-664521423D0D}"/>
              </a:ext>
            </a:extLst>
          </p:cNvPr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1</a:t>
            </a:r>
            <a:endParaRPr lang="en-US" sz="900" dirty="0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A6BEEE93-3A45-19B0-6449-C06D72A2C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503" y="4090670"/>
            <a:ext cx="4375429" cy="2127250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3F11017C-2DC4-685D-ED3F-F1337A4FD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530" y="2915073"/>
            <a:ext cx="4531967" cy="323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75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GRUNNLAG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Samfunnsøkonomi som fag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Kjerneproblemet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Fordeling av en gitt mengde knappe ressurser på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mest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mulig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effektiv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måte i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samfunnet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.</a:t>
            </a:r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Matte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datavitenskap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er et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internt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verktøy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!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Samfunnsøkonomens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rolle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Nytte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opp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mot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kostnad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for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å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finne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samfunnsøkonomiske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optimale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løsninger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. </a:t>
            </a:r>
            <a:endParaRPr lang="en-US" sz="1600" b="1" dirty="0">
              <a:solidFill>
                <a:srgbClr val="000000"/>
              </a:solidFill>
              <a:latin typeface="Calibri" pitchFamily="34" charset="0"/>
            </a:endParaRP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Pris som virkemiddel og signal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Signal på hva et gode verdsettes til. Bestemmes av tilbud og etterspørsel — «det perfekte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markedet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».</a:t>
            </a:r>
          </a:p>
          <a:p>
            <a:pPr marL="0" lvl="1" indent="0">
              <a:lnSpc>
                <a:spcPct val="115000"/>
              </a:lnSpc>
              <a:buNone/>
            </a:pPr>
            <a:endParaRPr lang="en-US" sz="1600" dirty="0">
              <a:solidFill>
                <a:srgbClr val="000000"/>
              </a:solidFill>
              <a:latin typeface="Calibri" pitchFamily="34" charset="0"/>
            </a:endParaRPr>
          </a:p>
          <a:p>
            <a:pPr marL="0" lvl="1" indent="0">
              <a:lnSpc>
                <a:spcPct val="11500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92594-9FD5-5BEC-AE56-71AAA297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9AEE44-11AF-8CE0-5D4A-CC2276597D73}"/>
              </a:ext>
            </a:extLst>
          </p:cNvPr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GRUNNLAG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DAF08D-2804-43AC-E8E4-270EB21E2875}"/>
              </a:ext>
            </a:extLst>
          </p:cNvPr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Mangel </a:t>
            </a:r>
            <a:r>
              <a:rPr lang="en-US" sz="28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</a:t>
            </a: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markeder</a:t>
            </a: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6668C0-FE95-35C3-5A10-CD53CCAE53F1}"/>
              </a:ext>
            </a:extLst>
          </p:cNvPr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Fellesgoder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 av </a:t>
            </a: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natur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fører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til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markedssvikter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Ikke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eksluderbart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ikke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rivaliser</a:t>
            </a:r>
            <a:endParaRPr lang="en-US" sz="1600" dirty="0">
              <a:solidFill>
                <a:srgbClr val="000000"/>
              </a:solidFill>
              <a:latin typeface="Calibri" pitchFamily="34" charset="0"/>
            </a:endParaRPr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Produksjon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av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fellesgoder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tilfaller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staten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. 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Eksternaliteter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 </a:t>
            </a:r>
            <a:endParaRPr lang="en-US" sz="1600" dirty="0"/>
          </a:p>
          <a:p>
            <a:pPr marL="800100" lvl="1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nb-NO" sz="1600" dirty="0"/>
              <a:t>En </a:t>
            </a:r>
            <a:r>
              <a:rPr lang="nb-NO" sz="1600" b="1" dirty="0" err="1"/>
              <a:t>eksternalitet</a:t>
            </a:r>
            <a:r>
              <a:rPr lang="nb-NO" sz="1600" dirty="0"/>
              <a:t> oppstår når en økonomisk aktørs handling (produksjon eller konsum) påvirker nytten eller produksjonsmuligheten til en tredjepart, </a:t>
            </a:r>
            <a:r>
              <a:rPr lang="nb-NO" sz="1600" b="1" dirty="0"/>
              <a:t>uten at denne påvirkningen går gjennom prismekanismen</a:t>
            </a:r>
            <a:r>
              <a:rPr lang="nb-NO" sz="1600" dirty="0"/>
              <a:t> — altså uten at tredjeparten kompenseres (ved negativ </a:t>
            </a:r>
            <a:r>
              <a:rPr lang="nb-NO" sz="1600" dirty="0" err="1"/>
              <a:t>eksternalitet</a:t>
            </a:r>
            <a:r>
              <a:rPr lang="nb-NO" sz="1600" dirty="0"/>
              <a:t>) eller betaler (ved positiv </a:t>
            </a:r>
            <a:r>
              <a:rPr lang="nb-NO" sz="1600" dirty="0" err="1"/>
              <a:t>eksternalitet</a:t>
            </a:r>
            <a:r>
              <a:rPr lang="nb-NO" sz="1600" dirty="0"/>
              <a:t>).</a:t>
            </a:r>
          </a:p>
          <a:p>
            <a:pPr marL="800100" lvl="1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nb-NO" sz="1600" dirty="0"/>
              <a:t>Eksempel: Forurensning ved produksjon eller Vaksinasjon. 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 err="1">
                <a:solidFill>
                  <a:srgbClr val="000000"/>
                </a:solidFill>
                <a:latin typeface="Calibri" pitchFamily="34" charset="0"/>
              </a:rPr>
              <a:t>Markedssvikt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 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Naturen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står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uten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et marked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dermed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uten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prissignaler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som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indikerer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den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totale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verdien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for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samfunnet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. </a:t>
            </a:r>
          </a:p>
          <a:p>
            <a:pPr marL="0" lvl="1" indent="0">
              <a:lnSpc>
                <a:spcPct val="115000"/>
              </a:lnSpc>
              <a:buNone/>
            </a:pPr>
            <a:endParaRPr lang="en-US" sz="1600" dirty="0">
              <a:solidFill>
                <a:srgbClr val="000000"/>
              </a:solidFill>
              <a:latin typeface="Calibri" pitchFamily="34" charset="0"/>
            </a:endParaRPr>
          </a:p>
          <a:p>
            <a:pPr marL="0" lvl="1" indent="0">
              <a:lnSpc>
                <a:spcPct val="115000"/>
              </a:lnSpc>
              <a:buNone/>
            </a:pP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CE72EC-7AE9-EA09-D9ED-1B27B631BC74}"/>
              </a:ext>
            </a:extLst>
          </p:cNvPr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3</a:t>
            </a:r>
            <a:endParaRPr lang="en-US" sz="900" dirty="0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6563E4B6-951A-C49C-35FF-D38642A87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60" y="1392300"/>
            <a:ext cx="5938389" cy="146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142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GRUNNLAG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 verdsette miljøet?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markedspris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Luft, vann, naturmangfold og klima omsettes ikke i noe marked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for å bli oversett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 verdsetting overses viktige gevinster — rekreasjon, helse, trivsel, eksistensverdier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Nødvendig for beslutninger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trenger sammenlignbare tall for å veie miljø mot økonomiske kostnader i nytte–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kostnadsanalyse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er et verktøy for å gi miljøet «en stemme» i økonomiske beslutninger.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RAMMEVERK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verdsetter vi? — Total verdi av naturen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48000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</a:rPr>
              <a:t>Krutilla (1967) – Conservation Reconsidered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Bruksverdier og ikke-bruksverdier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Naturen kan gi mennesker nytte uten at ressurser høstes ut.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Ingen substitutter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Finnes ingen substitutter/kan ikke «produseres» — dette gir naturen en verdi i form av sin eksistens.</a:t>
            </a:r>
            <a:endParaRPr lang="en-US" sz="1600" dirty="0"/>
          </a:p>
        </p:txBody>
      </p:sp>
      <p:pic>
        <p:nvPicPr>
          <p:cNvPr id="7" name="Bilde 3" descr="Nasjonalparkstyre | Forsi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60" y="1737360"/>
            <a:ext cx="5320680" cy="399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RAMMEVERK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verdsetter vi? — Total verdi av naturen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6</a:t>
            </a:r>
            <a:endParaRPr lang="en-US" sz="900" dirty="0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2DA2FED0-0A60-0C97-7A56-859516C9B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43" y="1508760"/>
            <a:ext cx="11305737" cy="4337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Hvordan gjør vi det?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Avslørte preferanser (RP) og oppgitte preferanser (SP) — hovedmetodene i faget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NØKKELBEGREP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 (WTP)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Definisjon: det maksimale beløpet en person er villig til å betale for en enhet av et gode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WTP oversetter nytte til en pengeverdi vi kan sammenligne med kostnader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Brukes til å måle verdien av miljøgoder som ikke har markedspris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Danner grunnlaget for alle verdsettingsmetoder vi skal se på i dag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Eksempel: hvor mye er du villig til å betale for å bevare villaksen?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NØKKELBEGREP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WTP vs. WTA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WTP — Betalingsvillighet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 mye en person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maksimalt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 villig til å betale for å få et gode (eller unngå en skade). Brukes typisk når man ikke har retten til godet fra før. </a:t>
            </a:r>
          </a:p>
          <a:p>
            <a:pPr marL="0" lvl="1" indent="0">
              <a:lnSpc>
                <a:spcPct val="115000"/>
              </a:lnSpc>
              <a:buNone/>
            </a:pPr>
            <a:endParaRPr lang="en-US" sz="1600" b="1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WTA — Kompensasjonskrav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 mye en person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villig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kompensert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å gi fra seg et gode (eller akseptere en skade). Brukes typisk når man allerede har retten til godet. </a:t>
            </a:r>
            <a:endParaRPr lang="en-US" sz="1600" dirty="0">
              <a:solidFill>
                <a:srgbClr val="000000"/>
              </a:solidFill>
              <a:latin typeface="Calibri" pitchFamily="34" charset="0"/>
              <a:cs typeface="Calibri" pitchFamily="34" charset="-120"/>
            </a:endParaRPr>
          </a:p>
          <a:p>
            <a:pPr marL="0" lvl="1">
              <a:lnSpc>
                <a:spcPct val="115000"/>
              </a:lnSpc>
            </a:pPr>
            <a:endParaRPr lang="en-US" sz="1600" b="1" dirty="0">
              <a:solidFill>
                <a:srgbClr val="000000"/>
              </a:solidFill>
              <a:latin typeface="Calibri" pitchFamily="34" charset="0"/>
              <a:cs typeface="Calibri" pitchFamily="34" charset="-120"/>
            </a:endParaRPr>
          </a:p>
          <a:p>
            <a:pPr marL="0" lvl="1">
              <a:lnSpc>
                <a:spcPct val="115000"/>
              </a:lnSpc>
            </a:pPr>
            <a:endParaRPr lang="en-US" sz="1600" dirty="0"/>
          </a:p>
          <a:p>
            <a:pPr marL="0" lvl="1">
              <a:lnSpc>
                <a:spcPct val="115000"/>
              </a:lnSpc>
            </a:pPr>
            <a:endParaRPr lang="en-US" sz="1600" dirty="0"/>
          </a:p>
          <a:p>
            <a:pPr marL="0" lvl="1">
              <a:lnSpc>
                <a:spcPct val="115000"/>
              </a:lnSpc>
            </a:pPr>
            <a:r>
              <a:rPr lang="en-US" sz="1600" dirty="0" err="1"/>
              <a:t>Vindmøller</a:t>
            </a:r>
            <a:r>
              <a:rPr lang="en-US" sz="1600" dirty="0"/>
              <a:t> </a:t>
            </a:r>
            <a:r>
              <a:rPr lang="en-US" sz="1600" dirty="0" err="1"/>
              <a:t>som</a:t>
            </a:r>
            <a:r>
              <a:rPr lang="en-US" sz="1600" dirty="0"/>
              <a:t> </a:t>
            </a:r>
            <a:r>
              <a:rPr lang="en-US" sz="1600" dirty="0" err="1"/>
              <a:t>eksempel</a:t>
            </a:r>
            <a:r>
              <a:rPr lang="en-US" sz="1600" dirty="0"/>
              <a:t>, </a:t>
            </a:r>
            <a:r>
              <a:rPr lang="en-US" sz="1600" dirty="0" err="1"/>
              <a:t>hvem</a:t>
            </a:r>
            <a:r>
              <a:rPr lang="en-US" sz="1600" dirty="0"/>
              <a:t> </a:t>
            </a:r>
            <a:r>
              <a:rPr lang="en-US" sz="1600" dirty="0" err="1"/>
              <a:t>har</a:t>
            </a:r>
            <a:r>
              <a:rPr lang="en-US" sz="1600" dirty="0"/>
              <a:t> </a:t>
            </a:r>
            <a:r>
              <a:rPr lang="en-US" sz="1600" dirty="0" err="1"/>
              <a:t>eiendomsretten</a:t>
            </a:r>
            <a:r>
              <a:rPr lang="en-US" sz="1600" dirty="0"/>
              <a:t>? </a:t>
            </a:r>
          </a:p>
          <a:p>
            <a:pPr marL="0" lvl="1">
              <a:lnSpc>
                <a:spcPct val="115000"/>
              </a:lnSpc>
            </a:pP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Verktøykassen: RP vs. SP</a:t>
            </a:r>
            <a:endParaRPr lang="en-US" sz="2800" dirty="0"/>
          </a:p>
        </p:txBody>
      </p:sp>
      <p:sp>
        <p:nvSpPr>
          <p:cNvPr id="4" name="Box RP"/>
          <p:cNvSpPr/>
          <p:nvPr/>
        </p:nvSpPr>
        <p:spPr>
          <a:xfrm>
            <a:off x="640080" y="1737360"/>
            <a:ext cx="5320680" cy="4200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274320" tIns="228600" rIns="274320" bIns="22860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</a:rPr>
              <a:t>RP — Avslørte preferanser</a:t>
            </a:r>
          </a:p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</a:rPr>
              <a:t>Bygger på ekte eller simulerte markeder</a:t>
            </a: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</a:rPr>
              <a:t>Markedspriser</a:t>
            </a:r>
          </a:p>
          <a:p>
            <a:pPr marL="342900" indent="-342900">
              <a:lnSpc>
                <a:spcPct val="115000"/>
              </a:lnSpc>
              <a:spcBef>
                <a:spcPts val="600"/>
              </a:spcBef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</a:rPr>
              <a:t>Simulerte markeder</a:t>
            </a:r>
          </a:p>
          <a:p>
            <a:pPr marL="342900" indent="-342900">
              <a:lnSpc>
                <a:spcPct val="115000"/>
              </a:lnSpc>
              <a:spcBef>
                <a:spcPts val="600"/>
              </a:spcBef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</a:rPr>
              <a:t>Reisekostnadsmetoden</a:t>
            </a:r>
          </a:p>
          <a:p>
            <a:pPr marL="342900" indent="-342900">
              <a:lnSpc>
                <a:spcPct val="115000"/>
              </a:lnSpc>
              <a:spcBef>
                <a:spcPts val="600"/>
              </a:spcBef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</a:rPr>
              <a:t>Hedonisk prising</a:t>
            </a:r>
          </a:p>
          <a:p>
            <a:pPr marL="342900" indent="-342900">
              <a:lnSpc>
                <a:spcPct val="115000"/>
              </a:lnSpc>
              <a:spcBef>
                <a:spcPts val="600"/>
              </a:spcBef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</a:rPr>
              <a:t>Avvergende utgifter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</a:rPr>
              <a:t>Fanger sjelden opp ikke-bruksverdier</a:t>
            </a:r>
          </a:p>
        </p:txBody>
      </p:sp>
      <p:sp>
        <p:nvSpPr>
          <p:cNvPr id="5" name="Box SP"/>
          <p:cNvSpPr/>
          <p:nvPr/>
        </p:nvSpPr>
        <p:spPr>
          <a:xfrm>
            <a:off x="6200760" y="1737360"/>
            <a:ext cx="5320680" cy="4200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274320" tIns="228600" rIns="274320" bIns="22860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</a:rPr>
              <a:t>SP — Oppgitte preferanser</a:t>
            </a:r>
          </a:p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</a:rPr>
              <a:t>Bygger på hva folk sier de ville gjort</a:t>
            </a: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</a:rPr>
              <a:t>Contingent Valuation — åpent spørsmål</a:t>
            </a:r>
          </a:p>
          <a:p>
            <a:pPr marL="342900" indent="-342900">
              <a:lnSpc>
                <a:spcPct val="115000"/>
              </a:lnSpc>
              <a:spcBef>
                <a:spcPts val="600"/>
              </a:spcBef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</a:rPr>
              <a:t>Contingent Valuation — ja/nei</a:t>
            </a:r>
          </a:p>
          <a:p>
            <a:pPr marL="342900" indent="-342900">
              <a:lnSpc>
                <a:spcPct val="115000"/>
              </a:lnSpc>
              <a:spcBef>
                <a:spcPts val="600"/>
              </a:spcBef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</a:rPr>
              <a:t>Contingent Valuation — betalingskort</a:t>
            </a:r>
          </a:p>
          <a:p>
            <a:pPr marL="342900" indent="-342900">
              <a:lnSpc>
                <a:spcPct val="115000"/>
              </a:lnSpc>
              <a:spcBef>
                <a:spcPts val="600"/>
              </a:spcBef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</a:rPr>
              <a:t>Choice Experiments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</a:rPr>
              <a:t>Eneste metode som fanger ikke-bruksverdier</a:t>
            </a:r>
          </a:p>
        </p:txBody>
      </p:sp>
      <p:sp>
        <p:nvSpPr>
          <p:cNvPr id="6" name="Text 3"/>
          <p:cNvSpPr/>
          <p:nvPr/>
        </p:nvSpPr>
        <p:spPr>
          <a:xfrm>
            <a:off x="640080" y="6100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er kartet vi følger videre — vi går gjennom hver metode i tur og orden.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AVSLØRTE PREFERANSER (RP)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Avslørte preferanser (Revealed Preferences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Bygger på allerede eksisterende markeder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Verdien av miljøgodet måles gjennom andre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goder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.</a:t>
            </a:r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Vi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studerer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forskjeller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alternativkostander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</a:rPr>
              <a:t>Krever en klar kobling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Mellom naturgodet og markedet som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observeres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.</a:t>
            </a:r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Hvor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klar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er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koblingene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vi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bruker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er de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sikre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?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AVSLØRTE PREFERANSER (RP)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—</a:t>
            </a:r>
            <a:r>
              <a:rPr lang="en-US" sz="28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verdien</a:t>
            </a: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 "gjemt"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Reisekostnadsmetoden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Reiseutgifter (tid + penger) til et naturområde brukes som en indikator på områdets verdi.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Hedonisk prising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Miljøkvalitet er "gjemt" i andre priser — f.eks. lavere støy eller bedre utsikt gir høyere boligpris.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Avvergende utgifter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folk betaler for å unngå en miljøskade — f.eks. vannfilter eller lydisolering — avslører verdien av skaden.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Felles for alle RP-metoder: vi observerer faktiske valg — men de fanger sjelden opp ikke-bruksverdier.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108B8A-BAB1-EE43-0F4A-BE3CEF75A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7A9219-39A8-B90D-A421-5CC64C0529C8}"/>
              </a:ext>
            </a:extLst>
          </p:cNvPr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AVSLØRTE PREFERANSER (RP)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4DC418-DA2F-5310-4545-D8D12FF203FB}"/>
              </a:ext>
            </a:extLst>
          </p:cNvPr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— Hedonisk </a:t>
            </a:r>
            <a:r>
              <a:rPr lang="en-US" sz="28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prising</a:t>
            </a: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8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boligpriser</a:t>
            </a: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809FCE-8AA4-0351-92B2-32D6590A9334}"/>
              </a:ext>
            </a:extLst>
          </p:cNvPr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dirty="0"/>
              <a:t>Hvordan fungerer metoden?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/>
              <a:t>Analyserer hvordan miljøkvaliteter påvirker prisen på andre varer.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dirty="0"/>
              <a:t>Hvordan brukes den til miljøverdsetting?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/>
              <a:t>Bruker regresjonsanalyse for å isolere effekten av f.eks. luftkvalitet eller utsikt på boligpriser.</a:t>
            </a:r>
          </a:p>
          <a:p>
            <a:endParaRPr lang="nb-NO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dirty="0"/>
              <a:t>Eksempel: Bolig i stille område koster mer enn lik bolig ved motorvei → verdi av lav støy.</a:t>
            </a:r>
          </a:p>
          <a:p>
            <a:endParaRPr lang="nb-NO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dirty="0"/>
              <a:t>Indirekte: miljøverdien er «gjemt» i en annen pris.</a:t>
            </a:r>
          </a:p>
          <a:p>
            <a:endParaRPr lang="nb-NO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dirty="0"/>
              <a:t>Avslørt: faktiske markedsdata avslører betalingsvillighet.</a:t>
            </a:r>
          </a:p>
          <a:p>
            <a:pPr>
              <a:lnSpc>
                <a:spcPct val="115000"/>
              </a:lnSpc>
              <a:spcAft>
                <a:spcPts val="200"/>
              </a:spcAft>
              <a:buSzPct val="100000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endParaRPr lang="en-US" sz="1600" b="1" dirty="0">
              <a:solidFill>
                <a:srgbClr val="000000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0B1A38-6E22-BB51-3CFE-8A446A952F97}"/>
              </a:ext>
            </a:extLst>
          </p:cNvPr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Felles for alle RP-metoder: vi observerer faktiske valg — men de fanger sjelden opp ikke-bruksverdier.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6E54A2A-827B-6517-AA0E-BBF5CDF0C644}"/>
              </a:ext>
            </a:extLst>
          </p:cNvPr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15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52560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AVSLØRTE PREFERANSER (RP)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Reisekostmetoden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Verdien av naturområder måles via folks reisekostnader (tid + penger).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Indirekte: vi observerer handlinger (reiser), ikke kjøp av miljøgodet.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Krever estimater for transportkostnader, samt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tidsbruk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. (1/3 av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lønn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+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utgifter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til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transport)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Måler kun den direkte bruksverdien av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området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.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Solastrand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eksempel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: et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besøk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til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stranden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ble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beregnet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til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å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være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verdt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135 kroner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Samler inn data om folks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besøksvaner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kostanden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ved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å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komme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seg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til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stranden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. 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Beregninger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er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tekniske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krever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ofte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metodisk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“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kreativitet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”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OPPGITTE PREFERANSER (SP)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Preferences (SP) — hvorfor trenger vi dem?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Ikke-bruksverdier (eksistens, bequest) finnes ikke i noe marked — RP-metodene kan ikke fange dem opp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Løsningen: spør folk direkte om betalingsvillighet, eller la dem velge mellom alternativer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hovedretninger: Contingent Valuation (direkte spørsmål) og Choice Experiments (valg mellom alternativer)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OPPGITTE PREFERANSER (SP)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Contingent Valuation — grunnprinsippet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Folk spørres direkte om hvor mye de er villige til å betale i et hypotetisk (men realistisk) scenario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Spørreskjema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 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 en direkte tallverdi på goder som ikke har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markedspris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Konstruerer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marked for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tvinge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frem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Verdi 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Krever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tydelige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scenarioer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Troverdige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aktører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kunstige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ekte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Godt egnet til å fange opp eksistens- og opsjonsverdier — f.eks. bevaring av dyphavskoraller eller et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turområde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Men…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Krevende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respondentene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Ukjent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farvann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OPPGITTE PREFERANSER (SP)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Hvordan spør vi om betalingsvillighet?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Åpent spørsmål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«Hvor mye er du villig til å betale?» — respondenten oppgir selv et beløp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Ja/nei til et beløp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«Er du villig til å betale 500 kr?» — respondenten svarer ja eller nei på et gitt beløp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Betalingskort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Respondenten velger blant flere beløp på en liste — krysser av det høyeste de ville betalt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 av format påvirker hvor presist — og hvor sårbart for bias — estimatet blir.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KRITISK BLIKK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Farer og fallgruver ved verdsetting av natur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Hypotetisk bias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folk sier de ville betalt, stemmer ikke alltid med hva de faktisk ville gjort med ekte penger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Protestsvar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Noen svarer 0 kr ikke fordi de ikke verdsetter godet, men fordi de er uenige i selve premisset for spørsmålet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 og embedding-effekter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Små endringer i hvordan spørsmålet stilles — eller hvor stort godet er — kan gi ganske ulike svar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spcAft>
                <a:spcPts val="2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etisk spørsmål</a:t>
            </a:r>
            <a:endParaRPr lang="en-US" sz="1600" dirty="0"/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 sette en prislapp på natur kan i seg selv oppleves som problematisk — reduserer det naturens verdi til bare tall?</a:t>
            </a:r>
          </a:p>
          <a:p>
            <a:pPr marL="0" lvl="1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	(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Spesielt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 CVM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og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 RP)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Nyttige estimater — men usikkerheten, og de etiske spørsmålene, må alltid tas i betraktning.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hoice Experiments for Estimating the Non-Market Value of Ecosystem  Services in the Bang Kachao Green Area, Thailand">
            <a:extLst>
              <a:ext uri="{FF2B5EF4-FFF2-40B4-BE49-F238E27FC236}">
                <a16:creationId xmlns:a16="http://schemas.microsoft.com/office/drawing/2014/main" id="{2C1BF52A-1228-9174-D700-4BA5B5546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2287" y="1825625"/>
            <a:ext cx="4821426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668EF309-0C85-5227-AE95-FF88D12941FC}"/>
              </a:ext>
            </a:extLst>
          </p:cNvPr>
          <p:cNvSpPr txBox="1"/>
          <p:nvPr/>
        </p:nvSpPr>
        <p:spPr>
          <a:xfrm>
            <a:off x="845820" y="502920"/>
            <a:ext cx="9806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 b="1" dirty="0"/>
              <a:t>Valgeksperimenter (Choice </a:t>
            </a:r>
            <a:r>
              <a:rPr lang="nb-NO" sz="2800" b="1" dirty="0" err="1"/>
              <a:t>experiments</a:t>
            </a:r>
            <a:r>
              <a:rPr lang="nb-NO" sz="2800" b="1" dirty="0"/>
              <a:t>) 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51869724-EFB4-390A-BE7B-50E996CB0CA1}"/>
              </a:ext>
            </a:extLst>
          </p:cNvPr>
          <p:cNvSpPr txBox="1"/>
          <p:nvPr/>
        </p:nvSpPr>
        <p:spPr>
          <a:xfrm>
            <a:off x="645924" y="1825625"/>
            <a:ext cx="48214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Respondenter velger mellom flere alternativer, hver beskrevet med attributter og nivåer (f.eks. areal, biologisk mangfold, kostnad)</a:t>
            </a:r>
          </a:p>
          <a:p>
            <a:pPr lvl="0"/>
            <a:endParaRPr lang="nb-N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Gir </a:t>
            </a:r>
            <a:r>
              <a:rPr lang="nb-NO" b="1" dirty="0"/>
              <a:t>marginal WTP for hvert attributt</a:t>
            </a:r>
            <a:r>
              <a:rPr lang="nb-NO" dirty="0"/>
              <a:t>, ikke bare én samlet verdi</a:t>
            </a:r>
          </a:p>
          <a:p>
            <a:pPr lvl="0"/>
            <a:endParaRPr lang="nb-N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Alternativ til CVM — dekomponerer verdi i stedet for å måle ett helhetlig scenario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Ulemper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dirty="0"/>
              <a:t>Krevende for respondenter å svare på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dirty="0"/>
              <a:t>Krever store mengder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dirty="0"/>
              <a:t>Krevende metodisk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Mest «populær» for tiden</a:t>
            </a:r>
          </a:p>
        </p:txBody>
      </p:sp>
    </p:spTree>
    <p:extLst>
      <p:ext uri="{BB962C8B-B14F-4D97-AF65-F5344CB8AC3E}">
        <p14:creationId xmlns:p14="http://schemas.microsoft.com/office/powerpoint/2010/main" val="2140321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4D65925F-04EF-F58E-B204-B730D22BCA6E}"/>
              </a:ext>
            </a:extLst>
          </p:cNvPr>
          <p:cNvSpPr txBox="1"/>
          <p:nvPr/>
        </p:nvSpPr>
        <p:spPr>
          <a:xfrm>
            <a:off x="914400" y="800100"/>
            <a:ext cx="9239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 b="1" dirty="0"/>
              <a:t>Diskonteringsrater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78CD3EB5-7816-7308-6C40-DF8E4D9AC5C3}"/>
              </a:ext>
            </a:extLst>
          </p:cNvPr>
          <p:cNvSpPr txBox="1"/>
          <p:nvPr/>
        </p:nvSpPr>
        <p:spPr>
          <a:xfrm>
            <a:off x="914400" y="1981200"/>
            <a:ext cx="67246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Danner et sammenligningsgrunnlag</a:t>
            </a:r>
          </a:p>
          <a:p>
            <a:pPr lvl="0"/>
            <a:r>
              <a:rPr lang="nb-NO" dirty="0"/>
              <a:t> opp mot andre prosjekter</a:t>
            </a:r>
          </a:p>
          <a:p>
            <a:pPr lvl="0"/>
            <a:r>
              <a:rPr lang="nb-NO" dirty="0"/>
              <a:t>	Standard 4% for SØ-analyser (FD)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nb-N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Valg av diskonteringsrate </a:t>
            </a:r>
            <a:r>
              <a:rPr lang="nb-NO" b="1" dirty="0"/>
              <a:t>r</a:t>
            </a:r>
            <a:r>
              <a:rPr lang="nb-NO" dirty="0"/>
              <a:t> er </a:t>
            </a:r>
          </a:p>
          <a:p>
            <a:pPr lvl="0"/>
            <a:r>
              <a:rPr lang="nb-NO" dirty="0"/>
              <a:t>avgjørende for langsiktige miljøgoder </a:t>
            </a:r>
          </a:p>
          <a:p>
            <a:pPr lvl="0"/>
            <a:endParaRPr lang="nb-N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Høy rate → fremtidige generasjoners nytte</a:t>
            </a:r>
          </a:p>
          <a:p>
            <a:pPr lvl="0"/>
            <a:r>
              <a:rPr lang="nb-NO" dirty="0"/>
              <a:t> teller lite (favoriserer nedbygging)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nb-N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Lav rate → fremtidig nytte veier tyngre (favoriserer bevaring)</a:t>
            </a:r>
          </a:p>
          <a:p>
            <a:pPr lvl="0"/>
            <a:endParaRPr lang="nb-N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 err="1"/>
              <a:t>Drupp</a:t>
            </a:r>
            <a:r>
              <a:rPr lang="nb-NO" dirty="0"/>
              <a:t> et al. (2024) argumenterer for synkende tilbud og økende kjøpekraft vil øke verdien over tid.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dirty="0"/>
              <a:t>Motsatt effekter oppstår og verdien øker med opp til 1600%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Stor uenighet, jf. </a:t>
            </a:r>
            <a:r>
              <a:rPr lang="nb-NO" dirty="0" err="1"/>
              <a:t>Stern</a:t>
            </a:r>
            <a:r>
              <a:rPr lang="nb-NO" dirty="0"/>
              <a:t> (2007), </a:t>
            </a:r>
            <a:r>
              <a:rPr lang="nb-NO" dirty="0" err="1"/>
              <a:t>Nordhaus</a:t>
            </a:r>
            <a:r>
              <a:rPr lang="nb-NO" dirty="0"/>
              <a:t> (2007), </a:t>
            </a:r>
            <a:r>
              <a:rPr lang="nb-NO" dirty="0" err="1"/>
              <a:t>Drupp</a:t>
            </a:r>
            <a:r>
              <a:rPr lang="nb-NO" dirty="0"/>
              <a:t> (2024) 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BA7C26D1-0F58-103D-0ECF-73E93625B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032" y="1061710"/>
            <a:ext cx="5585047" cy="2711450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34718301-552F-BA4E-DE67-FCE0BFAB7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773160"/>
            <a:ext cx="24130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06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NORSK EKSEMPEL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Tromsømarka-prosjektet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Tromsømarka: peri-urbant turområde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Tromsøya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Klart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 definer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område</a:t>
            </a:r>
            <a:endParaRPr lang="en-US" sz="1600" dirty="0">
              <a:solidFill>
                <a:srgbClr val="000000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Preferences: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Oppgitte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preferanser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Studerer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området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utbygging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skjedd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Ønsker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også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ikke-bruksverdier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WTP for å bevare Tromsømarka mot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fremtidig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utbygging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Klare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scenarioer</a:t>
            </a:r>
            <a:endParaRPr lang="en-US" sz="1600" dirty="0">
              <a:solidFill>
                <a:srgbClr val="000000"/>
              </a:solidFill>
              <a:latin typeface="Calibri" pitchFamily="34" charset="0"/>
              <a:cs typeface="Calibri" pitchFamily="34" charset="-120"/>
            </a:endParaRP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Betalingskort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Kartla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også miljøholdninger for å forstå hva som ligger bak svarene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21</a:t>
            </a:r>
            <a:endParaRPr lang="en-US" sz="900" dirty="0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47EF08D1-C7E4-D6BA-12AA-3201FCED9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691" y="0"/>
            <a:ext cx="33160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NORSK EKSEMPEL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Tromsømarka — hovedfunn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Gjennomsnittlig WTP per husholdning: </a:t>
            </a:r>
            <a:r>
              <a:rPr lang="en-US" sz="1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kroner per </a:t>
            </a:r>
            <a:r>
              <a:rPr lang="en-US" sz="1600" b="1" dirty="0" err="1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mnd</a:t>
            </a:r>
            <a:r>
              <a:rPr lang="en-US" sz="1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600" b="1" dirty="0" err="1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husstand</a:t>
            </a:r>
            <a:r>
              <a:rPr lang="en-US" sz="1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64 </a:t>
            </a:r>
            <a:r>
              <a:rPr lang="en-US" sz="1600" b="1" dirty="0" err="1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millioner</a:t>
            </a:r>
            <a:r>
              <a:rPr lang="en-US" sz="1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kroner I </a:t>
            </a:r>
            <a:r>
              <a:rPr lang="en-US" sz="1600" b="1" dirty="0" err="1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året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Befolkningen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setter faktisk en pengeverdi på naturen, selv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markedspris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tallet kan brukes videre i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nytte-kostnadsanalyse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Hvilke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påvirker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Utdanning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lønn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øker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betalingsvillighet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følger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U-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utvikling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Tromsømarkaprosjektet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Kostand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33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kroner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Betalingsvilligheten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overskrider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beløpet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dermed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anses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lønnsomt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samfunnet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22</a:t>
            </a:r>
            <a:endParaRPr lang="en-US" sz="900" dirty="0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9DFD7F44-B60A-415D-9AB3-DF3CA19C4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422" y="2567836"/>
            <a:ext cx="5263256" cy="249557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E57B1-19A6-9452-501D-E75465E94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74D47B-F392-4C39-3676-1ABFE6A92B07}"/>
              </a:ext>
            </a:extLst>
          </p:cNvPr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NORSK EKSEMPEL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1ECF26-DC8D-E75F-030F-363EC2ED1862}"/>
              </a:ext>
            </a:extLst>
          </p:cNvPr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Tromsømarka — </a:t>
            </a:r>
            <a:r>
              <a:rPr lang="en-US" sz="28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hvordan</a:t>
            </a: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bruke</a:t>
            </a: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resultatene</a:t>
            </a: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E98A50-533D-E636-8E67-5A1604597CE3}"/>
              </a:ext>
            </a:extLst>
          </p:cNvPr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tallet kan brukes videre i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nytte-kostnadsanalyse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Synliggjør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grøntområdene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 0. 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Riksrevisjonene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(2026) 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Konkluderte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 at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kommunens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beslutningsgrunnlag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knyttet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verdisetting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klimaeffekter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knyttet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arealendring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 “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tilstrekkelig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”. 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Tromsømarkaprosjektet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2011-2016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Kostand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33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kroner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Betalingsvilligheten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overskrider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beløpet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dermed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anses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lønnsomt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samfunnet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/>
              <a:t>Andre </a:t>
            </a:r>
            <a:r>
              <a:rPr lang="en-US" sz="1600" dirty="0" err="1"/>
              <a:t>gevinster</a:t>
            </a:r>
            <a:r>
              <a:rPr lang="en-US" sz="1600" dirty="0"/>
              <a:t>? 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/>
              <a:t>Helsekostnader</a:t>
            </a:r>
            <a:r>
              <a:rPr lang="en-US" sz="1600" dirty="0"/>
              <a:t>, </a:t>
            </a:r>
            <a:r>
              <a:rPr lang="en-US" sz="1600" dirty="0" err="1"/>
              <a:t>reisekostnader</a:t>
            </a:r>
            <a:r>
              <a:rPr lang="en-US" sz="1600" dirty="0"/>
              <a:t>? 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6DE2570-F680-7EFE-10E3-BF6EE4C9920C}"/>
              </a:ext>
            </a:extLst>
          </p:cNvPr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51458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56B0C-A408-3344-DC21-84D7215E2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128BB2-7627-4CC5-4030-AE7BA4DE4EA2}"/>
              </a:ext>
            </a:extLst>
          </p:cNvPr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NORSK EKSEMPEL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E30E1A-396A-613C-D82F-0B0F948E1A5E}"/>
              </a:ext>
            </a:extLst>
          </p:cNvPr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Tromsømarka — </a:t>
            </a:r>
            <a:r>
              <a:rPr lang="en-US" sz="28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Utfordringer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6FFE37-B283-C2BB-3E0C-259D04646F13}"/>
              </a:ext>
            </a:extLst>
          </p:cNvPr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Hvordan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den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oppgitte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betalingsvillighten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stemmer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overens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faktisk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betalingsvillighet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Populasjon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utvalg</a:t>
            </a: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Hvem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undersøkelse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/>
              <a:t>Case– studier er </a:t>
            </a:r>
            <a:r>
              <a:rPr lang="en-US" sz="1600" dirty="0" err="1"/>
              <a:t>ofte</a:t>
            </a:r>
            <a:r>
              <a:rPr lang="en-US" sz="1600" dirty="0"/>
              <a:t> sensitive for </a:t>
            </a:r>
            <a:r>
              <a:rPr lang="en-US" sz="1600" dirty="0" err="1"/>
              <a:t>områdespesifikke</a:t>
            </a:r>
            <a:r>
              <a:rPr lang="en-US" sz="1600" dirty="0"/>
              <a:t> attributer. 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/>
              <a:t>Sammenligningsgrunnlag</a:t>
            </a:r>
            <a:r>
              <a:rPr lang="en-US" sz="1600" dirty="0"/>
              <a:t> er </a:t>
            </a:r>
            <a:r>
              <a:rPr lang="en-US" sz="1600" dirty="0" err="1"/>
              <a:t>vanskelig</a:t>
            </a:r>
            <a:r>
              <a:rPr lang="en-US" sz="1600" dirty="0"/>
              <a:t> </a:t>
            </a:r>
            <a:r>
              <a:rPr lang="en-US" sz="1600" dirty="0" err="1"/>
              <a:t>på</a:t>
            </a:r>
            <a:r>
              <a:rPr lang="en-US" sz="1600" dirty="0"/>
              <a:t> </a:t>
            </a:r>
            <a:r>
              <a:rPr lang="en-US" sz="1600" dirty="0" err="1"/>
              <a:t>tvers</a:t>
            </a:r>
            <a:r>
              <a:rPr lang="en-US" sz="1600" dirty="0"/>
              <a:t> av caser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/>
              <a:t>Mange </a:t>
            </a:r>
            <a:r>
              <a:rPr lang="en-US" sz="1600" dirty="0" err="1"/>
              <a:t>faktorer</a:t>
            </a:r>
            <a:r>
              <a:rPr lang="en-US" sz="1600" dirty="0"/>
              <a:t> </a:t>
            </a:r>
            <a:r>
              <a:rPr lang="en-US" sz="1600" dirty="0" err="1"/>
              <a:t>som</a:t>
            </a:r>
            <a:r>
              <a:rPr lang="en-US" sz="1600" dirty="0"/>
              <a:t> </a:t>
            </a:r>
            <a:r>
              <a:rPr lang="en-US" sz="1600" dirty="0" err="1"/>
              <a:t>påvirker</a:t>
            </a:r>
            <a:r>
              <a:rPr lang="en-US" sz="1600" dirty="0"/>
              <a:t> </a:t>
            </a:r>
            <a:r>
              <a:rPr lang="en-US" sz="1600" dirty="0" err="1"/>
              <a:t>betalingsvilligheten</a:t>
            </a:r>
            <a:r>
              <a:rPr lang="en-US" sz="1600" dirty="0"/>
              <a:t>.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/>
              <a:t>Troverdighet</a:t>
            </a:r>
            <a:endParaRPr lang="en-US" sz="1600" dirty="0"/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/>
              <a:t>Sosio-økonomisk</a:t>
            </a:r>
            <a:r>
              <a:rPr lang="en-US" sz="1600" dirty="0"/>
              <a:t> </a:t>
            </a:r>
            <a:r>
              <a:rPr lang="en-US" sz="1600" dirty="0" err="1"/>
              <a:t>bakgrunn</a:t>
            </a:r>
            <a:r>
              <a:rPr lang="en-US" sz="1600" dirty="0"/>
              <a:t>. 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/>
              <a:t>Forstår</a:t>
            </a:r>
            <a:r>
              <a:rPr lang="en-US" sz="1600" dirty="0"/>
              <a:t> </a:t>
            </a:r>
            <a:r>
              <a:rPr lang="en-US" sz="1600" dirty="0" err="1"/>
              <a:t>deltakerne</a:t>
            </a:r>
            <a:r>
              <a:rPr lang="en-US" sz="1600" dirty="0"/>
              <a:t> </a:t>
            </a:r>
            <a:r>
              <a:rPr lang="en-US" sz="1600" dirty="0" err="1"/>
              <a:t>premisset</a:t>
            </a:r>
            <a:r>
              <a:rPr lang="en-US" sz="1600" dirty="0"/>
              <a:t> for </a:t>
            </a:r>
            <a:r>
              <a:rPr lang="en-US" sz="1600" dirty="0" err="1"/>
              <a:t>undersøkelsen</a:t>
            </a:r>
            <a:r>
              <a:rPr lang="en-US" sz="1600" dirty="0"/>
              <a:t>? </a:t>
            </a:r>
          </a:p>
          <a:p>
            <a:pPr marL="1257300" lvl="2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 err="1"/>
              <a:t>Jf</a:t>
            </a:r>
            <a:r>
              <a:rPr lang="en-US" sz="1600" dirty="0"/>
              <a:t>. </a:t>
            </a:r>
            <a:r>
              <a:rPr lang="en-US" sz="1600" dirty="0" err="1"/>
              <a:t>Spørsmål</a:t>
            </a:r>
            <a:r>
              <a:rPr lang="en-US" sz="1600" dirty="0"/>
              <a:t> </a:t>
            </a:r>
            <a:r>
              <a:rPr lang="en-US" sz="1600" dirty="0" err="1"/>
              <a:t>knyttet</a:t>
            </a:r>
            <a:r>
              <a:rPr lang="en-US" sz="1600" dirty="0"/>
              <a:t> </a:t>
            </a:r>
            <a:r>
              <a:rPr lang="en-US" sz="1600" dirty="0" err="1"/>
              <a:t>til</a:t>
            </a:r>
            <a:r>
              <a:rPr lang="en-US" sz="1600" dirty="0"/>
              <a:t> Verdi! </a:t>
            </a:r>
          </a:p>
          <a:p>
            <a:pPr marL="800100" lvl="1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D6C9E6-FB58-8EA0-4D20-DDF81C4BA7C3}"/>
              </a:ext>
            </a:extLst>
          </p:cNvPr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22</a:t>
            </a:r>
            <a:endParaRPr lang="en-US" sz="900" dirty="0"/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CE022BB0-F511-5259-B87D-A2C0E6B6A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178" y="2155613"/>
            <a:ext cx="5815822" cy="364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49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DISKUSJON</a:t>
            </a:r>
            <a:endParaRPr lang="en-US" sz="1200" dirty="0"/>
          </a:p>
        </p:txBody>
      </p:sp>
      <p:sp>
        <p:nvSpPr>
          <p:cNvPr id="2" name="Text 0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Diskusjon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Bør vi i det hele tatt sette en prislapp på naturen?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Hvilken metode — RP eller SP — stoler dere mest på, og hvorfor?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 går grensen mellom et nyttig verktøy og en farlig forenkling?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20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OPPSUMMERING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Miljøgoder mangler markedspris → risiko for å bli oversett i beslutninger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verdi = bruksverdi + opsjonsverdi + ikke-bruksverdi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hovedtilnærminger: avslørte preferanser (RP) og oppgitte preferanser (SP)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Begge tilnærminger gir nyttige tall — men usikkerhet og etiske spørsmål må tas på alvor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Tromsømarka-prosjektet viser hvordan SP-metoden brukes i praksis, med ekte norske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gir naturen en «pris» i økonomiske analyser — men tallene må tolkes kritisk.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24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tre norske prosjekter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Du er ansatt som ekstern konsulent for staten Norge AS, og skal komme med en stikkordsformet analyse av tre prosjekter som er oppe til behandling i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regjeringen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.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Hvilke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samfunnsøkonomiske avveininger er viktige å få frem i en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nytte-kostnadsanalyse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?  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Hvilke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metodisk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fremgangsmåte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ville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du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valgt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og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hvilke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utfordringer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vil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</a:rPr>
              <a:t>oppstå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?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534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Utvidelse av jernbanen fra Bodø til Tromsø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Utvinning av olje og gass i Norskehavet, LoVeSe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Nye boligprosjekter på nordenden av Tromsøya</a:t>
            </a:r>
            <a:endParaRPr lang="en-US" sz="1600" dirty="0"/>
          </a:p>
        </p:txBody>
      </p:sp>
      <p:pic>
        <p:nvPicPr>
          <p:cNvPr id="6" name="Bilde 1" descr="Er det Nord-Norges jernbanetur nå? Her er argumentene for og imo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495" y="4200000"/>
            <a:ext cx="1491880" cy="1900000"/>
          </a:xfrm>
          <a:prstGeom prst="rect">
            <a:avLst/>
          </a:prstGeom>
        </p:spPr>
      </p:pic>
      <p:pic>
        <p:nvPicPr>
          <p:cNvPr id="7" name="Bilde 2" descr="Lofoten – Wikiped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375" y="4200000"/>
            <a:ext cx="2850000" cy="1900000"/>
          </a:xfrm>
          <a:prstGeom prst="rect">
            <a:avLst/>
          </a:prstGeom>
        </p:spPr>
      </p:pic>
      <p:pic>
        <p:nvPicPr>
          <p:cNvPr id="8" name="Bilde 5" descr="Utbygging og fortetting i Tromsømark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375" y="4200000"/>
            <a:ext cx="2210650" cy="1900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Verdsetting av naturgoder · SOK-2302 · 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7A2DCE4F-CB80-6C6B-F6E5-B02D0D1B98BC}"/>
              </a:ext>
            </a:extLst>
          </p:cNvPr>
          <p:cNvSpPr txBox="1"/>
          <p:nvPr/>
        </p:nvSpPr>
        <p:spPr>
          <a:xfrm>
            <a:off x="1219200" y="1828800"/>
            <a:ext cx="7620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err="1"/>
              <a:t>Stern</a:t>
            </a:r>
            <a:r>
              <a:rPr lang="nb-NO" b="1" dirty="0"/>
              <a:t> (2007)</a:t>
            </a:r>
          </a:p>
          <a:p>
            <a:r>
              <a:rPr lang="nb-NO" dirty="0" err="1"/>
              <a:t>Stern</a:t>
            </a:r>
            <a:r>
              <a:rPr lang="nb-NO" dirty="0"/>
              <a:t>, N. (2007). </a:t>
            </a:r>
            <a:r>
              <a:rPr lang="nb-NO" i="1" dirty="0"/>
              <a:t>The </a:t>
            </a:r>
            <a:r>
              <a:rPr lang="nb-NO" i="1" dirty="0" err="1"/>
              <a:t>Economics</a:t>
            </a:r>
            <a:r>
              <a:rPr lang="nb-NO" i="1" dirty="0"/>
              <a:t> </a:t>
            </a:r>
            <a:r>
              <a:rPr lang="nb-NO" i="1" dirty="0" err="1"/>
              <a:t>of</a:t>
            </a:r>
            <a:r>
              <a:rPr lang="nb-NO" i="1" dirty="0"/>
              <a:t> </a:t>
            </a:r>
            <a:r>
              <a:rPr lang="nb-NO" i="1" dirty="0" err="1"/>
              <a:t>Climate</a:t>
            </a:r>
            <a:r>
              <a:rPr lang="nb-NO" i="1" dirty="0"/>
              <a:t> </a:t>
            </a:r>
            <a:r>
              <a:rPr lang="nb-NO" i="1" dirty="0" err="1"/>
              <a:t>Change</a:t>
            </a:r>
            <a:r>
              <a:rPr lang="nb-NO" i="1" dirty="0"/>
              <a:t>: The </a:t>
            </a:r>
            <a:r>
              <a:rPr lang="nb-NO" i="1" dirty="0" err="1"/>
              <a:t>Stern</a:t>
            </a:r>
            <a:r>
              <a:rPr lang="nb-NO" i="1" dirty="0"/>
              <a:t> </a:t>
            </a:r>
            <a:r>
              <a:rPr lang="nb-NO" i="1" dirty="0" err="1"/>
              <a:t>Review</a:t>
            </a:r>
            <a:r>
              <a:rPr lang="nb-NO" dirty="0"/>
              <a:t>. Cambridge: Cambridge </a:t>
            </a:r>
            <a:r>
              <a:rPr lang="nb-NO" dirty="0" err="1"/>
              <a:t>University</a:t>
            </a:r>
            <a:r>
              <a:rPr lang="nb-NO" dirty="0"/>
              <a:t> Press.</a:t>
            </a:r>
          </a:p>
          <a:p>
            <a:r>
              <a:rPr lang="nb-NO" b="1" dirty="0" err="1"/>
              <a:t>Nordhaus</a:t>
            </a:r>
            <a:r>
              <a:rPr lang="nb-NO" b="1" dirty="0"/>
              <a:t> (2007)</a:t>
            </a:r>
          </a:p>
          <a:p>
            <a:r>
              <a:rPr lang="nb-NO" dirty="0" err="1"/>
              <a:t>Nordhaus</a:t>
            </a:r>
            <a:r>
              <a:rPr lang="nb-NO" dirty="0"/>
              <a:t>, W. D. (2007). "A </a:t>
            </a:r>
            <a:r>
              <a:rPr lang="nb-NO" dirty="0" err="1"/>
              <a:t>Review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Stern</a:t>
            </a:r>
            <a:r>
              <a:rPr lang="nb-NO" dirty="0"/>
              <a:t> </a:t>
            </a:r>
            <a:r>
              <a:rPr lang="nb-NO" dirty="0" err="1"/>
              <a:t>Review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Economics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Climate</a:t>
            </a:r>
            <a:r>
              <a:rPr lang="nb-NO" dirty="0"/>
              <a:t> </a:t>
            </a:r>
            <a:r>
              <a:rPr lang="nb-NO" dirty="0" err="1"/>
              <a:t>Change</a:t>
            </a:r>
            <a:r>
              <a:rPr lang="nb-NO" dirty="0"/>
              <a:t>." Journal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Economic</a:t>
            </a:r>
            <a:r>
              <a:rPr lang="nb-NO" dirty="0"/>
              <a:t> </a:t>
            </a:r>
            <a:r>
              <a:rPr lang="nb-NO" dirty="0" err="1"/>
              <a:t>Literature</a:t>
            </a:r>
            <a:r>
              <a:rPr lang="nb-NO" dirty="0"/>
              <a:t> 45 (3): 686–702.</a:t>
            </a:r>
          </a:p>
          <a:p>
            <a:r>
              <a:rPr lang="nb-NO" b="1" dirty="0" err="1"/>
              <a:t>Drupp</a:t>
            </a:r>
            <a:r>
              <a:rPr lang="nb-NO" b="1" dirty="0"/>
              <a:t> et al. (2024)</a:t>
            </a:r>
          </a:p>
          <a:p>
            <a:r>
              <a:rPr lang="nb-NO" dirty="0" err="1"/>
              <a:t>Drupp</a:t>
            </a:r>
            <a:r>
              <a:rPr lang="nb-NO" dirty="0"/>
              <a:t>, M. A., </a:t>
            </a:r>
            <a:r>
              <a:rPr lang="nb-NO" dirty="0" err="1"/>
              <a:t>Hänsel</a:t>
            </a:r>
            <a:r>
              <a:rPr lang="nb-NO" dirty="0"/>
              <a:t>, M. C., </a:t>
            </a:r>
            <a:r>
              <a:rPr lang="nb-NO" dirty="0" err="1"/>
              <a:t>Fenichel</a:t>
            </a:r>
            <a:r>
              <a:rPr lang="nb-NO" dirty="0"/>
              <a:t>, E. P., Freeman, M., </a:t>
            </a:r>
            <a:r>
              <a:rPr lang="nb-NO" dirty="0" err="1"/>
              <a:t>Gollier</a:t>
            </a:r>
            <a:r>
              <a:rPr lang="nb-NO" dirty="0"/>
              <a:t>, C., </a:t>
            </a:r>
            <a:r>
              <a:rPr lang="nb-NO" dirty="0" err="1"/>
              <a:t>Groom</a:t>
            </a:r>
            <a:r>
              <a:rPr lang="nb-NO" dirty="0"/>
              <a:t>, B., </a:t>
            </a:r>
            <a:r>
              <a:rPr lang="nb-NO" dirty="0" err="1"/>
              <a:t>Heal</a:t>
            </a:r>
            <a:r>
              <a:rPr lang="nb-NO" dirty="0"/>
              <a:t>, G. M., Howard, P. H., </a:t>
            </a:r>
            <a:r>
              <a:rPr lang="nb-NO" dirty="0" err="1"/>
              <a:t>Millner</a:t>
            </a:r>
            <a:r>
              <a:rPr lang="nb-NO" dirty="0"/>
              <a:t>, A., Moore, F. C., Nesje, F., </a:t>
            </a:r>
            <a:r>
              <a:rPr lang="nb-NO" dirty="0" err="1"/>
              <a:t>Quaas</a:t>
            </a:r>
            <a:r>
              <a:rPr lang="nb-NO" dirty="0"/>
              <a:t>, M. F., Smulders, S., Sterner, T., </a:t>
            </a:r>
            <a:r>
              <a:rPr lang="nb-NO" dirty="0" err="1"/>
              <a:t>Traeger</a:t>
            </a:r>
            <a:r>
              <a:rPr lang="nb-NO" dirty="0"/>
              <a:t>, C., and </a:t>
            </a:r>
            <a:r>
              <a:rPr lang="nb-NO" dirty="0" err="1"/>
              <a:t>Venmans</a:t>
            </a:r>
            <a:r>
              <a:rPr lang="nb-NO" dirty="0"/>
              <a:t>, F. (2024). "Accounting for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increasing</a:t>
            </a:r>
            <a:r>
              <a:rPr lang="nb-NO" dirty="0"/>
              <a:t> </a:t>
            </a:r>
            <a:r>
              <a:rPr lang="nb-NO" dirty="0" err="1"/>
              <a:t>benefits</a:t>
            </a:r>
            <a:r>
              <a:rPr lang="nb-NO" dirty="0"/>
              <a:t> from </a:t>
            </a:r>
            <a:r>
              <a:rPr lang="nb-NO" dirty="0" err="1"/>
              <a:t>scarce</a:t>
            </a:r>
            <a:r>
              <a:rPr lang="nb-NO" dirty="0"/>
              <a:t> </a:t>
            </a:r>
            <a:r>
              <a:rPr lang="nb-NO" dirty="0" err="1"/>
              <a:t>ecosystems</a:t>
            </a:r>
            <a:r>
              <a:rPr lang="nb-NO" dirty="0"/>
              <a:t>." </a:t>
            </a:r>
            <a:r>
              <a:rPr lang="nb-NO" i="1" dirty="0"/>
              <a:t>Science</a:t>
            </a:r>
            <a:r>
              <a:rPr lang="nb-NO" dirty="0"/>
              <a:t>, 383(6687), 1062–1064.</a:t>
            </a:r>
          </a:p>
          <a:p>
            <a:r>
              <a:rPr lang="nb-NO" b="1" dirty="0" err="1"/>
              <a:t>Krutilla</a:t>
            </a:r>
            <a:r>
              <a:rPr lang="nb-NO" b="1" dirty="0"/>
              <a:t> (1967)</a:t>
            </a:r>
          </a:p>
          <a:p>
            <a:r>
              <a:rPr lang="nb-NO" dirty="0" err="1"/>
              <a:t>Krutilla</a:t>
            </a:r>
            <a:r>
              <a:rPr lang="nb-NO" dirty="0"/>
              <a:t>, J. V. (1967). "Conservation </a:t>
            </a:r>
            <a:r>
              <a:rPr lang="nb-NO" dirty="0" err="1"/>
              <a:t>Reconsidered</a:t>
            </a:r>
            <a:r>
              <a:rPr lang="nb-NO" dirty="0"/>
              <a:t>." </a:t>
            </a:r>
            <a:r>
              <a:rPr lang="nb-NO" i="1" dirty="0"/>
              <a:t>American </a:t>
            </a:r>
            <a:r>
              <a:rPr lang="nb-NO" i="1" dirty="0" err="1"/>
              <a:t>Economic</a:t>
            </a:r>
            <a:r>
              <a:rPr lang="nb-NO" i="1" dirty="0"/>
              <a:t> </a:t>
            </a:r>
            <a:r>
              <a:rPr lang="nb-NO" i="1" dirty="0" err="1"/>
              <a:t>Review</a:t>
            </a:r>
            <a:r>
              <a:rPr lang="nb-NO" dirty="0"/>
              <a:t>, 57(4), 777–786.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967869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5533</TotalTime>
  <Words>3205</Words>
  <Application>Microsoft Macintosh PowerPoint</Application>
  <PresentationFormat>Widescreen</PresentationFormat>
  <Paragraphs>367</Paragraphs>
  <Slides>31</Slides>
  <Notes>26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Peder Hognestad</cp:lastModifiedBy>
  <cp:revision>9</cp:revision>
  <dcterms:created xsi:type="dcterms:W3CDTF">2026-08-31T16:44:49Z</dcterms:created>
  <dcterms:modified xsi:type="dcterms:W3CDTF">2026-09-08T07:56:57Z</dcterms:modified>
</cp:coreProperties>
</file>